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charts/chart1.xml" ContentType="application/vnd.openxmlformats-officedocument.drawingml.chart+xml"/>
  <Override PartName="/ppt/notesSlides/notesSlide1.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Lst>
  <p:notesMasterIdLst>
    <p:notesMasterId r:id="rId21"/>
  </p:notesMasterIdLst>
  <p:sldIdLst>
    <p:sldId id="256" r:id="rId12"/>
    <p:sldId id="267" r:id="rId13"/>
    <p:sldId id="268" r:id="rId14"/>
    <p:sldId id="260" r:id="rId15"/>
    <p:sldId id="269" r:id="rId16"/>
    <p:sldId id="257" r:id="rId17"/>
    <p:sldId id="261" r:id="rId18"/>
    <p:sldId id="262" r:id="rId19"/>
    <p:sldId id="266" r:id="rId20"/>
  </p:sldIdLst>
  <p:sldSz cx="12192000" cy="6858000"/>
  <p:notesSz cx="7559675" cy="10691813"/>
  <p:defaultText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25"/>
    <p:restoredTop sz="94647"/>
  </p:normalViewPr>
  <p:slideViewPr>
    <p:cSldViewPr snapToGrid="0">
      <p:cViewPr>
        <p:scale>
          <a:sx n="109" d="100"/>
          <a:sy n="109" d="100"/>
        </p:scale>
        <p:origin x="1400" y="9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2.xml"/><Relationship Id="rId18" Type="http://schemas.openxmlformats.org/officeDocument/2006/relationships/slide" Target="slides/slide7.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Master" Target="slideMasters/slideMaster7.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 Target="slides/slide8.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presProps" Target="presProps.xml"/></Relationships>
</file>

<file path=ppt/charts/_rels/chart2.xml.rels><?xml version="1.0" encoding="UTF-8" standalone="yes"?>
<Relationships xmlns="http://schemas.openxmlformats.org/package/2006/relationships"><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0"/>
  <c:style val="2"/>
  <c:chart>
    <c:autoTitleDeleted val="1"/>
    <c:plotArea>
      <c:layout/>
      <c:barChart>
        <c:barDir val="col"/>
        <c:grouping val="stacked"/>
        <c:varyColors val="0"/>
        <c:ser>
          <c:idx val="0"/>
          <c:order val="0"/>
          <c:tx>
            <c:strRef>
              <c:f>label 0</c:f>
              <c:strCache>
                <c:ptCount val="1"/>
                <c:pt idx="0">
                  <c:v>base</c:v>
                </c:pt>
              </c:strCache>
            </c:strRef>
          </c:tx>
          <c:spPr>
            <a:noFill/>
            <a:ln w="0">
              <a:noFill/>
            </a:ln>
          </c:spPr>
          <c:invertIfNegative val="0"/>
          <c:dLbls>
            <c:spPr>
              <a:noFill/>
              <a:ln>
                <a:noFill/>
              </a:ln>
              <a:effectLst/>
            </c:spPr>
            <c:txPr>
              <a:bodyPr wrap="none"/>
              <a:lstStyle/>
              <a:p>
                <a:pPr>
                  <a:defRPr sz="1000" b="0" strike="noStrike" spc="-1">
                    <a:solidFill>
                      <a:srgbClr val="000000"/>
                    </a:solidFill>
                    <a:latin typeface="Arial"/>
                  </a:defRPr>
                </a:pPr>
                <a:endParaRPr lang="en-FI"/>
              </a:p>
            </c:tx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categories</c:f>
              <c:strCache>
                <c:ptCount val="7"/>
                <c:pt idx="0">
                  <c:v>Workload</c:v>
                </c:pt>
                <c:pt idx="1">
                  <c:v>+SLA</c:v>
                </c:pt>
                <c:pt idx="2">
                  <c:v>SLA-met</c:v>
                </c:pt>
                <c:pt idx="3">
                  <c:v>+Learning</c:v>
                </c:pt>
                <c:pt idx="4">
                  <c:v>On-floor</c:v>
                </c:pt>
                <c:pt idx="5">
                  <c:v>+Attrition</c:v>
                </c:pt>
                <c:pt idx="6">
                  <c:v>Paid FTE</c:v>
                </c:pt>
              </c:strCache>
            </c:strRef>
          </c:cat>
          <c:val>
            <c:numRef>
              <c:f>0</c:f>
              <c:numCache>
                <c:formatCode>General</c:formatCode>
                <c:ptCount val="7"/>
                <c:pt idx="0">
                  <c:v>0</c:v>
                </c:pt>
                <c:pt idx="1">
                  <c:v>360.2</c:v>
                </c:pt>
                <c:pt idx="2">
                  <c:v>0</c:v>
                </c:pt>
                <c:pt idx="3">
                  <c:v>484.2</c:v>
                </c:pt>
                <c:pt idx="4">
                  <c:v>0</c:v>
                </c:pt>
                <c:pt idx="5">
                  <c:v>489.7</c:v>
                </c:pt>
                <c:pt idx="6">
                  <c:v>0</c:v>
                </c:pt>
              </c:numCache>
            </c:numRef>
          </c:val>
          <c:extLst>
            <c:ext xmlns:c16="http://schemas.microsoft.com/office/drawing/2014/chart" uri="{C3380CC4-5D6E-409C-BE32-E72D297353CC}">
              <c16:uniqueId val="{00000000-B1FF-8941-84B7-8817243D23E1}"/>
            </c:ext>
          </c:extLst>
        </c:ser>
        <c:ser>
          <c:idx val="1"/>
          <c:order val="1"/>
          <c:tx>
            <c:strRef>
              <c:f>label 1</c:f>
              <c:strCache>
                <c:ptCount val="1"/>
                <c:pt idx="0">
                  <c:v>size</c:v>
                </c:pt>
              </c:strCache>
            </c:strRef>
          </c:tx>
          <c:spPr>
            <a:solidFill>
              <a:srgbClr val="C0504D"/>
            </a:solidFill>
            <a:ln w="0">
              <a:noFill/>
            </a:ln>
          </c:spPr>
          <c:invertIfNegative val="0"/>
          <c:dPt>
            <c:idx val="0"/>
            <c:invertIfNegative val="0"/>
            <c:bubble3D val="0"/>
            <c:spPr>
              <a:solidFill>
                <a:srgbClr val="D9D8D2"/>
              </a:solidFill>
              <a:ln w="0">
                <a:noFill/>
              </a:ln>
            </c:spPr>
            <c:extLst>
              <c:ext xmlns:c16="http://schemas.microsoft.com/office/drawing/2014/chart" uri="{C3380CC4-5D6E-409C-BE32-E72D297353CC}">
                <c16:uniqueId val="{00000002-B1FF-8941-84B7-8817243D23E1}"/>
              </c:ext>
            </c:extLst>
          </c:dPt>
          <c:dPt>
            <c:idx val="1"/>
            <c:invertIfNegative val="0"/>
            <c:bubble3D val="0"/>
            <c:spPr>
              <a:solidFill>
                <a:srgbClr val="2A78D6"/>
              </a:solidFill>
              <a:ln w="0">
                <a:noFill/>
              </a:ln>
            </c:spPr>
            <c:extLst>
              <c:ext xmlns:c16="http://schemas.microsoft.com/office/drawing/2014/chart" uri="{C3380CC4-5D6E-409C-BE32-E72D297353CC}">
                <c16:uniqueId val="{00000004-B1FF-8941-84B7-8817243D23E1}"/>
              </c:ext>
            </c:extLst>
          </c:dPt>
          <c:dPt>
            <c:idx val="2"/>
            <c:invertIfNegative val="0"/>
            <c:bubble3D val="0"/>
            <c:spPr>
              <a:solidFill>
                <a:srgbClr val="D9D8D2"/>
              </a:solidFill>
              <a:ln w="0">
                <a:noFill/>
              </a:ln>
            </c:spPr>
            <c:extLst>
              <c:ext xmlns:c16="http://schemas.microsoft.com/office/drawing/2014/chart" uri="{C3380CC4-5D6E-409C-BE32-E72D297353CC}">
                <c16:uniqueId val="{00000006-B1FF-8941-84B7-8817243D23E1}"/>
              </c:ext>
            </c:extLst>
          </c:dPt>
          <c:dPt>
            <c:idx val="3"/>
            <c:invertIfNegative val="0"/>
            <c:bubble3D val="0"/>
            <c:spPr>
              <a:solidFill>
                <a:srgbClr val="2A78D6"/>
              </a:solidFill>
              <a:ln w="0">
                <a:noFill/>
              </a:ln>
            </c:spPr>
            <c:extLst>
              <c:ext xmlns:c16="http://schemas.microsoft.com/office/drawing/2014/chart" uri="{C3380CC4-5D6E-409C-BE32-E72D297353CC}">
                <c16:uniqueId val="{00000008-B1FF-8941-84B7-8817243D23E1}"/>
              </c:ext>
            </c:extLst>
          </c:dPt>
          <c:dPt>
            <c:idx val="4"/>
            <c:invertIfNegative val="0"/>
            <c:bubble3D val="0"/>
            <c:spPr>
              <a:solidFill>
                <a:srgbClr val="D9D8D2"/>
              </a:solidFill>
              <a:ln w="0">
                <a:noFill/>
              </a:ln>
            </c:spPr>
            <c:extLst>
              <c:ext xmlns:c16="http://schemas.microsoft.com/office/drawing/2014/chart" uri="{C3380CC4-5D6E-409C-BE32-E72D297353CC}">
                <c16:uniqueId val="{0000000A-B1FF-8941-84B7-8817243D23E1}"/>
              </c:ext>
            </c:extLst>
          </c:dPt>
          <c:dPt>
            <c:idx val="5"/>
            <c:invertIfNegative val="0"/>
            <c:bubble3D val="0"/>
            <c:spPr>
              <a:solidFill>
                <a:srgbClr val="2A78D6"/>
              </a:solidFill>
              <a:ln w="0">
                <a:noFill/>
              </a:ln>
            </c:spPr>
            <c:extLst>
              <c:ext xmlns:c16="http://schemas.microsoft.com/office/drawing/2014/chart" uri="{C3380CC4-5D6E-409C-BE32-E72D297353CC}">
                <c16:uniqueId val="{0000000C-B1FF-8941-84B7-8817243D23E1}"/>
              </c:ext>
            </c:extLst>
          </c:dPt>
          <c:dPt>
            <c:idx val="6"/>
            <c:invertIfNegative val="0"/>
            <c:bubble3D val="0"/>
            <c:spPr>
              <a:solidFill>
                <a:srgbClr val="2A78D6"/>
              </a:solidFill>
              <a:ln w="0">
                <a:noFill/>
              </a:ln>
            </c:spPr>
            <c:extLst>
              <c:ext xmlns:c16="http://schemas.microsoft.com/office/drawing/2014/chart" uri="{C3380CC4-5D6E-409C-BE32-E72D297353CC}">
                <c16:uniqueId val="{0000000E-B1FF-8941-84B7-8817243D23E1}"/>
              </c:ext>
            </c:extLst>
          </c:dPt>
          <c:dLbls>
            <c:dLbl>
              <c:idx val="0"/>
              <c:tx>
                <c:rich>
                  <a:bodyPr/>
                  <a:lstStyle/>
                  <a:p>
                    <a:r>
                      <a:rPr lang="en-US" sz="1000" b="0" strike="noStrike" spc="-1">
                        <a:solidFill>
                          <a:srgbClr val="000000"/>
                        </a:solidFill>
                        <a:latin typeface="Calibri"/>
                      </a:rPr>
                      <a:t>360</a:t>
                    </a:r>
                  </a:p>
                </c:rich>
              </c:tx>
              <c:numFmt formatCode="General" sourceLinked="0"/>
              <c:spPr/>
              <c:dLblPos val="ctr"/>
              <c:showLegendKey val="0"/>
              <c:showVal val="1"/>
              <c:showCatName val="0"/>
              <c:showSerName val="0"/>
              <c:showPercent val="0"/>
              <c:showBubbleSize val="1"/>
              <c:separator>; </c:separator>
              <c:extLst>
                <c:ext xmlns:c15="http://schemas.microsoft.com/office/drawing/2012/chart" uri="{CE6537A1-D6FC-4f65-9D91-7224C49458BB}">
                  <c15:showDataLabelsRange val="0"/>
                </c:ext>
                <c:ext xmlns:c16="http://schemas.microsoft.com/office/drawing/2014/chart" uri="{C3380CC4-5D6E-409C-BE32-E72D297353CC}">
                  <c16:uniqueId val="{00000002-B1FF-8941-84B7-8817243D23E1}"/>
                </c:ext>
              </c:extLst>
            </c:dLbl>
            <c:dLbl>
              <c:idx val="1"/>
              <c:tx>
                <c:rich>
                  <a:bodyPr/>
                  <a:lstStyle/>
                  <a:p>
                    <a:r>
                      <a:rPr lang="en-US" sz="1000" b="0" strike="noStrike" spc="-1" dirty="0">
                        <a:solidFill>
                          <a:schemeClr val="bg1"/>
                        </a:solidFill>
                        <a:latin typeface="Calibri"/>
                      </a:rPr>
                      <a:t>+124</a:t>
                    </a:r>
                  </a:p>
                </c:rich>
              </c:tx>
              <c:numFmt formatCode="General" sourceLinked="0"/>
              <c:spPr/>
              <c:dLblPos val="ctr"/>
              <c:showLegendKey val="0"/>
              <c:showVal val="1"/>
              <c:showCatName val="0"/>
              <c:showSerName val="0"/>
              <c:showPercent val="0"/>
              <c:showBubbleSize val="1"/>
              <c:separator>; </c:separator>
              <c:extLst>
                <c:ext xmlns:c15="http://schemas.microsoft.com/office/drawing/2012/chart" uri="{CE6537A1-D6FC-4f65-9D91-7224C49458BB}">
                  <c15:showDataLabelsRange val="0"/>
                </c:ext>
                <c:ext xmlns:c16="http://schemas.microsoft.com/office/drawing/2014/chart" uri="{C3380CC4-5D6E-409C-BE32-E72D297353CC}">
                  <c16:uniqueId val="{00000004-B1FF-8941-84B7-8817243D23E1}"/>
                </c:ext>
              </c:extLst>
            </c:dLbl>
            <c:dLbl>
              <c:idx val="2"/>
              <c:tx>
                <c:rich>
                  <a:bodyPr/>
                  <a:lstStyle/>
                  <a:p>
                    <a:r>
                      <a:rPr lang="en-US" sz="1000" b="0" strike="noStrike" spc="-1">
                        <a:solidFill>
                          <a:srgbClr val="000000"/>
                        </a:solidFill>
                        <a:latin typeface="Calibri"/>
                      </a:rPr>
                      <a:t>484</a:t>
                    </a:r>
                  </a:p>
                </c:rich>
              </c:tx>
              <c:numFmt formatCode="General" sourceLinked="0"/>
              <c:spPr/>
              <c:dLblPos val="ctr"/>
              <c:showLegendKey val="0"/>
              <c:showVal val="1"/>
              <c:showCatName val="0"/>
              <c:showSerName val="0"/>
              <c:showPercent val="0"/>
              <c:showBubbleSize val="1"/>
              <c:separator>; </c:separator>
              <c:extLst>
                <c:ext xmlns:c15="http://schemas.microsoft.com/office/drawing/2012/chart" uri="{CE6537A1-D6FC-4f65-9D91-7224C49458BB}">
                  <c15:showDataLabelsRange val="0"/>
                </c:ext>
                <c:ext xmlns:c16="http://schemas.microsoft.com/office/drawing/2014/chart" uri="{C3380CC4-5D6E-409C-BE32-E72D297353CC}">
                  <c16:uniqueId val="{00000006-B1FF-8941-84B7-8817243D23E1}"/>
                </c:ext>
              </c:extLst>
            </c:dLbl>
            <c:dLbl>
              <c:idx val="3"/>
              <c:layout>
                <c:manualLayout>
                  <c:x val="-2.9545877535827286E-3"/>
                  <c:y val="-5.9111557938635713E-2"/>
                </c:manualLayout>
              </c:layout>
              <c:tx>
                <c:rich>
                  <a:bodyPr/>
                  <a:lstStyle/>
                  <a:p>
                    <a:r>
                      <a:rPr lang="en-US" sz="1000" b="0" strike="noStrike" spc="-1">
                        <a:solidFill>
                          <a:srgbClr val="000000"/>
                        </a:solidFill>
                        <a:latin typeface="Calibri"/>
                      </a:rPr>
                      <a:t>+6</a:t>
                    </a:r>
                  </a:p>
                </c:rich>
              </c:tx>
              <c:numFmt formatCode="General" sourceLinked="0"/>
              <c:spPr/>
              <c:dLblPos val="ctr"/>
              <c:showLegendKey val="0"/>
              <c:showVal val="1"/>
              <c:showCatName val="0"/>
              <c:showSerName val="0"/>
              <c:showPercent val="0"/>
              <c:showBubbleSize val="1"/>
              <c:separator>; </c:separator>
              <c:extLst>
                <c:ext xmlns:c15="http://schemas.microsoft.com/office/drawing/2012/chart" uri="{CE6537A1-D6FC-4f65-9D91-7224C49458BB}">
                  <c15:showDataLabelsRange val="0"/>
                </c:ext>
                <c:ext xmlns:c16="http://schemas.microsoft.com/office/drawing/2014/chart" uri="{C3380CC4-5D6E-409C-BE32-E72D297353CC}">
                  <c16:uniqueId val="{00000008-B1FF-8941-84B7-8817243D23E1}"/>
                </c:ext>
              </c:extLst>
            </c:dLbl>
            <c:dLbl>
              <c:idx val="4"/>
              <c:tx>
                <c:rich>
                  <a:bodyPr/>
                  <a:lstStyle/>
                  <a:p>
                    <a:r>
                      <a:rPr lang="en-US" sz="1000" b="0" strike="noStrike" spc="-1">
                        <a:solidFill>
                          <a:srgbClr val="000000"/>
                        </a:solidFill>
                        <a:latin typeface="Calibri"/>
                      </a:rPr>
                      <a:t>490</a:t>
                    </a:r>
                  </a:p>
                </c:rich>
              </c:tx>
              <c:numFmt formatCode="General" sourceLinked="0"/>
              <c:spPr/>
              <c:dLblPos val="ctr"/>
              <c:showLegendKey val="0"/>
              <c:showVal val="1"/>
              <c:showCatName val="0"/>
              <c:showSerName val="0"/>
              <c:showPercent val="0"/>
              <c:showBubbleSize val="1"/>
              <c:separator>; </c:separator>
              <c:extLst>
                <c:ext xmlns:c15="http://schemas.microsoft.com/office/drawing/2012/chart" uri="{CE6537A1-D6FC-4f65-9D91-7224C49458BB}">
                  <c15:showDataLabelsRange val="0"/>
                </c:ext>
                <c:ext xmlns:c16="http://schemas.microsoft.com/office/drawing/2014/chart" uri="{C3380CC4-5D6E-409C-BE32-E72D297353CC}">
                  <c16:uniqueId val="{0000000A-B1FF-8941-84B7-8817243D23E1}"/>
                </c:ext>
              </c:extLst>
            </c:dLbl>
            <c:dLbl>
              <c:idx val="5"/>
              <c:layout>
                <c:manualLayout>
                  <c:x val="0"/>
                  <c:y val="-6.5022713732499252E-2"/>
                </c:manualLayout>
              </c:layout>
              <c:tx>
                <c:rich>
                  <a:bodyPr/>
                  <a:lstStyle/>
                  <a:p>
                    <a:r>
                      <a:rPr lang="en-US" sz="1000" b="0" strike="noStrike" spc="-1">
                        <a:solidFill>
                          <a:srgbClr val="000000"/>
                        </a:solidFill>
                        <a:latin typeface="Calibri"/>
                      </a:rPr>
                      <a:t>+18</a:t>
                    </a:r>
                  </a:p>
                </c:rich>
              </c:tx>
              <c:numFmt formatCode="General" sourceLinked="0"/>
              <c:spPr/>
              <c:dLblPos val="ctr"/>
              <c:showLegendKey val="0"/>
              <c:showVal val="1"/>
              <c:showCatName val="0"/>
              <c:showSerName val="0"/>
              <c:showPercent val="0"/>
              <c:showBubbleSize val="1"/>
              <c:separator>; </c:separator>
              <c:extLst>
                <c:ext xmlns:c15="http://schemas.microsoft.com/office/drawing/2012/chart" uri="{CE6537A1-D6FC-4f65-9D91-7224C49458BB}">
                  <c15:showDataLabelsRange val="0"/>
                </c:ext>
                <c:ext xmlns:c16="http://schemas.microsoft.com/office/drawing/2014/chart" uri="{C3380CC4-5D6E-409C-BE32-E72D297353CC}">
                  <c16:uniqueId val="{0000000C-B1FF-8941-84B7-8817243D23E1}"/>
                </c:ext>
              </c:extLst>
            </c:dLbl>
            <c:dLbl>
              <c:idx val="6"/>
              <c:tx>
                <c:rich>
                  <a:bodyPr/>
                  <a:lstStyle/>
                  <a:p>
                    <a:r>
                      <a:rPr lang="en-US" sz="1000" b="0" strike="noStrike" spc="-1" dirty="0">
                        <a:solidFill>
                          <a:schemeClr val="bg1"/>
                        </a:solidFill>
                        <a:latin typeface="Calibri"/>
                      </a:rPr>
                      <a:t>508</a:t>
                    </a:r>
                  </a:p>
                </c:rich>
              </c:tx>
              <c:numFmt formatCode="General" sourceLinked="0"/>
              <c:spPr/>
              <c:dLblPos val="ctr"/>
              <c:showLegendKey val="0"/>
              <c:showVal val="1"/>
              <c:showCatName val="0"/>
              <c:showSerName val="0"/>
              <c:showPercent val="0"/>
              <c:showBubbleSize val="1"/>
              <c:separator>; </c:separator>
              <c:extLst>
                <c:ext xmlns:c15="http://schemas.microsoft.com/office/drawing/2012/chart" uri="{CE6537A1-D6FC-4f65-9D91-7224C49458BB}">
                  <c15:showDataLabelsRange val="0"/>
                </c:ext>
                <c:ext xmlns:c16="http://schemas.microsoft.com/office/drawing/2014/chart" uri="{C3380CC4-5D6E-409C-BE32-E72D297353CC}">
                  <c16:uniqueId val="{0000000E-B1FF-8941-84B7-8817243D23E1}"/>
                </c:ext>
              </c:extLst>
            </c:dLbl>
            <c:spPr>
              <a:noFill/>
              <a:ln>
                <a:noFill/>
              </a:ln>
              <a:effectLst/>
            </c:spPr>
            <c:txPr>
              <a:bodyPr wrap="square"/>
              <a:lstStyle/>
              <a:p>
                <a:pPr>
                  <a:defRPr sz="1000" b="1" strike="noStrike" spc="-1">
                    <a:solidFill>
                      <a:srgbClr val="000000"/>
                    </a:solidFill>
                    <a:latin typeface="Calibri"/>
                  </a:defRPr>
                </a:pPr>
                <a:endParaRPr lang="en-FI"/>
              </a:p>
            </c:txPr>
            <c:dLblPos val="ct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categories</c:f>
              <c:strCache>
                <c:ptCount val="7"/>
                <c:pt idx="0">
                  <c:v>Workload</c:v>
                </c:pt>
                <c:pt idx="1">
                  <c:v>+SLA</c:v>
                </c:pt>
                <c:pt idx="2">
                  <c:v>SLA-met</c:v>
                </c:pt>
                <c:pt idx="3">
                  <c:v>+Learning</c:v>
                </c:pt>
                <c:pt idx="4">
                  <c:v>On-floor</c:v>
                </c:pt>
                <c:pt idx="5">
                  <c:v>+Attrition</c:v>
                </c:pt>
                <c:pt idx="6">
                  <c:v>Paid FTE</c:v>
                </c:pt>
              </c:strCache>
            </c:strRef>
          </c:cat>
          <c:val>
            <c:numRef>
              <c:f>1</c:f>
              <c:numCache>
                <c:formatCode>General</c:formatCode>
                <c:ptCount val="7"/>
                <c:pt idx="0">
                  <c:v>360.2</c:v>
                </c:pt>
                <c:pt idx="1">
                  <c:v>124</c:v>
                </c:pt>
                <c:pt idx="2">
                  <c:v>484.2</c:v>
                </c:pt>
                <c:pt idx="3">
                  <c:v>5.5</c:v>
                </c:pt>
                <c:pt idx="4">
                  <c:v>489.7</c:v>
                </c:pt>
                <c:pt idx="5">
                  <c:v>17.899999999999999</c:v>
                </c:pt>
                <c:pt idx="6">
                  <c:v>507.6</c:v>
                </c:pt>
              </c:numCache>
            </c:numRef>
          </c:val>
          <c:extLst>
            <c:ext xmlns:c16="http://schemas.microsoft.com/office/drawing/2014/chart" uri="{C3380CC4-5D6E-409C-BE32-E72D297353CC}">
              <c16:uniqueId val="{0000000F-B1FF-8941-84B7-8817243D23E1}"/>
            </c:ext>
          </c:extLst>
        </c:ser>
        <c:dLbls>
          <c:showLegendKey val="0"/>
          <c:showVal val="0"/>
          <c:showCatName val="0"/>
          <c:showSerName val="0"/>
          <c:showPercent val="0"/>
          <c:showBubbleSize val="0"/>
        </c:dLbls>
        <c:gapWidth val="35"/>
        <c:overlap val="100"/>
        <c:axId val="31031671"/>
        <c:axId val="63084558"/>
      </c:barChart>
      <c:catAx>
        <c:axId val="31031671"/>
        <c:scaling>
          <c:orientation val="minMax"/>
        </c:scaling>
        <c:delete val="0"/>
        <c:axPos val="b"/>
        <c:numFmt formatCode="General" sourceLinked="1"/>
        <c:majorTickMark val="out"/>
        <c:minorTickMark val="none"/>
        <c:tickLblPos val="nextTo"/>
        <c:spPr>
          <a:ln w="9360">
            <a:solidFill>
              <a:srgbClr val="C3C2B7"/>
            </a:solidFill>
            <a:round/>
          </a:ln>
        </c:spPr>
        <c:txPr>
          <a:bodyPr/>
          <a:lstStyle/>
          <a:p>
            <a:pPr>
              <a:defRPr sz="900" b="0" strike="noStrike" spc="-1">
                <a:solidFill>
                  <a:schemeClr val="tx1"/>
                </a:solidFill>
                <a:latin typeface="Calibri"/>
              </a:defRPr>
            </a:pPr>
            <a:endParaRPr lang="en-FI"/>
          </a:p>
        </c:txPr>
        <c:crossAx val="63084558"/>
        <c:crosses val="autoZero"/>
        <c:auto val="1"/>
        <c:lblAlgn val="ctr"/>
        <c:lblOffset val="100"/>
        <c:noMultiLvlLbl val="0"/>
      </c:catAx>
      <c:valAx>
        <c:axId val="63084558"/>
        <c:scaling>
          <c:orientation val="minMax"/>
        </c:scaling>
        <c:delete val="1"/>
        <c:axPos val="l"/>
        <c:numFmt formatCode="General" sourceLinked="1"/>
        <c:majorTickMark val="out"/>
        <c:minorTickMark val="none"/>
        <c:tickLblPos val="nextTo"/>
        <c:crossAx val="31031671"/>
        <c:crosses val="autoZero"/>
        <c:crossBetween val="between"/>
      </c:valAx>
      <c:spPr>
        <a:noFill/>
        <a:ln w="0">
          <a:noFill/>
        </a:ln>
      </c:spPr>
    </c:plotArea>
    <c:plotVisOnly val="1"/>
    <c:dispBlanksAs val="gap"/>
    <c:showDLblsOverMax val="1"/>
  </c:chart>
  <c:spPr>
    <a:no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label 0</c:f>
              <c:strCache>
                <c:ptCount val="1"/>
                <c:pt idx="0">
                  <c:v>Actual</c:v>
                </c:pt>
              </c:strCache>
            </c:strRef>
          </c:tx>
          <c:spPr>
            <a:ln w="19050" cap="rnd" cmpd="sng" algn="ctr">
              <a:solidFill>
                <a:schemeClr val="accent1">
                  <a:shade val="95000"/>
                  <a:satMod val="105000"/>
                </a:schemeClr>
              </a:solidFill>
              <a:round/>
            </a:ln>
            <a:effectLst/>
          </c:spPr>
          <c:marker>
            <c:symbol val="circle"/>
            <c:size val="17"/>
            <c:spPr>
              <a:solidFill>
                <a:schemeClr val="lt1"/>
              </a:solidFill>
              <a:ln>
                <a:no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accent1"/>
                    </a:solidFill>
                    <a:latin typeface="+mn-lt"/>
                    <a:ea typeface="+mn-ea"/>
                    <a:cs typeface="+mn-cs"/>
                  </a:defRPr>
                </a:pPr>
                <a:endParaRPr lang="en-FI"/>
              </a:p>
            </c:txPr>
            <c:dLblPos val="ctr"/>
            <c:showLegendKey val="0"/>
            <c:showVal val="1"/>
            <c:showCatName val="0"/>
            <c:showSerName val="0"/>
            <c:showPercent val="0"/>
            <c:showBubbleSize val="1"/>
            <c:separator> </c:separator>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categories</c:f>
              <c:strCache>
                <c:ptCount val="9"/>
                <c:pt idx="0">
                  <c:v>Jan</c:v>
                </c:pt>
                <c:pt idx="1">
                  <c:v>Feb</c:v>
                </c:pt>
                <c:pt idx="2">
                  <c:v>Mar</c:v>
                </c:pt>
                <c:pt idx="3">
                  <c:v>Apr</c:v>
                </c:pt>
                <c:pt idx="4">
                  <c:v>May</c:v>
                </c:pt>
                <c:pt idx="5">
                  <c:v>Jun</c:v>
                </c:pt>
                <c:pt idx="6">
                  <c:v>Jul</c:v>
                </c:pt>
                <c:pt idx="7">
                  <c:v>Aug</c:v>
                </c:pt>
                <c:pt idx="8">
                  <c:v>Sep</c:v>
                </c:pt>
              </c:strCache>
            </c:strRef>
          </c:cat>
          <c:val>
            <c:numRef>
              <c:f>0</c:f>
              <c:numCache>
                <c:formatCode>General</c:formatCode>
                <c:ptCount val="9"/>
                <c:pt idx="0">
                  <c:v>124</c:v>
                </c:pt>
                <c:pt idx="1">
                  <c:v>121</c:v>
                </c:pt>
                <c:pt idx="2">
                  <c:v>183</c:v>
                </c:pt>
                <c:pt idx="3">
                  <c:v>208</c:v>
                </c:pt>
                <c:pt idx="4">
                  <c:v>187</c:v>
                </c:pt>
                <c:pt idx="5">
                  <c:v>227</c:v>
                </c:pt>
              </c:numCache>
            </c:numRef>
          </c:val>
          <c:smooth val="0"/>
          <c:extLst>
            <c:ext xmlns:c16="http://schemas.microsoft.com/office/drawing/2014/chart" uri="{C3380CC4-5D6E-409C-BE32-E72D297353CC}">
              <c16:uniqueId val="{00000000-2825-5B44-9D88-668B9CF8E219}"/>
            </c:ext>
          </c:extLst>
        </c:ser>
        <c:ser>
          <c:idx val="1"/>
          <c:order val="1"/>
          <c:tx>
            <c:strRef>
              <c:f>label 1</c:f>
              <c:strCache>
                <c:ptCount val="1"/>
                <c:pt idx="0">
                  <c:v>Forecast</c:v>
                </c:pt>
              </c:strCache>
            </c:strRef>
          </c:tx>
          <c:spPr>
            <a:ln w="19050" cap="rnd" cmpd="sng" algn="ctr">
              <a:solidFill>
                <a:schemeClr val="accent2">
                  <a:shade val="95000"/>
                  <a:satMod val="105000"/>
                </a:schemeClr>
              </a:solidFill>
              <a:round/>
            </a:ln>
            <a:effectLst/>
          </c:spPr>
          <c:marker>
            <c:symbol val="circle"/>
            <c:size val="17"/>
            <c:spPr>
              <a:solidFill>
                <a:schemeClr val="lt1"/>
              </a:solidFill>
              <a:ln>
                <a:no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accent2"/>
                    </a:solidFill>
                    <a:latin typeface="+mn-lt"/>
                    <a:ea typeface="+mn-ea"/>
                    <a:cs typeface="+mn-cs"/>
                  </a:defRPr>
                </a:pPr>
                <a:endParaRPr lang="en-FI"/>
              </a:p>
            </c:txPr>
            <c:dLblPos val="ctr"/>
            <c:showLegendKey val="0"/>
            <c:showVal val="1"/>
            <c:showCatName val="0"/>
            <c:showSerName val="0"/>
            <c:showPercent val="0"/>
            <c:showBubbleSize val="1"/>
            <c:separator> </c:separator>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categories</c:f>
              <c:strCache>
                <c:ptCount val="9"/>
                <c:pt idx="0">
                  <c:v>Jan</c:v>
                </c:pt>
                <c:pt idx="1">
                  <c:v>Feb</c:v>
                </c:pt>
                <c:pt idx="2">
                  <c:v>Mar</c:v>
                </c:pt>
                <c:pt idx="3">
                  <c:v>Apr</c:v>
                </c:pt>
                <c:pt idx="4">
                  <c:v>May</c:v>
                </c:pt>
                <c:pt idx="5">
                  <c:v>Jun</c:v>
                </c:pt>
                <c:pt idx="6">
                  <c:v>Jul</c:v>
                </c:pt>
                <c:pt idx="7">
                  <c:v>Aug</c:v>
                </c:pt>
                <c:pt idx="8">
                  <c:v>Sep</c:v>
                </c:pt>
              </c:strCache>
            </c:strRef>
          </c:cat>
          <c:val>
            <c:numRef>
              <c:f>1</c:f>
              <c:numCache>
                <c:formatCode>General</c:formatCode>
                <c:ptCount val="9"/>
                <c:pt idx="5">
                  <c:v>227</c:v>
                </c:pt>
                <c:pt idx="6">
                  <c:v>234</c:v>
                </c:pt>
                <c:pt idx="7">
                  <c:v>234</c:v>
                </c:pt>
                <c:pt idx="8">
                  <c:v>234</c:v>
                </c:pt>
              </c:numCache>
            </c:numRef>
          </c:val>
          <c:smooth val="0"/>
          <c:extLst>
            <c:ext xmlns:c16="http://schemas.microsoft.com/office/drawing/2014/chart" uri="{C3380CC4-5D6E-409C-BE32-E72D297353CC}">
              <c16:uniqueId val="{00000001-2825-5B44-9D88-668B9CF8E219}"/>
            </c:ext>
          </c:extLst>
        </c:ser>
        <c:dLbls>
          <c:dLblPos val="ctr"/>
          <c:showLegendKey val="0"/>
          <c:showVal val="1"/>
          <c:showCatName val="0"/>
          <c:showSerName val="0"/>
          <c:showPercent val="0"/>
          <c:showBubbleSize val="0"/>
        </c:dLbls>
        <c:hiLowLines>
          <c:spPr>
            <a:ln w="9525">
              <a:solidFill>
                <a:schemeClr val="dk1">
                  <a:lumMod val="35000"/>
                  <a:lumOff val="65000"/>
                </a:schemeClr>
              </a:solidFill>
            </a:ln>
            <a:effectLst/>
          </c:spPr>
        </c:hiLowLines>
        <c:marker val="1"/>
        <c:smooth val="0"/>
        <c:axId val="58969796"/>
        <c:axId val="84302855"/>
      </c:lineChart>
      <c:catAx>
        <c:axId val="58969796"/>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330" b="0" i="0" u="none" strike="noStrike" kern="1200" baseline="0">
                <a:solidFill>
                  <a:schemeClr val="dk1">
                    <a:lumMod val="65000"/>
                    <a:lumOff val="35000"/>
                  </a:schemeClr>
                </a:solidFill>
                <a:latin typeface="+mn-lt"/>
                <a:ea typeface="+mn-ea"/>
                <a:cs typeface="+mn-cs"/>
              </a:defRPr>
            </a:pPr>
            <a:endParaRPr lang="en-FI"/>
          </a:p>
        </c:txPr>
        <c:crossAx val="84302855"/>
        <c:crosses val="autoZero"/>
        <c:auto val="1"/>
        <c:lblAlgn val="ctr"/>
        <c:lblOffset val="100"/>
        <c:noMultiLvlLbl val="0"/>
      </c:catAx>
      <c:valAx>
        <c:axId val="84302855"/>
        <c:scaling>
          <c:orientation val="minMax"/>
        </c:scaling>
        <c:delete val="1"/>
        <c:axPos val="l"/>
        <c:numFmt formatCode="General" sourceLinked="1"/>
        <c:majorTickMark val="none"/>
        <c:minorTickMark val="none"/>
        <c:tickLblPos val="nextTo"/>
        <c:crossAx val="58969796"/>
        <c:crosses val="autoZero"/>
        <c:crossBetween val="between"/>
      </c:valAx>
      <c:spPr>
        <a:noFill/>
        <a:ln>
          <a:noFill/>
        </a:ln>
        <a:effectLst/>
      </c:spPr>
    </c:plotArea>
    <c:plotVisOnly val="1"/>
    <c:dispBlanksAs val="gap"/>
    <c:showDLblsOverMax val="1"/>
  </c:chart>
  <c:spPr>
    <a:solidFill>
      <a:schemeClr val="lt1"/>
    </a:solidFill>
    <a:ln w="9525" cap="flat" cmpd="sng" algn="ctr">
      <a:solidFill>
        <a:schemeClr val="dk1">
          <a:lumMod val="15000"/>
          <a:lumOff val="85000"/>
        </a:schemeClr>
      </a:solidFill>
      <a:round/>
    </a:ln>
    <a:effectLst/>
  </c:spPr>
  <c:txPr>
    <a:bodyPr/>
    <a:lstStyle/>
    <a:p>
      <a:pPr>
        <a:defRPr/>
      </a:pPr>
      <a:endParaRPr lang="en-FI"/>
    </a:p>
  </c:tx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0"/>
  <c:style val="2"/>
  <c:chart>
    <c:autoTitleDeleted val="1"/>
    <c:plotArea>
      <c:layout/>
      <c:lineChart>
        <c:grouping val="standard"/>
        <c:varyColors val="0"/>
        <c:ser>
          <c:idx val="0"/>
          <c:order val="0"/>
          <c:tx>
            <c:strRef>
              <c:f>label 0</c:f>
              <c:strCache>
                <c:ptCount val="1"/>
                <c:pt idx="0">
                  <c:v>v</c:v>
                </c:pt>
              </c:strCache>
            </c:strRef>
          </c:tx>
          <c:spPr>
            <a:ln w="19080">
              <a:solidFill>
                <a:srgbClr val="2A78D6"/>
              </a:solidFill>
              <a:round/>
            </a:ln>
          </c:spPr>
          <c:marker>
            <c:symbol val="none"/>
          </c:marker>
          <c:dLbls>
            <c:spPr>
              <a:noFill/>
              <a:ln>
                <a:noFill/>
              </a:ln>
              <a:effectLst/>
            </c:spPr>
            <c:txPr>
              <a:bodyPr wrap="none"/>
              <a:lstStyle/>
              <a:p>
                <a:pPr>
                  <a:defRPr sz="1000" b="0" strike="noStrike" spc="-1">
                    <a:solidFill>
                      <a:srgbClr val="000000"/>
                    </a:solidFill>
                    <a:latin typeface="Arial"/>
                  </a:defRPr>
                </a:pPr>
                <a:endParaRPr lang="en-FI"/>
              </a:p>
            </c:tx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categories</c:f>
              <c:strCache>
                <c:ptCount val="6"/>
                <c:pt idx="0">
                  <c:v>J</c:v>
                </c:pt>
                <c:pt idx="1">
                  <c:v>F</c:v>
                </c:pt>
                <c:pt idx="2">
                  <c:v>M</c:v>
                </c:pt>
                <c:pt idx="3">
                  <c:v>A</c:v>
                </c:pt>
                <c:pt idx="4">
                  <c:v>M</c:v>
                </c:pt>
                <c:pt idx="5">
                  <c:v>J</c:v>
                </c:pt>
              </c:strCache>
            </c:strRef>
          </c:cat>
          <c:val>
            <c:numRef>
              <c:f>0</c:f>
              <c:numCache>
                <c:formatCode>General</c:formatCode>
                <c:ptCount val="6"/>
                <c:pt idx="0">
                  <c:v>124</c:v>
                </c:pt>
                <c:pt idx="1">
                  <c:v>121</c:v>
                </c:pt>
                <c:pt idx="2">
                  <c:v>183</c:v>
                </c:pt>
                <c:pt idx="3">
                  <c:v>208</c:v>
                </c:pt>
                <c:pt idx="4">
                  <c:v>187</c:v>
                </c:pt>
                <c:pt idx="5">
                  <c:v>227</c:v>
                </c:pt>
              </c:numCache>
            </c:numRef>
          </c:val>
          <c:smooth val="0"/>
          <c:extLst>
            <c:ext xmlns:c16="http://schemas.microsoft.com/office/drawing/2014/chart" uri="{C3380CC4-5D6E-409C-BE32-E72D297353CC}">
              <c16:uniqueId val="{00000000-A6CB-5844-8690-F8501FC16563}"/>
            </c:ext>
          </c:extLst>
        </c:ser>
        <c:dLbls>
          <c:showLegendKey val="0"/>
          <c:showVal val="0"/>
          <c:showCatName val="0"/>
          <c:showSerName val="0"/>
          <c:showPercent val="0"/>
          <c:showBubbleSize val="0"/>
        </c:dLbls>
        <c:hiLowLines>
          <c:spPr>
            <a:ln w="0">
              <a:noFill/>
            </a:ln>
          </c:spPr>
        </c:hiLowLines>
        <c:smooth val="0"/>
        <c:axId val="93161301"/>
        <c:axId val="76992788"/>
      </c:lineChart>
      <c:catAx>
        <c:axId val="93161301"/>
        <c:scaling>
          <c:orientation val="minMax"/>
        </c:scaling>
        <c:delete val="0"/>
        <c:axPos val="b"/>
        <c:numFmt formatCode="General" sourceLinked="1"/>
        <c:majorTickMark val="out"/>
        <c:minorTickMark val="none"/>
        <c:tickLblPos val="nextTo"/>
        <c:spPr>
          <a:ln w="9360">
            <a:solidFill>
              <a:srgbClr val="E1E0D9"/>
            </a:solidFill>
            <a:round/>
          </a:ln>
        </c:spPr>
        <c:txPr>
          <a:bodyPr/>
          <a:lstStyle/>
          <a:p>
            <a:pPr>
              <a:defRPr sz="900" b="0" strike="noStrike" spc="-1">
                <a:solidFill>
                  <a:srgbClr val="898781"/>
                </a:solidFill>
                <a:latin typeface="Calibri"/>
              </a:defRPr>
            </a:pPr>
            <a:endParaRPr lang="en-FI"/>
          </a:p>
        </c:txPr>
        <c:crossAx val="76992788"/>
        <c:crosses val="autoZero"/>
        <c:auto val="1"/>
        <c:lblAlgn val="ctr"/>
        <c:lblOffset val="100"/>
        <c:noMultiLvlLbl val="0"/>
      </c:catAx>
      <c:valAx>
        <c:axId val="76992788"/>
        <c:scaling>
          <c:orientation val="minMax"/>
        </c:scaling>
        <c:delete val="1"/>
        <c:axPos val="l"/>
        <c:numFmt formatCode="General" sourceLinked="1"/>
        <c:majorTickMark val="out"/>
        <c:minorTickMark val="none"/>
        <c:tickLblPos val="nextTo"/>
        <c:crossAx val="93161301"/>
        <c:crosses val="autoZero"/>
        <c:crossBetween val="between"/>
      </c:valAx>
      <c:spPr>
        <a:noFill/>
        <a:ln w="0">
          <a:noFill/>
        </a:ln>
      </c:spPr>
    </c:plotArea>
    <c:plotVisOnly val="1"/>
    <c:dispBlanksAs val="gap"/>
    <c:showDLblsOverMax val="1"/>
  </c:chart>
  <c:spPr>
    <a:noFill/>
    <a:ln w="0">
      <a:noFill/>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0"/>
  <c:style val="2"/>
  <c:chart>
    <c:autoTitleDeleted val="1"/>
    <c:plotArea>
      <c:layout/>
      <c:lineChart>
        <c:grouping val="standard"/>
        <c:varyColors val="0"/>
        <c:ser>
          <c:idx val="0"/>
          <c:order val="0"/>
          <c:tx>
            <c:strRef>
              <c:f>label 0</c:f>
              <c:strCache>
                <c:ptCount val="1"/>
                <c:pt idx="0">
                  <c:v>v</c:v>
                </c:pt>
              </c:strCache>
            </c:strRef>
          </c:tx>
          <c:spPr>
            <a:ln w="19080">
              <a:solidFill>
                <a:srgbClr val="52514E"/>
              </a:solidFill>
              <a:round/>
            </a:ln>
          </c:spPr>
          <c:marker>
            <c:symbol val="none"/>
          </c:marker>
          <c:dLbls>
            <c:spPr>
              <a:noFill/>
              <a:ln>
                <a:noFill/>
              </a:ln>
              <a:effectLst/>
            </c:spPr>
            <c:txPr>
              <a:bodyPr wrap="none"/>
              <a:lstStyle/>
              <a:p>
                <a:pPr>
                  <a:defRPr sz="1000" b="0" strike="noStrike" spc="-1">
                    <a:solidFill>
                      <a:srgbClr val="000000"/>
                    </a:solidFill>
                    <a:latin typeface="Arial"/>
                  </a:defRPr>
                </a:pPr>
                <a:endParaRPr lang="en-FI"/>
              </a:p>
            </c:tx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categories</c:f>
              <c:strCache>
                <c:ptCount val="6"/>
                <c:pt idx="0">
                  <c:v>J</c:v>
                </c:pt>
                <c:pt idx="1">
                  <c:v>F</c:v>
                </c:pt>
                <c:pt idx="2">
                  <c:v>M</c:v>
                </c:pt>
                <c:pt idx="3">
                  <c:v>A</c:v>
                </c:pt>
                <c:pt idx="4">
                  <c:v>M</c:v>
                </c:pt>
                <c:pt idx="5">
                  <c:v>J</c:v>
                </c:pt>
              </c:strCache>
            </c:strRef>
          </c:cat>
          <c:val>
            <c:numRef>
              <c:f>0</c:f>
              <c:numCache>
                <c:formatCode>General</c:formatCode>
                <c:ptCount val="6"/>
                <c:pt idx="0">
                  <c:v>131</c:v>
                </c:pt>
                <c:pt idx="1">
                  <c:v>128</c:v>
                </c:pt>
                <c:pt idx="2">
                  <c:v>111</c:v>
                </c:pt>
                <c:pt idx="3">
                  <c:v>105</c:v>
                </c:pt>
                <c:pt idx="4">
                  <c:v>108</c:v>
                </c:pt>
                <c:pt idx="5">
                  <c:v>103</c:v>
                </c:pt>
              </c:numCache>
            </c:numRef>
          </c:val>
          <c:smooth val="0"/>
          <c:extLst>
            <c:ext xmlns:c16="http://schemas.microsoft.com/office/drawing/2014/chart" uri="{C3380CC4-5D6E-409C-BE32-E72D297353CC}">
              <c16:uniqueId val="{00000000-20DA-7D45-8702-FDC4CD8BA649}"/>
            </c:ext>
          </c:extLst>
        </c:ser>
        <c:dLbls>
          <c:showLegendKey val="0"/>
          <c:showVal val="0"/>
          <c:showCatName val="0"/>
          <c:showSerName val="0"/>
          <c:showPercent val="0"/>
          <c:showBubbleSize val="0"/>
        </c:dLbls>
        <c:hiLowLines>
          <c:spPr>
            <a:ln w="0">
              <a:noFill/>
            </a:ln>
          </c:spPr>
        </c:hiLowLines>
        <c:smooth val="0"/>
        <c:axId val="38201886"/>
        <c:axId val="46380148"/>
      </c:lineChart>
      <c:catAx>
        <c:axId val="38201886"/>
        <c:scaling>
          <c:orientation val="minMax"/>
        </c:scaling>
        <c:delete val="0"/>
        <c:axPos val="b"/>
        <c:numFmt formatCode="General" sourceLinked="1"/>
        <c:majorTickMark val="out"/>
        <c:minorTickMark val="none"/>
        <c:tickLblPos val="nextTo"/>
        <c:spPr>
          <a:ln w="9360">
            <a:solidFill>
              <a:srgbClr val="E1E0D9"/>
            </a:solidFill>
            <a:round/>
          </a:ln>
        </c:spPr>
        <c:txPr>
          <a:bodyPr/>
          <a:lstStyle/>
          <a:p>
            <a:pPr>
              <a:defRPr sz="900" b="0" strike="noStrike" spc="-1">
                <a:solidFill>
                  <a:srgbClr val="898781"/>
                </a:solidFill>
                <a:latin typeface="Calibri"/>
              </a:defRPr>
            </a:pPr>
            <a:endParaRPr lang="en-FI"/>
          </a:p>
        </c:txPr>
        <c:crossAx val="46380148"/>
        <c:crosses val="autoZero"/>
        <c:auto val="1"/>
        <c:lblAlgn val="ctr"/>
        <c:lblOffset val="100"/>
        <c:noMultiLvlLbl val="0"/>
      </c:catAx>
      <c:valAx>
        <c:axId val="46380148"/>
        <c:scaling>
          <c:orientation val="minMax"/>
        </c:scaling>
        <c:delete val="1"/>
        <c:axPos val="l"/>
        <c:numFmt formatCode="General" sourceLinked="1"/>
        <c:majorTickMark val="out"/>
        <c:minorTickMark val="none"/>
        <c:tickLblPos val="nextTo"/>
        <c:crossAx val="38201886"/>
        <c:crosses val="autoZero"/>
        <c:crossBetween val="between"/>
      </c:valAx>
      <c:spPr>
        <a:noFill/>
        <a:ln w="0">
          <a:noFill/>
        </a:ln>
      </c:spPr>
    </c:plotArea>
    <c:plotVisOnly val="1"/>
    <c:dispBlanksAs val="gap"/>
    <c:showDLblsOverMax val="1"/>
  </c:chart>
  <c:spPr>
    <a:noFill/>
    <a:ln w="0">
      <a:noFill/>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0"/>
  <c:style val="2"/>
  <c:chart>
    <c:autoTitleDeleted val="1"/>
    <c:plotArea>
      <c:layout/>
      <c:lineChart>
        <c:grouping val="standard"/>
        <c:varyColors val="0"/>
        <c:ser>
          <c:idx val="0"/>
          <c:order val="0"/>
          <c:tx>
            <c:strRef>
              <c:f>label 0</c:f>
              <c:strCache>
                <c:ptCount val="1"/>
                <c:pt idx="0">
                  <c:v>v</c:v>
                </c:pt>
              </c:strCache>
            </c:strRef>
          </c:tx>
          <c:spPr>
            <a:ln w="19080">
              <a:solidFill>
                <a:srgbClr val="52514E"/>
              </a:solidFill>
              <a:round/>
            </a:ln>
          </c:spPr>
          <c:marker>
            <c:symbol val="none"/>
          </c:marker>
          <c:dLbls>
            <c:spPr>
              <a:noFill/>
              <a:ln>
                <a:noFill/>
              </a:ln>
              <a:effectLst/>
            </c:spPr>
            <c:txPr>
              <a:bodyPr wrap="none"/>
              <a:lstStyle/>
              <a:p>
                <a:pPr>
                  <a:defRPr sz="1000" b="0" strike="noStrike" spc="-1">
                    <a:solidFill>
                      <a:srgbClr val="000000"/>
                    </a:solidFill>
                    <a:latin typeface="Arial"/>
                  </a:defRPr>
                </a:pPr>
                <a:endParaRPr lang="en-FI"/>
              </a:p>
            </c:tx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categories</c:f>
              <c:strCache>
                <c:ptCount val="6"/>
                <c:pt idx="0">
                  <c:v>J</c:v>
                </c:pt>
                <c:pt idx="1">
                  <c:v>F</c:v>
                </c:pt>
                <c:pt idx="2">
                  <c:v>M</c:v>
                </c:pt>
                <c:pt idx="3">
                  <c:v>A</c:v>
                </c:pt>
                <c:pt idx="4">
                  <c:v>M</c:v>
                </c:pt>
                <c:pt idx="5">
                  <c:v>J</c:v>
                </c:pt>
              </c:strCache>
            </c:strRef>
          </c:cat>
          <c:val>
            <c:numRef>
              <c:f>0</c:f>
              <c:numCache>
                <c:formatCode>General</c:formatCode>
                <c:ptCount val="6"/>
                <c:pt idx="0">
                  <c:v>119</c:v>
                </c:pt>
                <c:pt idx="1">
                  <c:v>116</c:v>
                </c:pt>
                <c:pt idx="2">
                  <c:v>121</c:v>
                </c:pt>
                <c:pt idx="3">
                  <c:v>118</c:v>
                </c:pt>
                <c:pt idx="4">
                  <c:v>122</c:v>
                </c:pt>
                <c:pt idx="5">
                  <c:v>120</c:v>
                </c:pt>
              </c:numCache>
            </c:numRef>
          </c:val>
          <c:smooth val="0"/>
          <c:extLst>
            <c:ext xmlns:c16="http://schemas.microsoft.com/office/drawing/2014/chart" uri="{C3380CC4-5D6E-409C-BE32-E72D297353CC}">
              <c16:uniqueId val="{00000000-C9AA-3340-BEEC-D86FECA25F3A}"/>
            </c:ext>
          </c:extLst>
        </c:ser>
        <c:dLbls>
          <c:showLegendKey val="0"/>
          <c:showVal val="0"/>
          <c:showCatName val="0"/>
          <c:showSerName val="0"/>
          <c:showPercent val="0"/>
          <c:showBubbleSize val="0"/>
        </c:dLbls>
        <c:hiLowLines>
          <c:spPr>
            <a:ln w="0">
              <a:noFill/>
            </a:ln>
          </c:spPr>
        </c:hiLowLines>
        <c:smooth val="0"/>
        <c:axId val="40304344"/>
        <c:axId val="51219621"/>
      </c:lineChart>
      <c:catAx>
        <c:axId val="40304344"/>
        <c:scaling>
          <c:orientation val="minMax"/>
        </c:scaling>
        <c:delete val="0"/>
        <c:axPos val="b"/>
        <c:numFmt formatCode="General" sourceLinked="1"/>
        <c:majorTickMark val="out"/>
        <c:minorTickMark val="none"/>
        <c:tickLblPos val="nextTo"/>
        <c:spPr>
          <a:ln w="9360">
            <a:solidFill>
              <a:srgbClr val="E1E0D9"/>
            </a:solidFill>
            <a:round/>
          </a:ln>
        </c:spPr>
        <c:txPr>
          <a:bodyPr/>
          <a:lstStyle/>
          <a:p>
            <a:pPr>
              <a:defRPr sz="900" b="0" strike="noStrike" spc="-1">
                <a:solidFill>
                  <a:srgbClr val="898781"/>
                </a:solidFill>
                <a:latin typeface="Calibri"/>
              </a:defRPr>
            </a:pPr>
            <a:endParaRPr lang="en-FI"/>
          </a:p>
        </c:txPr>
        <c:crossAx val="51219621"/>
        <c:crosses val="autoZero"/>
        <c:auto val="1"/>
        <c:lblAlgn val="ctr"/>
        <c:lblOffset val="100"/>
        <c:noMultiLvlLbl val="0"/>
      </c:catAx>
      <c:valAx>
        <c:axId val="51219621"/>
        <c:scaling>
          <c:orientation val="minMax"/>
        </c:scaling>
        <c:delete val="1"/>
        <c:axPos val="l"/>
        <c:numFmt formatCode="General" sourceLinked="1"/>
        <c:majorTickMark val="out"/>
        <c:minorTickMark val="none"/>
        <c:tickLblPos val="nextTo"/>
        <c:crossAx val="40304344"/>
        <c:crosses val="autoZero"/>
        <c:crossBetween val="between"/>
      </c:valAx>
      <c:spPr>
        <a:noFill/>
        <a:ln w="0">
          <a:noFill/>
        </a:ln>
      </c:spPr>
    </c:plotArea>
    <c:plotVisOnly val="1"/>
    <c:dispBlanksAs val="gap"/>
    <c:showDLblsOverMax val="1"/>
  </c:chart>
  <c:spPr>
    <a:noFill/>
    <a:ln w="0">
      <a:noFill/>
    </a:ln>
  </c:spPr>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0"/>
  <c:style val="2"/>
  <c:chart>
    <c:autoTitleDeleted val="1"/>
    <c:plotArea>
      <c:layout/>
      <c:lineChart>
        <c:grouping val="standard"/>
        <c:varyColors val="0"/>
        <c:ser>
          <c:idx val="0"/>
          <c:order val="0"/>
          <c:tx>
            <c:strRef>
              <c:f>label 0</c:f>
              <c:strCache>
                <c:ptCount val="1"/>
                <c:pt idx="0">
                  <c:v>v</c:v>
                </c:pt>
              </c:strCache>
            </c:strRef>
          </c:tx>
          <c:spPr>
            <a:ln w="19080">
              <a:solidFill>
                <a:srgbClr val="52514E"/>
              </a:solidFill>
              <a:round/>
            </a:ln>
          </c:spPr>
          <c:marker>
            <c:symbol val="none"/>
          </c:marker>
          <c:dLbls>
            <c:spPr>
              <a:noFill/>
              <a:ln>
                <a:noFill/>
              </a:ln>
              <a:effectLst/>
            </c:spPr>
            <c:txPr>
              <a:bodyPr wrap="none"/>
              <a:lstStyle/>
              <a:p>
                <a:pPr>
                  <a:defRPr sz="1000" b="0" strike="noStrike" spc="-1">
                    <a:solidFill>
                      <a:srgbClr val="000000"/>
                    </a:solidFill>
                    <a:latin typeface="Arial"/>
                  </a:defRPr>
                </a:pPr>
                <a:endParaRPr lang="en-FI"/>
              </a:p>
            </c:tx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categories</c:f>
              <c:strCache>
                <c:ptCount val="6"/>
                <c:pt idx="0">
                  <c:v>J</c:v>
                </c:pt>
                <c:pt idx="1">
                  <c:v>F</c:v>
                </c:pt>
                <c:pt idx="2">
                  <c:v>M</c:v>
                </c:pt>
                <c:pt idx="3">
                  <c:v>A</c:v>
                </c:pt>
                <c:pt idx="4">
                  <c:v>M</c:v>
                </c:pt>
                <c:pt idx="5">
                  <c:v>J</c:v>
                </c:pt>
              </c:strCache>
            </c:strRef>
          </c:cat>
          <c:val>
            <c:numRef>
              <c:f>0</c:f>
              <c:numCache>
                <c:formatCode>General</c:formatCode>
                <c:ptCount val="6"/>
                <c:pt idx="0">
                  <c:v>97</c:v>
                </c:pt>
                <c:pt idx="1">
                  <c:v>95</c:v>
                </c:pt>
                <c:pt idx="2">
                  <c:v>98</c:v>
                </c:pt>
                <c:pt idx="3">
                  <c:v>95</c:v>
                </c:pt>
                <c:pt idx="4">
                  <c:v>93</c:v>
                </c:pt>
                <c:pt idx="5">
                  <c:v>94</c:v>
                </c:pt>
              </c:numCache>
            </c:numRef>
          </c:val>
          <c:smooth val="0"/>
          <c:extLst>
            <c:ext xmlns:c16="http://schemas.microsoft.com/office/drawing/2014/chart" uri="{C3380CC4-5D6E-409C-BE32-E72D297353CC}">
              <c16:uniqueId val="{00000000-A2D0-444A-A6F7-F9C9A454245C}"/>
            </c:ext>
          </c:extLst>
        </c:ser>
        <c:dLbls>
          <c:showLegendKey val="0"/>
          <c:showVal val="0"/>
          <c:showCatName val="0"/>
          <c:showSerName val="0"/>
          <c:showPercent val="0"/>
          <c:showBubbleSize val="0"/>
        </c:dLbls>
        <c:hiLowLines>
          <c:spPr>
            <a:ln w="0">
              <a:noFill/>
            </a:ln>
          </c:spPr>
        </c:hiLowLines>
        <c:smooth val="0"/>
        <c:axId val="20347668"/>
        <c:axId val="3773022"/>
      </c:lineChart>
      <c:catAx>
        <c:axId val="20347668"/>
        <c:scaling>
          <c:orientation val="minMax"/>
        </c:scaling>
        <c:delete val="0"/>
        <c:axPos val="b"/>
        <c:numFmt formatCode="General" sourceLinked="1"/>
        <c:majorTickMark val="out"/>
        <c:minorTickMark val="none"/>
        <c:tickLblPos val="nextTo"/>
        <c:spPr>
          <a:ln w="9360">
            <a:solidFill>
              <a:srgbClr val="E1E0D9"/>
            </a:solidFill>
            <a:round/>
          </a:ln>
        </c:spPr>
        <c:txPr>
          <a:bodyPr/>
          <a:lstStyle/>
          <a:p>
            <a:pPr>
              <a:defRPr sz="900" b="0" strike="noStrike" spc="-1">
                <a:solidFill>
                  <a:srgbClr val="898781"/>
                </a:solidFill>
                <a:latin typeface="Calibri"/>
              </a:defRPr>
            </a:pPr>
            <a:endParaRPr lang="en-FI"/>
          </a:p>
        </c:txPr>
        <c:crossAx val="3773022"/>
        <c:crosses val="autoZero"/>
        <c:auto val="1"/>
        <c:lblAlgn val="ctr"/>
        <c:lblOffset val="100"/>
        <c:noMultiLvlLbl val="0"/>
      </c:catAx>
      <c:valAx>
        <c:axId val="3773022"/>
        <c:scaling>
          <c:orientation val="minMax"/>
        </c:scaling>
        <c:delete val="1"/>
        <c:axPos val="l"/>
        <c:numFmt formatCode="General" sourceLinked="1"/>
        <c:majorTickMark val="out"/>
        <c:minorTickMark val="none"/>
        <c:tickLblPos val="nextTo"/>
        <c:crossAx val="20347668"/>
        <c:crosses val="autoZero"/>
        <c:crossBetween val="between"/>
      </c:valAx>
      <c:spPr>
        <a:noFill/>
        <a:ln w="0">
          <a:noFill/>
        </a:ln>
      </c:spPr>
    </c:plotArea>
    <c:plotVisOnly val="1"/>
    <c:dispBlanksAs val="gap"/>
    <c:showDLblsOverMax val="1"/>
  </c:chart>
  <c:spPr>
    <a:noFill/>
    <a:ln w="0">
      <a:noFill/>
    </a:ln>
  </c:spPr>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0"/>
  <c:style val="2"/>
  <c:chart>
    <c:autoTitleDeleted val="1"/>
    <c:plotArea>
      <c:layout/>
      <c:lineChart>
        <c:grouping val="standard"/>
        <c:varyColors val="0"/>
        <c:ser>
          <c:idx val="0"/>
          <c:order val="0"/>
          <c:tx>
            <c:strRef>
              <c:f>label 0</c:f>
              <c:strCache>
                <c:ptCount val="1"/>
                <c:pt idx="0">
                  <c:v>v</c:v>
                </c:pt>
              </c:strCache>
            </c:strRef>
          </c:tx>
          <c:spPr>
            <a:ln w="19080">
              <a:solidFill>
                <a:srgbClr val="52514E"/>
              </a:solidFill>
              <a:round/>
            </a:ln>
          </c:spPr>
          <c:marker>
            <c:symbol val="none"/>
          </c:marker>
          <c:dLbls>
            <c:spPr>
              <a:noFill/>
              <a:ln>
                <a:noFill/>
              </a:ln>
              <a:effectLst/>
            </c:spPr>
            <c:txPr>
              <a:bodyPr wrap="none"/>
              <a:lstStyle/>
              <a:p>
                <a:pPr>
                  <a:defRPr sz="1000" b="0" strike="noStrike" spc="-1">
                    <a:solidFill>
                      <a:srgbClr val="000000"/>
                    </a:solidFill>
                    <a:latin typeface="Arial"/>
                  </a:defRPr>
                </a:pPr>
                <a:endParaRPr lang="en-FI"/>
              </a:p>
            </c:tx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categories</c:f>
              <c:strCache>
                <c:ptCount val="6"/>
                <c:pt idx="0">
                  <c:v>J</c:v>
                </c:pt>
                <c:pt idx="1">
                  <c:v>F</c:v>
                </c:pt>
                <c:pt idx="2">
                  <c:v>M</c:v>
                </c:pt>
                <c:pt idx="3">
                  <c:v>A</c:v>
                </c:pt>
                <c:pt idx="4">
                  <c:v>M</c:v>
                </c:pt>
                <c:pt idx="5">
                  <c:v>J</c:v>
                </c:pt>
              </c:strCache>
            </c:strRef>
          </c:cat>
          <c:val>
            <c:numRef>
              <c:f>0</c:f>
              <c:numCache>
                <c:formatCode>General</c:formatCode>
                <c:ptCount val="6"/>
                <c:pt idx="0">
                  <c:v>88</c:v>
                </c:pt>
                <c:pt idx="1">
                  <c:v>86</c:v>
                </c:pt>
                <c:pt idx="2">
                  <c:v>92</c:v>
                </c:pt>
                <c:pt idx="3">
                  <c:v>88</c:v>
                </c:pt>
                <c:pt idx="4">
                  <c:v>84</c:v>
                </c:pt>
                <c:pt idx="5">
                  <c:v>86</c:v>
                </c:pt>
              </c:numCache>
            </c:numRef>
          </c:val>
          <c:smooth val="0"/>
          <c:extLst>
            <c:ext xmlns:c16="http://schemas.microsoft.com/office/drawing/2014/chart" uri="{C3380CC4-5D6E-409C-BE32-E72D297353CC}">
              <c16:uniqueId val="{00000000-F56F-A242-87DE-CE61EA7C9745}"/>
            </c:ext>
          </c:extLst>
        </c:ser>
        <c:dLbls>
          <c:showLegendKey val="0"/>
          <c:showVal val="0"/>
          <c:showCatName val="0"/>
          <c:showSerName val="0"/>
          <c:showPercent val="0"/>
          <c:showBubbleSize val="0"/>
        </c:dLbls>
        <c:hiLowLines>
          <c:spPr>
            <a:ln w="0">
              <a:noFill/>
            </a:ln>
          </c:spPr>
        </c:hiLowLines>
        <c:smooth val="0"/>
        <c:axId val="78965775"/>
        <c:axId val="53313490"/>
      </c:lineChart>
      <c:catAx>
        <c:axId val="78965775"/>
        <c:scaling>
          <c:orientation val="minMax"/>
        </c:scaling>
        <c:delete val="0"/>
        <c:axPos val="b"/>
        <c:numFmt formatCode="General" sourceLinked="1"/>
        <c:majorTickMark val="out"/>
        <c:minorTickMark val="none"/>
        <c:tickLblPos val="nextTo"/>
        <c:spPr>
          <a:ln w="9360">
            <a:solidFill>
              <a:srgbClr val="E1E0D9"/>
            </a:solidFill>
            <a:round/>
          </a:ln>
        </c:spPr>
        <c:txPr>
          <a:bodyPr/>
          <a:lstStyle/>
          <a:p>
            <a:pPr>
              <a:defRPr sz="900" b="0" strike="noStrike" spc="-1">
                <a:solidFill>
                  <a:srgbClr val="898781"/>
                </a:solidFill>
                <a:latin typeface="Calibri"/>
              </a:defRPr>
            </a:pPr>
            <a:endParaRPr lang="en-FI"/>
          </a:p>
        </c:txPr>
        <c:crossAx val="53313490"/>
        <c:crosses val="autoZero"/>
        <c:auto val="1"/>
        <c:lblAlgn val="ctr"/>
        <c:lblOffset val="100"/>
        <c:noMultiLvlLbl val="0"/>
      </c:catAx>
      <c:valAx>
        <c:axId val="53313490"/>
        <c:scaling>
          <c:orientation val="minMax"/>
        </c:scaling>
        <c:delete val="1"/>
        <c:axPos val="l"/>
        <c:numFmt formatCode="General" sourceLinked="1"/>
        <c:majorTickMark val="out"/>
        <c:minorTickMark val="none"/>
        <c:tickLblPos val="nextTo"/>
        <c:crossAx val="78965775"/>
        <c:crosses val="autoZero"/>
        <c:crossBetween val="between"/>
      </c:valAx>
      <c:spPr>
        <a:noFill/>
        <a:ln w="0">
          <a:noFill/>
        </a:ln>
      </c:spPr>
    </c:plotArea>
    <c:plotVisOnly val="1"/>
    <c:dispBlanksAs val="gap"/>
    <c:showDLblsOverMax val="1"/>
  </c:chart>
  <c:spPr>
    <a:noFill/>
    <a:ln w="0">
      <a:noFill/>
    </a:ln>
  </c:spPr>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4">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330" kern="120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cs:styleClr val="auto"/>
    </cs:fontRef>
    <cs:spPr/>
    <cs:defRPr sz="1197" b="1" i="0" u="none" strike="noStrike" kern="1200" baseline="0"/>
  </cs:dataLabel>
  <cs:dataLabelCallout>
    <cs:lnRef idx="0"/>
    <cs:fillRef idx="0"/>
    <cs:effectRef idx="0"/>
    <cs:fontRef idx="minor">
      <a:schemeClr val="dk1">
        <a:lumMod val="65000"/>
        <a:lumOff val="35000"/>
      </a:schemeClr>
    </cs:fontRef>
    <cs:spPr>
      <a:solidFill>
        <a:schemeClr val="lt1"/>
      </a:solidFill>
      <a:ln w="9575">
        <a:solidFill>
          <a:schemeClr val="lt1">
            <a:lumMod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19050" cap="rnd" cmpd="sng" algn="ctr">
        <a:solidFill>
          <a:schemeClr val="phClr">
            <a:shade val="95000"/>
            <a:satMod val="105000"/>
          </a:schemeClr>
        </a:solidFill>
        <a:round/>
      </a:ln>
    </cs:spPr>
  </cs:dataPointLine>
  <cs:dataPointMarker>
    <cs:lnRef idx="0"/>
    <cs:fillRef idx="0"/>
    <cs:effectRef idx="0"/>
    <cs:fontRef idx="minor">
      <a:schemeClr val="dk1"/>
    </cs:fontRef>
    <cs:spPr>
      <a:solidFill>
        <a:schemeClr val="lt1"/>
      </a:solidFill>
    </cs:spPr>
  </cs:dataPointMarker>
  <cs:dataPointMarkerLayout symbol="circle" size="17"/>
  <cs:dataPointWireframe>
    <cs:lnRef idx="0">
      <cs:styleClr val="auto"/>
    </cs:lnRef>
    <cs:fillRef idx="1"/>
    <cs:effectRef idx="0"/>
    <cs:fontRef idx="minor">
      <a:schemeClr val="dk1"/>
    </cs:fontRef>
    <cs:spPr>
      <a:ln w="9525">
        <a:solidFill>
          <a:schemeClr val="phClr"/>
        </a:solidFill>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35000"/>
            <a:lumOff val="65000"/>
          </a:schemeClr>
        </a:solidFill>
      </a:ln>
    </cs:spPr>
  </cs:dropLine>
  <cs:errorBar>
    <cs:lnRef idx="0"/>
    <cs:fillRef idx="0"/>
    <cs:effectRef idx="0"/>
    <cs:fontRef idx="minor">
      <a:schemeClr val="dk1"/>
    </cs:fontRef>
    <cs:spPr>
      <a:ln w="9525">
        <a:solidFill>
          <a:schemeClr val="dk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ln>
    </cs:spPr>
  </cs:seriesLine>
  <cs:title>
    <cs:lnRef idx="0"/>
    <cs:fillRef idx="0"/>
    <cs:effectRef idx="0"/>
    <cs:fontRef idx="minor">
      <a:schemeClr val="dk1"/>
    </cs:fontRef>
    <cs:defRPr sz="1915" b="0" kern="1200" cap="all" spc="0" baseline="0">
      <a:gradFill>
        <a:gsLst>
          <a:gs pos="0">
            <a:schemeClr val="dk1">
              <a:lumMod val="50000"/>
              <a:lumOff val="50000"/>
            </a:schemeClr>
          </a:gs>
          <a:gs pos="100000">
            <a:schemeClr val="dk1">
              <a:lumMod val="85000"/>
              <a:lumOff val="15000"/>
            </a:schemeClr>
          </a:gs>
        </a:gsLst>
        <a:lin ang="5400000" scaled="0"/>
      </a:gradFill>
    </cs:defRPr>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50000"/>
            <a:lumOff val="50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FI"/>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3DC6F9A5-A39E-4B4F-8B4F-DA6654ABD2CA}" type="datetimeFigureOut">
              <a:rPr lang="en-FI" smtClean="0"/>
              <a:t>29.9.2026</a:t>
            </a:fld>
            <a:endParaRPr lang="en-FI"/>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FI"/>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FI"/>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20BE483C-406A-1740-8722-FA37B96224A5}" type="slidenum">
              <a:rPr lang="en-FI" smtClean="0"/>
              <a:t>‹#›</a:t>
            </a:fld>
            <a:endParaRPr lang="en-FI"/>
          </a:p>
        </p:txBody>
      </p:sp>
    </p:spTree>
    <p:extLst>
      <p:ext uri="{BB962C8B-B14F-4D97-AF65-F5344CB8AC3E}">
        <p14:creationId xmlns:p14="http://schemas.microsoft.com/office/powerpoint/2010/main" val="409599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I" dirty="0"/>
          </a:p>
        </p:txBody>
      </p:sp>
      <p:sp>
        <p:nvSpPr>
          <p:cNvPr id="4" name="Slide Number Placeholder 3"/>
          <p:cNvSpPr>
            <a:spLocks noGrp="1"/>
          </p:cNvSpPr>
          <p:nvPr>
            <p:ph type="sldNum" sz="quarter" idx="5"/>
          </p:nvPr>
        </p:nvSpPr>
        <p:spPr/>
        <p:txBody>
          <a:bodyPr/>
          <a:lstStyle/>
          <a:p>
            <a:fld id="{20BE483C-406A-1740-8722-FA37B96224A5}" type="slidenum">
              <a:rPr lang="en-FI" smtClean="0"/>
              <a:t>6</a:t>
            </a:fld>
            <a:endParaRPr lang="en-FI"/>
          </a:p>
        </p:txBody>
      </p:sp>
    </p:spTree>
    <p:extLst>
      <p:ext uri="{BB962C8B-B14F-4D97-AF65-F5344CB8AC3E}">
        <p14:creationId xmlns:p14="http://schemas.microsoft.com/office/powerpoint/2010/main" val="3491512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5" name="PlaceHolder 2"/>
          <p:cNvSpPr>
            <a:spLocks noGrp="1"/>
          </p:cNvSpPr>
          <p:nvPr>
            <p:ph type="subTitle"/>
          </p:nvPr>
        </p:nvSpPr>
        <p:spPr>
          <a:xfrm>
            <a:off x="609480" y="1604520"/>
            <a:ext cx="1097208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2" name="PlaceHolder 3"/>
          <p:cNvSpPr>
            <a:spLocks noGrp="1"/>
          </p:cNvSpPr>
          <p:nvPr>
            <p:ph type="ftr" idx="2"/>
          </p:nvPr>
        </p:nvSpPr>
        <p:spPr/>
        <p:txBody>
          <a:bodyPr/>
          <a:lstStyle/>
          <a:p>
            <a:r>
              <a:t>Footer</a:t>
            </a:r>
          </a:p>
        </p:txBody>
      </p:sp>
      <p:sp>
        <p:nvSpPr>
          <p:cNvPr id="3" name="PlaceHolder 4"/>
          <p:cNvSpPr>
            <a:spLocks noGrp="1"/>
          </p:cNvSpPr>
          <p:nvPr>
            <p:ph type="sldNum" idx="3"/>
          </p:nvPr>
        </p:nvSpPr>
        <p:spPr/>
        <p:txBody>
          <a:bodyPr/>
          <a:lstStyle/>
          <a:p>
            <a:fld id="{C9BF27BA-4E35-4EB2-94EA-47EDB9104CE8}"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269F8E75-6903-4552-9FA1-D757134B679A}" type="slidenum">
              <a:t>‹#›</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lstStyle/>
          <a:p>
            <a:r>
              <a:t>Footer</a:t>
            </a:r>
          </a:p>
        </p:txBody>
      </p:sp>
      <p:sp>
        <p:nvSpPr>
          <p:cNvPr id="3" name="PlaceHolder 2"/>
          <p:cNvSpPr>
            <a:spLocks noGrp="1"/>
          </p:cNvSpPr>
          <p:nvPr>
            <p:ph type="sldNum" idx="9"/>
          </p:nvPr>
        </p:nvSpPr>
        <p:spPr/>
        <p:txBody>
          <a:bodyPr/>
          <a:lstStyle/>
          <a:p>
            <a:fld id="{1AED372E-12BC-458D-B2DA-E7A4BEFCFEC5}" type="slidenum">
              <a:t>‹#›</a:t>
            </a:fld>
            <a:endParaRPr/>
          </a:p>
        </p:txBody>
      </p:sp>
      <p:sp>
        <p:nvSpPr>
          <p:cNvPr id="4" name="PlaceHolder 3"/>
          <p:cNvSpPr>
            <a:spLocks noGrp="1"/>
          </p:cNvSpPr>
          <p:nvPr>
            <p:ph type="dt" idx="7"/>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22" name="PlaceHolder 2"/>
          <p:cNvSpPr>
            <a:spLocks noGrp="1"/>
          </p:cNvSpPr>
          <p:nvPr>
            <p:ph/>
          </p:nvPr>
        </p:nvSpPr>
        <p:spPr>
          <a:xfrm>
            <a:off x="609480" y="1604520"/>
            <a:ext cx="109720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chemeClr val="dk1"/>
              </a:solidFill>
              <a:latin typeface="Calibri"/>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DE7D3EB6-FA0E-4E88-87BE-BD605D22E68E}" type="slidenum">
              <a:t>‹#›</a:t>
            </a:fld>
            <a:endParaRPr/>
          </a:p>
        </p:txBody>
      </p:sp>
      <p:sp>
        <p:nvSpPr>
          <p:cNvPr id="6" name="PlaceHolder 5"/>
          <p:cNvSpPr>
            <a:spLocks noGrp="1"/>
          </p:cNvSpPr>
          <p:nvPr>
            <p:ph type="dt" idx="10"/>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lstStyle/>
          <a:p>
            <a:r>
              <a:t>Footer</a:t>
            </a:r>
          </a:p>
        </p:txBody>
      </p:sp>
      <p:sp>
        <p:nvSpPr>
          <p:cNvPr id="3" name="PlaceHolder 2"/>
          <p:cNvSpPr>
            <a:spLocks noGrp="1"/>
          </p:cNvSpPr>
          <p:nvPr>
            <p:ph type="sldNum" idx="15"/>
          </p:nvPr>
        </p:nvSpPr>
        <p:spPr/>
        <p:txBody>
          <a:bodyPr/>
          <a:lstStyle/>
          <a:p>
            <a:fld id="{26B5AA64-BE82-4836-B5EA-AA2E22DD66B4}" type="slidenum">
              <a:t>‹#›</a:t>
            </a:fld>
            <a:endParaRPr/>
          </a:p>
        </p:txBody>
      </p:sp>
      <p:sp>
        <p:nvSpPr>
          <p:cNvPr id="4" name="PlaceHolder 3"/>
          <p:cNvSpPr>
            <a:spLocks noGrp="1"/>
          </p:cNvSpPr>
          <p:nvPr>
            <p:ph type="dt" idx="1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chemeClr val="dk1"/>
              </a:solidFill>
              <a:latin typeface="Calibri"/>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chemeClr val="dk1"/>
              </a:solidFill>
              <a:latin typeface="Calibri"/>
            </a:endParaRPr>
          </a:p>
        </p:txBody>
      </p:sp>
      <p:sp>
        <p:nvSpPr>
          <p:cNvPr id="5" name="PlaceHolder 4"/>
          <p:cNvSpPr>
            <a:spLocks noGrp="1"/>
          </p:cNvSpPr>
          <p:nvPr>
            <p:ph type="ftr" idx="17"/>
          </p:nvPr>
        </p:nvSpPr>
        <p:spPr/>
        <p:txBody>
          <a:bodyPr/>
          <a:lstStyle/>
          <a:p>
            <a:r>
              <a:t>Footer</a:t>
            </a:r>
          </a:p>
        </p:txBody>
      </p:sp>
      <p:sp>
        <p:nvSpPr>
          <p:cNvPr id="6" name="PlaceHolder 5"/>
          <p:cNvSpPr>
            <a:spLocks noGrp="1"/>
          </p:cNvSpPr>
          <p:nvPr>
            <p:ph type="sldNum" idx="18"/>
          </p:nvPr>
        </p:nvSpPr>
        <p:spPr/>
        <p:txBody>
          <a:bodyPr/>
          <a:lstStyle/>
          <a:p>
            <a:fld id="{3813AE34-D393-4076-AE82-6B2E377EC89F}" type="slidenum">
              <a:t>‹#›</a:t>
            </a:fld>
            <a:endParaRPr/>
          </a:p>
        </p:txBody>
      </p:sp>
      <p:sp>
        <p:nvSpPr>
          <p:cNvPr id="7" name="PlaceHolder 6"/>
          <p:cNvSpPr>
            <a:spLocks noGrp="1"/>
          </p:cNvSpPr>
          <p:nvPr>
            <p:ph type="dt" idx="16"/>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lstStyle/>
          <a:p>
            <a:r>
              <a:t>Footer</a:t>
            </a:r>
          </a:p>
        </p:txBody>
      </p:sp>
      <p:sp>
        <p:nvSpPr>
          <p:cNvPr id="3" name="PlaceHolder 2"/>
          <p:cNvSpPr>
            <a:spLocks noGrp="1"/>
          </p:cNvSpPr>
          <p:nvPr>
            <p:ph type="sldNum" idx="21"/>
          </p:nvPr>
        </p:nvSpPr>
        <p:spPr/>
        <p:txBody>
          <a:bodyPr/>
          <a:lstStyle/>
          <a:p>
            <a:fld id="{1DAA68F2-A8D9-4CC4-A046-2E5B0576CF40}" type="slidenum">
              <a:t>‹#›</a:t>
            </a:fld>
            <a:endParaRPr/>
          </a:p>
        </p:txBody>
      </p:sp>
      <p:sp>
        <p:nvSpPr>
          <p:cNvPr id="4" name="PlaceHolder 3"/>
          <p:cNvSpPr>
            <a:spLocks noGrp="1"/>
          </p:cNvSpPr>
          <p:nvPr>
            <p:ph type="dt" idx="19"/>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3" name="PlaceHolder 2"/>
          <p:cNvSpPr>
            <a:spLocks noGrp="1"/>
          </p:cNvSpPr>
          <p:nvPr>
            <p:ph type="ftr" idx="23"/>
          </p:nvPr>
        </p:nvSpPr>
        <p:spPr/>
        <p:txBody>
          <a:bodyPr/>
          <a:lstStyle/>
          <a:p>
            <a:r>
              <a:t>Footer</a:t>
            </a:r>
          </a:p>
        </p:txBody>
      </p:sp>
      <p:sp>
        <p:nvSpPr>
          <p:cNvPr id="4" name="PlaceHolder 3"/>
          <p:cNvSpPr>
            <a:spLocks noGrp="1"/>
          </p:cNvSpPr>
          <p:nvPr>
            <p:ph type="sldNum" idx="24"/>
          </p:nvPr>
        </p:nvSpPr>
        <p:spPr/>
        <p:txBody>
          <a:bodyPr/>
          <a:lstStyle/>
          <a:p>
            <a:fld id="{A1FB9C30-4839-493B-8BA6-F705E5ABBF95}" type="slidenum">
              <a:t>‹#›</a:t>
            </a:fld>
            <a:endParaRPr/>
          </a:p>
        </p:txBody>
      </p:sp>
      <p:sp>
        <p:nvSpPr>
          <p:cNvPr id="5" name="PlaceHolder 4"/>
          <p:cNvSpPr>
            <a:spLocks noGrp="1"/>
          </p:cNvSpPr>
          <p:nvPr>
            <p:ph type="dt" idx="22"/>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lstStyle/>
          <a:p>
            <a:r>
              <a:t>Footer</a:t>
            </a:r>
          </a:p>
        </p:txBody>
      </p:sp>
      <p:sp>
        <p:nvSpPr>
          <p:cNvPr id="3" name="PlaceHolder 2"/>
          <p:cNvSpPr>
            <a:spLocks noGrp="1"/>
          </p:cNvSpPr>
          <p:nvPr>
            <p:ph type="sldNum" idx="27"/>
          </p:nvPr>
        </p:nvSpPr>
        <p:spPr/>
        <p:txBody>
          <a:bodyPr/>
          <a:lstStyle/>
          <a:p>
            <a:fld id="{E997B045-AAB5-49FC-9CCC-B9F4C63FE34B}" type="slidenum">
              <a:t>‹#›</a:t>
            </a:fld>
            <a:endParaRPr/>
          </a:p>
        </p:txBody>
      </p:sp>
      <p:sp>
        <p:nvSpPr>
          <p:cNvPr id="4" name="PlaceHolder 3"/>
          <p:cNvSpPr>
            <a:spLocks noGrp="1"/>
          </p:cNvSpPr>
          <p:nvPr>
            <p:ph type="dt" idx="25"/>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lstStyle/>
          <a:p>
            <a:r>
              <a:t>Footer</a:t>
            </a:r>
          </a:p>
        </p:txBody>
      </p:sp>
      <p:sp>
        <p:nvSpPr>
          <p:cNvPr id="3" name="PlaceHolder 2"/>
          <p:cNvSpPr>
            <a:spLocks noGrp="1"/>
          </p:cNvSpPr>
          <p:nvPr>
            <p:ph type="sldNum" idx="30"/>
          </p:nvPr>
        </p:nvSpPr>
        <p:spPr/>
        <p:txBody>
          <a:bodyPr/>
          <a:lstStyle/>
          <a:p>
            <a:fld id="{E29E11FB-AD1E-4F36-8127-4224855D017C}" type="slidenum">
              <a:t>‹#›</a:t>
            </a:fld>
            <a:endParaRPr/>
          </a:p>
        </p:txBody>
      </p:sp>
      <p:sp>
        <p:nvSpPr>
          <p:cNvPr id="4" name="PlaceHolder 3"/>
          <p:cNvSpPr>
            <a:spLocks noGrp="1"/>
          </p:cNvSpPr>
          <p:nvPr>
            <p:ph type="dt" idx="28"/>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lstStyle/>
          <a:p>
            <a:r>
              <a:t>Footer</a:t>
            </a:r>
          </a:p>
        </p:txBody>
      </p:sp>
      <p:sp>
        <p:nvSpPr>
          <p:cNvPr id="3" name="PlaceHolder 2"/>
          <p:cNvSpPr>
            <a:spLocks noGrp="1"/>
          </p:cNvSpPr>
          <p:nvPr>
            <p:ph type="sldNum" idx="33"/>
          </p:nvPr>
        </p:nvSpPr>
        <p:spPr/>
        <p:txBody>
          <a:bodyPr/>
          <a:lstStyle/>
          <a:p>
            <a:fld id="{A2E8FB96-48D8-4F55-A555-E1E754AB2AFC}" type="slidenum">
              <a:t>‹#›</a:t>
            </a:fld>
            <a:endParaRPr/>
          </a:p>
        </p:txBody>
      </p:sp>
      <p:sp>
        <p:nvSpPr>
          <p:cNvPr id="4" name="PlaceHolder 3"/>
          <p:cNvSpPr>
            <a:spLocks noGrp="1"/>
          </p:cNvSpPr>
          <p:nvPr>
            <p:ph type="dt" idx="3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strike="noStrike" spc="-1">
                <a:solidFill>
                  <a:schemeClr val="dk1"/>
                </a:solidFill>
                <a:latin typeface="Calibri"/>
              </a:rPr>
              <a:t>Click to edit Master title style</a:t>
            </a:r>
          </a:p>
        </p:txBody>
      </p:sp>
      <p:sp>
        <p:nvSpPr>
          <p:cNvPr id="5"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strike="noStrike" spc="-1">
                <a:solidFill>
                  <a:schemeClr val="dk1">
                    <a:tint val="75000"/>
                  </a:schemeClr>
                </a:solidFill>
                <a:latin typeface="Calibri"/>
              </a:defRPr>
            </a:lvl1pPr>
          </a:lstStyle>
          <a:p>
            <a:pPr indent="0" defTabSz="4572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strike="noStrike" spc="-1">
                <a:solidFill>
                  <a:schemeClr val="dk1">
                    <a:tint val="75000"/>
                  </a:schemeClr>
                </a:solidFill>
                <a:latin typeface="Calibri"/>
              </a:defRPr>
            </a:lvl1pPr>
          </a:lstStyle>
          <a:p>
            <a:pPr indent="0" algn="r" defTabSz="457200">
              <a:lnSpc>
                <a:spcPct val="100000"/>
              </a:lnSpc>
              <a:buNone/>
            </a:pPr>
            <a:fld id="{31FFAE82-7ECE-4E4E-92FA-DF01FAE3FD5B}"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strike="noStrike" spc="-1">
                <a:solidFill>
                  <a:schemeClr val="dk1"/>
                </a:solidFill>
                <a:latin typeface="Calibri"/>
              </a:rPr>
              <a:t>Click to edit Master title style</a:t>
            </a:r>
          </a:p>
        </p:txBody>
      </p:sp>
      <p:sp>
        <p:nvSpPr>
          <p:cNvPr id="7"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p>
            <a:pPr marL="343080" indent="-343080" defTabSz="457200">
              <a:lnSpc>
                <a:spcPct val="100000"/>
              </a:lnSpc>
              <a:spcBef>
                <a:spcPts val="641"/>
              </a:spcBef>
              <a:buClr>
                <a:srgbClr val="000000"/>
              </a:buClr>
              <a:buFont typeface="Arial"/>
              <a:buChar char="•"/>
            </a:pPr>
            <a:r>
              <a:rPr lang="en-US" sz="3200" b="0" strike="noStrike" spc="-1">
                <a:solidFill>
                  <a:schemeClr val="dk1"/>
                </a:solidFill>
                <a:latin typeface="Calibri"/>
              </a:rPr>
              <a:t>Click to edit Master text styles</a:t>
            </a:r>
          </a:p>
          <a:p>
            <a:pPr marL="743040" lvl="1" indent="-285840" defTabSz="457200">
              <a:lnSpc>
                <a:spcPct val="100000"/>
              </a:lnSpc>
              <a:spcBef>
                <a:spcPts val="561"/>
              </a:spcBef>
              <a:buClr>
                <a:srgbClr val="000000"/>
              </a:buClr>
              <a:buFont typeface="Arial"/>
              <a:buChar char="–"/>
            </a:pPr>
            <a:r>
              <a:rPr lang="en-US" sz="2800" b="0" strike="noStrike" spc="-1">
                <a:solidFill>
                  <a:schemeClr val="dk1"/>
                </a:solidFill>
                <a:latin typeface="Calibri"/>
              </a:rPr>
              <a:t>Second level</a:t>
            </a:r>
          </a:p>
          <a:p>
            <a:pPr marL="1143000" lvl="2" indent="-228600" defTabSz="457200">
              <a:lnSpc>
                <a:spcPct val="100000"/>
              </a:lnSpc>
              <a:spcBef>
                <a:spcPts val="479"/>
              </a:spcBef>
              <a:buClr>
                <a:srgbClr val="000000"/>
              </a:buClr>
              <a:buFont typeface="Arial"/>
              <a:buChar char="•"/>
            </a:pPr>
            <a:r>
              <a:rPr lang="en-US" sz="2400" b="0" strike="noStrike" spc="-1">
                <a:solidFill>
                  <a:schemeClr val="dk1"/>
                </a:solidFill>
                <a:latin typeface="Calibri"/>
              </a:rPr>
              <a:t>Third level</a:t>
            </a:r>
          </a:p>
          <a:p>
            <a:pPr marL="1600200" lvl="3" indent="-228600" defTabSz="457200">
              <a:lnSpc>
                <a:spcPct val="100000"/>
              </a:lnSpc>
              <a:spcBef>
                <a:spcPts val="400"/>
              </a:spcBef>
              <a:buClr>
                <a:srgbClr val="000000"/>
              </a:buClr>
              <a:buFont typeface="Arial"/>
              <a:buChar char="–"/>
            </a:pPr>
            <a:r>
              <a:rPr lang="en-US" sz="2000" b="0" strike="noStrike" spc="-1">
                <a:solidFill>
                  <a:schemeClr val="dk1"/>
                </a:solidFill>
                <a:latin typeface="Calibri"/>
              </a:rPr>
              <a:t>Fourth level</a:t>
            </a:r>
          </a:p>
          <a:p>
            <a:pPr marL="2057400" lvl="4" indent="-228600" defTabSz="457200">
              <a:lnSpc>
                <a:spcPct val="100000"/>
              </a:lnSpc>
              <a:spcBef>
                <a:spcPts val="400"/>
              </a:spcBef>
              <a:buClr>
                <a:srgbClr val="000000"/>
              </a:buClr>
              <a:buFont typeface="Arial"/>
              <a:buChar char="»"/>
            </a:pPr>
            <a:r>
              <a:rPr lang="en-US" sz="2000" b="0" strike="noStrike" spc="-1">
                <a:solidFill>
                  <a:schemeClr val="dk1"/>
                </a:solidFill>
                <a:latin typeface="Calibri"/>
              </a:rPr>
              <a:t>Fifth level</a:t>
            </a: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strike="noStrike" spc="-1">
                <a:solidFill>
                  <a:schemeClr val="dk1">
                    <a:tint val="75000"/>
                  </a:schemeClr>
                </a:solidFill>
                <a:latin typeface="Calibri"/>
              </a:defRPr>
            </a:lvl1pPr>
          </a:lstStyle>
          <a:p>
            <a:pPr indent="0" defTabSz="4572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strike="noStrike" spc="-1">
                <a:solidFill>
                  <a:schemeClr val="dk1">
                    <a:tint val="75000"/>
                  </a:schemeClr>
                </a:solidFill>
                <a:latin typeface="Calibri"/>
              </a:defRPr>
            </a:lvl1pPr>
          </a:lstStyle>
          <a:p>
            <a:pPr indent="0" algn="r" defTabSz="457200">
              <a:lnSpc>
                <a:spcPct val="100000"/>
              </a:lnSpc>
              <a:buNone/>
            </a:pPr>
            <a:fld id="{621E8EA5-2A2E-4111-9652-8C2F4E0C3EC4}"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p>
            <a:pPr indent="0" algn="ctr" defTabSz="457200">
              <a:lnSpc>
                <a:spcPct val="100000"/>
              </a:lnSpc>
              <a:buNone/>
            </a:pPr>
            <a:r>
              <a:rPr lang="en-US" sz="4400" b="0" strike="noStrike" spc="-1">
                <a:solidFill>
                  <a:schemeClr val="dk1"/>
                </a:solidFill>
                <a:latin typeface="Calibri"/>
              </a:rPr>
              <a:t>Click to edit Master title style</a:t>
            </a:r>
          </a:p>
        </p:txBody>
      </p:sp>
      <p:sp>
        <p:nvSpPr>
          <p:cNvPr id="12"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p>
            <a:pPr marL="343080" indent="-343080" defTabSz="457200">
              <a:lnSpc>
                <a:spcPct val="100000"/>
              </a:lnSpc>
              <a:spcBef>
                <a:spcPts val="641"/>
              </a:spcBef>
              <a:buClr>
                <a:srgbClr val="000000"/>
              </a:buClr>
              <a:buFont typeface="Arial"/>
              <a:buChar char="•"/>
            </a:pPr>
            <a:r>
              <a:rPr lang="en-US" sz="3200" b="0" strike="noStrike" spc="-1">
                <a:solidFill>
                  <a:schemeClr val="dk1"/>
                </a:solidFill>
                <a:latin typeface="Calibri"/>
              </a:rPr>
              <a:t>Click to edit Master text styles</a:t>
            </a:r>
          </a:p>
          <a:p>
            <a:pPr marL="743040" lvl="1" indent="-285840" defTabSz="457200">
              <a:lnSpc>
                <a:spcPct val="100000"/>
              </a:lnSpc>
              <a:spcBef>
                <a:spcPts val="561"/>
              </a:spcBef>
              <a:buClr>
                <a:srgbClr val="000000"/>
              </a:buClr>
              <a:buFont typeface="Arial"/>
              <a:buChar char="–"/>
            </a:pPr>
            <a:r>
              <a:rPr lang="en-US" sz="2800" b="0" strike="noStrike" spc="-1">
                <a:solidFill>
                  <a:schemeClr val="dk1"/>
                </a:solidFill>
                <a:latin typeface="Calibri"/>
              </a:rPr>
              <a:t>Second level</a:t>
            </a:r>
          </a:p>
          <a:p>
            <a:pPr marL="1143000" lvl="2" indent="-228600" defTabSz="457200">
              <a:lnSpc>
                <a:spcPct val="100000"/>
              </a:lnSpc>
              <a:spcBef>
                <a:spcPts val="479"/>
              </a:spcBef>
              <a:buClr>
                <a:srgbClr val="000000"/>
              </a:buClr>
              <a:buFont typeface="Arial"/>
              <a:buChar char="•"/>
            </a:pPr>
            <a:r>
              <a:rPr lang="en-US" sz="2400" b="0" strike="noStrike" spc="-1">
                <a:solidFill>
                  <a:schemeClr val="dk1"/>
                </a:solidFill>
                <a:latin typeface="Calibri"/>
              </a:rPr>
              <a:t>Third level</a:t>
            </a:r>
          </a:p>
          <a:p>
            <a:pPr marL="1600200" lvl="3" indent="-228600" defTabSz="457200">
              <a:lnSpc>
                <a:spcPct val="100000"/>
              </a:lnSpc>
              <a:spcBef>
                <a:spcPts val="400"/>
              </a:spcBef>
              <a:buClr>
                <a:srgbClr val="000000"/>
              </a:buClr>
              <a:buFont typeface="Arial"/>
              <a:buChar char="–"/>
            </a:pPr>
            <a:r>
              <a:rPr lang="en-US" sz="2000" b="0" strike="noStrike" spc="-1">
                <a:solidFill>
                  <a:schemeClr val="dk1"/>
                </a:solidFill>
                <a:latin typeface="Calibri"/>
              </a:rPr>
              <a:t>Fourth level</a:t>
            </a:r>
          </a:p>
          <a:p>
            <a:pPr marL="2057400" lvl="4" indent="-228600" defTabSz="457200">
              <a:lnSpc>
                <a:spcPct val="100000"/>
              </a:lnSpc>
              <a:spcBef>
                <a:spcPts val="400"/>
              </a:spcBef>
              <a:buClr>
                <a:srgbClr val="000000"/>
              </a:buClr>
              <a:buFont typeface="Arial"/>
              <a:buChar char="»"/>
            </a:pPr>
            <a:r>
              <a:rPr lang="en-US" sz="2000" b="0" strike="noStrike" spc="-1">
                <a:solidFill>
                  <a:schemeClr val="dk1"/>
                </a:solidFill>
                <a:latin typeface="Calibri"/>
              </a:rPr>
              <a:t>Fifth level</a:t>
            </a: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strike="noStrike" spc="-1">
                <a:solidFill>
                  <a:schemeClr val="dk1">
                    <a:tint val="75000"/>
                  </a:schemeClr>
                </a:solidFill>
                <a:latin typeface="Calibri"/>
              </a:defRPr>
            </a:lvl1pPr>
          </a:lstStyle>
          <a:p>
            <a:pPr indent="0" defTabSz="4572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strike="noStrike" spc="-1">
                <a:solidFill>
                  <a:schemeClr val="dk1">
                    <a:tint val="75000"/>
                  </a:schemeClr>
                </a:solidFill>
                <a:latin typeface="Calibri"/>
              </a:defRPr>
            </a:lvl1pPr>
          </a:lstStyle>
          <a:p>
            <a:pPr indent="0" algn="r" defTabSz="457200">
              <a:lnSpc>
                <a:spcPct val="100000"/>
              </a:lnSpc>
              <a:buNone/>
            </a:pPr>
            <a:fld id="{E8110A4C-5A7B-40D4-97CE-CCB23CBAB4F0}"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strike="noStrike" spc="-1">
                <a:solidFill>
                  <a:schemeClr val="dk1"/>
                </a:solidFill>
                <a:latin typeface="Calibri"/>
              </a:rPr>
              <a:t>Click to edit Master title style</a:t>
            </a: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641"/>
              </a:spcBef>
              <a:buClr>
                <a:srgbClr val="000000"/>
              </a:buClr>
              <a:buFont typeface="Arial"/>
              <a:buChar char="•"/>
            </a:pPr>
            <a:r>
              <a:rPr lang="en-US" sz="3200" b="0" strike="noStrike" spc="-1">
                <a:solidFill>
                  <a:schemeClr val="dk1"/>
                </a:solidFill>
                <a:latin typeface="Calibri"/>
              </a:rPr>
              <a:t>Click to edit Master text styles</a:t>
            </a:r>
          </a:p>
          <a:p>
            <a:pPr marL="743040" lvl="1" indent="-285840" defTabSz="457200">
              <a:lnSpc>
                <a:spcPct val="100000"/>
              </a:lnSpc>
              <a:spcBef>
                <a:spcPts val="561"/>
              </a:spcBef>
              <a:buClr>
                <a:srgbClr val="000000"/>
              </a:buClr>
              <a:buFont typeface="Arial"/>
              <a:buChar char="–"/>
            </a:pPr>
            <a:r>
              <a:rPr lang="en-US" sz="2800" b="0" strike="noStrike" spc="-1">
                <a:solidFill>
                  <a:schemeClr val="dk1"/>
                </a:solidFill>
                <a:latin typeface="Calibri"/>
              </a:rPr>
              <a:t>Second level</a:t>
            </a:r>
          </a:p>
          <a:p>
            <a:pPr marL="1143000" lvl="2" indent="-228600" defTabSz="457200">
              <a:lnSpc>
                <a:spcPct val="100000"/>
              </a:lnSpc>
              <a:spcBef>
                <a:spcPts val="479"/>
              </a:spcBef>
              <a:buClr>
                <a:srgbClr val="000000"/>
              </a:buClr>
              <a:buFont typeface="Arial"/>
              <a:buChar char="•"/>
            </a:pPr>
            <a:r>
              <a:rPr lang="en-US" sz="2400" b="0" strike="noStrike" spc="-1">
                <a:solidFill>
                  <a:schemeClr val="dk1"/>
                </a:solidFill>
                <a:latin typeface="Calibri"/>
              </a:rPr>
              <a:t>Third level</a:t>
            </a:r>
          </a:p>
          <a:p>
            <a:pPr marL="1600200" lvl="3" indent="-228600" defTabSz="457200">
              <a:lnSpc>
                <a:spcPct val="100000"/>
              </a:lnSpc>
              <a:spcBef>
                <a:spcPts val="400"/>
              </a:spcBef>
              <a:buClr>
                <a:srgbClr val="000000"/>
              </a:buClr>
              <a:buFont typeface="Arial"/>
              <a:buChar char="–"/>
            </a:pPr>
            <a:r>
              <a:rPr lang="en-US" sz="2000" b="0" strike="noStrike" spc="-1">
                <a:solidFill>
                  <a:schemeClr val="dk1"/>
                </a:solidFill>
                <a:latin typeface="Calibri"/>
              </a:rPr>
              <a:t>Fourth level</a:t>
            </a:r>
          </a:p>
          <a:p>
            <a:pPr marL="2057400" lvl="4" indent="-228600" defTabSz="457200">
              <a:lnSpc>
                <a:spcPct val="100000"/>
              </a:lnSpc>
              <a:spcBef>
                <a:spcPts val="400"/>
              </a:spcBef>
              <a:buClr>
                <a:srgbClr val="000000"/>
              </a:buClr>
              <a:buFont typeface="Arial"/>
              <a:buChar char="»"/>
            </a:pPr>
            <a:r>
              <a:rPr lang="en-US" sz="2000" b="0" strike="noStrike" spc="-1">
                <a:solidFill>
                  <a:schemeClr val="dk1"/>
                </a:solidFill>
                <a:latin typeface="Calibri"/>
              </a:rPr>
              <a:t>Fifth level</a:t>
            </a: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strike="noStrike" spc="-1">
                <a:solidFill>
                  <a:schemeClr val="dk1">
                    <a:tint val="75000"/>
                  </a:schemeClr>
                </a:solidFill>
                <a:latin typeface="Calibri"/>
              </a:defRPr>
            </a:lvl1pPr>
          </a:lstStyle>
          <a:p>
            <a:pPr indent="0" defTabSz="4572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strike="noStrike" spc="-1">
                <a:solidFill>
                  <a:schemeClr val="dk1">
                    <a:tint val="75000"/>
                  </a:schemeClr>
                </a:solidFill>
                <a:latin typeface="Calibri"/>
              </a:defRPr>
            </a:lvl1pPr>
          </a:lstStyle>
          <a:p>
            <a:pPr indent="0" algn="r" defTabSz="457200">
              <a:lnSpc>
                <a:spcPct val="100000"/>
              </a:lnSpc>
              <a:buNone/>
            </a:pPr>
            <a:fld id="{1FB40964-CE59-4B65-97D6-C3E6A6085718}"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p>
            <a:pPr indent="0" defTabSz="457200">
              <a:lnSpc>
                <a:spcPct val="100000"/>
              </a:lnSpc>
              <a:buNone/>
            </a:pPr>
            <a:r>
              <a:rPr lang="en-US" sz="4000" b="1" strike="noStrike" cap="all" spc="-1">
                <a:solidFill>
                  <a:schemeClr val="dk1"/>
                </a:solidFill>
                <a:latin typeface="Calibri"/>
              </a:rPr>
              <a:t>Click to edit Master title style</a:t>
            </a:r>
            <a:endParaRPr lang="en-US" sz="4000" b="0" strike="noStrike" spc="-1">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p>
            <a:pPr indent="0" defTabSz="457200">
              <a:lnSpc>
                <a:spcPct val="100000"/>
              </a:lnSpc>
              <a:spcBef>
                <a:spcPts val="400"/>
              </a:spcBef>
              <a:buNone/>
              <a:tabLst>
                <a:tab pos="0" algn="l"/>
              </a:tabLst>
            </a:pPr>
            <a:r>
              <a:rPr lang="en-US" sz="2000" b="0" strike="noStrike" spc="-1">
                <a:solidFill>
                  <a:schemeClr val="dk1">
                    <a:tint val="75000"/>
                  </a:schemeClr>
                </a:solidFill>
                <a:latin typeface="Calibri"/>
              </a:rPr>
              <a:t>Click to edit Master text styles</a:t>
            </a:r>
            <a:endParaRPr lang="en-US" sz="2000" b="0" strike="noStrike" spc="-1">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strike="noStrike" spc="-1">
                <a:solidFill>
                  <a:schemeClr val="dk1">
                    <a:tint val="75000"/>
                  </a:schemeClr>
                </a:solidFill>
                <a:latin typeface="Calibri"/>
              </a:defRPr>
            </a:lvl1pPr>
          </a:lstStyle>
          <a:p>
            <a:pPr indent="0" defTabSz="4572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strike="noStrike" spc="-1">
                <a:solidFill>
                  <a:schemeClr val="dk1">
                    <a:tint val="75000"/>
                  </a:schemeClr>
                </a:solidFill>
                <a:latin typeface="Calibri"/>
              </a:defRPr>
            </a:lvl1pPr>
          </a:lstStyle>
          <a:p>
            <a:pPr indent="0" algn="r" defTabSz="457200">
              <a:lnSpc>
                <a:spcPct val="100000"/>
              </a:lnSpc>
              <a:buNone/>
            </a:pPr>
            <a:fld id="{8B1C4E6B-CE08-4105-893F-A23C83939672}"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strike="noStrike" spc="-1">
                <a:solidFill>
                  <a:schemeClr val="dk1"/>
                </a:solidFill>
                <a:latin typeface="Calibri"/>
              </a:rPr>
              <a:t>Click to edit Master title style</a:t>
            </a: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p>
            <a:pPr marL="343080" indent="-343080" defTabSz="457200">
              <a:lnSpc>
                <a:spcPct val="100000"/>
              </a:lnSpc>
              <a:spcBef>
                <a:spcPts val="561"/>
              </a:spcBef>
              <a:buClr>
                <a:srgbClr val="000000"/>
              </a:buClr>
              <a:buFont typeface="Arial"/>
              <a:buChar char="•"/>
            </a:pPr>
            <a:r>
              <a:rPr lang="en-US" sz="2800" b="0" strike="noStrike" spc="-1">
                <a:solidFill>
                  <a:schemeClr val="dk1"/>
                </a:solidFill>
                <a:latin typeface="Calibri"/>
              </a:rPr>
              <a:t>Click to edit Master text styles</a:t>
            </a:r>
          </a:p>
          <a:p>
            <a:pPr marL="743040" lvl="1" indent="-285840" defTabSz="457200">
              <a:lnSpc>
                <a:spcPct val="100000"/>
              </a:lnSpc>
              <a:spcBef>
                <a:spcPts val="479"/>
              </a:spcBef>
              <a:buClr>
                <a:srgbClr val="000000"/>
              </a:buClr>
              <a:buFont typeface="Arial"/>
              <a:buChar char="–"/>
            </a:pPr>
            <a:r>
              <a:rPr lang="en-US" sz="2400" b="0" strike="noStrike" spc="-1">
                <a:solidFill>
                  <a:schemeClr val="dk1"/>
                </a:solidFill>
                <a:latin typeface="Calibri"/>
              </a:rPr>
              <a:t>Second level</a:t>
            </a:r>
          </a:p>
          <a:p>
            <a:pPr marL="1143000" lvl="2" indent="-228600" defTabSz="457200">
              <a:lnSpc>
                <a:spcPct val="100000"/>
              </a:lnSpc>
              <a:spcBef>
                <a:spcPts val="400"/>
              </a:spcBef>
              <a:buClr>
                <a:srgbClr val="000000"/>
              </a:buClr>
              <a:buFont typeface="Arial"/>
              <a:buChar char="•"/>
            </a:pPr>
            <a:r>
              <a:rPr lang="en-US" sz="2000" b="0" strike="noStrike" spc="-1">
                <a:solidFill>
                  <a:schemeClr val="dk1"/>
                </a:solidFill>
                <a:latin typeface="Calibri"/>
              </a:rPr>
              <a:t>Third level</a:t>
            </a:r>
          </a:p>
          <a:p>
            <a:pPr marL="1600200" lvl="3" indent="-228600" defTabSz="457200">
              <a:lnSpc>
                <a:spcPct val="100000"/>
              </a:lnSpc>
              <a:spcBef>
                <a:spcPts val="360"/>
              </a:spcBef>
              <a:buClr>
                <a:srgbClr val="000000"/>
              </a:buClr>
              <a:buFont typeface="Arial"/>
              <a:buChar char="–"/>
            </a:pPr>
            <a:r>
              <a:rPr lang="en-US" sz="1800" b="0" strike="noStrike" spc="-1">
                <a:solidFill>
                  <a:schemeClr val="dk1"/>
                </a:solidFill>
                <a:latin typeface="Calibri"/>
              </a:rPr>
              <a:t>Fourth level</a:t>
            </a:r>
          </a:p>
          <a:p>
            <a:pPr marL="2057400" lvl="4" indent="-228600" defTabSz="457200">
              <a:lnSpc>
                <a:spcPct val="100000"/>
              </a:lnSpc>
              <a:spcBef>
                <a:spcPts val="360"/>
              </a:spcBef>
              <a:buClr>
                <a:srgbClr val="000000"/>
              </a:buClr>
              <a:buFont typeface="Arial"/>
              <a:buChar char="»"/>
            </a:pPr>
            <a:r>
              <a:rPr lang="en-US" sz="1800" b="0" strike="noStrike" spc="-1">
                <a:solidFill>
                  <a:schemeClr val="dk1"/>
                </a:solidFill>
                <a:latin typeface="Calibri"/>
              </a:rPr>
              <a:t>Fifth level</a:t>
            </a: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p>
            <a:pPr marL="343080" indent="-343080" defTabSz="457200">
              <a:lnSpc>
                <a:spcPct val="100000"/>
              </a:lnSpc>
              <a:spcBef>
                <a:spcPts val="561"/>
              </a:spcBef>
              <a:buClr>
                <a:srgbClr val="000000"/>
              </a:buClr>
              <a:buFont typeface="Arial"/>
              <a:buChar char="•"/>
            </a:pPr>
            <a:r>
              <a:rPr lang="en-US" sz="2800" b="0" strike="noStrike" spc="-1">
                <a:solidFill>
                  <a:schemeClr val="dk1"/>
                </a:solidFill>
                <a:latin typeface="Calibri"/>
              </a:rPr>
              <a:t>Click to edit Master text styles</a:t>
            </a:r>
          </a:p>
          <a:p>
            <a:pPr marL="743040" lvl="1" indent="-285840" defTabSz="457200">
              <a:lnSpc>
                <a:spcPct val="100000"/>
              </a:lnSpc>
              <a:spcBef>
                <a:spcPts val="479"/>
              </a:spcBef>
              <a:buClr>
                <a:srgbClr val="000000"/>
              </a:buClr>
              <a:buFont typeface="Arial"/>
              <a:buChar char="–"/>
            </a:pPr>
            <a:r>
              <a:rPr lang="en-US" sz="2400" b="0" strike="noStrike" spc="-1">
                <a:solidFill>
                  <a:schemeClr val="dk1"/>
                </a:solidFill>
                <a:latin typeface="Calibri"/>
              </a:rPr>
              <a:t>Second level</a:t>
            </a:r>
          </a:p>
          <a:p>
            <a:pPr marL="1143000" lvl="2" indent="-228600" defTabSz="457200">
              <a:lnSpc>
                <a:spcPct val="100000"/>
              </a:lnSpc>
              <a:spcBef>
                <a:spcPts val="400"/>
              </a:spcBef>
              <a:buClr>
                <a:srgbClr val="000000"/>
              </a:buClr>
              <a:buFont typeface="Arial"/>
              <a:buChar char="•"/>
            </a:pPr>
            <a:r>
              <a:rPr lang="en-US" sz="2000" b="0" strike="noStrike" spc="-1">
                <a:solidFill>
                  <a:schemeClr val="dk1"/>
                </a:solidFill>
                <a:latin typeface="Calibri"/>
              </a:rPr>
              <a:t>Third level</a:t>
            </a:r>
          </a:p>
          <a:p>
            <a:pPr marL="1600200" lvl="3" indent="-228600" defTabSz="457200">
              <a:lnSpc>
                <a:spcPct val="100000"/>
              </a:lnSpc>
              <a:spcBef>
                <a:spcPts val="360"/>
              </a:spcBef>
              <a:buClr>
                <a:srgbClr val="000000"/>
              </a:buClr>
              <a:buFont typeface="Arial"/>
              <a:buChar char="–"/>
            </a:pPr>
            <a:r>
              <a:rPr lang="en-US" sz="1800" b="0" strike="noStrike" spc="-1">
                <a:solidFill>
                  <a:schemeClr val="dk1"/>
                </a:solidFill>
                <a:latin typeface="Calibri"/>
              </a:rPr>
              <a:t>Fourth level</a:t>
            </a:r>
          </a:p>
          <a:p>
            <a:pPr marL="2057400" lvl="4" indent="-228600" defTabSz="457200">
              <a:lnSpc>
                <a:spcPct val="100000"/>
              </a:lnSpc>
              <a:spcBef>
                <a:spcPts val="360"/>
              </a:spcBef>
              <a:buClr>
                <a:srgbClr val="000000"/>
              </a:buClr>
              <a:buFont typeface="Arial"/>
              <a:buChar char="»"/>
            </a:pPr>
            <a:r>
              <a:rPr lang="en-US" sz="1800" b="0" strike="noStrike" spc="-1">
                <a:solidFill>
                  <a:schemeClr val="dk1"/>
                </a:solidFill>
                <a:latin typeface="Calibri"/>
              </a:rPr>
              <a:t>Fifth level</a:t>
            </a: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strike="noStrike" spc="-1">
                <a:solidFill>
                  <a:schemeClr val="dk1">
                    <a:tint val="75000"/>
                  </a:schemeClr>
                </a:solidFill>
                <a:latin typeface="Calibri"/>
              </a:defRPr>
            </a:lvl1pPr>
          </a:lstStyle>
          <a:p>
            <a:pPr indent="0" defTabSz="4572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strike="noStrike" spc="-1">
                <a:solidFill>
                  <a:schemeClr val="dk1">
                    <a:tint val="75000"/>
                  </a:schemeClr>
                </a:solidFill>
                <a:latin typeface="Calibri"/>
              </a:defRPr>
            </a:lvl1pPr>
          </a:lstStyle>
          <a:p>
            <a:pPr indent="0" algn="r" defTabSz="457200">
              <a:lnSpc>
                <a:spcPct val="100000"/>
              </a:lnSpc>
              <a:buNone/>
            </a:pPr>
            <a:fld id="{F8D83006-A3FD-411A-AA26-1E6785946B15}"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strike="noStrike" spc="-1">
                <a:solidFill>
                  <a:schemeClr val="dk1"/>
                </a:solidFill>
                <a:latin typeface="Calibri"/>
              </a:rPr>
              <a:t>Click to edit Master title style</a:t>
            </a: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p>
            <a:pPr indent="0" defTabSz="457200">
              <a:lnSpc>
                <a:spcPct val="100000"/>
              </a:lnSpc>
              <a:spcBef>
                <a:spcPts val="479"/>
              </a:spcBef>
              <a:buNone/>
              <a:tabLst>
                <a:tab pos="0" algn="l"/>
              </a:tabLst>
            </a:pPr>
            <a:r>
              <a:rPr lang="en-US" sz="2400" b="1" strike="noStrike" spc="-1">
                <a:solidFill>
                  <a:schemeClr val="dk1"/>
                </a:solidFill>
                <a:latin typeface="Calibri"/>
              </a:rPr>
              <a:t>Click to edit Master text styles</a:t>
            </a:r>
            <a:endParaRPr lang="en-US" sz="2400" b="0" strike="noStrike" spc="-1">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p>
            <a:pPr marL="343080" indent="-343080" defTabSz="457200">
              <a:lnSpc>
                <a:spcPct val="100000"/>
              </a:lnSpc>
              <a:spcBef>
                <a:spcPts val="479"/>
              </a:spcBef>
              <a:buClr>
                <a:srgbClr val="000000"/>
              </a:buClr>
              <a:buFont typeface="Arial"/>
              <a:buChar char="•"/>
            </a:pPr>
            <a:r>
              <a:rPr lang="en-US" sz="2400" b="0" strike="noStrike" spc="-1">
                <a:solidFill>
                  <a:schemeClr val="dk1"/>
                </a:solidFill>
                <a:latin typeface="Calibri"/>
              </a:rPr>
              <a:t>Click to edit Master text styles</a:t>
            </a:r>
          </a:p>
          <a:p>
            <a:pPr marL="743040" lvl="1" indent="-285840" defTabSz="457200">
              <a:lnSpc>
                <a:spcPct val="100000"/>
              </a:lnSpc>
              <a:spcBef>
                <a:spcPts val="400"/>
              </a:spcBef>
              <a:buClr>
                <a:srgbClr val="000000"/>
              </a:buClr>
              <a:buFont typeface="Arial"/>
              <a:buChar char="–"/>
            </a:pPr>
            <a:r>
              <a:rPr lang="en-US" sz="2000" b="0" strike="noStrike" spc="-1">
                <a:solidFill>
                  <a:schemeClr val="dk1"/>
                </a:solidFill>
                <a:latin typeface="Calibri"/>
              </a:rPr>
              <a:t>Second level</a:t>
            </a:r>
          </a:p>
          <a:p>
            <a:pPr marL="1143000" lvl="2" indent="-228600" defTabSz="457200">
              <a:lnSpc>
                <a:spcPct val="100000"/>
              </a:lnSpc>
              <a:spcBef>
                <a:spcPts val="360"/>
              </a:spcBef>
              <a:buClr>
                <a:srgbClr val="000000"/>
              </a:buClr>
              <a:buFont typeface="Arial"/>
              <a:buChar char="•"/>
            </a:pPr>
            <a:r>
              <a:rPr lang="en-US" sz="1800" b="0" strike="noStrike" spc="-1">
                <a:solidFill>
                  <a:schemeClr val="dk1"/>
                </a:solidFill>
                <a:latin typeface="Calibri"/>
              </a:rPr>
              <a:t>Third level</a:t>
            </a:r>
          </a:p>
          <a:p>
            <a:pPr marL="1600200" lvl="3" indent="-228600" defTabSz="457200">
              <a:lnSpc>
                <a:spcPct val="100000"/>
              </a:lnSpc>
              <a:spcBef>
                <a:spcPts val="320"/>
              </a:spcBef>
              <a:buClr>
                <a:srgbClr val="000000"/>
              </a:buClr>
              <a:buFont typeface="Arial"/>
              <a:buChar char="–"/>
            </a:pPr>
            <a:r>
              <a:rPr lang="en-US" sz="1600" b="0" strike="noStrike" spc="-1">
                <a:solidFill>
                  <a:schemeClr val="dk1"/>
                </a:solidFill>
                <a:latin typeface="Calibri"/>
              </a:rPr>
              <a:t>Fourth level</a:t>
            </a:r>
          </a:p>
          <a:p>
            <a:pPr marL="2057400" lvl="4" indent="-228600" defTabSz="457200">
              <a:lnSpc>
                <a:spcPct val="100000"/>
              </a:lnSpc>
              <a:spcBef>
                <a:spcPts val="320"/>
              </a:spcBef>
              <a:buClr>
                <a:srgbClr val="000000"/>
              </a:buClr>
              <a:buFont typeface="Arial"/>
              <a:buChar char="»"/>
            </a:pPr>
            <a:r>
              <a:rPr lang="en-US" sz="1600" b="0" strike="noStrike" spc="-1">
                <a:solidFill>
                  <a:schemeClr val="dk1"/>
                </a:solidFill>
                <a:latin typeface="Calibri"/>
              </a:rPr>
              <a:t>Fifth level</a:t>
            </a: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p>
            <a:pPr indent="0" defTabSz="457200">
              <a:lnSpc>
                <a:spcPct val="100000"/>
              </a:lnSpc>
              <a:spcBef>
                <a:spcPts val="479"/>
              </a:spcBef>
              <a:buNone/>
              <a:tabLst>
                <a:tab pos="0" algn="l"/>
              </a:tabLst>
            </a:pPr>
            <a:r>
              <a:rPr lang="en-US" sz="2400" b="1" strike="noStrike" spc="-1">
                <a:solidFill>
                  <a:schemeClr val="dk1"/>
                </a:solidFill>
                <a:latin typeface="Calibri"/>
              </a:rPr>
              <a:t>Click to edit Master text styles</a:t>
            </a:r>
            <a:endParaRPr lang="en-US" sz="2400" b="0" strike="noStrike" spc="-1">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p>
            <a:pPr marL="343080" indent="-343080" defTabSz="457200">
              <a:lnSpc>
                <a:spcPct val="100000"/>
              </a:lnSpc>
              <a:spcBef>
                <a:spcPts val="479"/>
              </a:spcBef>
              <a:buClr>
                <a:srgbClr val="000000"/>
              </a:buClr>
              <a:buFont typeface="Arial"/>
              <a:buChar char="•"/>
            </a:pPr>
            <a:r>
              <a:rPr lang="en-US" sz="2400" b="0" strike="noStrike" spc="-1">
                <a:solidFill>
                  <a:schemeClr val="dk1"/>
                </a:solidFill>
                <a:latin typeface="Calibri"/>
              </a:rPr>
              <a:t>Click to edit Master text styles</a:t>
            </a:r>
          </a:p>
          <a:p>
            <a:pPr marL="743040" lvl="1" indent="-285840" defTabSz="457200">
              <a:lnSpc>
                <a:spcPct val="100000"/>
              </a:lnSpc>
              <a:spcBef>
                <a:spcPts val="400"/>
              </a:spcBef>
              <a:buClr>
                <a:srgbClr val="000000"/>
              </a:buClr>
              <a:buFont typeface="Arial"/>
              <a:buChar char="–"/>
            </a:pPr>
            <a:r>
              <a:rPr lang="en-US" sz="2000" b="0" strike="noStrike" spc="-1">
                <a:solidFill>
                  <a:schemeClr val="dk1"/>
                </a:solidFill>
                <a:latin typeface="Calibri"/>
              </a:rPr>
              <a:t>Second level</a:t>
            </a:r>
          </a:p>
          <a:p>
            <a:pPr marL="1143000" lvl="2" indent="-228600" defTabSz="457200">
              <a:lnSpc>
                <a:spcPct val="100000"/>
              </a:lnSpc>
              <a:spcBef>
                <a:spcPts val="360"/>
              </a:spcBef>
              <a:buClr>
                <a:srgbClr val="000000"/>
              </a:buClr>
              <a:buFont typeface="Arial"/>
              <a:buChar char="•"/>
            </a:pPr>
            <a:r>
              <a:rPr lang="en-US" sz="1800" b="0" strike="noStrike" spc="-1">
                <a:solidFill>
                  <a:schemeClr val="dk1"/>
                </a:solidFill>
                <a:latin typeface="Calibri"/>
              </a:rPr>
              <a:t>Third level</a:t>
            </a:r>
          </a:p>
          <a:p>
            <a:pPr marL="1600200" lvl="3" indent="-228600" defTabSz="457200">
              <a:lnSpc>
                <a:spcPct val="100000"/>
              </a:lnSpc>
              <a:spcBef>
                <a:spcPts val="320"/>
              </a:spcBef>
              <a:buClr>
                <a:srgbClr val="000000"/>
              </a:buClr>
              <a:buFont typeface="Arial"/>
              <a:buChar char="–"/>
            </a:pPr>
            <a:r>
              <a:rPr lang="en-US" sz="1600" b="0" strike="noStrike" spc="-1">
                <a:solidFill>
                  <a:schemeClr val="dk1"/>
                </a:solidFill>
                <a:latin typeface="Calibri"/>
              </a:rPr>
              <a:t>Fourth level</a:t>
            </a:r>
          </a:p>
          <a:p>
            <a:pPr marL="2057400" lvl="4" indent="-228600" defTabSz="457200">
              <a:lnSpc>
                <a:spcPct val="100000"/>
              </a:lnSpc>
              <a:spcBef>
                <a:spcPts val="320"/>
              </a:spcBef>
              <a:buClr>
                <a:srgbClr val="000000"/>
              </a:buClr>
              <a:buFont typeface="Arial"/>
              <a:buChar char="»"/>
            </a:pPr>
            <a:r>
              <a:rPr lang="en-US" sz="1600" b="0" strike="noStrike" spc="-1">
                <a:solidFill>
                  <a:schemeClr val="dk1"/>
                </a:solidFill>
                <a:latin typeface="Calibri"/>
              </a:rPr>
              <a:t>Fifth level</a:t>
            </a: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strike="noStrike" spc="-1">
                <a:solidFill>
                  <a:schemeClr val="dk1">
                    <a:tint val="75000"/>
                  </a:schemeClr>
                </a:solidFill>
                <a:latin typeface="Calibri"/>
              </a:defRPr>
            </a:lvl1pPr>
          </a:lstStyle>
          <a:p>
            <a:pPr indent="0" defTabSz="4572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strike="noStrike" spc="-1">
                <a:solidFill>
                  <a:schemeClr val="dk1">
                    <a:tint val="75000"/>
                  </a:schemeClr>
                </a:solidFill>
                <a:latin typeface="Calibri"/>
              </a:defRPr>
            </a:lvl1pPr>
          </a:lstStyle>
          <a:p>
            <a:pPr indent="0" algn="r" defTabSz="457200">
              <a:lnSpc>
                <a:spcPct val="100000"/>
              </a:lnSpc>
              <a:buNone/>
            </a:pPr>
            <a:fld id="{BD171CAB-D9C8-46D7-93E9-CCCA5A50EA53}"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strike="noStrike" spc="-1">
                <a:solidFill>
                  <a:schemeClr val="dk1"/>
                </a:solidFill>
                <a:latin typeface="Calibri"/>
              </a:rPr>
              <a:t>Click to edit Master title style</a:t>
            </a: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strike="noStrike" spc="-1">
                <a:solidFill>
                  <a:schemeClr val="dk1">
                    <a:tint val="75000"/>
                  </a:schemeClr>
                </a:solidFill>
                <a:latin typeface="Calibri"/>
              </a:defRPr>
            </a:lvl1pPr>
          </a:lstStyle>
          <a:p>
            <a:pPr indent="0" defTabSz="4572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strike="noStrike" spc="-1">
                <a:solidFill>
                  <a:schemeClr val="dk1">
                    <a:tint val="75000"/>
                  </a:schemeClr>
                </a:solidFill>
                <a:latin typeface="Calibri"/>
              </a:defRPr>
            </a:lvl1pPr>
          </a:lstStyle>
          <a:p>
            <a:pPr indent="0" algn="r" defTabSz="457200">
              <a:lnSpc>
                <a:spcPct val="100000"/>
              </a:lnSpc>
              <a:buNone/>
            </a:pPr>
            <a:fld id="{922F65A3-6B5C-4189-ADB8-5EAF5ECFE0C9}"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strike="noStrike" spc="-1">
                <a:solidFill>
                  <a:schemeClr val="dk1">
                    <a:tint val="75000"/>
                  </a:schemeClr>
                </a:solidFill>
                <a:latin typeface="Calibri"/>
              </a:defRPr>
            </a:lvl1pPr>
          </a:lstStyle>
          <a:p>
            <a:pPr indent="0" defTabSz="4572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strike="noStrike" spc="-1">
                <a:solidFill>
                  <a:schemeClr val="dk1">
                    <a:tint val="75000"/>
                  </a:schemeClr>
                </a:solidFill>
                <a:latin typeface="Calibri"/>
              </a:defRPr>
            </a:lvl1pPr>
          </a:lstStyle>
          <a:p>
            <a:pPr indent="0" algn="r" defTabSz="457200">
              <a:lnSpc>
                <a:spcPct val="100000"/>
              </a:lnSpc>
              <a:buNone/>
            </a:pPr>
            <a:fld id="{F0A79318-53EC-47A0-8113-935CF8A51418}"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53"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p>
            <a:pPr indent="0">
              <a:buNone/>
            </a:pPr>
            <a:r>
              <a:rPr lang="en-US" sz="1800" b="0" strike="noStrike" spc="-1">
                <a:solidFill>
                  <a:schemeClr val="dk1"/>
                </a:solidFill>
                <a:latin typeface="Calibri"/>
              </a:rPr>
              <a:t>Click to edit the title text format</a:t>
            </a:r>
          </a:p>
        </p:txBody>
      </p:sp>
      <p:sp>
        <p:nvSpPr>
          <p:cNvPr id="54"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p>
            <a:pPr indent="0" defTabSz="457200">
              <a:lnSpc>
                <a:spcPct val="100000"/>
              </a:lnSpc>
              <a:buNone/>
            </a:pPr>
            <a:r>
              <a:rPr lang="en-US" sz="2000" b="1" strike="noStrike" spc="-1">
                <a:solidFill>
                  <a:schemeClr val="dk1"/>
                </a:solidFill>
                <a:latin typeface="Calibri"/>
              </a:rPr>
              <a:t>Click to edit Master title style</a:t>
            </a:r>
            <a:endParaRPr lang="en-US" sz="2000" b="0" strike="noStrike" spc="-1">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p>
            <a:pPr marL="343080" indent="-343080" defTabSz="457200">
              <a:lnSpc>
                <a:spcPct val="100000"/>
              </a:lnSpc>
              <a:spcBef>
                <a:spcPts val="641"/>
              </a:spcBef>
              <a:buClr>
                <a:srgbClr val="000000"/>
              </a:buClr>
              <a:buFont typeface="Arial"/>
              <a:buChar char="•"/>
            </a:pPr>
            <a:r>
              <a:rPr lang="en-US" sz="3200" b="0" strike="noStrike" spc="-1">
                <a:solidFill>
                  <a:schemeClr val="dk1"/>
                </a:solidFill>
                <a:latin typeface="Calibri"/>
              </a:rPr>
              <a:t>Click to edit Master text styles</a:t>
            </a:r>
          </a:p>
          <a:p>
            <a:pPr marL="743040" lvl="1" indent="-285840" defTabSz="457200">
              <a:lnSpc>
                <a:spcPct val="100000"/>
              </a:lnSpc>
              <a:spcBef>
                <a:spcPts val="561"/>
              </a:spcBef>
              <a:buClr>
                <a:srgbClr val="000000"/>
              </a:buClr>
              <a:buFont typeface="Arial"/>
              <a:buChar char="–"/>
            </a:pPr>
            <a:r>
              <a:rPr lang="en-US" sz="2800" b="0" strike="noStrike" spc="-1">
                <a:solidFill>
                  <a:schemeClr val="dk1"/>
                </a:solidFill>
                <a:latin typeface="Calibri"/>
              </a:rPr>
              <a:t>Second level</a:t>
            </a:r>
          </a:p>
          <a:p>
            <a:pPr marL="1143000" lvl="2" indent="-228600" defTabSz="457200">
              <a:lnSpc>
                <a:spcPct val="100000"/>
              </a:lnSpc>
              <a:spcBef>
                <a:spcPts val="479"/>
              </a:spcBef>
              <a:buClr>
                <a:srgbClr val="000000"/>
              </a:buClr>
              <a:buFont typeface="Arial"/>
              <a:buChar char="•"/>
            </a:pPr>
            <a:r>
              <a:rPr lang="en-US" sz="2400" b="0" strike="noStrike" spc="-1">
                <a:solidFill>
                  <a:schemeClr val="dk1"/>
                </a:solidFill>
                <a:latin typeface="Calibri"/>
              </a:rPr>
              <a:t>Third level</a:t>
            </a:r>
          </a:p>
          <a:p>
            <a:pPr marL="1600200" lvl="3" indent="-228600" defTabSz="457200">
              <a:lnSpc>
                <a:spcPct val="100000"/>
              </a:lnSpc>
              <a:spcBef>
                <a:spcPts val="400"/>
              </a:spcBef>
              <a:buClr>
                <a:srgbClr val="000000"/>
              </a:buClr>
              <a:buFont typeface="Arial"/>
              <a:buChar char="–"/>
            </a:pPr>
            <a:r>
              <a:rPr lang="en-US" sz="2000" b="0" strike="noStrike" spc="-1">
                <a:solidFill>
                  <a:schemeClr val="dk1"/>
                </a:solidFill>
                <a:latin typeface="Calibri"/>
              </a:rPr>
              <a:t>Fourth level</a:t>
            </a:r>
          </a:p>
          <a:p>
            <a:pPr marL="2057400" lvl="4" indent="-228600" defTabSz="457200">
              <a:lnSpc>
                <a:spcPct val="100000"/>
              </a:lnSpc>
              <a:spcBef>
                <a:spcPts val="400"/>
              </a:spcBef>
              <a:buClr>
                <a:srgbClr val="000000"/>
              </a:buClr>
              <a:buFont typeface="Arial"/>
              <a:buChar char="»"/>
            </a:pPr>
            <a:r>
              <a:rPr lang="en-US" sz="2000" b="0" strike="noStrike" spc="-1">
                <a:solidFill>
                  <a:schemeClr val="dk1"/>
                </a:solidFill>
                <a:latin typeface="Calibri"/>
              </a:rPr>
              <a:t>Fifth level</a:t>
            </a: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p>
            <a:pPr indent="0" defTabSz="457200">
              <a:lnSpc>
                <a:spcPct val="100000"/>
              </a:lnSpc>
              <a:spcBef>
                <a:spcPts val="281"/>
              </a:spcBef>
              <a:buNone/>
              <a:tabLst>
                <a:tab pos="0" algn="l"/>
              </a:tabLst>
            </a:pPr>
            <a:r>
              <a:rPr lang="en-US" sz="1400" b="0" strike="noStrike" spc="-1">
                <a:solidFill>
                  <a:schemeClr val="dk1"/>
                </a:solidFill>
                <a:latin typeface="Calibri"/>
              </a:rPr>
              <a:t>Click to edit Master text styles</a:t>
            </a: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strike="noStrike" spc="-1">
                <a:solidFill>
                  <a:schemeClr val="dk1">
                    <a:tint val="75000"/>
                  </a:schemeClr>
                </a:solidFill>
                <a:latin typeface="Calibri"/>
              </a:defRPr>
            </a:lvl1pPr>
          </a:lstStyle>
          <a:p>
            <a:pPr indent="0" defTabSz="4572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strike="noStrike" spc="-1">
                <a:solidFill>
                  <a:schemeClr val="dk1">
                    <a:tint val="75000"/>
                  </a:schemeClr>
                </a:solidFill>
                <a:latin typeface="Calibri"/>
              </a:defRPr>
            </a:lvl1pPr>
          </a:lstStyle>
          <a:p>
            <a:pPr indent="0" algn="r" defTabSz="457200">
              <a:lnSpc>
                <a:spcPct val="100000"/>
              </a:lnSpc>
              <a:buNone/>
            </a:pPr>
            <a:fld id="{2F8B0D51-DBA7-4F2F-8528-CF14756BCCE0}"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p>
            <a:pPr indent="0" defTabSz="457200">
              <a:lnSpc>
                <a:spcPct val="100000"/>
              </a:lnSpc>
              <a:buNone/>
            </a:pPr>
            <a:r>
              <a:rPr lang="en-US" sz="2000" b="1" strike="noStrike" spc="-1">
                <a:solidFill>
                  <a:schemeClr val="dk1"/>
                </a:solidFill>
                <a:latin typeface="Calibri"/>
              </a:rPr>
              <a:t>Click to edit Master title style</a:t>
            </a:r>
            <a:endParaRPr lang="en-US" sz="2000" b="0" strike="noStrike" spc="-1">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p>
            <a:pPr marL="432000" indent="-324000">
              <a:spcBef>
                <a:spcPts val="1417"/>
              </a:spcBef>
              <a:buClr>
                <a:srgbClr val="000000"/>
              </a:buClr>
              <a:buSzPct val="45000"/>
              <a:buFont typeface="Wingdings" charset="2"/>
              <a:buChar char=""/>
            </a:pPr>
            <a:r>
              <a:rPr lang="en-US" sz="32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US" sz="32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US" sz="32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US" sz="32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US" sz="32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US" sz="32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US" sz="3200" b="0" strike="noStrike" spc="-1">
                <a:solidFill>
                  <a:schemeClr val="dk1"/>
                </a:solidFill>
                <a:latin typeface="Calibri"/>
              </a:rPr>
              <a:t>Seventh Outline Level</a:t>
            </a: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p>
            <a:pPr indent="0" defTabSz="457200">
              <a:lnSpc>
                <a:spcPct val="100000"/>
              </a:lnSpc>
              <a:spcBef>
                <a:spcPts val="281"/>
              </a:spcBef>
              <a:buNone/>
              <a:tabLst>
                <a:tab pos="0" algn="l"/>
              </a:tabLst>
            </a:pPr>
            <a:r>
              <a:rPr lang="en-US" sz="1400" b="0" strike="noStrike" spc="-1">
                <a:solidFill>
                  <a:schemeClr val="dk1"/>
                </a:solidFill>
                <a:latin typeface="Calibri"/>
              </a:rPr>
              <a:t>Click to edit Master text styles</a:t>
            </a: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strike="noStrike" spc="-1">
                <a:solidFill>
                  <a:schemeClr val="dk1">
                    <a:tint val="75000"/>
                  </a:schemeClr>
                </a:solidFill>
                <a:latin typeface="Calibri"/>
              </a:defRPr>
            </a:lvl1pPr>
          </a:lstStyle>
          <a:p>
            <a:pPr indent="0" defTabSz="4572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strike="noStrike" spc="-1">
                <a:solidFill>
                  <a:schemeClr val="dk1">
                    <a:tint val="75000"/>
                  </a:schemeClr>
                </a:solidFill>
                <a:latin typeface="Calibri"/>
              </a:defRPr>
            </a:lvl1pPr>
          </a:lstStyle>
          <a:p>
            <a:pPr indent="0" algn="r" defTabSz="457200">
              <a:lnSpc>
                <a:spcPct val="100000"/>
              </a:lnSpc>
              <a:buNone/>
            </a:pPr>
            <a:fld id="{88AFAA52-4AA1-4906-8282-0059699677C4}"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8" Type="http://schemas.openxmlformats.org/officeDocument/2006/relationships/chart" Target="../charts/chart7.xml"/><Relationship Id="rId3" Type="http://schemas.openxmlformats.org/officeDocument/2006/relationships/chart" Target="../charts/chart2.xml"/><Relationship Id="rId7" Type="http://schemas.openxmlformats.org/officeDocument/2006/relationships/chart" Target="../charts/chart6.xml"/><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67" name="TextBox 1"/>
          <p:cNvSpPr/>
          <p:nvPr/>
        </p:nvSpPr>
        <p:spPr>
          <a:xfrm>
            <a:off x="502920" y="320040"/>
            <a:ext cx="111855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800" b="1" strike="noStrike" spc="-1" dirty="0">
                <a:solidFill>
                  <a:srgbClr val="2A78D6"/>
                </a:solidFill>
                <a:latin typeface="Calibri" panose="020F0502020204030204" pitchFamily="34" charset="0"/>
                <a:cs typeface="Calibri" panose="020F0502020204030204" pitchFamily="34" charset="0"/>
              </a:rPr>
              <a:t>Executive summary</a:t>
            </a:r>
            <a:r>
              <a:rPr lang="en-US" sz="800" b="0" strike="noStrike" spc="-1" dirty="0">
                <a:solidFill>
                  <a:srgbClr val="898781"/>
                </a:solidFill>
                <a:latin typeface="Calibri" panose="020F0502020204030204" pitchFamily="34" charset="0"/>
                <a:cs typeface="Calibri" panose="020F0502020204030204" pitchFamily="34" charset="0"/>
              </a:rPr>
              <a:t>   Manager, Workforce Management · Care Experience &amp; Strategy</a:t>
            </a:r>
            <a:endParaRPr lang="en-US" sz="800" b="0" strike="noStrike" spc="-1" dirty="0">
              <a:solidFill>
                <a:srgbClr val="000000"/>
              </a:solidFill>
              <a:latin typeface="Calibri" panose="020F0502020204030204" pitchFamily="34" charset="0"/>
              <a:cs typeface="Calibri" panose="020F0502020204030204" pitchFamily="34" charset="0"/>
            </a:endParaRPr>
          </a:p>
        </p:txBody>
      </p:sp>
      <p:sp>
        <p:nvSpPr>
          <p:cNvPr id="68" name="TextBox 2"/>
          <p:cNvSpPr/>
          <p:nvPr/>
        </p:nvSpPr>
        <p:spPr>
          <a:xfrm>
            <a:off x="502920" y="484560"/>
            <a:ext cx="111855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900" b="1" strike="noStrike" spc="-1" dirty="0">
                <a:solidFill>
                  <a:srgbClr val="0B0B0B"/>
                </a:solidFill>
                <a:latin typeface="Calibri" panose="020F0502020204030204" pitchFamily="34" charset="0"/>
                <a:cs typeface="Calibri" panose="020F0502020204030204" pitchFamily="34" charset="0"/>
              </a:rPr>
              <a:t>508 paid FTE per month to meet service level</a:t>
            </a:r>
            <a:endParaRPr lang="en-US" sz="1900" b="0" strike="noStrike" spc="-1" dirty="0">
              <a:solidFill>
                <a:srgbClr val="000000"/>
              </a:solidFill>
              <a:latin typeface="Calibri" panose="020F0502020204030204" pitchFamily="34" charset="0"/>
              <a:cs typeface="Calibri" panose="020F0502020204030204" pitchFamily="34" charset="0"/>
            </a:endParaRPr>
          </a:p>
        </p:txBody>
      </p:sp>
      <p:cxnSp>
        <p:nvCxnSpPr>
          <p:cNvPr id="69" name="Connector 3"/>
          <p:cNvCxnSpPr/>
          <p:nvPr/>
        </p:nvCxnSpPr>
        <p:spPr>
          <a:xfrm>
            <a:off x="502920" y="822960"/>
            <a:ext cx="11185920" cy="360"/>
          </a:xfrm>
          <a:prstGeom prst="straightConnector1">
            <a:avLst/>
          </a:prstGeom>
          <a:ln w="9525">
            <a:solidFill>
              <a:srgbClr val="E1E0D9"/>
            </a:solidFill>
            <a:round/>
          </a:ln>
        </p:spPr>
      </p:cxnSp>
      <p:sp>
        <p:nvSpPr>
          <p:cNvPr id="70" name="TextBox 4"/>
          <p:cNvSpPr/>
          <p:nvPr/>
        </p:nvSpPr>
        <p:spPr>
          <a:xfrm>
            <a:off x="502920" y="1508760"/>
            <a:ext cx="322380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200" b="1" strike="noStrike" spc="58" dirty="0">
                <a:solidFill>
                  <a:srgbClr val="898781"/>
                </a:solidFill>
                <a:latin typeface="Calibri" panose="020F0502020204030204" pitchFamily="34" charset="0"/>
                <a:cs typeface="Calibri" panose="020F0502020204030204" pitchFamily="34" charset="0"/>
              </a:rPr>
              <a:t>THE ANSWER — JULY TO SEPTEMBER</a:t>
            </a:r>
            <a:endParaRPr lang="en-US" sz="1200" b="0" strike="noStrike" spc="-1" dirty="0">
              <a:solidFill>
                <a:srgbClr val="000000"/>
              </a:solidFill>
              <a:latin typeface="Calibri" panose="020F0502020204030204" pitchFamily="34" charset="0"/>
              <a:cs typeface="Calibri" panose="020F0502020204030204" pitchFamily="34" charset="0"/>
            </a:endParaRPr>
          </a:p>
        </p:txBody>
      </p:sp>
      <p:sp>
        <p:nvSpPr>
          <p:cNvPr id="71" name="TextBox 5"/>
          <p:cNvSpPr/>
          <p:nvPr/>
        </p:nvSpPr>
        <p:spPr>
          <a:xfrm>
            <a:off x="502920" y="1719000"/>
            <a:ext cx="3223800" cy="1136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4800" b="1" strike="noStrike" spc="-1">
                <a:solidFill>
                  <a:srgbClr val="0B0B0B"/>
                </a:solidFill>
                <a:latin typeface="Calibri" panose="020F0502020204030204" pitchFamily="34" charset="0"/>
                <a:cs typeface="Calibri" panose="020F0502020204030204" pitchFamily="34" charset="0"/>
              </a:rPr>
              <a:t>508</a:t>
            </a:r>
            <a:r>
              <a:rPr lang="en-US" sz="900" b="0" strike="noStrike" spc="-1">
                <a:solidFill>
                  <a:schemeClr val="dk1"/>
                </a:solidFill>
                <a:latin typeface="Calibri" panose="020F0502020204030204" pitchFamily="34" charset="0"/>
                <a:cs typeface="Calibri" panose="020F0502020204030204" pitchFamily="34" charset="0"/>
              </a:rPr>
              <a:t>   </a:t>
            </a:r>
            <a:r>
              <a:rPr lang="en-US" sz="950" b="1" strike="noStrike" spc="-1">
                <a:solidFill>
                  <a:srgbClr val="52514E"/>
                </a:solidFill>
                <a:latin typeface="Calibri" panose="020F0502020204030204" pitchFamily="34" charset="0"/>
                <a:cs typeface="Calibri" panose="020F0502020204030204" pitchFamily="34" charset="0"/>
              </a:rPr>
              <a:t>paid FTE per month</a:t>
            </a:r>
            <a:endParaRPr lang="en-US" sz="950" b="0" strike="noStrike" spc="-1">
              <a:solidFill>
                <a:srgbClr val="000000"/>
              </a:solidFill>
              <a:latin typeface="Calibri" panose="020F0502020204030204" pitchFamily="34" charset="0"/>
              <a:cs typeface="Calibri" panose="020F0502020204030204" pitchFamily="34" charset="0"/>
            </a:endParaRPr>
          </a:p>
        </p:txBody>
      </p:sp>
      <p:sp>
        <p:nvSpPr>
          <p:cNvPr id="72" name="TextBox 6"/>
          <p:cNvSpPr/>
          <p:nvPr/>
        </p:nvSpPr>
        <p:spPr>
          <a:xfrm>
            <a:off x="502920" y="2436188"/>
            <a:ext cx="3223800" cy="31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900" b="0" strike="noStrike" spc="-1" dirty="0">
                <a:latin typeface="Calibri" panose="020F0502020204030204" pitchFamily="34" charset="0"/>
                <a:cs typeface="Calibri" panose="020F0502020204030204" pitchFamily="34" charset="0"/>
              </a:rPr>
              <a:t>To hold </a:t>
            </a:r>
            <a:r>
              <a:rPr lang="en-US" sz="900" b="1" strike="noStrike" spc="-1" dirty="0">
                <a:latin typeface="Calibri" panose="020F0502020204030204" pitchFamily="34" charset="0"/>
                <a:cs typeface="Calibri" panose="020F0502020204030204" pitchFamily="34" charset="0"/>
              </a:rPr>
              <a:t>80% / 20s</a:t>
            </a:r>
            <a:r>
              <a:rPr lang="en-US" sz="900" b="0" strike="noStrike" spc="-1" dirty="0">
                <a:latin typeface="Calibri" panose="020F0502020204030204" pitchFamily="34" charset="0"/>
                <a:cs typeface="Calibri" panose="020F0502020204030204" pitchFamily="34" charset="0"/>
              </a:rPr>
              <a:t> phone and </a:t>
            </a:r>
            <a:r>
              <a:rPr lang="en-US" sz="900" b="1" strike="noStrike" spc="-1" dirty="0">
                <a:latin typeface="Calibri" panose="020F0502020204030204" pitchFamily="34" charset="0"/>
                <a:cs typeface="Calibri" panose="020F0502020204030204" pitchFamily="34" charset="0"/>
              </a:rPr>
              <a:t>80% / 60s</a:t>
            </a:r>
            <a:r>
              <a:rPr lang="en-US" sz="900" b="0" strike="noStrike" spc="-1" dirty="0">
                <a:latin typeface="Calibri" panose="020F0502020204030204" pitchFamily="34" charset="0"/>
                <a:cs typeface="Calibri" panose="020F0502020204030204" pitchFamily="34" charset="0"/>
              </a:rPr>
              <a:t> chat at the June run-rate </a:t>
            </a:r>
            <a:r>
              <a:rPr lang="en-US" sz="900" b="1" strike="noStrike" spc="-1" dirty="0">
                <a:latin typeface="Calibri" panose="020F0502020204030204" pitchFamily="34" charset="0"/>
                <a:cs typeface="Calibri" panose="020F0502020204030204" pitchFamily="34" charset="0"/>
              </a:rPr>
              <a:t>+10%</a:t>
            </a:r>
            <a:r>
              <a:rPr lang="en-US" sz="900" b="0" strike="noStrike" spc="-1" dirty="0">
                <a:latin typeface="Calibri" panose="020F0502020204030204" pitchFamily="34" charset="0"/>
                <a:cs typeface="Calibri" panose="020F0502020204030204" pitchFamily="34" charset="0"/>
              </a:rPr>
              <a:t> seasonal uplift.</a:t>
            </a:r>
          </a:p>
        </p:txBody>
      </p:sp>
      <p:cxnSp>
        <p:nvCxnSpPr>
          <p:cNvPr id="73" name="Connector 7"/>
          <p:cNvCxnSpPr/>
          <p:nvPr/>
        </p:nvCxnSpPr>
        <p:spPr>
          <a:xfrm>
            <a:off x="494211" y="2862753"/>
            <a:ext cx="1557360" cy="360"/>
          </a:xfrm>
          <a:prstGeom prst="straightConnector1">
            <a:avLst/>
          </a:prstGeom>
          <a:ln w="9525">
            <a:solidFill>
              <a:srgbClr val="E1E0D9"/>
            </a:solidFill>
            <a:round/>
          </a:ln>
        </p:spPr>
      </p:cxnSp>
      <p:sp>
        <p:nvSpPr>
          <p:cNvPr id="74" name="TextBox 8"/>
          <p:cNvSpPr/>
          <p:nvPr/>
        </p:nvSpPr>
        <p:spPr>
          <a:xfrm>
            <a:off x="494211" y="2908473"/>
            <a:ext cx="15566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900" b="1" strike="noStrike" spc="-1" dirty="0">
                <a:latin typeface="Calibri" panose="020F0502020204030204" pitchFamily="34" charset="0"/>
                <a:cs typeface="Calibri" panose="020F0502020204030204" pitchFamily="34" charset="0"/>
              </a:rPr>
              <a:t>PRODUCTIVE HOURS</a:t>
            </a:r>
            <a:endParaRPr lang="en-US" sz="900" b="0" strike="noStrike" spc="-1" dirty="0">
              <a:latin typeface="Calibri" panose="020F0502020204030204" pitchFamily="34" charset="0"/>
              <a:cs typeface="Calibri" panose="020F0502020204030204" pitchFamily="34" charset="0"/>
            </a:endParaRPr>
          </a:p>
          <a:p>
            <a:pPr defTabSz="457200">
              <a:lnSpc>
                <a:spcPct val="100000"/>
              </a:lnSpc>
              <a:spcBef>
                <a:spcPts val="201"/>
              </a:spcBef>
            </a:pPr>
            <a:r>
              <a:rPr lang="en-US" sz="1500" b="1" strike="noStrike" spc="-1" dirty="0">
                <a:latin typeface="Calibri" panose="020F0502020204030204" pitchFamily="34" charset="0"/>
                <a:cs typeface="Calibri" panose="020F0502020204030204" pitchFamily="34" charset="0"/>
              </a:rPr>
              <a:t>68,827</a:t>
            </a:r>
            <a:endParaRPr lang="en-US" sz="1500" b="0" strike="noStrike" spc="-1" dirty="0">
              <a:latin typeface="Calibri" panose="020F0502020204030204" pitchFamily="34" charset="0"/>
              <a:cs typeface="Calibri" panose="020F0502020204030204" pitchFamily="34" charset="0"/>
            </a:endParaRPr>
          </a:p>
          <a:p>
            <a:pPr defTabSz="457200">
              <a:lnSpc>
                <a:spcPct val="100000"/>
              </a:lnSpc>
              <a:spcBef>
                <a:spcPts val="99"/>
              </a:spcBef>
            </a:pPr>
            <a:r>
              <a:rPr lang="en-US" sz="900" b="0" strike="noStrike" spc="-1" dirty="0">
                <a:latin typeface="Calibri" panose="020F0502020204030204" pitchFamily="34" charset="0"/>
                <a:cs typeface="Calibri" panose="020F0502020204030204" pitchFamily="34" charset="0"/>
              </a:rPr>
              <a:t>per month — the BPO bill</a:t>
            </a:r>
          </a:p>
        </p:txBody>
      </p:sp>
      <p:cxnSp>
        <p:nvCxnSpPr>
          <p:cNvPr id="75" name="Connector 9"/>
          <p:cNvCxnSpPr/>
          <p:nvPr/>
        </p:nvCxnSpPr>
        <p:spPr>
          <a:xfrm>
            <a:off x="2161011" y="2862753"/>
            <a:ext cx="1557360" cy="360"/>
          </a:xfrm>
          <a:prstGeom prst="straightConnector1">
            <a:avLst/>
          </a:prstGeom>
          <a:ln w="9525">
            <a:solidFill>
              <a:srgbClr val="E1E0D9"/>
            </a:solidFill>
            <a:round/>
          </a:ln>
        </p:spPr>
      </p:cxnSp>
      <p:sp>
        <p:nvSpPr>
          <p:cNvPr id="76" name="TextBox 10"/>
          <p:cNvSpPr/>
          <p:nvPr/>
        </p:nvSpPr>
        <p:spPr>
          <a:xfrm>
            <a:off x="2161011" y="2908473"/>
            <a:ext cx="15566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900" b="1" strike="noStrike" spc="-1" dirty="0">
                <a:latin typeface="Calibri" panose="020F0502020204030204" pitchFamily="34" charset="0"/>
                <a:cs typeface="Calibri" panose="020F0502020204030204" pitchFamily="34" charset="0"/>
              </a:rPr>
              <a:t>CONTACTS</a:t>
            </a:r>
            <a:endParaRPr lang="en-US" sz="900" b="0" strike="noStrike" spc="-1" dirty="0">
              <a:latin typeface="Calibri" panose="020F0502020204030204" pitchFamily="34" charset="0"/>
              <a:cs typeface="Calibri" panose="020F0502020204030204" pitchFamily="34" charset="0"/>
            </a:endParaRPr>
          </a:p>
          <a:p>
            <a:pPr defTabSz="457200">
              <a:lnSpc>
                <a:spcPct val="100000"/>
              </a:lnSpc>
              <a:spcBef>
                <a:spcPts val="201"/>
              </a:spcBef>
            </a:pPr>
            <a:r>
              <a:rPr lang="en-US" sz="1500" b="1" strike="noStrike" spc="-1" dirty="0">
                <a:latin typeface="Calibri" panose="020F0502020204030204" pitchFamily="34" charset="0"/>
                <a:cs typeface="Calibri" panose="020F0502020204030204" pitchFamily="34" charset="0"/>
              </a:rPr>
              <a:t>294k</a:t>
            </a:r>
            <a:endParaRPr lang="en-US" sz="1500" b="0" strike="noStrike" spc="-1" dirty="0">
              <a:latin typeface="Calibri" panose="020F0502020204030204" pitchFamily="34" charset="0"/>
              <a:cs typeface="Calibri" panose="020F0502020204030204" pitchFamily="34" charset="0"/>
            </a:endParaRPr>
          </a:p>
          <a:p>
            <a:pPr defTabSz="457200">
              <a:lnSpc>
                <a:spcPct val="100000"/>
              </a:lnSpc>
              <a:spcBef>
                <a:spcPts val="99"/>
              </a:spcBef>
            </a:pPr>
            <a:r>
              <a:rPr lang="en-US" sz="900" b="0" strike="noStrike" spc="-1" dirty="0">
                <a:latin typeface="Calibri" panose="020F0502020204030204" pitchFamily="34" charset="0"/>
                <a:cs typeface="Calibri" panose="020F0502020204030204" pitchFamily="34" charset="0"/>
              </a:rPr>
              <a:t>all languages, all channels</a:t>
            </a:r>
          </a:p>
        </p:txBody>
      </p:sp>
      <p:cxnSp>
        <p:nvCxnSpPr>
          <p:cNvPr id="77" name="Connector 11"/>
          <p:cNvCxnSpPr>
            <a:cxnSpLocks/>
          </p:cNvCxnSpPr>
          <p:nvPr/>
        </p:nvCxnSpPr>
        <p:spPr>
          <a:xfrm>
            <a:off x="494211" y="3715743"/>
            <a:ext cx="16989" cy="915428"/>
          </a:xfrm>
          <a:prstGeom prst="straightConnector1">
            <a:avLst/>
          </a:prstGeom>
          <a:ln w="28575">
            <a:solidFill>
              <a:srgbClr val="D03B3B"/>
            </a:solidFill>
            <a:round/>
          </a:ln>
        </p:spPr>
      </p:cxnSp>
      <p:sp>
        <p:nvSpPr>
          <p:cNvPr id="78" name="TextBox 12"/>
          <p:cNvSpPr/>
          <p:nvPr/>
        </p:nvSpPr>
        <p:spPr>
          <a:xfrm>
            <a:off x="621360" y="3766758"/>
            <a:ext cx="3105000" cy="173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100" b="1" strike="noStrike" spc="-1" dirty="0">
                <a:solidFill>
                  <a:srgbClr val="0B0B0B"/>
                </a:solidFill>
                <a:latin typeface="Calibri" panose="020F0502020204030204" pitchFamily="34" charset="0"/>
                <a:cs typeface="Calibri" panose="020F0502020204030204" pitchFamily="34" charset="0"/>
              </a:rPr>
              <a:t>AHT actual vs assumption </a:t>
            </a:r>
            <a:r>
              <a:rPr lang="en-US" sz="1100" b="1" strike="noStrike" spc="-1" dirty="0">
                <a:solidFill>
                  <a:srgbClr val="D03B3B"/>
                </a:solidFill>
                <a:latin typeface="Calibri" panose="020F0502020204030204" pitchFamily="34" charset="0"/>
                <a:cs typeface="Calibri" panose="020F0502020204030204" pitchFamily="34" charset="0"/>
              </a:rPr>
              <a:t>±78 FTE</a:t>
            </a:r>
            <a:endParaRPr lang="en-US" sz="1100" b="0" strike="noStrike" spc="-1" dirty="0">
              <a:solidFill>
                <a:srgbClr val="000000"/>
              </a:solidFill>
              <a:latin typeface="Calibri" panose="020F0502020204030204" pitchFamily="34" charset="0"/>
              <a:cs typeface="Calibri" panose="020F0502020204030204" pitchFamily="34" charset="0"/>
            </a:endParaRPr>
          </a:p>
        </p:txBody>
      </p:sp>
      <p:sp>
        <p:nvSpPr>
          <p:cNvPr id="79" name="TextBox 13"/>
          <p:cNvSpPr/>
          <p:nvPr/>
        </p:nvSpPr>
        <p:spPr>
          <a:xfrm>
            <a:off x="621360" y="4083003"/>
            <a:ext cx="3105000" cy="1148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900" b="0" strike="noStrike" spc="-1" dirty="0">
                <a:latin typeface="Calibri" panose="020F0502020204030204" pitchFamily="34" charset="0"/>
                <a:cs typeface="Calibri" panose="020F0502020204030204" pitchFamily="34" charset="0"/>
              </a:rPr>
              <a:t>When channel AHT assumption is compared with English actual AHT then we see significant difference </a:t>
            </a:r>
            <a:r>
              <a:rPr lang="en-US" sz="900" b="1" strike="noStrike" spc="-1" dirty="0">
                <a:latin typeface="Calibri" panose="020F0502020204030204" pitchFamily="34" charset="0"/>
                <a:cs typeface="Calibri" panose="020F0502020204030204" pitchFamily="34" charset="0"/>
              </a:rPr>
              <a:t>710s </a:t>
            </a:r>
            <a:r>
              <a:rPr lang="en-US" sz="900" b="0" strike="noStrike" spc="-1" dirty="0">
                <a:latin typeface="Calibri" panose="020F0502020204030204" pitchFamily="34" charset="0"/>
                <a:cs typeface="Calibri" panose="020F0502020204030204" pitchFamily="34" charset="0"/>
              </a:rPr>
              <a:t>assumed vs </a:t>
            </a:r>
            <a:r>
              <a:rPr lang="en-US" sz="900" b="1" strike="noStrike" spc="-1" dirty="0">
                <a:latin typeface="Calibri" panose="020F0502020204030204" pitchFamily="34" charset="0"/>
                <a:cs typeface="Calibri" panose="020F0502020204030204" pitchFamily="34" charset="0"/>
              </a:rPr>
              <a:t>909s</a:t>
            </a:r>
            <a:r>
              <a:rPr lang="en-US" sz="900" b="0" strike="noStrike" spc="-1" dirty="0">
                <a:latin typeface="Calibri" panose="020F0502020204030204" pitchFamily="34" charset="0"/>
                <a:cs typeface="Calibri" panose="020F0502020204030204" pitchFamily="34" charset="0"/>
              </a:rPr>
              <a:t> actual. </a:t>
            </a:r>
            <a:r>
              <a:rPr lang="en-US" sz="900" strike="noStrike" spc="-1" dirty="0">
                <a:latin typeface="Calibri" panose="020F0502020204030204" pitchFamily="34" charset="0"/>
                <a:cs typeface="Calibri" panose="020F0502020204030204" pitchFamily="34" charset="0"/>
              </a:rPr>
              <a:t>Depending upon which AHT is used there is swing of </a:t>
            </a:r>
            <a:r>
              <a:rPr lang="en-US" sz="900" b="1" strike="noStrike" spc="-1" dirty="0">
                <a:latin typeface="Calibri" panose="020F0502020204030204" pitchFamily="34" charset="0"/>
                <a:cs typeface="Calibri" panose="020F0502020204030204" pitchFamily="34" charset="0"/>
              </a:rPr>
              <a:t>78</a:t>
            </a:r>
            <a:r>
              <a:rPr lang="en-US" sz="900" b="0" strike="noStrike" spc="-1" dirty="0">
                <a:latin typeface="Calibri" panose="020F0502020204030204" pitchFamily="34" charset="0"/>
                <a:cs typeface="Calibri" panose="020F0502020204030204" pitchFamily="34" charset="0"/>
              </a:rPr>
              <a:t> FTE</a:t>
            </a:r>
          </a:p>
          <a:p>
            <a:pPr defTabSz="457200">
              <a:lnSpc>
                <a:spcPct val="100000"/>
              </a:lnSpc>
            </a:pPr>
            <a:endParaRPr lang="en-US" sz="900" spc="-1" dirty="0">
              <a:latin typeface="Calibri" panose="020F0502020204030204" pitchFamily="34" charset="0"/>
              <a:cs typeface="Calibri" panose="020F0502020204030204" pitchFamily="34" charset="0"/>
            </a:endParaRPr>
          </a:p>
          <a:p>
            <a:pPr defTabSz="457200">
              <a:lnSpc>
                <a:spcPct val="100000"/>
              </a:lnSpc>
            </a:pPr>
            <a:endParaRPr lang="en-US" sz="900" b="0" strike="noStrike" spc="-1" dirty="0">
              <a:latin typeface="Calibri" panose="020F0502020204030204" pitchFamily="34" charset="0"/>
              <a:cs typeface="Calibri" panose="020F0502020204030204" pitchFamily="34" charset="0"/>
            </a:endParaRPr>
          </a:p>
          <a:p>
            <a:pPr defTabSz="457200">
              <a:lnSpc>
                <a:spcPct val="100000"/>
              </a:lnSpc>
            </a:pPr>
            <a:r>
              <a:rPr lang="en-US" sz="900" b="1" strike="noStrike" spc="-1" dirty="0">
                <a:latin typeface="Calibri" panose="020F0502020204030204" pitchFamily="34" charset="0"/>
                <a:cs typeface="Calibri" panose="020F0502020204030204" pitchFamily="34" charset="0"/>
              </a:rPr>
              <a:t>Assumption taken</a:t>
            </a:r>
          </a:p>
          <a:p>
            <a:pPr defTabSz="457200">
              <a:lnSpc>
                <a:spcPct val="100000"/>
              </a:lnSpc>
            </a:pPr>
            <a:endParaRPr lang="en-US" sz="900" spc="-1" dirty="0">
              <a:latin typeface="Calibri" panose="020F0502020204030204" pitchFamily="34" charset="0"/>
              <a:cs typeface="Calibri" panose="020F0502020204030204" pitchFamily="34" charset="0"/>
            </a:endParaRPr>
          </a:p>
          <a:p>
            <a:pPr defTabSz="457200">
              <a:lnSpc>
                <a:spcPct val="100000"/>
              </a:lnSpc>
            </a:pPr>
            <a:r>
              <a:rPr lang="en-US" sz="900" b="0" strike="noStrike" spc="-1" dirty="0">
                <a:highlight>
                  <a:srgbClr val="FFFF00"/>
                </a:highlight>
                <a:latin typeface="Calibri" panose="020F0502020204030204" pitchFamily="34" charset="0"/>
                <a:cs typeface="Calibri" panose="020F0502020204030204" pitchFamily="34" charset="0"/>
              </a:rPr>
              <a:t>1. Occupancy: 85%</a:t>
            </a:r>
            <a:endParaRPr lang="en-US" sz="900" spc="-1" dirty="0">
              <a:highlight>
                <a:srgbClr val="FFFF00"/>
              </a:highlight>
              <a:latin typeface="Calibri" panose="020F0502020204030204" pitchFamily="34" charset="0"/>
              <a:cs typeface="Calibri" panose="020F0502020204030204" pitchFamily="34" charset="0"/>
            </a:endParaRPr>
          </a:p>
          <a:p>
            <a:pPr defTabSz="457200">
              <a:lnSpc>
                <a:spcPct val="100000"/>
              </a:lnSpc>
            </a:pPr>
            <a:r>
              <a:rPr lang="en-US" sz="900" b="0" strike="noStrike" spc="-1" dirty="0">
                <a:latin typeface="Calibri" panose="020F0502020204030204" pitchFamily="34" charset="0"/>
                <a:cs typeface="Calibri" panose="020F0502020204030204" pitchFamily="34" charset="0"/>
              </a:rPr>
              <a:t>2. Chat concurrency: 1.2 for all </a:t>
            </a:r>
            <a:r>
              <a:rPr lang="en-US" sz="900" b="0" strike="noStrike" spc="-1" dirty="0" err="1">
                <a:latin typeface="Calibri" panose="020F0502020204030204" pitchFamily="34" charset="0"/>
                <a:cs typeface="Calibri" panose="020F0502020204030204" pitchFamily="34" charset="0"/>
              </a:rPr>
              <a:t>langs</a:t>
            </a:r>
            <a:endParaRPr lang="en-US" sz="900" b="0" strike="noStrike" spc="-1" dirty="0">
              <a:latin typeface="Calibri" panose="020F0502020204030204" pitchFamily="34" charset="0"/>
              <a:cs typeface="Calibri" panose="020F0502020204030204" pitchFamily="34" charset="0"/>
            </a:endParaRPr>
          </a:p>
          <a:p>
            <a:pPr defTabSz="457200">
              <a:lnSpc>
                <a:spcPct val="100000"/>
              </a:lnSpc>
            </a:pPr>
            <a:r>
              <a:rPr lang="en-US" sz="900" spc="-1" dirty="0">
                <a:latin typeface="Calibri" panose="020F0502020204030204" pitchFamily="34" charset="0"/>
                <a:cs typeface="Calibri" panose="020F0502020204030204" pitchFamily="34" charset="0"/>
              </a:rPr>
              <a:t>3. July/Aug/Sep: 1.10  of June contact volume (no month-on-month variation)</a:t>
            </a:r>
          </a:p>
          <a:p>
            <a:pPr defTabSz="457200">
              <a:lnSpc>
                <a:spcPct val="100000"/>
              </a:lnSpc>
            </a:pPr>
            <a:r>
              <a:rPr lang="en-US" sz="900" b="0" strike="noStrike" spc="-1" dirty="0">
                <a:latin typeface="Calibri" panose="020F0502020204030204" pitchFamily="34" charset="0"/>
                <a:cs typeface="Calibri" panose="020F0502020204030204" pitchFamily="34" charset="0"/>
              </a:rPr>
              <a:t>4. Many data quality issues were spotted </a:t>
            </a:r>
            <a:r>
              <a:rPr lang="en-US" sz="900" spc="-1" dirty="0">
                <a:latin typeface="Calibri" panose="020F0502020204030204" pitchFamily="34" charset="0"/>
                <a:cs typeface="Calibri" panose="020F0502020204030204" pitchFamily="34" charset="0"/>
              </a:rPr>
              <a:t>(in Appendix)</a:t>
            </a:r>
            <a:endParaRPr lang="en-US" sz="900" b="0" strike="noStrike" spc="-1" dirty="0">
              <a:latin typeface="Calibri" panose="020F0502020204030204" pitchFamily="34" charset="0"/>
              <a:cs typeface="Calibri" panose="020F0502020204030204" pitchFamily="34" charset="0"/>
            </a:endParaRPr>
          </a:p>
          <a:p>
            <a:pPr defTabSz="457200">
              <a:lnSpc>
                <a:spcPct val="100000"/>
              </a:lnSpc>
            </a:pPr>
            <a:endParaRPr lang="en-US" sz="900" b="0" strike="noStrike" spc="-1" dirty="0">
              <a:highlight>
                <a:srgbClr val="FFFF00"/>
              </a:highlight>
              <a:latin typeface="Calibri" panose="020F0502020204030204" pitchFamily="34" charset="0"/>
              <a:cs typeface="Calibri" panose="020F0502020204030204" pitchFamily="34" charset="0"/>
            </a:endParaRPr>
          </a:p>
        </p:txBody>
      </p:sp>
      <p:sp>
        <p:nvSpPr>
          <p:cNvPr id="80" name="TextBox 15"/>
          <p:cNvSpPr/>
          <p:nvPr/>
        </p:nvSpPr>
        <p:spPr>
          <a:xfrm>
            <a:off x="3946320" y="1508760"/>
            <a:ext cx="429840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200" b="1" strike="noStrike" spc="58" dirty="0">
                <a:solidFill>
                  <a:srgbClr val="898781"/>
                </a:solidFill>
                <a:latin typeface="Calibri" panose="020F0502020204030204" pitchFamily="34" charset="0"/>
                <a:cs typeface="Calibri" panose="020F0502020204030204" pitchFamily="34" charset="0"/>
              </a:rPr>
              <a:t>A QUARTER OF THE REQUIREMENT IS SERVICE LEVEL, NOT WORKLOAD</a:t>
            </a:r>
            <a:endParaRPr lang="en-US" sz="1200" b="0" strike="noStrike" spc="-1" dirty="0">
              <a:solidFill>
                <a:srgbClr val="000000"/>
              </a:solidFill>
              <a:latin typeface="Calibri" panose="020F0502020204030204" pitchFamily="34" charset="0"/>
              <a:cs typeface="Calibri" panose="020F0502020204030204" pitchFamily="34" charset="0"/>
            </a:endParaRPr>
          </a:p>
        </p:txBody>
      </p:sp>
      <p:graphicFrame>
        <p:nvGraphicFramePr>
          <p:cNvPr id="81" name="Chart 16"/>
          <p:cNvGraphicFramePr/>
          <p:nvPr>
            <p:extLst>
              <p:ext uri="{D42A27DB-BD31-4B8C-83A1-F6EECF244321}">
                <p14:modId xmlns:p14="http://schemas.microsoft.com/office/powerpoint/2010/main" val="51022205"/>
              </p:ext>
            </p:extLst>
          </p:nvPr>
        </p:nvGraphicFramePr>
        <p:xfrm>
          <a:off x="3946320" y="1774080"/>
          <a:ext cx="4298400" cy="2148480"/>
        </p:xfrm>
        <a:graphic>
          <a:graphicData uri="http://schemas.openxmlformats.org/drawingml/2006/chart">
            <c:chart xmlns:c="http://schemas.openxmlformats.org/drawingml/2006/chart" xmlns:r="http://schemas.openxmlformats.org/officeDocument/2006/relationships" r:id="rId2"/>
          </a:graphicData>
        </a:graphic>
      </p:graphicFrame>
      <p:sp>
        <p:nvSpPr>
          <p:cNvPr id="82" name="TextBox 17"/>
          <p:cNvSpPr/>
          <p:nvPr/>
        </p:nvSpPr>
        <p:spPr>
          <a:xfrm>
            <a:off x="4166280" y="4031937"/>
            <a:ext cx="3908550" cy="47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900" b="0" strike="noStrike" spc="-1" dirty="0">
                <a:latin typeface="Calibri" panose="020F0502020204030204" pitchFamily="34" charset="0"/>
                <a:cs typeface="Calibri" panose="020F0502020204030204" pitchFamily="34" charset="0"/>
              </a:rPr>
              <a:t>A workload model returns </a:t>
            </a:r>
            <a:r>
              <a:rPr lang="en-US" sz="900" b="1" strike="noStrike" spc="-1" dirty="0">
                <a:latin typeface="Calibri" panose="020F0502020204030204" pitchFamily="34" charset="0"/>
                <a:cs typeface="Calibri" panose="020F0502020204030204" pitchFamily="34" charset="0"/>
              </a:rPr>
              <a:t>360 FTE</a:t>
            </a:r>
            <a:r>
              <a:rPr lang="en-US" sz="900" b="0" strike="noStrike" spc="-1" dirty="0">
                <a:latin typeface="Calibri" panose="020F0502020204030204" pitchFamily="34" charset="0"/>
                <a:cs typeface="Calibri" panose="020F0502020204030204" pitchFamily="34" charset="0"/>
              </a:rPr>
              <a:t> and </a:t>
            </a:r>
            <a:r>
              <a:rPr lang="en-US" sz="900" b="1" strike="noStrike" spc="-1" dirty="0">
                <a:latin typeface="Calibri" panose="020F0502020204030204" pitchFamily="34" charset="0"/>
                <a:cs typeface="Calibri" panose="020F0502020204030204" pitchFamily="34" charset="0"/>
              </a:rPr>
              <a:t>misses SLA</a:t>
            </a:r>
            <a:r>
              <a:rPr lang="en-US" sz="900" b="0" strike="noStrike" spc="-1" dirty="0">
                <a:latin typeface="Calibri" panose="020F0502020204030204" pitchFamily="34" charset="0"/>
                <a:cs typeface="Calibri" panose="020F0502020204030204" pitchFamily="34" charset="0"/>
              </a:rPr>
              <a:t> — it implicitly assumes 100% occupancy. Erlang C says English inbound runs at </a:t>
            </a:r>
            <a:r>
              <a:rPr lang="en-US" sz="900" b="1" strike="noStrike" spc="-1" dirty="0">
                <a:latin typeface="Calibri" panose="020F0502020204030204" pitchFamily="34" charset="0"/>
                <a:cs typeface="Calibri" panose="020F0502020204030204" pitchFamily="34" charset="0"/>
              </a:rPr>
              <a:t>70%</a:t>
            </a:r>
            <a:r>
              <a:rPr lang="en-US" sz="900" b="0" strike="noStrike" spc="-1" dirty="0">
                <a:latin typeface="Calibri" panose="020F0502020204030204" pitchFamily="34" charset="0"/>
                <a:cs typeface="Calibri" panose="020F0502020204030204" pitchFamily="34" charset="0"/>
              </a:rPr>
              <a:t>; the idle 30% </a:t>
            </a:r>
            <a:r>
              <a:rPr lang="en-US" sz="900" b="0" i="1" strike="noStrike" spc="-1" dirty="0">
                <a:latin typeface="Calibri" panose="020F0502020204030204" pitchFamily="34" charset="0"/>
                <a:cs typeface="Calibri" panose="020F0502020204030204" pitchFamily="34" charset="0"/>
              </a:rPr>
              <a:t>is</a:t>
            </a:r>
            <a:r>
              <a:rPr lang="en-US" sz="900" b="0" strike="noStrike" spc="-1" dirty="0">
                <a:latin typeface="Calibri" panose="020F0502020204030204" pitchFamily="34" charset="0"/>
                <a:cs typeface="Calibri" panose="020F0502020204030204" pitchFamily="34" charset="0"/>
              </a:rPr>
              <a:t> the 20-second answer time.</a:t>
            </a:r>
          </a:p>
        </p:txBody>
      </p:sp>
      <p:sp>
        <p:nvSpPr>
          <p:cNvPr id="83" name="TextBox 18"/>
          <p:cNvSpPr/>
          <p:nvPr/>
        </p:nvSpPr>
        <p:spPr>
          <a:xfrm>
            <a:off x="8464680" y="1508760"/>
            <a:ext cx="322380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200" b="1" strike="noStrike" spc="58" dirty="0">
                <a:solidFill>
                  <a:srgbClr val="898781"/>
                </a:solidFill>
                <a:latin typeface="Calibri" panose="020F0502020204030204" pitchFamily="34" charset="0"/>
                <a:cs typeface="Calibri" panose="020F0502020204030204" pitchFamily="34" charset="0"/>
              </a:rPr>
              <a:t>MODEL ARCHITECTURE — ONE CHAIN, TWO PATHS IN</a:t>
            </a:r>
            <a:endParaRPr lang="en-US" sz="1200" b="0" strike="noStrike" spc="-1" dirty="0">
              <a:solidFill>
                <a:srgbClr val="000000"/>
              </a:solidFill>
              <a:latin typeface="Calibri" panose="020F0502020204030204" pitchFamily="34" charset="0"/>
              <a:cs typeface="Calibri" panose="020F0502020204030204" pitchFamily="34" charset="0"/>
            </a:endParaRPr>
          </a:p>
        </p:txBody>
      </p:sp>
      <p:sp>
        <p:nvSpPr>
          <p:cNvPr id="84" name="Rounded Rectangle 19"/>
          <p:cNvSpPr/>
          <p:nvPr/>
        </p:nvSpPr>
        <p:spPr>
          <a:xfrm>
            <a:off x="8464680" y="2149008"/>
            <a:ext cx="1584360" cy="273960"/>
          </a:xfrm>
          <a:prstGeom prst="roundRect">
            <a:avLst>
              <a:gd name="adj" fmla="val 10000"/>
            </a:avLst>
          </a:prstGeom>
          <a:solidFill>
            <a:srgbClr val="F2F2E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38160" tIns="25560" rIns="38160" bIns="25560" anchor="ctr">
            <a:noAutofit/>
          </a:bodyPr>
          <a:lstStyle/>
          <a:p>
            <a:pPr algn="ctr" defTabSz="457200">
              <a:lnSpc>
                <a:spcPct val="100000"/>
              </a:lnSpc>
            </a:pPr>
            <a:r>
              <a:rPr lang="en-US" sz="900" b="1" strike="noStrike" spc="-1" dirty="0">
                <a:latin typeface="Calibri" panose="020F0502020204030204" pitchFamily="34" charset="0"/>
                <a:cs typeface="Calibri" panose="020F0502020204030204" pitchFamily="34" charset="0"/>
              </a:rPr>
              <a:t>Email + Outbound</a:t>
            </a:r>
            <a:endParaRPr lang="en-US" sz="900" b="0" strike="noStrike" spc="-1" dirty="0">
              <a:latin typeface="Calibri" panose="020F0502020204030204" pitchFamily="34" charset="0"/>
              <a:cs typeface="Calibri" panose="020F0502020204030204" pitchFamily="34" charset="0"/>
            </a:endParaRPr>
          </a:p>
          <a:p>
            <a:pPr algn="ctr" defTabSz="457200">
              <a:lnSpc>
                <a:spcPct val="100000"/>
              </a:lnSpc>
            </a:pPr>
            <a:r>
              <a:rPr lang="en-US" sz="900" b="1" strike="noStrike" spc="-1" dirty="0">
                <a:latin typeface="Calibri" panose="020F0502020204030204" pitchFamily="34" charset="0"/>
                <a:cs typeface="Calibri" panose="020F0502020204030204" pitchFamily="34" charset="0"/>
              </a:rPr>
              <a:t>DEFERRED</a:t>
            </a:r>
            <a:endParaRPr lang="en-US" sz="900" b="0" strike="noStrike" spc="-1" dirty="0">
              <a:latin typeface="Calibri" panose="020F0502020204030204" pitchFamily="34" charset="0"/>
              <a:cs typeface="Calibri" panose="020F0502020204030204" pitchFamily="34" charset="0"/>
            </a:endParaRPr>
          </a:p>
        </p:txBody>
      </p:sp>
      <p:sp>
        <p:nvSpPr>
          <p:cNvPr id="85" name="Rounded Rectangle 20"/>
          <p:cNvSpPr/>
          <p:nvPr/>
        </p:nvSpPr>
        <p:spPr>
          <a:xfrm>
            <a:off x="10104120" y="2149008"/>
            <a:ext cx="1584360" cy="273960"/>
          </a:xfrm>
          <a:prstGeom prst="roundRect">
            <a:avLst>
              <a:gd name="adj" fmla="val 10000"/>
            </a:avLst>
          </a:prstGeom>
          <a:solidFill>
            <a:srgbClr val="F2F2E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38160" tIns="25560" rIns="38160" bIns="25560" anchor="ctr">
            <a:noAutofit/>
          </a:bodyPr>
          <a:lstStyle/>
          <a:p>
            <a:pPr algn="ctr" defTabSz="457200">
              <a:lnSpc>
                <a:spcPct val="100000"/>
              </a:lnSpc>
            </a:pPr>
            <a:r>
              <a:rPr lang="en-US" sz="900" b="1" strike="noStrike" spc="-1" dirty="0">
                <a:solidFill>
                  <a:srgbClr val="2A78D6"/>
                </a:solidFill>
                <a:latin typeface="Calibri" panose="020F0502020204030204" pitchFamily="34" charset="0"/>
                <a:cs typeface="Calibri" panose="020F0502020204030204" pitchFamily="34" charset="0"/>
              </a:rPr>
              <a:t>Inbound + Chat</a:t>
            </a:r>
            <a:endParaRPr lang="en-US" sz="900" b="0" strike="noStrike" spc="-1" dirty="0">
              <a:solidFill>
                <a:srgbClr val="000000"/>
              </a:solidFill>
              <a:latin typeface="Calibri" panose="020F0502020204030204" pitchFamily="34" charset="0"/>
              <a:cs typeface="Calibri" panose="020F0502020204030204" pitchFamily="34" charset="0"/>
            </a:endParaRPr>
          </a:p>
          <a:p>
            <a:pPr algn="ctr" defTabSz="457200">
              <a:lnSpc>
                <a:spcPct val="100000"/>
              </a:lnSpc>
            </a:pPr>
            <a:r>
              <a:rPr lang="en-US" sz="900" b="1" strike="noStrike" spc="-1" dirty="0">
                <a:solidFill>
                  <a:srgbClr val="2A78D6"/>
                </a:solidFill>
                <a:latin typeface="Calibri" panose="020F0502020204030204" pitchFamily="34" charset="0"/>
                <a:cs typeface="Calibri" panose="020F0502020204030204" pitchFamily="34" charset="0"/>
              </a:rPr>
              <a:t>REAL-TIME</a:t>
            </a:r>
            <a:endParaRPr lang="en-US" sz="900" b="0" strike="noStrike" spc="-1" dirty="0">
              <a:solidFill>
                <a:srgbClr val="000000"/>
              </a:solidFill>
              <a:latin typeface="Calibri" panose="020F0502020204030204" pitchFamily="34" charset="0"/>
              <a:cs typeface="Calibri" panose="020F0502020204030204" pitchFamily="34" charset="0"/>
            </a:endParaRPr>
          </a:p>
        </p:txBody>
      </p:sp>
      <p:cxnSp>
        <p:nvCxnSpPr>
          <p:cNvPr id="86" name="Connector 21"/>
          <p:cNvCxnSpPr/>
          <p:nvPr/>
        </p:nvCxnSpPr>
        <p:spPr>
          <a:xfrm>
            <a:off x="9256680" y="2275487"/>
            <a:ext cx="360" cy="73800"/>
          </a:xfrm>
          <a:prstGeom prst="straightConnector1">
            <a:avLst/>
          </a:prstGeom>
          <a:ln w="12700">
            <a:solidFill>
              <a:srgbClr val="C3C2B7"/>
            </a:solidFill>
            <a:round/>
          </a:ln>
        </p:spPr>
      </p:cxnSp>
      <p:cxnSp>
        <p:nvCxnSpPr>
          <p:cNvPr id="87" name="Connector 22"/>
          <p:cNvCxnSpPr/>
          <p:nvPr/>
        </p:nvCxnSpPr>
        <p:spPr>
          <a:xfrm>
            <a:off x="10896120" y="2275487"/>
            <a:ext cx="360" cy="73800"/>
          </a:xfrm>
          <a:prstGeom prst="straightConnector1">
            <a:avLst/>
          </a:prstGeom>
          <a:ln w="12700">
            <a:solidFill>
              <a:srgbClr val="C3C2B7"/>
            </a:solidFill>
            <a:round/>
          </a:ln>
        </p:spPr>
      </p:cxnSp>
      <p:sp>
        <p:nvSpPr>
          <p:cNvPr id="88" name="Rounded Rectangle 23"/>
          <p:cNvSpPr/>
          <p:nvPr/>
        </p:nvSpPr>
        <p:spPr>
          <a:xfrm>
            <a:off x="8464680" y="2486580"/>
            <a:ext cx="1584360" cy="310680"/>
          </a:xfrm>
          <a:prstGeom prst="roundRect">
            <a:avLst>
              <a:gd name="adj" fmla="val 10000"/>
            </a:avLst>
          </a:prstGeom>
          <a:solidFill>
            <a:srgbClr val="D9D8D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38160" tIns="25560" rIns="38160" bIns="25560" anchor="ctr">
            <a:noAutofit/>
          </a:bodyPr>
          <a:lstStyle/>
          <a:p>
            <a:pPr algn="ctr" defTabSz="457200">
              <a:lnSpc>
                <a:spcPct val="100000"/>
              </a:lnSpc>
            </a:pPr>
            <a:r>
              <a:rPr lang="en-US" sz="900" b="1" strike="noStrike" spc="-1" dirty="0">
                <a:solidFill>
                  <a:srgbClr val="0B0B0B"/>
                </a:solidFill>
                <a:highlight>
                  <a:srgbClr val="FFFF00"/>
                </a:highlight>
                <a:latin typeface="Calibri" panose="020F0502020204030204" pitchFamily="34" charset="0"/>
                <a:cs typeface="Calibri" panose="020F0502020204030204" pitchFamily="34" charset="0"/>
              </a:rPr>
              <a:t>÷ occupancy (85%)</a:t>
            </a:r>
            <a:endParaRPr lang="en-US" sz="900" b="0" strike="noStrike" spc="-1" dirty="0">
              <a:solidFill>
                <a:srgbClr val="000000"/>
              </a:solidFill>
              <a:highlight>
                <a:srgbClr val="FFFF00"/>
              </a:highlight>
              <a:latin typeface="Calibri" panose="020F0502020204030204" pitchFamily="34" charset="0"/>
              <a:cs typeface="Calibri" panose="020F0502020204030204" pitchFamily="34" charset="0"/>
            </a:endParaRPr>
          </a:p>
          <a:p>
            <a:pPr algn="ctr" defTabSz="457200">
              <a:lnSpc>
                <a:spcPct val="100000"/>
              </a:lnSpc>
            </a:pPr>
            <a:r>
              <a:rPr lang="en-US" sz="900" b="1" strike="noStrike" spc="-1" dirty="0">
                <a:solidFill>
                  <a:srgbClr val="898781"/>
                </a:solidFill>
                <a:latin typeface="Calibri" panose="020F0502020204030204" pitchFamily="34" charset="0"/>
                <a:cs typeface="Calibri" panose="020F0502020204030204" pitchFamily="34" charset="0"/>
              </a:rPr>
              <a:t>seat-equiv. hours</a:t>
            </a:r>
            <a:endParaRPr lang="en-US" sz="900" b="0" strike="noStrike" spc="-1" dirty="0">
              <a:solidFill>
                <a:srgbClr val="000000"/>
              </a:solidFill>
              <a:latin typeface="Calibri" panose="020F0502020204030204" pitchFamily="34" charset="0"/>
              <a:cs typeface="Calibri" panose="020F0502020204030204" pitchFamily="34" charset="0"/>
            </a:endParaRPr>
          </a:p>
        </p:txBody>
      </p:sp>
      <p:sp>
        <p:nvSpPr>
          <p:cNvPr id="89" name="Rounded Rectangle 24"/>
          <p:cNvSpPr/>
          <p:nvPr/>
        </p:nvSpPr>
        <p:spPr>
          <a:xfrm>
            <a:off x="10104120" y="2486580"/>
            <a:ext cx="1584360" cy="310680"/>
          </a:xfrm>
          <a:prstGeom prst="roundRect">
            <a:avLst>
              <a:gd name="adj" fmla="val 10000"/>
            </a:avLst>
          </a:prstGeom>
          <a:solidFill>
            <a:srgbClr val="CDE2F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38160" tIns="25560" rIns="38160" bIns="25560" anchor="ctr">
            <a:noAutofit/>
          </a:bodyPr>
          <a:lstStyle/>
          <a:p>
            <a:pPr algn="ctr" defTabSz="457200">
              <a:lnSpc>
                <a:spcPct val="100000"/>
              </a:lnSpc>
            </a:pPr>
            <a:r>
              <a:rPr lang="en-US" sz="900" b="1" strike="noStrike" spc="-1" dirty="0">
                <a:solidFill>
                  <a:srgbClr val="0B0B0B"/>
                </a:solidFill>
                <a:latin typeface="Calibri" panose="020F0502020204030204" pitchFamily="34" charset="0"/>
                <a:cs typeface="Calibri" panose="020F0502020204030204" pitchFamily="34" charset="0"/>
              </a:rPr>
              <a:t>Erlang C — 80/20s, 80/60s</a:t>
            </a:r>
            <a:endParaRPr lang="en-US" sz="900" b="0" strike="noStrike" spc="-1" dirty="0">
              <a:solidFill>
                <a:srgbClr val="000000"/>
              </a:solidFill>
              <a:latin typeface="Calibri" panose="020F0502020204030204" pitchFamily="34" charset="0"/>
              <a:cs typeface="Calibri" panose="020F0502020204030204" pitchFamily="34" charset="0"/>
            </a:endParaRPr>
          </a:p>
          <a:p>
            <a:pPr algn="ctr" defTabSz="457200">
              <a:lnSpc>
                <a:spcPct val="100000"/>
              </a:lnSpc>
            </a:pPr>
            <a:r>
              <a:rPr lang="en-US" sz="900" b="1" strike="noStrike" spc="-1" dirty="0">
                <a:solidFill>
                  <a:srgbClr val="898781"/>
                </a:solidFill>
                <a:latin typeface="Calibri" panose="020F0502020204030204" pitchFamily="34" charset="0"/>
                <a:cs typeface="Calibri" panose="020F0502020204030204" pitchFamily="34" charset="0"/>
              </a:rPr>
              <a:t>→ seats × 730h/</a:t>
            </a:r>
            <a:r>
              <a:rPr lang="en-US" sz="900" b="1" strike="noStrike" spc="-1" dirty="0" err="1">
                <a:solidFill>
                  <a:srgbClr val="898781"/>
                </a:solidFill>
                <a:latin typeface="Calibri" panose="020F0502020204030204" pitchFamily="34" charset="0"/>
                <a:cs typeface="Calibri" panose="020F0502020204030204" pitchFamily="34" charset="0"/>
              </a:rPr>
              <a:t>mo</a:t>
            </a:r>
            <a:endParaRPr lang="en-US" sz="900" b="0" strike="noStrike" spc="-1" dirty="0">
              <a:solidFill>
                <a:srgbClr val="000000"/>
              </a:solidFill>
              <a:latin typeface="Calibri" panose="020F0502020204030204" pitchFamily="34" charset="0"/>
              <a:cs typeface="Calibri" panose="020F0502020204030204" pitchFamily="34" charset="0"/>
            </a:endParaRPr>
          </a:p>
        </p:txBody>
      </p:sp>
      <p:cxnSp>
        <p:nvCxnSpPr>
          <p:cNvPr id="90" name="Connector 25"/>
          <p:cNvCxnSpPr/>
          <p:nvPr/>
        </p:nvCxnSpPr>
        <p:spPr>
          <a:xfrm>
            <a:off x="9256680" y="2797260"/>
            <a:ext cx="820080" cy="128520"/>
          </a:xfrm>
          <a:prstGeom prst="straightConnector1">
            <a:avLst/>
          </a:prstGeom>
          <a:ln w="12700">
            <a:solidFill>
              <a:srgbClr val="C3C2B7"/>
            </a:solidFill>
            <a:round/>
          </a:ln>
        </p:spPr>
      </p:cxnSp>
      <p:cxnSp>
        <p:nvCxnSpPr>
          <p:cNvPr id="91" name="Connector 26"/>
          <p:cNvCxnSpPr/>
          <p:nvPr/>
        </p:nvCxnSpPr>
        <p:spPr>
          <a:xfrm flipH="1">
            <a:off x="10076400" y="2797260"/>
            <a:ext cx="820080" cy="128520"/>
          </a:xfrm>
          <a:prstGeom prst="straightConnector1">
            <a:avLst/>
          </a:prstGeom>
          <a:ln w="12700">
            <a:solidFill>
              <a:srgbClr val="C3C2B7"/>
            </a:solidFill>
            <a:round/>
          </a:ln>
        </p:spPr>
      </p:cxnSp>
      <p:sp>
        <p:nvSpPr>
          <p:cNvPr id="92" name="Rounded Rectangle 27"/>
          <p:cNvSpPr/>
          <p:nvPr/>
        </p:nvSpPr>
        <p:spPr>
          <a:xfrm>
            <a:off x="8464680" y="2917416"/>
            <a:ext cx="3223800" cy="293098"/>
          </a:xfrm>
          <a:prstGeom prst="roundRect">
            <a:avLst>
              <a:gd name="adj" fmla="val 10000"/>
            </a:avLst>
          </a:prstGeom>
          <a:solidFill>
            <a:srgbClr val="D9D8D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38160" tIns="25560" rIns="38160" bIns="25560" anchor="ctr">
            <a:noAutofit/>
          </a:bodyPr>
          <a:lstStyle/>
          <a:p>
            <a:pPr algn="ctr" defTabSz="457200">
              <a:lnSpc>
                <a:spcPct val="100000"/>
              </a:lnSpc>
            </a:pPr>
            <a:r>
              <a:rPr lang="en-US" sz="900" b="1" strike="noStrike" spc="-1" dirty="0">
                <a:solidFill>
                  <a:srgbClr val="0B0B0B"/>
                </a:solidFill>
                <a:latin typeface="Calibri" panose="020F0502020204030204" pitchFamily="34" charset="0"/>
                <a:cs typeface="Calibri" panose="020F0502020204030204" pitchFamily="34" charset="0"/>
              </a:rPr>
              <a:t>÷ shrinkage (18%)</a:t>
            </a:r>
            <a:endParaRPr lang="en-US" sz="900" b="0" strike="noStrike" spc="-1" dirty="0">
              <a:solidFill>
                <a:srgbClr val="000000"/>
              </a:solidFill>
              <a:latin typeface="Calibri" panose="020F0502020204030204" pitchFamily="34" charset="0"/>
              <a:cs typeface="Calibri" panose="020F0502020204030204" pitchFamily="34" charset="0"/>
            </a:endParaRPr>
          </a:p>
        </p:txBody>
      </p:sp>
      <p:sp>
        <p:nvSpPr>
          <p:cNvPr id="94" name="Rounded Rectangle 29"/>
          <p:cNvSpPr/>
          <p:nvPr/>
        </p:nvSpPr>
        <p:spPr>
          <a:xfrm>
            <a:off x="8464680" y="3333475"/>
            <a:ext cx="3223800" cy="310680"/>
          </a:xfrm>
          <a:prstGeom prst="roundRect">
            <a:avLst>
              <a:gd name="adj" fmla="val 10000"/>
            </a:avLst>
          </a:prstGeom>
          <a:solidFill>
            <a:srgbClr val="D9D8D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38160" tIns="25560" rIns="38160" bIns="25560" anchor="ctr">
            <a:noAutofit/>
          </a:bodyPr>
          <a:lstStyle/>
          <a:p>
            <a:pPr algn="ctr" defTabSz="457200">
              <a:lnSpc>
                <a:spcPct val="100000"/>
              </a:lnSpc>
            </a:pPr>
            <a:r>
              <a:rPr lang="en-US" sz="900" b="1" strike="noStrike" spc="-1" dirty="0">
                <a:solidFill>
                  <a:srgbClr val="2A78D6"/>
                </a:solidFill>
                <a:latin typeface="Calibri" panose="020F0502020204030204" pitchFamily="34" charset="0"/>
                <a:cs typeface="Calibri" panose="020F0502020204030204" pitchFamily="34" charset="0"/>
              </a:rPr>
              <a:t>÷ 173.33 h per FTE</a:t>
            </a:r>
            <a:endParaRPr lang="en-US" sz="900" b="0" strike="noStrike" spc="-1" dirty="0">
              <a:solidFill>
                <a:srgbClr val="000000"/>
              </a:solidFill>
              <a:latin typeface="Calibri" panose="020F0502020204030204" pitchFamily="34" charset="0"/>
              <a:cs typeface="Calibri" panose="020F0502020204030204" pitchFamily="34" charset="0"/>
            </a:endParaRPr>
          </a:p>
          <a:p>
            <a:pPr algn="ctr" defTabSz="457200">
              <a:lnSpc>
                <a:spcPct val="100000"/>
              </a:lnSpc>
            </a:pPr>
            <a:r>
              <a:rPr lang="en-US" sz="900" b="1" strike="noStrike" spc="-1" dirty="0">
                <a:solidFill>
                  <a:srgbClr val="2A78D6"/>
                </a:solidFill>
                <a:latin typeface="Calibri" panose="020F0502020204030204" pitchFamily="34" charset="0"/>
                <a:cs typeface="Calibri" panose="020F0502020204030204" pitchFamily="34" charset="0"/>
              </a:rPr>
              <a:t>→ 484 FTE, SLA-met</a:t>
            </a:r>
            <a:endParaRPr lang="en-US" sz="900" b="0" strike="noStrike" spc="-1" dirty="0">
              <a:solidFill>
                <a:srgbClr val="000000"/>
              </a:solidFill>
              <a:latin typeface="Calibri" panose="020F0502020204030204" pitchFamily="34" charset="0"/>
              <a:cs typeface="Calibri" panose="020F0502020204030204" pitchFamily="34" charset="0"/>
            </a:endParaRPr>
          </a:p>
        </p:txBody>
      </p:sp>
      <p:cxnSp>
        <p:nvCxnSpPr>
          <p:cNvPr id="95" name="Connector 30"/>
          <p:cNvCxnSpPr/>
          <p:nvPr/>
        </p:nvCxnSpPr>
        <p:spPr>
          <a:xfrm>
            <a:off x="10076400" y="3427847"/>
            <a:ext cx="360" cy="73440"/>
          </a:xfrm>
          <a:prstGeom prst="straightConnector1">
            <a:avLst/>
          </a:prstGeom>
          <a:ln w="12700">
            <a:solidFill>
              <a:srgbClr val="C3C2B7"/>
            </a:solidFill>
            <a:round/>
          </a:ln>
        </p:spPr>
      </p:cxnSp>
      <p:sp>
        <p:nvSpPr>
          <p:cNvPr id="96" name="Rounded Rectangle 31"/>
          <p:cNvSpPr/>
          <p:nvPr/>
        </p:nvSpPr>
        <p:spPr>
          <a:xfrm>
            <a:off x="8464680" y="3795895"/>
            <a:ext cx="3223800" cy="273960"/>
          </a:xfrm>
          <a:prstGeom prst="roundRect">
            <a:avLst>
              <a:gd name="adj" fmla="val 10000"/>
            </a:avLst>
          </a:prstGeom>
          <a:solidFill>
            <a:srgbClr val="D9D8D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38160" tIns="25560" rIns="38160" bIns="25560" anchor="ctr">
            <a:noAutofit/>
          </a:bodyPr>
          <a:lstStyle/>
          <a:p>
            <a:pPr algn="ctr" defTabSz="457200">
              <a:lnSpc>
                <a:spcPct val="100000"/>
              </a:lnSpc>
            </a:pPr>
            <a:r>
              <a:rPr lang="en-US" sz="900" b="1" strike="noStrike" spc="-1" dirty="0">
                <a:solidFill>
                  <a:srgbClr val="0B0B0B"/>
                </a:solidFill>
                <a:latin typeface="Calibri" panose="020F0502020204030204" pitchFamily="34" charset="0"/>
                <a:cs typeface="Calibri" panose="020F0502020204030204" pitchFamily="34" charset="0"/>
              </a:rPr>
              <a:t>÷ tenure-blend + training class</a:t>
            </a:r>
            <a:endParaRPr lang="en-US" sz="900" b="0" strike="noStrike" spc="-1" dirty="0">
              <a:solidFill>
                <a:srgbClr val="000000"/>
              </a:solidFill>
              <a:latin typeface="Calibri" panose="020F0502020204030204" pitchFamily="34" charset="0"/>
              <a:cs typeface="Calibri" panose="020F0502020204030204" pitchFamily="34" charset="0"/>
            </a:endParaRPr>
          </a:p>
        </p:txBody>
      </p:sp>
      <p:cxnSp>
        <p:nvCxnSpPr>
          <p:cNvPr id="97" name="Connector 32"/>
          <p:cNvCxnSpPr/>
          <p:nvPr/>
        </p:nvCxnSpPr>
        <p:spPr>
          <a:xfrm>
            <a:off x="10076400" y="3775247"/>
            <a:ext cx="360" cy="73440"/>
          </a:xfrm>
          <a:prstGeom prst="straightConnector1">
            <a:avLst/>
          </a:prstGeom>
          <a:ln w="12700">
            <a:solidFill>
              <a:srgbClr val="C3C2B7"/>
            </a:solidFill>
            <a:round/>
          </a:ln>
        </p:spPr>
      </p:cxnSp>
      <p:sp>
        <p:nvSpPr>
          <p:cNvPr id="98" name="Rounded Rectangle 33"/>
          <p:cNvSpPr/>
          <p:nvPr/>
        </p:nvSpPr>
        <p:spPr>
          <a:xfrm>
            <a:off x="8464680" y="4173151"/>
            <a:ext cx="3223800" cy="484200"/>
          </a:xfrm>
          <a:prstGeom prst="roundRect">
            <a:avLst>
              <a:gd name="adj" fmla="val 10000"/>
            </a:avLst>
          </a:prstGeom>
          <a:solidFill>
            <a:srgbClr val="2A78D6"/>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38160" tIns="25560" rIns="38160" bIns="25560" anchor="ctr">
            <a:noAutofit/>
          </a:bodyPr>
          <a:lstStyle/>
          <a:p>
            <a:pPr algn="ctr" defTabSz="457200">
              <a:lnSpc>
                <a:spcPct val="100000"/>
              </a:lnSpc>
            </a:pPr>
            <a:r>
              <a:rPr lang="en-US" sz="900" b="1" strike="noStrike" spc="-1" dirty="0">
                <a:solidFill>
                  <a:srgbClr val="FCFCFB"/>
                </a:solidFill>
                <a:latin typeface="Calibri" panose="020F0502020204030204" pitchFamily="34" charset="0"/>
                <a:cs typeface="Calibri" panose="020F0502020204030204" pitchFamily="34" charset="0"/>
              </a:rPr>
              <a:t>PAID FTE — THE BILL</a:t>
            </a:r>
            <a:endParaRPr lang="en-US" sz="900" b="0" strike="noStrike" spc="-1" dirty="0">
              <a:solidFill>
                <a:srgbClr val="FFFFFF"/>
              </a:solidFill>
              <a:latin typeface="Calibri" panose="020F0502020204030204" pitchFamily="34" charset="0"/>
              <a:cs typeface="Calibri" panose="020F0502020204030204" pitchFamily="34" charset="0"/>
            </a:endParaRPr>
          </a:p>
          <a:p>
            <a:pPr algn="ctr" defTabSz="457200">
              <a:lnSpc>
                <a:spcPct val="100000"/>
              </a:lnSpc>
            </a:pPr>
            <a:r>
              <a:rPr lang="en-US" sz="900" b="1" strike="noStrike" spc="-1" dirty="0">
                <a:solidFill>
                  <a:srgbClr val="FCFCFB"/>
                </a:solidFill>
                <a:latin typeface="Calibri" panose="020F0502020204030204" pitchFamily="34" charset="0"/>
                <a:cs typeface="Calibri" panose="020F0502020204030204" pitchFamily="34" charset="0"/>
              </a:rPr>
              <a:t>508</a:t>
            </a:r>
            <a:endParaRPr lang="en-US" sz="900" b="0" strike="noStrike" spc="-1" dirty="0">
              <a:solidFill>
                <a:srgbClr val="FFFFFF"/>
              </a:solidFill>
              <a:latin typeface="Calibri" panose="020F0502020204030204" pitchFamily="34" charset="0"/>
              <a:cs typeface="Calibri" panose="020F0502020204030204" pitchFamily="34" charset="0"/>
            </a:endParaRPr>
          </a:p>
        </p:txBody>
      </p:sp>
      <p:sp>
        <p:nvSpPr>
          <p:cNvPr id="99" name="TextBox 34"/>
          <p:cNvSpPr/>
          <p:nvPr/>
        </p:nvSpPr>
        <p:spPr>
          <a:xfrm>
            <a:off x="8473989" y="4810169"/>
            <a:ext cx="3223800" cy="376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900" b="0" strike="noStrike" spc="-1" dirty="0">
                <a:latin typeface="Calibri" panose="020F0502020204030204" pitchFamily="34" charset="0"/>
                <a:cs typeface="Calibri" panose="020F0502020204030204" pitchFamily="34" charset="0"/>
              </a:rPr>
              <a:t>Two paths — deferred (workload) and real-time (Erlang C) — merge before shrinkage. Same chain, every language. Full formula and constants on slide 03.</a:t>
            </a:r>
          </a:p>
        </p:txBody>
      </p:sp>
      <p:cxnSp>
        <p:nvCxnSpPr>
          <p:cNvPr id="100" name="Connector 35"/>
          <p:cNvCxnSpPr/>
          <p:nvPr/>
        </p:nvCxnSpPr>
        <p:spPr>
          <a:xfrm>
            <a:off x="502920" y="6400800"/>
            <a:ext cx="11185920" cy="360"/>
          </a:xfrm>
          <a:prstGeom prst="straightConnector1">
            <a:avLst/>
          </a:prstGeom>
          <a:ln w="9525">
            <a:solidFill>
              <a:srgbClr val="E1E0D9"/>
            </a:solidFill>
            <a:round/>
          </a:ln>
        </p:spPr>
      </p:cxnSp>
      <p:sp>
        <p:nvSpPr>
          <p:cNvPr id="101" name="TextBox 36"/>
          <p:cNvSpPr/>
          <p:nvPr/>
        </p:nvSpPr>
        <p:spPr>
          <a:xfrm>
            <a:off x="502920" y="6446520"/>
            <a:ext cx="91720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750" b="0" strike="noStrike" spc="-1">
                <a:solidFill>
                  <a:srgbClr val="898781"/>
                </a:solidFill>
                <a:latin typeface="Calibri" panose="020F0502020204030204" pitchFamily="34" charset="0"/>
                <a:cs typeface="Calibri" panose="020F0502020204030204" pitchFamily="34" charset="0"/>
              </a:rPr>
              <a:t>GetYourGuide · WFM take-home submission · </a:t>
            </a:r>
            <a:endParaRPr lang="en-US" sz="750" b="0" strike="noStrike" spc="-1">
              <a:solidFill>
                <a:srgbClr val="000000"/>
              </a:solidFill>
              <a:latin typeface="Calibri" panose="020F0502020204030204" pitchFamily="34" charset="0"/>
              <a:cs typeface="Calibri" panose="020F0502020204030204" pitchFamily="34" charset="0"/>
            </a:endParaRPr>
          </a:p>
        </p:txBody>
      </p:sp>
      <p:sp>
        <p:nvSpPr>
          <p:cNvPr id="102" name="TextBox 37"/>
          <p:cNvSpPr/>
          <p:nvPr/>
        </p:nvSpPr>
        <p:spPr>
          <a:xfrm>
            <a:off x="9675360" y="6446520"/>
            <a:ext cx="2013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457200">
              <a:lnSpc>
                <a:spcPct val="100000"/>
              </a:lnSpc>
            </a:pPr>
            <a:r>
              <a:rPr lang="en-US" sz="800" b="1" strike="noStrike" spc="-1">
                <a:solidFill>
                  <a:srgbClr val="52514E"/>
                </a:solidFill>
                <a:latin typeface="Calibri" panose="020F0502020204030204" pitchFamily="34" charset="0"/>
                <a:cs typeface="Calibri" panose="020F0502020204030204" pitchFamily="34" charset="0"/>
              </a:rPr>
              <a:t>1 / 5</a:t>
            </a:r>
            <a:endParaRPr lang="en-US" sz="800" b="0" strike="noStrike" spc="-1">
              <a:solidFill>
                <a:srgbClr val="000000"/>
              </a:solidFill>
              <a:latin typeface="Calibri" panose="020F0502020204030204" pitchFamily="34" charset="0"/>
              <a:cs typeface="Calibri" panose="020F0502020204030204" pitchFamily="34" charset="0"/>
            </a:endParaRPr>
          </a:p>
        </p:txBody>
      </p:sp>
      <p:sp>
        <p:nvSpPr>
          <p:cNvPr id="2" name="Oval 1">
            <a:extLst>
              <a:ext uri="{FF2B5EF4-FFF2-40B4-BE49-F238E27FC236}">
                <a16:creationId xmlns:a16="http://schemas.microsoft.com/office/drawing/2014/main" id="{10161A7D-92E4-D331-C8B4-039CB20E3D44}"/>
              </a:ext>
            </a:extLst>
          </p:cNvPr>
          <p:cNvSpPr/>
          <p:nvPr/>
        </p:nvSpPr>
        <p:spPr>
          <a:xfrm>
            <a:off x="1137240" y="1062428"/>
            <a:ext cx="288000" cy="288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I" sz="1400" dirty="0">
                <a:latin typeface="Calibri" panose="020F0502020204030204" pitchFamily="34" charset="0"/>
                <a:cs typeface="Calibri" panose="020F0502020204030204" pitchFamily="34" charset="0"/>
              </a:rPr>
              <a:t>1</a:t>
            </a:r>
          </a:p>
        </p:txBody>
      </p:sp>
      <p:sp>
        <p:nvSpPr>
          <p:cNvPr id="3" name="Oval 2">
            <a:extLst>
              <a:ext uri="{FF2B5EF4-FFF2-40B4-BE49-F238E27FC236}">
                <a16:creationId xmlns:a16="http://schemas.microsoft.com/office/drawing/2014/main" id="{99258632-41B5-C1C8-D108-AB6E82B2100C}"/>
              </a:ext>
            </a:extLst>
          </p:cNvPr>
          <p:cNvSpPr/>
          <p:nvPr/>
        </p:nvSpPr>
        <p:spPr>
          <a:xfrm>
            <a:off x="5951520" y="1067760"/>
            <a:ext cx="288000" cy="288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I" sz="1400" dirty="0">
                <a:latin typeface="Calibri" panose="020F0502020204030204" pitchFamily="34" charset="0"/>
                <a:cs typeface="Calibri" panose="020F0502020204030204" pitchFamily="34" charset="0"/>
              </a:rPr>
              <a:t>2</a:t>
            </a:r>
          </a:p>
        </p:txBody>
      </p:sp>
      <p:sp>
        <p:nvSpPr>
          <p:cNvPr id="4" name="Oval 3">
            <a:extLst>
              <a:ext uri="{FF2B5EF4-FFF2-40B4-BE49-F238E27FC236}">
                <a16:creationId xmlns:a16="http://schemas.microsoft.com/office/drawing/2014/main" id="{2FC2749F-12C6-7065-C3C2-210BF54D02BC}"/>
              </a:ext>
            </a:extLst>
          </p:cNvPr>
          <p:cNvSpPr/>
          <p:nvPr/>
        </p:nvSpPr>
        <p:spPr>
          <a:xfrm>
            <a:off x="9905040" y="1073880"/>
            <a:ext cx="288000" cy="288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I" sz="1400" dirty="0">
                <a:latin typeface="Calibri" panose="020F0502020204030204" pitchFamily="34" charset="0"/>
                <a:cs typeface="Calibri" panose="020F0502020204030204" pitchFamily="34" charset="0"/>
              </a:rPr>
              <a:t>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a:extLst>
            <a:ext uri="{FF2B5EF4-FFF2-40B4-BE49-F238E27FC236}">
              <a16:creationId xmlns:a16="http://schemas.microsoft.com/office/drawing/2014/main" id="{743DEEAC-B80A-73D0-320D-FE5FD39FAECC}"/>
            </a:ext>
          </a:extLst>
        </p:cNvPr>
        <p:cNvGrpSpPr/>
        <p:nvPr/>
      </p:nvGrpSpPr>
      <p:grpSpPr>
        <a:xfrm>
          <a:off x="0" y="0"/>
          <a:ext cx="0" cy="0"/>
          <a:chOff x="0" y="0"/>
          <a:chExt cx="0" cy="0"/>
        </a:xfrm>
      </p:grpSpPr>
      <p:sp>
        <p:nvSpPr>
          <p:cNvPr id="169" name="TextBox 1">
            <a:extLst>
              <a:ext uri="{FF2B5EF4-FFF2-40B4-BE49-F238E27FC236}">
                <a16:creationId xmlns:a16="http://schemas.microsoft.com/office/drawing/2014/main" id="{1CE740E4-759F-44D8-1470-ECF1CAFD588C}"/>
              </a:ext>
            </a:extLst>
          </p:cNvPr>
          <p:cNvSpPr/>
          <p:nvPr/>
        </p:nvSpPr>
        <p:spPr>
          <a:xfrm>
            <a:off x="502920" y="320040"/>
            <a:ext cx="111855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800" b="1" strike="noStrike" spc="-1" dirty="0">
                <a:solidFill>
                  <a:srgbClr val="2A78D6"/>
                </a:solidFill>
                <a:latin typeface="Calibri"/>
              </a:rPr>
              <a:t>Task 1b — </a:t>
            </a:r>
            <a:r>
              <a:rPr lang="en-US" sz="800" b="1" strike="noStrike" spc="-1" dirty="0" err="1">
                <a:solidFill>
                  <a:srgbClr val="2A78D6"/>
                </a:solidFill>
                <a:latin typeface="Calibri"/>
              </a:rPr>
              <a:t>Optimisation</a:t>
            </a:r>
            <a:r>
              <a:rPr lang="en-US" sz="800" b="0" strike="noStrike" spc="-1" dirty="0">
                <a:solidFill>
                  <a:srgbClr val="898781"/>
                </a:solidFill>
                <a:latin typeface="Calibri"/>
              </a:rPr>
              <a:t>   Manager, Workforce Management · Care Experience &amp; Strategy</a:t>
            </a:r>
            <a:endParaRPr lang="en-US" sz="800" b="0" strike="noStrike" spc="-1" dirty="0">
              <a:solidFill>
                <a:srgbClr val="000000"/>
              </a:solidFill>
              <a:latin typeface="Arial"/>
            </a:endParaRPr>
          </a:p>
        </p:txBody>
      </p:sp>
      <p:sp>
        <p:nvSpPr>
          <p:cNvPr id="170" name="TextBox 2">
            <a:extLst>
              <a:ext uri="{FF2B5EF4-FFF2-40B4-BE49-F238E27FC236}">
                <a16:creationId xmlns:a16="http://schemas.microsoft.com/office/drawing/2014/main" id="{7130BB90-3BFC-1964-0D4C-94FB1B7D086F}"/>
              </a:ext>
            </a:extLst>
          </p:cNvPr>
          <p:cNvSpPr/>
          <p:nvPr/>
        </p:nvSpPr>
        <p:spPr>
          <a:xfrm>
            <a:off x="502920" y="484560"/>
            <a:ext cx="111855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900" b="1" strike="noStrike" spc="-1" dirty="0">
                <a:solidFill>
                  <a:srgbClr val="0B0B0B"/>
                </a:solidFill>
                <a:latin typeface="Calibri"/>
              </a:rPr>
              <a:t>Multiple strategies to optimize</a:t>
            </a:r>
            <a:endParaRPr lang="en-US" sz="1900" b="0" strike="noStrike" spc="-1" dirty="0">
              <a:solidFill>
                <a:srgbClr val="000000"/>
              </a:solidFill>
              <a:latin typeface="Arial"/>
            </a:endParaRPr>
          </a:p>
        </p:txBody>
      </p:sp>
      <p:cxnSp>
        <p:nvCxnSpPr>
          <p:cNvPr id="171" name="Connector 3">
            <a:extLst>
              <a:ext uri="{FF2B5EF4-FFF2-40B4-BE49-F238E27FC236}">
                <a16:creationId xmlns:a16="http://schemas.microsoft.com/office/drawing/2014/main" id="{BE644C58-4FD8-4744-65AA-FFE9ACA97246}"/>
              </a:ext>
            </a:extLst>
          </p:cNvPr>
          <p:cNvCxnSpPr/>
          <p:nvPr/>
        </p:nvCxnSpPr>
        <p:spPr>
          <a:xfrm>
            <a:off x="502920" y="822960"/>
            <a:ext cx="11185920" cy="360"/>
          </a:xfrm>
          <a:prstGeom prst="straightConnector1">
            <a:avLst/>
          </a:prstGeom>
          <a:ln w="9525">
            <a:solidFill>
              <a:srgbClr val="E1E0D9"/>
            </a:solidFill>
            <a:round/>
          </a:ln>
        </p:spPr>
      </p:cxnSp>
      <p:cxnSp>
        <p:nvCxnSpPr>
          <p:cNvPr id="191" name="Connector 23">
            <a:extLst>
              <a:ext uri="{FF2B5EF4-FFF2-40B4-BE49-F238E27FC236}">
                <a16:creationId xmlns:a16="http://schemas.microsoft.com/office/drawing/2014/main" id="{A55EAE63-CD76-A70E-8489-33D6715902A4}"/>
              </a:ext>
            </a:extLst>
          </p:cNvPr>
          <p:cNvCxnSpPr/>
          <p:nvPr/>
        </p:nvCxnSpPr>
        <p:spPr>
          <a:xfrm>
            <a:off x="502920" y="6400800"/>
            <a:ext cx="11185920" cy="360"/>
          </a:xfrm>
          <a:prstGeom prst="straightConnector1">
            <a:avLst/>
          </a:prstGeom>
          <a:ln w="9525">
            <a:solidFill>
              <a:srgbClr val="E1E0D9"/>
            </a:solidFill>
            <a:round/>
          </a:ln>
        </p:spPr>
      </p:cxnSp>
      <p:sp>
        <p:nvSpPr>
          <p:cNvPr id="192" name="TextBox 24">
            <a:extLst>
              <a:ext uri="{FF2B5EF4-FFF2-40B4-BE49-F238E27FC236}">
                <a16:creationId xmlns:a16="http://schemas.microsoft.com/office/drawing/2014/main" id="{4610B1BE-503D-A373-AECD-76504EC15C85}"/>
              </a:ext>
            </a:extLst>
          </p:cNvPr>
          <p:cNvSpPr/>
          <p:nvPr/>
        </p:nvSpPr>
        <p:spPr>
          <a:xfrm>
            <a:off x="502920" y="6446520"/>
            <a:ext cx="91720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750" b="0" strike="noStrike" spc="-1">
                <a:solidFill>
                  <a:srgbClr val="898781"/>
                </a:solidFill>
                <a:latin typeface="Calibri"/>
              </a:rPr>
              <a:t>GetYourGuide · WFM take-home submission · </a:t>
            </a:r>
            <a:endParaRPr lang="en-US" sz="750" b="0" strike="noStrike" spc="-1">
              <a:solidFill>
                <a:srgbClr val="000000"/>
              </a:solidFill>
              <a:latin typeface="Arial"/>
            </a:endParaRPr>
          </a:p>
        </p:txBody>
      </p:sp>
      <p:sp>
        <p:nvSpPr>
          <p:cNvPr id="193" name="TextBox 25">
            <a:extLst>
              <a:ext uri="{FF2B5EF4-FFF2-40B4-BE49-F238E27FC236}">
                <a16:creationId xmlns:a16="http://schemas.microsoft.com/office/drawing/2014/main" id="{80311A50-BC06-0359-681A-3A8EC5D4BCA2}"/>
              </a:ext>
            </a:extLst>
          </p:cNvPr>
          <p:cNvSpPr/>
          <p:nvPr/>
        </p:nvSpPr>
        <p:spPr>
          <a:xfrm>
            <a:off x="9675360" y="6446520"/>
            <a:ext cx="2013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457200">
              <a:lnSpc>
                <a:spcPct val="100000"/>
              </a:lnSpc>
            </a:pPr>
            <a:r>
              <a:rPr lang="en-US" sz="800" b="1" spc="-1" dirty="0">
                <a:solidFill>
                  <a:srgbClr val="52514E"/>
                </a:solidFill>
                <a:latin typeface="Calibri"/>
              </a:rPr>
              <a:t>2 </a:t>
            </a:r>
            <a:r>
              <a:rPr lang="en-US" sz="800" b="1" strike="noStrike" spc="-1" dirty="0">
                <a:solidFill>
                  <a:srgbClr val="52514E"/>
                </a:solidFill>
                <a:latin typeface="Calibri"/>
              </a:rPr>
              <a:t>/ 5</a:t>
            </a:r>
            <a:endParaRPr lang="en-US" sz="800" b="0" strike="noStrike" spc="-1" dirty="0">
              <a:solidFill>
                <a:srgbClr val="000000"/>
              </a:solidFill>
              <a:latin typeface="Arial"/>
            </a:endParaRPr>
          </a:p>
        </p:txBody>
      </p:sp>
      <p:graphicFrame>
        <p:nvGraphicFramePr>
          <p:cNvPr id="2" name="Table 1">
            <a:extLst>
              <a:ext uri="{FF2B5EF4-FFF2-40B4-BE49-F238E27FC236}">
                <a16:creationId xmlns:a16="http://schemas.microsoft.com/office/drawing/2014/main" id="{BBC3F806-D851-D984-B018-D7B674C82526}"/>
              </a:ext>
            </a:extLst>
          </p:cNvPr>
          <p:cNvGraphicFramePr>
            <a:graphicFrameLocks noGrp="1"/>
          </p:cNvGraphicFramePr>
          <p:nvPr>
            <p:extLst>
              <p:ext uri="{D42A27DB-BD31-4B8C-83A1-F6EECF244321}">
                <p14:modId xmlns:p14="http://schemas.microsoft.com/office/powerpoint/2010/main" val="1195029573"/>
              </p:ext>
            </p:extLst>
          </p:nvPr>
        </p:nvGraphicFramePr>
        <p:xfrm>
          <a:off x="502920" y="1161720"/>
          <a:ext cx="11401695" cy="4770170"/>
        </p:xfrm>
        <a:graphic>
          <a:graphicData uri="http://schemas.openxmlformats.org/drawingml/2006/table">
            <a:tbl>
              <a:tblPr>
                <a:tableStyleId>{073A0DAA-6AF3-43AB-8588-CEC1D06C72B9}</a:tableStyleId>
              </a:tblPr>
              <a:tblGrid>
                <a:gridCol w="2280339">
                  <a:extLst>
                    <a:ext uri="{9D8B030D-6E8A-4147-A177-3AD203B41FA5}">
                      <a16:colId xmlns:a16="http://schemas.microsoft.com/office/drawing/2014/main" val="257973942"/>
                    </a:ext>
                  </a:extLst>
                </a:gridCol>
                <a:gridCol w="2280339">
                  <a:extLst>
                    <a:ext uri="{9D8B030D-6E8A-4147-A177-3AD203B41FA5}">
                      <a16:colId xmlns:a16="http://schemas.microsoft.com/office/drawing/2014/main" val="2812264237"/>
                    </a:ext>
                  </a:extLst>
                </a:gridCol>
                <a:gridCol w="2280339">
                  <a:extLst>
                    <a:ext uri="{9D8B030D-6E8A-4147-A177-3AD203B41FA5}">
                      <a16:colId xmlns:a16="http://schemas.microsoft.com/office/drawing/2014/main" val="3598735570"/>
                    </a:ext>
                  </a:extLst>
                </a:gridCol>
                <a:gridCol w="2280339">
                  <a:extLst>
                    <a:ext uri="{9D8B030D-6E8A-4147-A177-3AD203B41FA5}">
                      <a16:colId xmlns:a16="http://schemas.microsoft.com/office/drawing/2014/main" val="4155344630"/>
                    </a:ext>
                  </a:extLst>
                </a:gridCol>
                <a:gridCol w="2280339">
                  <a:extLst>
                    <a:ext uri="{9D8B030D-6E8A-4147-A177-3AD203B41FA5}">
                      <a16:colId xmlns:a16="http://schemas.microsoft.com/office/drawing/2014/main" val="2719107335"/>
                    </a:ext>
                  </a:extLst>
                </a:gridCol>
              </a:tblGrid>
              <a:tr h="405645">
                <a:tc>
                  <a:txBody>
                    <a:bodyPr/>
                    <a:lstStyle/>
                    <a:p>
                      <a:pPr>
                        <a:buNone/>
                      </a:pPr>
                      <a:r>
                        <a:rPr lang="en-FI" sz="900" b="1" dirty="0">
                          <a:solidFill>
                            <a:schemeClr val="tx1"/>
                          </a:solidFill>
                          <a:latin typeface="Calibri" panose="020F0502020204030204" pitchFamily="34" charset="0"/>
                          <a:cs typeface="Calibri" panose="020F0502020204030204" pitchFamily="34" charset="0"/>
                        </a:rPr>
                        <a:t>Lever</a:t>
                      </a:r>
                    </a:p>
                  </a:txBody>
                  <a:tcPr marL="64140" marR="64140" marT="32070" marB="32070" anchor="ctr">
                    <a:solidFill>
                      <a:schemeClr val="tx2">
                        <a:lumMod val="40000"/>
                        <a:lumOff val="60000"/>
                      </a:schemeClr>
                    </a:solidFill>
                  </a:tcPr>
                </a:tc>
                <a:tc>
                  <a:txBody>
                    <a:bodyPr/>
                    <a:lstStyle/>
                    <a:p>
                      <a:pPr>
                        <a:buNone/>
                      </a:pPr>
                      <a:r>
                        <a:rPr lang="en-FI" sz="900" b="1" dirty="0">
                          <a:solidFill>
                            <a:schemeClr val="tx1"/>
                          </a:solidFill>
                          <a:latin typeface="Calibri" panose="020F0502020204030204" pitchFamily="34" charset="0"/>
                          <a:cs typeface="Calibri" panose="020F0502020204030204" pitchFamily="34" charset="0"/>
                        </a:rPr>
                        <a:t>FTE (per month)</a:t>
                      </a:r>
                    </a:p>
                  </a:txBody>
                  <a:tcPr marL="64140" marR="64140" marT="32070" marB="32070" anchor="ctr">
                    <a:solidFill>
                      <a:schemeClr val="tx2">
                        <a:lumMod val="40000"/>
                        <a:lumOff val="60000"/>
                      </a:schemeClr>
                    </a:solidFill>
                  </a:tcPr>
                </a:tc>
                <a:tc>
                  <a:txBody>
                    <a:bodyPr/>
                    <a:lstStyle/>
                    <a:p>
                      <a:pPr>
                        <a:buNone/>
                      </a:pPr>
                      <a:r>
                        <a:rPr lang="en-FI" sz="900" b="1" dirty="0">
                          <a:solidFill>
                            <a:schemeClr val="tx1"/>
                          </a:solidFill>
                          <a:latin typeface="Calibri" panose="020F0502020204030204" pitchFamily="34" charset="0"/>
                          <a:cs typeface="Calibri" panose="020F0502020204030204" pitchFamily="34" charset="0"/>
                        </a:rPr>
                        <a:t>Dependency</a:t>
                      </a:r>
                    </a:p>
                  </a:txBody>
                  <a:tcPr marL="64140" marR="64140" marT="32070" marB="32070" anchor="ctr">
                    <a:solidFill>
                      <a:schemeClr val="tx2">
                        <a:lumMod val="40000"/>
                        <a:lumOff val="60000"/>
                      </a:schemeClr>
                    </a:solidFill>
                  </a:tcPr>
                </a:tc>
                <a:tc>
                  <a:txBody>
                    <a:bodyPr/>
                    <a:lstStyle/>
                    <a:p>
                      <a:pPr>
                        <a:buNone/>
                      </a:pPr>
                      <a:r>
                        <a:rPr lang="en-FI" sz="900" b="1" dirty="0">
                          <a:solidFill>
                            <a:schemeClr val="tx1"/>
                          </a:solidFill>
                          <a:latin typeface="Calibri" panose="020F0502020204030204" pitchFamily="34" charset="0"/>
                          <a:cs typeface="Calibri" panose="020F0502020204030204" pitchFamily="34" charset="0"/>
                        </a:rPr>
                        <a:t>Action today, alone?</a:t>
                      </a:r>
                    </a:p>
                  </a:txBody>
                  <a:tcPr marL="64140" marR="64140" marT="32070" marB="32070" anchor="ctr">
                    <a:solidFill>
                      <a:schemeClr val="tx2">
                        <a:lumMod val="40000"/>
                        <a:lumOff val="60000"/>
                      </a:schemeClr>
                    </a:solidFill>
                  </a:tcPr>
                </a:tc>
                <a:tc>
                  <a:txBody>
                    <a:bodyPr/>
                    <a:lstStyle/>
                    <a:p>
                      <a:pPr>
                        <a:buNone/>
                      </a:pPr>
                      <a:r>
                        <a:rPr lang="en-FI" sz="900" b="1" dirty="0">
                          <a:solidFill>
                            <a:schemeClr val="tx1"/>
                          </a:solidFill>
                          <a:latin typeface="Calibri" panose="020F0502020204030204" pitchFamily="34" charset="0"/>
                          <a:cs typeface="Calibri" panose="020F0502020204030204" pitchFamily="34" charset="0"/>
                        </a:rPr>
                        <a:t>Details</a:t>
                      </a:r>
                    </a:p>
                  </a:txBody>
                  <a:tcPr marL="64140" marR="64140" marT="32070" marB="32070" anchor="ctr">
                    <a:solidFill>
                      <a:schemeClr val="tx2">
                        <a:lumMod val="40000"/>
                        <a:lumOff val="60000"/>
                      </a:schemeClr>
                    </a:solidFill>
                  </a:tcPr>
                </a:tc>
                <a:extLst>
                  <a:ext uri="{0D108BD9-81ED-4DB2-BD59-A6C34878D82A}">
                    <a16:rowId xmlns:a16="http://schemas.microsoft.com/office/drawing/2014/main" val="3331549781"/>
                  </a:ext>
                </a:extLst>
              </a:tr>
              <a:tr h="981486">
                <a:tc>
                  <a:txBody>
                    <a:bodyPr/>
                    <a:lstStyle/>
                    <a:p>
                      <a:pPr>
                        <a:buNone/>
                      </a:pPr>
                      <a:r>
                        <a:rPr lang="en-FI" sz="900" dirty="0">
                          <a:solidFill>
                            <a:schemeClr val="tx1"/>
                          </a:solidFill>
                          <a:latin typeface="Calibri" panose="020F0502020204030204" pitchFamily="34" charset="0"/>
                          <a:cs typeface="Calibri" panose="020F0502020204030204" pitchFamily="34" charset="0"/>
                        </a:rPr>
                        <a:t>BPO1/BPO2 channel routing (English)</a:t>
                      </a:r>
                    </a:p>
                  </a:txBody>
                  <a:tcPr marL="64140" marR="64140" marT="32070" marB="32070" anchor="ctr"/>
                </a:tc>
                <a:tc>
                  <a:txBody>
                    <a:bodyPr/>
                    <a:lstStyle/>
                    <a:p>
                      <a:pPr>
                        <a:buNone/>
                      </a:pPr>
                      <a:r>
                        <a:rPr lang="en-FI" sz="900" dirty="0">
                          <a:solidFill>
                            <a:schemeClr val="tx1"/>
                          </a:solidFill>
                          <a:latin typeface="Calibri" panose="020F0502020204030204" pitchFamily="34" charset="0"/>
                          <a:cs typeface="Calibri" panose="020F0502020204030204" pitchFamily="34" charset="0"/>
                        </a:rPr>
                        <a:t>4.5</a:t>
                      </a:r>
                    </a:p>
                  </a:txBody>
                  <a:tcPr marL="64140" marR="64140" marT="32070" marB="32070" anchor="ctr"/>
                </a:tc>
                <a:tc>
                  <a:txBody>
                    <a:bodyPr/>
                    <a:lstStyle/>
                    <a:p>
                      <a:pPr>
                        <a:buNone/>
                      </a:pPr>
                      <a:r>
                        <a:rPr lang="en-FI" sz="900" dirty="0">
                          <a:solidFill>
                            <a:schemeClr val="tx1"/>
                          </a:solidFill>
                          <a:latin typeface="Calibri" panose="020F0502020204030204" pitchFamily="34" charset="0"/>
                          <a:cs typeface="Calibri" panose="020F0502020204030204" pitchFamily="34" charset="0"/>
                        </a:rPr>
                        <a:t>None</a:t>
                      </a:r>
                    </a:p>
                  </a:txBody>
                  <a:tcPr marL="64140" marR="64140" marT="32070" marB="32070" anchor="ctr"/>
                </a:tc>
                <a:tc>
                  <a:txBody>
                    <a:bodyPr/>
                    <a:lstStyle/>
                    <a:p>
                      <a:pPr>
                        <a:buNone/>
                      </a:pPr>
                      <a:r>
                        <a:rPr lang="en-FI" sz="900" dirty="0">
                          <a:solidFill>
                            <a:schemeClr val="tx1"/>
                          </a:solidFill>
                          <a:latin typeface="Calibri" panose="020F0502020204030204" pitchFamily="34" charset="0"/>
                          <a:cs typeface="Calibri" panose="020F0502020204030204" pitchFamily="34" charset="0"/>
                        </a:rPr>
                        <a:t>Yes</a:t>
                      </a:r>
                    </a:p>
                  </a:txBody>
                  <a:tcPr marL="64140" marR="64140" marT="32070" marB="32070" anchor="ctr"/>
                </a:tc>
                <a:tc>
                  <a:txBody>
                    <a:bodyPr/>
                    <a:lstStyle/>
                    <a:p>
                      <a:pPr>
                        <a:buNone/>
                      </a:pPr>
                      <a:r>
                        <a:rPr lang="en-FI" sz="900" dirty="0">
                          <a:solidFill>
                            <a:schemeClr val="tx1"/>
                          </a:solidFill>
                          <a:latin typeface="Calibri" panose="020F0502020204030204" pitchFamily="34" charset="0"/>
                          <a:cs typeface="Calibri" panose="020F0502020204030204" pitchFamily="34" charset="0"/>
                        </a:rPr>
                        <a:t>Splitting 50/50 on every channel sends some Inbound/Outbound calls to the slower vendor (BPO2) and some Chats to the slower vendor (BPO1), for no reason — both are already contracted for English</a:t>
                      </a:r>
                    </a:p>
                    <a:p>
                      <a:pPr>
                        <a:buNone/>
                      </a:pPr>
                      <a:endParaRPr lang="en-FI" sz="900" b="1" dirty="0">
                        <a:solidFill>
                          <a:schemeClr val="tx1"/>
                        </a:solidFill>
                        <a:latin typeface="Calibri" panose="020F0502020204030204" pitchFamily="34" charset="0"/>
                        <a:cs typeface="Calibri" panose="020F0502020204030204" pitchFamily="34" charset="0"/>
                      </a:endParaRPr>
                    </a:p>
                    <a:p>
                      <a:pPr>
                        <a:buNone/>
                      </a:pPr>
                      <a:r>
                        <a:rPr lang="en-FI" sz="900" b="1" dirty="0">
                          <a:solidFill>
                            <a:schemeClr val="tx1"/>
                          </a:solidFill>
                          <a:latin typeface="Calibri" panose="020F0502020204030204" pitchFamily="34" charset="0"/>
                          <a:cs typeface="Calibri" panose="020F0502020204030204" pitchFamily="34" charset="0"/>
                        </a:rPr>
                        <a:t>Action:</a:t>
                      </a:r>
                      <a:r>
                        <a:rPr lang="en-FI" sz="900" dirty="0">
                          <a:solidFill>
                            <a:schemeClr val="tx1"/>
                          </a:solidFill>
                          <a:latin typeface="Calibri" panose="020F0502020204030204" pitchFamily="34" charset="0"/>
                          <a:cs typeface="Calibri" panose="020F0502020204030204" pitchFamily="34" charset="0"/>
                        </a:rPr>
                        <a:t> route Inbound + Outbound fully to BPO1, Chat fully to BPO2 (Email either). Pure IVR/chat-router config change.</a:t>
                      </a:r>
                    </a:p>
                  </a:txBody>
                  <a:tcPr marL="64140" marR="64140" marT="32070" marB="32070" anchor="ctr"/>
                </a:tc>
                <a:extLst>
                  <a:ext uri="{0D108BD9-81ED-4DB2-BD59-A6C34878D82A}">
                    <a16:rowId xmlns:a16="http://schemas.microsoft.com/office/drawing/2014/main" val="299116604"/>
                  </a:ext>
                </a:extLst>
              </a:tr>
              <a:tr h="405645">
                <a:tc>
                  <a:txBody>
                    <a:bodyPr/>
                    <a:lstStyle/>
                    <a:p>
                      <a:pPr>
                        <a:buNone/>
                      </a:pPr>
                      <a:r>
                        <a:rPr lang="en-FI" sz="900">
                          <a:solidFill>
                            <a:schemeClr val="tx1"/>
                          </a:solidFill>
                          <a:latin typeface="Calibri" panose="020F0502020204030204" pitchFamily="34" charset="0"/>
                          <a:cs typeface="Calibri" panose="020F0502020204030204" pitchFamily="34" charset="0"/>
                        </a:rPr>
                        <a:t>Pool Spanish + French (pilot)</a:t>
                      </a:r>
                    </a:p>
                  </a:txBody>
                  <a:tcPr marL="64140" marR="64140" marT="32070" marB="32070" anchor="ctr"/>
                </a:tc>
                <a:tc>
                  <a:txBody>
                    <a:bodyPr/>
                    <a:lstStyle/>
                    <a:p>
                      <a:pPr>
                        <a:buNone/>
                      </a:pPr>
                      <a:r>
                        <a:rPr lang="en-FI" sz="900">
                          <a:solidFill>
                            <a:schemeClr val="tx1"/>
                          </a:solidFill>
                          <a:latin typeface="Calibri" panose="020F0502020204030204" pitchFamily="34" charset="0"/>
                          <a:cs typeface="Calibri" panose="020F0502020204030204" pitchFamily="34" charset="0"/>
                        </a:rPr>
                        <a:t>18.8</a:t>
                      </a:r>
                    </a:p>
                  </a:txBody>
                  <a:tcPr marL="64140" marR="64140" marT="32070" marB="32070" anchor="ctr"/>
                </a:tc>
                <a:tc>
                  <a:txBody>
                    <a:bodyPr/>
                    <a:lstStyle/>
                    <a:p>
                      <a:pPr>
                        <a:buNone/>
                      </a:pPr>
                      <a:r>
                        <a:rPr lang="en-FI" sz="900" dirty="0">
                          <a:solidFill>
                            <a:schemeClr val="tx1"/>
                          </a:solidFill>
                          <a:latin typeface="Calibri" panose="020F0502020204030204" pitchFamily="34" charset="0"/>
                          <a:cs typeface="Calibri" panose="020F0502020204030204" pitchFamily="34" charset="0"/>
                        </a:rPr>
                        <a:t>Confirm bilingual agents exist at BPO3</a:t>
                      </a:r>
                    </a:p>
                  </a:txBody>
                  <a:tcPr marL="64140" marR="64140" marT="32070" marB="32070" anchor="ctr"/>
                </a:tc>
                <a:tc>
                  <a:txBody>
                    <a:bodyPr/>
                    <a:lstStyle/>
                    <a:p>
                      <a:pPr>
                        <a:buNone/>
                      </a:pPr>
                      <a:r>
                        <a:rPr lang="en-FI" sz="900" dirty="0">
                          <a:solidFill>
                            <a:schemeClr val="tx1"/>
                          </a:solidFill>
                          <a:latin typeface="Calibri" panose="020F0502020204030204" pitchFamily="34" charset="0"/>
                          <a:cs typeface="Calibri" panose="020F0502020204030204" pitchFamily="34" charset="0"/>
                        </a:rPr>
                        <a:t>No — one check first</a:t>
                      </a:r>
                    </a:p>
                  </a:txBody>
                  <a:tcPr marL="64140" marR="64140" marT="32070" marB="32070" anchor="ctr"/>
                </a:tc>
                <a:tc>
                  <a:txBody>
                    <a:bodyPr/>
                    <a:lstStyle/>
                    <a:p>
                      <a:pPr>
                        <a:buNone/>
                      </a:pPr>
                      <a:r>
                        <a:rPr lang="en-FI" sz="900" b="1" dirty="0">
                          <a:solidFill>
                            <a:schemeClr val="tx1"/>
                          </a:solidFill>
                          <a:latin typeface="Calibri" panose="020F0502020204030204" pitchFamily="34" charset="0"/>
                          <a:cs typeface="Calibri" panose="020F0502020204030204" pitchFamily="34" charset="0"/>
                        </a:rPr>
                        <a:t>Core mechanism:</a:t>
                      </a:r>
                      <a:r>
                        <a:rPr lang="en-FI" sz="900" dirty="0">
                          <a:solidFill>
                            <a:schemeClr val="tx1"/>
                          </a:solidFill>
                          <a:latin typeface="Calibri" panose="020F0502020204030204" pitchFamily="34" charset="0"/>
                          <a:cs typeface="Calibri" panose="020F0502020204030204" pitchFamily="34" charset="0"/>
                        </a:rPr>
                        <a:t> small non-English queues (DE/IT/ES/FR) are staffed 24/7 and each independently pays the 80/20 minimum-seat floor even when volume is low. Pooling shares that floor across languages instead of paying it once per language.</a:t>
                      </a:r>
                    </a:p>
                  </a:txBody>
                  <a:tcPr marL="64140" marR="64140" marT="32070" marB="32070" anchor="ctr"/>
                </a:tc>
                <a:extLst>
                  <a:ext uri="{0D108BD9-81ED-4DB2-BD59-A6C34878D82A}">
                    <a16:rowId xmlns:a16="http://schemas.microsoft.com/office/drawing/2014/main" val="1899781406"/>
                  </a:ext>
                </a:extLst>
              </a:tr>
              <a:tr h="405645">
                <a:tc>
                  <a:txBody>
                    <a:bodyPr/>
                    <a:lstStyle/>
                    <a:p>
                      <a:pPr>
                        <a:buNone/>
                      </a:pPr>
                      <a:r>
                        <a:rPr lang="en-FI" sz="900" dirty="0">
                          <a:solidFill>
                            <a:schemeClr val="tx1"/>
                          </a:solidFill>
                          <a:latin typeface="Calibri" panose="020F0502020204030204" pitchFamily="34" charset="0"/>
                          <a:cs typeface="Calibri" panose="020F0502020204030204" pitchFamily="34" charset="0"/>
                        </a:rPr>
                        <a:t>Pool all 4 non-English (phase 2)</a:t>
                      </a:r>
                    </a:p>
                  </a:txBody>
                  <a:tcPr marL="64140" marR="64140" marT="32070" marB="32070" anchor="ctr"/>
                </a:tc>
                <a:tc>
                  <a:txBody>
                    <a:bodyPr/>
                    <a:lstStyle/>
                    <a:p>
                      <a:pPr>
                        <a:buNone/>
                      </a:pPr>
                      <a:r>
                        <a:rPr lang="en-FI" sz="900" dirty="0">
                          <a:solidFill>
                            <a:schemeClr val="tx1"/>
                          </a:solidFill>
                          <a:latin typeface="Calibri" panose="020F0502020204030204" pitchFamily="34" charset="0"/>
                          <a:cs typeface="Calibri" panose="020F0502020204030204" pitchFamily="34" charset="0"/>
                        </a:rPr>
                        <a:t>51.4 cumulative</a:t>
                      </a:r>
                    </a:p>
                  </a:txBody>
                  <a:tcPr marL="64140" marR="64140" marT="32070" marB="32070" anchor="ctr"/>
                </a:tc>
                <a:tc>
                  <a:txBody>
                    <a:bodyPr/>
                    <a:lstStyle/>
                    <a:p>
                      <a:pPr>
                        <a:buNone/>
                      </a:pPr>
                      <a:r>
                        <a:rPr lang="en-FI" sz="900">
                          <a:solidFill>
                            <a:schemeClr val="tx1"/>
                          </a:solidFill>
                          <a:latin typeface="Calibri" panose="020F0502020204030204" pitchFamily="34" charset="0"/>
                          <a:cs typeface="Calibri" panose="020F0502020204030204" pitchFamily="34" charset="0"/>
                        </a:rPr>
                        <a:t>Pilot validates first</a:t>
                      </a:r>
                    </a:p>
                  </a:txBody>
                  <a:tcPr marL="64140" marR="64140" marT="32070" marB="32070" anchor="ctr"/>
                </a:tc>
                <a:tc>
                  <a:txBody>
                    <a:bodyPr/>
                    <a:lstStyle/>
                    <a:p>
                      <a:pPr>
                        <a:buNone/>
                      </a:pPr>
                      <a:r>
                        <a:rPr lang="en-FI" sz="900" dirty="0">
                          <a:solidFill>
                            <a:schemeClr val="tx1"/>
                          </a:solidFill>
                          <a:latin typeface="Calibri" panose="020F0502020204030204" pitchFamily="34" charset="0"/>
                          <a:cs typeface="Calibri" panose="020F0502020204030204" pitchFamily="34" charset="0"/>
                        </a:rPr>
                        <a:t>No</a:t>
                      </a:r>
                    </a:p>
                  </a:txBody>
                  <a:tcPr marL="64140" marR="64140" marT="32070" marB="32070" anchor="ctr"/>
                </a:tc>
                <a:tc>
                  <a:txBody>
                    <a:bodyPr/>
                    <a:lstStyle/>
                    <a:p>
                      <a:pPr>
                        <a:buNone/>
                      </a:pPr>
                      <a:endParaRPr lang="en-FI" sz="900">
                        <a:solidFill>
                          <a:schemeClr val="tx1"/>
                        </a:solidFill>
                        <a:latin typeface="Calibri" panose="020F0502020204030204" pitchFamily="34" charset="0"/>
                        <a:cs typeface="Calibri" panose="020F0502020204030204" pitchFamily="34" charset="0"/>
                      </a:endParaRPr>
                    </a:p>
                  </a:txBody>
                  <a:tcPr marL="64140" marR="64140" marT="32070" marB="32070" anchor="ctr"/>
                </a:tc>
                <a:extLst>
                  <a:ext uri="{0D108BD9-81ED-4DB2-BD59-A6C34878D82A}">
                    <a16:rowId xmlns:a16="http://schemas.microsoft.com/office/drawing/2014/main" val="233711855"/>
                  </a:ext>
                </a:extLst>
              </a:tr>
              <a:tr h="580210">
                <a:tc>
                  <a:txBody>
                    <a:bodyPr/>
                    <a:lstStyle/>
                    <a:p>
                      <a:pPr>
                        <a:buNone/>
                      </a:pPr>
                      <a:r>
                        <a:rPr lang="en-FI" sz="900">
                          <a:solidFill>
                            <a:schemeClr val="tx1"/>
                          </a:solidFill>
                          <a:latin typeface="Calibri" panose="020F0502020204030204" pitchFamily="34" charset="0"/>
                          <a:cs typeface="Calibri" panose="020F0502020204030204" pitchFamily="34" charset="0"/>
                        </a:rPr>
                        <a:t>Add English to the pool (phase 3)</a:t>
                      </a:r>
                    </a:p>
                  </a:txBody>
                  <a:tcPr marL="64140" marR="64140" marT="32070" marB="32070" anchor="ctr"/>
                </a:tc>
                <a:tc>
                  <a:txBody>
                    <a:bodyPr/>
                    <a:lstStyle/>
                    <a:p>
                      <a:pPr>
                        <a:buNone/>
                      </a:pPr>
                      <a:r>
                        <a:rPr lang="en-FI" sz="900">
                          <a:solidFill>
                            <a:schemeClr val="tx1"/>
                          </a:solidFill>
                          <a:latin typeface="Calibri" panose="020F0502020204030204" pitchFamily="34" charset="0"/>
                          <a:cs typeface="Calibri" panose="020F0502020204030204" pitchFamily="34" charset="0"/>
                        </a:rPr>
                        <a:t>78.8 cumulative</a:t>
                      </a:r>
                    </a:p>
                  </a:txBody>
                  <a:tcPr marL="64140" marR="64140" marT="32070" marB="32070" anchor="ctr"/>
                </a:tc>
                <a:tc>
                  <a:txBody>
                    <a:bodyPr/>
                    <a:lstStyle/>
                    <a:p>
                      <a:pPr>
                        <a:buNone/>
                      </a:pPr>
                      <a:r>
                        <a:rPr lang="en-FI" sz="900">
                          <a:solidFill>
                            <a:schemeClr val="tx1"/>
                          </a:solidFill>
                          <a:latin typeface="Calibri" panose="020F0502020204030204" pitchFamily="34" charset="0"/>
                          <a:cs typeface="Calibri" panose="020F0502020204030204" pitchFamily="34" charset="0"/>
                        </a:rPr>
                        <a:t>Vendor consolidation (BPO1/2 → BPO3)</a:t>
                      </a:r>
                    </a:p>
                  </a:txBody>
                  <a:tcPr marL="64140" marR="64140" marT="32070" marB="32070" anchor="ctr"/>
                </a:tc>
                <a:tc>
                  <a:txBody>
                    <a:bodyPr/>
                    <a:lstStyle/>
                    <a:p>
                      <a:pPr>
                        <a:buNone/>
                      </a:pPr>
                      <a:r>
                        <a:rPr lang="en-FI" sz="900" dirty="0">
                          <a:solidFill>
                            <a:schemeClr val="tx1"/>
                          </a:solidFill>
                          <a:latin typeface="Calibri" panose="020F0502020204030204" pitchFamily="34" charset="0"/>
                          <a:cs typeface="Calibri" panose="020F0502020204030204" pitchFamily="34" charset="0"/>
                        </a:rPr>
                        <a:t>No</a:t>
                      </a:r>
                    </a:p>
                  </a:txBody>
                  <a:tcPr marL="64140" marR="64140" marT="32070" marB="32070" anchor="ctr"/>
                </a:tc>
                <a:tc>
                  <a:txBody>
                    <a:bodyPr/>
                    <a:lstStyle/>
                    <a:p>
                      <a:pPr>
                        <a:buNone/>
                      </a:pPr>
                      <a:endParaRPr lang="en-FI" sz="900">
                        <a:solidFill>
                          <a:schemeClr val="tx1"/>
                        </a:solidFill>
                        <a:latin typeface="Calibri" panose="020F0502020204030204" pitchFamily="34" charset="0"/>
                        <a:cs typeface="Calibri" panose="020F0502020204030204" pitchFamily="34" charset="0"/>
                      </a:endParaRPr>
                    </a:p>
                  </a:txBody>
                  <a:tcPr marL="64140" marR="64140" marT="32070" marB="32070" anchor="ctr"/>
                </a:tc>
                <a:extLst>
                  <a:ext uri="{0D108BD9-81ED-4DB2-BD59-A6C34878D82A}">
                    <a16:rowId xmlns:a16="http://schemas.microsoft.com/office/drawing/2014/main" val="843904826"/>
                  </a:ext>
                </a:extLst>
              </a:tr>
              <a:tr h="328926">
                <a:tc>
                  <a:txBody>
                    <a:bodyPr/>
                    <a:lstStyle/>
                    <a:p>
                      <a:pPr>
                        <a:buNone/>
                      </a:pPr>
                      <a:r>
                        <a:rPr lang="en-FI" sz="900">
                          <a:solidFill>
                            <a:schemeClr val="tx1"/>
                          </a:solidFill>
                          <a:latin typeface="Calibri" panose="020F0502020204030204" pitchFamily="34" charset="0"/>
                          <a:cs typeface="Calibri" panose="020F0502020204030204" pitchFamily="34" charset="0"/>
                        </a:rPr>
                        <a:t>Shrinkage restagger (Break+Lunch off-peak)</a:t>
                      </a:r>
                    </a:p>
                  </a:txBody>
                  <a:tcPr marL="64140" marR="64140" marT="32070" marB="32070" anchor="ctr"/>
                </a:tc>
                <a:tc>
                  <a:txBody>
                    <a:bodyPr/>
                    <a:lstStyle/>
                    <a:p>
                      <a:pPr>
                        <a:buNone/>
                      </a:pPr>
                      <a:r>
                        <a:rPr lang="en-FI" sz="900">
                          <a:solidFill>
                            <a:schemeClr val="tx1"/>
                          </a:solidFill>
                          <a:latin typeface="Calibri" panose="020F0502020204030204" pitchFamily="34" charset="0"/>
                          <a:cs typeface="Calibri" panose="020F0502020204030204" pitchFamily="34" charset="0"/>
                        </a:rPr>
                        <a:t>5.8–11.5</a:t>
                      </a:r>
                    </a:p>
                  </a:txBody>
                  <a:tcPr marL="64140" marR="64140" marT="32070" marB="32070" anchor="ctr"/>
                </a:tc>
                <a:tc>
                  <a:txBody>
                    <a:bodyPr/>
                    <a:lstStyle/>
                    <a:p>
                      <a:pPr>
                        <a:buNone/>
                      </a:pPr>
                      <a:r>
                        <a:rPr lang="en-FI" sz="900" dirty="0">
                          <a:solidFill>
                            <a:schemeClr val="tx1"/>
                          </a:solidFill>
                          <a:latin typeface="Calibri" panose="020F0502020204030204" pitchFamily="34" charset="0"/>
                          <a:cs typeface="Calibri" panose="020F0502020204030204" pitchFamily="34" charset="0"/>
                        </a:rPr>
                        <a:t>Labor/scheduling buy-in; model has no intraday data to prove it</a:t>
                      </a:r>
                    </a:p>
                  </a:txBody>
                  <a:tcPr marL="64140" marR="64140" marT="32070" marB="32070" anchor="ctr"/>
                </a:tc>
                <a:tc>
                  <a:txBody>
                    <a:bodyPr/>
                    <a:lstStyle/>
                    <a:p>
                      <a:pPr>
                        <a:buNone/>
                      </a:pPr>
                      <a:r>
                        <a:rPr lang="en-FI" sz="900" dirty="0">
                          <a:solidFill>
                            <a:schemeClr val="tx1"/>
                          </a:solidFill>
                          <a:latin typeface="Calibri" panose="020F0502020204030204" pitchFamily="34" charset="0"/>
                          <a:cs typeface="Calibri" panose="020F0502020204030204" pitchFamily="34" charset="0"/>
                        </a:rPr>
                        <a:t>No</a:t>
                      </a:r>
                    </a:p>
                  </a:txBody>
                  <a:tcPr marL="64140" marR="64140" marT="32070" marB="32070" anchor="ctr"/>
                </a:tc>
                <a:tc>
                  <a:txBody>
                    <a:bodyPr/>
                    <a:lstStyle/>
                    <a:p>
                      <a:pPr>
                        <a:buNone/>
                      </a:pPr>
                      <a:r>
                        <a:rPr lang="en-FI" sz="900" dirty="0">
                          <a:solidFill>
                            <a:schemeClr val="tx1"/>
                          </a:solidFill>
                          <a:latin typeface="Calibri" panose="020F0502020204030204" pitchFamily="34" charset="0"/>
                          <a:cs typeface="Calibri" panose="020F0502020204030204" pitchFamily="34" charset="0"/>
                        </a:rPr>
                        <a:t>Shrinkage is 18% everywhere</a:t>
                      </a:r>
                    </a:p>
                    <a:p>
                      <a:pPr>
                        <a:buNone/>
                      </a:pPr>
                      <a:r>
                        <a:rPr lang="en-FI" sz="900" dirty="0">
                          <a:solidFill>
                            <a:schemeClr val="tx1"/>
                          </a:solidFill>
                          <a:latin typeface="Calibri" panose="020F0502020204030204" pitchFamily="34" charset="0"/>
                          <a:cs typeface="Calibri" panose="020F0502020204030204" pitchFamily="34" charset="0"/>
                        </a:rPr>
                        <a:t>8 of the 18 points are scheduling choices rather than entitlements, in theory movable off peak-demand hours. </a:t>
                      </a:r>
                    </a:p>
                  </a:txBody>
                  <a:tcPr marL="64140" marR="64140" marT="32070" marB="32070" anchor="ctr"/>
                </a:tc>
                <a:extLst>
                  <a:ext uri="{0D108BD9-81ED-4DB2-BD59-A6C34878D82A}">
                    <a16:rowId xmlns:a16="http://schemas.microsoft.com/office/drawing/2014/main" val="1868179384"/>
                  </a:ext>
                </a:extLst>
              </a:tr>
              <a:tr h="580210">
                <a:tc>
                  <a:txBody>
                    <a:bodyPr/>
                    <a:lstStyle/>
                    <a:p>
                      <a:pPr>
                        <a:buNone/>
                      </a:pPr>
                      <a:r>
                        <a:rPr lang="en-FI" sz="900">
                          <a:solidFill>
                            <a:schemeClr val="tx1"/>
                          </a:solidFill>
                          <a:latin typeface="Calibri" panose="020F0502020204030204" pitchFamily="34" charset="0"/>
                          <a:cs typeface="Calibri" panose="020F0502020204030204" pitchFamily="34" charset="0"/>
                        </a:rPr>
                        <a:t>Chat concurrency verification</a:t>
                      </a:r>
                    </a:p>
                  </a:txBody>
                  <a:tcPr marL="64140" marR="64140" marT="32070" marB="32070" anchor="ctr"/>
                </a:tc>
                <a:tc>
                  <a:txBody>
                    <a:bodyPr/>
                    <a:lstStyle/>
                    <a:p>
                      <a:pPr>
                        <a:buNone/>
                      </a:pPr>
                      <a:r>
                        <a:rPr lang="en-FI" sz="900">
                          <a:solidFill>
                            <a:schemeClr val="tx1"/>
                          </a:solidFill>
                          <a:latin typeface="Calibri" panose="020F0502020204030204" pitchFamily="34" charset="0"/>
                          <a:cs typeface="Calibri" panose="020F0502020204030204" pitchFamily="34" charset="0"/>
                        </a:rPr>
                        <a:t>up to 75</a:t>
                      </a:r>
                    </a:p>
                  </a:txBody>
                  <a:tcPr marL="64140" marR="64140" marT="32070" marB="32070" anchor="ctr"/>
                </a:tc>
                <a:tc>
                  <a:txBody>
                    <a:bodyPr/>
                    <a:lstStyle/>
                    <a:p>
                      <a:pPr>
                        <a:buNone/>
                      </a:pPr>
                      <a:r>
                        <a:rPr lang="en-FI" sz="900" dirty="0">
                          <a:solidFill>
                            <a:schemeClr val="tx1"/>
                          </a:solidFill>
                          <a:latin typeface="Calibri" panose="020F0502020204030204" pitchFamily="34" charset="0"/>
                          <a:cs typeface="Calibri" panose="020F0502020204030204" pitchFamily="34" charset="0"/>
                        </a:rPr>
                        <a:t>1.2 chat concurrency only for English, is it also same for other langs?</a:t>
                      </a:r>
                    </a:p>
                  </a:txBody>
                  <a:tcPr marL="64140" marR="64140" marT="32070" marB="32070" anchor="ctr"/>
                </a:tc>
                <a:tc>
                  <a:txBody>
                    <a:bodyPr/>
                    <a:lstStyle/>
                    <a:p>
                      <a:pPr>
                        <a:buNone/>
                      </a:pPr>
                      <a:r>
                        <a:rPr lang="en-FI" sz="900" dirty="0">
                          <a:solidFill>
                            <a:schemeClr val="tx1"/>
                          </a:solidFill>
                          <a:latin typeface="Calibri" panose="020F0502020204030204" pitchFamily="34" charset="0"/>
                          <a:cs typeface="Calibri" panose="020F0502020204030204" pitchFamily="34" charset="0"/>
                        </a:rPr>
                        <a:t>-</a:t>
                      </a:r>
                    </a:p>
                  </a:txBody>
                  <a:tcPr marL="64140" marR="64140" marT="32070" marB="32070" anchor="ctr"/>
                </a:tc>
                <a:tc>
                  <a:txBody>
                    <a:bodyPr/>
                    <a:lstStyle/>
                    <a:p>
                      <a:pPr>
                        <a:buNone/>
                      </a:pPr>
                      <a:endParaRPr lang="en-FI" sz="900" dirty="0">
                        <a:solidFill>
                          <a:schemeClr val="tx1"/>
                        </a:solidFill>
                        <a:latin typeface="Calibri" panose="020F0502020204030204" pitchFamily="34" charset="0"/>
                        <a:cs typeface="Calibri" panose="020F0502020204030204" pitchFamily="34" charset="0"/>
                      </a:endParaRPr>
                    </a:p>
                  </a:txBody>
                  <a:tcPr marL="64140" marR="64140" marT="32070" marB="32070" anchor="ctr"/>
                </a:tc>
                <a:extLst>
                  <a:ext uri="{0D108BD9-81ED-4DB2-BD59-A6C34878D82A}">
                    <a16:rowId xmlns:a16="http://schemas.microsoft.com/office/drawing/2014/main" val="1656683562"/>
                  </a:ext>
                </a:extLst>
              </a:tr>
            </a:tbl>
          </a:graphicData>
        </a:graphic>
      </p:graphicFrame>
    </p:spTree>
    <p:extLst>
      <p:ext uri="{BB962C8B-B14F-4D97-AF65-F5344CB8AC3E}">
        <p14:creationId xmlns:p14="http://schemas.microsoft.com/office/powerpoint/2010/main" val="3345543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D2D4F-E891-8543-6095-BD17F9417329}"/>
            </a:ext>
          </a:extLst>
        </p:cNvPr>
        <p:cNvGrpSpPr/>
        <p:nvPr/>
      </p:nvGrpSpPr>
      <p:grpSpPr>
        <a:xfrm>
          <a:off x="0" y="0"/>
          <a:ext cx="0" cy="0"/>
          <a:chOff x="0" y="0"/>
          <a:chExt cx="0" cy="0"/>
        </a:xfrm>
      </p:grpSpPr>
      <p:sp>
        <p:nvSpPr>
          <p:cNvPr id="169" name="TextBox 1">
            <a:extLst>
              <a:ext uri="{FF2B5EF4-FFF2-40B4-BE49-F238E27FC236}">
                <a16:creationId xmlns:a16="http://schemas.microsoft.com/office/drawing/2014/main" id="{51685036-C9B3-BD16-1948-4BC70612EDFC}"/>
              </a:ext>
            </a:extLst>
          </p:cNvPr>
          <p:cNvSpPr/>
          <p:nvPr/>
        </p:nvSpPr>
        <p:spPr>
          <a:xfrm>
            <a:off x="502920" y="320040"/>
            <a:ext cx="111855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800" b="1" strike="noStrike" spc="-1" dirty="0">
                <a:solidFill>
                  <a:srgbClr val="2A78D6"/>
                </a:solidFill>
                <a:latin typeface="Calibri" panose="020F0502020204030204" pitchFamily="34" charset="0"/>
                <a:cs typeface="Calibri" panose="020F0502020204030204" pitchFamily="34" charset="0"/>
              </a:rPr>
              <a:t>Task 1c — AI usage</a:t>
            </a:r>
            <a:r>
              <a:rPr lang="en-US" sz="800" b="0" strike="noStrike" spc="-1" dirty="0">
                <a:solidFill>
                  <a:srgbClr val="898781"/>
                </a:solidFill>
                <a:latin typeface="Calibri" panose="020F0502020204030204" pitchFamily="34" charset="0"/>
                <a:cs typeface="Calibri" panose="020F0502020204030204" pitchFamily="34" charset="0"/>
              </a:rPr>
              <a:t>  Manager, Workforce Management · Care Experience &amp; Strategy</a:t>
            </a:r>
            <a:endParaRPr lang="en-US" sz="800" b="0" strike="noStrike" spc="-1" dirty="0">
              <a:solidFill>
                <a:srgbClr val="000000"/>
              </a:solidFill>
              <a:latin typeface="Calibri" panose="020F0502020204030204" pitchFamily="34" charset="0"/>
              <a:cs typeface="Calibri" panose="020F0502020204030204" pitchFamily="34" charset="0"/>
            </a:endParaRPr>
          </a:p>
        </p:txBody>
      </p:sp>
      <p:sp>
        <p:nvSpPr>
          <p:cNvPr id="170" name="TextBox 2">
            <a:extLst>
              <a:ext uri="{FF2B5EF4-FFF2-40B4-BE49-F238E27FC236}">
                <a16:creationId xmlns:a16="http://schemas.microsoft.com/office/drawing/2014/main" id="{5B09D7C6-5C2B-705B-ACA1-5FD1230C4031}"/>
              </a:ext>
            </a:extLst>
          </p:cNvPr>
          <p:cNvSpPr/>
          <p:nvPr/>
        </p:nvSpPr>
        <p:spPr>
          <a:xfrm>
            <a:off x="502920" y="484560"/>
            <a:ext cx="111855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900" b="1" strike="noStrike" spc="-1" dirty="0">
                <a:solidFill>
                  <a:srgbClr val="0B0B0B"/>
                </a:solidFill>
                <a:latin typeface="Calibri" panose="020F0502020204030204" pitchFamily="34" charset="0"/>
                <a:cs typeface="Calibri" panose="020F0502020204030204" pitchFamily="34" charset="0"/>
              </a:rPr>
              <a:t>How AI was used to solve this case study</a:t>
            </a:r>
            <a:endParaRPr lang="en-US" sz="1900" b="0" strike="noStrike" spc="-1" dirty="0">
              <a:solidFill>
                <a:srgbClr val="000000"/>
              </a:solidFill>
              <a:latin typeface="Calibri" panose="020F0502020204030204" pitchFamily="34" charset="0"/>
              <a:cs typeface="Calibri" panose="020F0502020204030204" pitchFamily="34" charset="0"/>
            </a:endParaRPr>
          </a:p>
        </p:txBody>
      </p:sp>
      <p:cxnSp>
        <p:nvCxnSpPr>
          <p:cNvPr id="171" name="Connector 3">
            <a:extLst>
              <a:ext uri="{FF2B5EF4-FFF2-40B4-BE49-F238E27FC236}">
                <a16:creationId xmlns:a16="http://schemas.microsoft.com/office/drawing/2014/main" id="{309A63B4-B48D-B404-4695-BF836CF378E7}"/>
              </a:ext>
            </a:extLst>
          </p:cNvPr>
          <p:cNvCxnSpPr/>
          <p:nvPr/>
        </p:nvCxnSpPr>
        <p:spPr>
          <a:xfrm>
            <a:off x="502920" y="822960"/>
            <a:ext cx="11185920" cy="360"/>
          </a:xfrm>
          <a:prstGeom prst="straightConnector1">
            <a:avLst/>
          </a:prstGeom>
          <a:ln w="9525">
            <a:solidFill>
              <a:srgbClr val="E1E0D9"/>
            </a:solidFill>
            <a:round/>
          </a:ln>
        </p:spPr>
      </p:cxnSp>
      <p:cxnSp>
        <p:nvCxnSpPr>
          <p:cNvPr id="191" name="Connector 23">
            <a:extLst>
              <a:ext uri="{FF2B5EF4-FFF2-40B4-BE49-F238E27FC236}">
                <a16:creationId xmlns:a16="http://schemas.microsoft.com/office/drawing/2014/main" id="{6A8F8757-25C8-39A2-A3A2-96829E5751C9}"/>
              </a:ext>
            </a:extLst>
          </p:cNvPr>
          <p:cNvCxnSpPr/>
          <p:nvPr/>
        </p:nvCxnSpPr>
        <p:spPr>
          <a:xfrm>
            <a:off x="502920" y="6400800"/>
            <a:ext cx="11185920" cy="360"/>
          </a:xfrm>
          <a:prstGeom prst="straightConnector1">
            <a:avLst/>
          </a:prstGeom>
          <a:ln w="9525">
            <a:solidFill>
              <a:srgbClr val="E1E0D9"/>
            </a:solidFill>
            <a:round/>
          </a:ln>
        </p:spPr>
      </p:cxnSp>
      <p:sp>
        <p:nvSpPr>
          <p:cNvPr id="192" name="TextBox 24">
            <a:extLst>
              <a:ext uri="{FF2B5EF4-FFF2-40B4-BE49-F238E27FC236}">
                <a16:creationId xmlns:a16="http://schemas.microsoft.com/office/drawing/2014/main" id="{C05CB076-4BFF-F38A-3B7B-F248C2DB41C1}"/>
              </a:ext>
            </a:extLst>
          </p:cNvPr>
          <p:cNvSpPr/>
          <p:nvPr/>
        </p:nvSpPr>
        <p:spPr>
          <a:xfrm>
            <a:off x="502920" y="6446520"/>
            <a:ext cx="91720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750" b="0" strike="noStrike" spc="-1">
                <a:solidFill>
                  <a:srgbClr val="898781"/>
                </a:solidFill>
                <a:latin typeface="Calibri" panose="020F0502020204030204" pitchFamily="34" charset="0"/>
                <a:cs typeface="Calibri" panose="020F0502020204030204" pitchFamily="34" charset="0"/>
              </a:rPr>
              <a:t>GetYourGuide · WFM take-home submission · </a:t>
            </a:r>
            <a:endParaRPr lang="en-US" sz="750" b="0" strike="noStrike" spc="-1">
              <a:solidFill>
                <a:srgbClr val="000000"/>
              </a:solidFill>
              <a:latin typeface="Calibri" panose="020F0502020204030204" pitchFamily="34" charset="0"/>
              <a:cs typeface="Calibri" panose="020F0502020204030204" pitchFamily="34" charset="0"/>
            </a:endParaRPr>
          </a:p>
        </p:txBody>
      </p:sp>
      <p:sp>
        <p:nvSpPr>
          <p:cNvPr id="193" name="TextBox 25">
            <a:extLst>
              <a:ext uri="{FF2B5EF4-FFF2-40B4-BE49-F238E27FC236}">
                <a16:creationId xmlns:a16="http://schemas.microsoft.com/office/drawing/2014/main" id="{44534631-F38C-C93E-9B1E-97DA9F4A6DE7}"/>
              </a:ext>
            </a:extLst>
          </p:cNvPr>
          <p:cNvSpPr/>
          <p:nvPr/>
        </p:nvSpPr>
        <p:spPr>
          <a:xfrm>
            <a:off x="9675360" y="6446520"/>
            <a:ext cx="2013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457200">
              <a:lnSpc>
                <a:spcPct val="100000"/>
              </a:lnSpc>
            </a:pPr>
            <a:r>
              <a:rPr lang="en-US" sz="800" b="1" spc="-1" dirty="0">
                <a:solidFill>
                  <a:srgbClr val="52514E"/>
                </a:solidFill>
                <a:latin typeface="Calibri" panose="020F0502020204030204" pitchFamily="34" charset="0"/>
                <a:cs typeface="Calibri" panose="020F0502020204030204" pitchFamily="34" charset="0"/>
              </a:rPr>
              <a:t>3</a:t>
            </a:r>
            <a:r>
              <a:rPr lang="en-US" sz="800" b="1" strike="noStrike" spc="-1" dirty="0">
                <a:solidFill>
                  <a:srgbClr val="52514E"/>
                </a:solidFill>
                <a:latin typeface="Calibri" panose="020F0502020204030204" pitchFamily="34" charset="0"/>
                <a:cs typeface="Calibri" panose="020F0502020204030204" pitchFamily="34" charset="0"/>
              </a:rPr>
              <a:t> / 5</a:t>
            </a:r>
            <a:endParaRPr lang="en-US" sz="800" b="0" strike="noStrike" spc="-1" dirty="0">
              <a:solidFill>
                <a:srgbClr val="000000"/>
              </a:solidFill>
              <a:latin typeface="Calibri" panose="020F0502020204030204" pitchFamily="34" charset="0"/>
              <a:cs typeface="Calibri" panose="020F0502020204030204" pitchFamily="34" charset="0"/>
            </a:endParaRPr>
          </a:p>
        </p:txBody>
      </p:sp>
      <p:sp>
        <p:nvSpPr>
          <p:cNvPr id="3" name="TextBox 4">
            <a:extLst>
              <a:ext uri="{FF2B5EF4-FFF2-40B4-BE49-F238E27FC236}">
                <a16:creationId xmlns:a16="http://schemas.microsoft.com/office/drawing/2014/main" id="{B0B312DB-6C42-387C-457A-E603AADFB75D}"/>
              </a:ext>
            </a:extLst>
          </p:cNvPr>
          <p:cNvSpPr/>
          <p:nvPr/>
        </p:nvSpPr>
        <p:spPr>
          <a:xfrm>
            <a:off x="3221433" y="3458083"/>
            <a:ext cx="687837" cy="15645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820" b="1" strike="noStrike" spc="58">
                <a:solidFill>
                  <a:srgbClr val="898781"/>
                </a:solidFill>
                <a:latin typeface="Calibri" panose="020F0502020204030204" pitchFamily="34" charset="0"/>
                <a:cs typeface="Calibri" panose="020F0502020204030204" pitchFamily="34" charset="0"/>
              </a:rPr>
              <a:t>THE MODEL</a:t>
            </a:r>
            <a:endParaRPr lang="en-US" sz="820" b="0" strike="noStrike" spc="-1">
              <a:solidFill>
                <a:srgbClr val="000000"/>
              </a:solidFill>
              <a:latin typeface="Calibri" panose="020F0502020204030204" pitchFamily="34" charset="0"/>
              <a:cs typeface="Calibri" panose="020F0502020204030204" pitchFamily="34" charset="0"/>
            </a:endParaRPr>
          </a:p>
        </p:txBody>
      </p:sp>
      <p:graphicFrame>
        <p:nvGraphicFramePr>
          <p:cNvPr id="4" name="Table 5">
            <a:extLst>
              <a:ext uri="{FF2B5EF4-FFF2-40B4-BE49-F238E27FC236}">
                <a16:creationId xmlns:a16="http://schemas.microsoft.com/office/drawing/2014/main" id="{579FCF58-A4FC-E417-862A-899352AB24D5}"/>
              </a:ext>
            </a:extLst>
          </p:cNvPr>
          <p:cNvGraphicFramePr/>
          <p:nvPr>
            <p:extLst>
              <p:ext uri="{D42A27DB-BD31-4B8C-83A1-F6EECF244321}">
                <p14:modId xmlns:p14="http://schemas.microsoft.com/office/powerpoint/2010/main" val="555668284"/>
              </p:ext>
            </p:extLst>
          </p:nvPr>
        </p:nvGraphicFramePr>
        <p:xfrm>
          <a:off x="2222760" y="3659897"/>
          <a:ext cx="3438720" cy="2116440"/>
        </p:xfrm>
        <a:graphic>
          <a:graphicData uri="http://schemas.openxmlformats.org/drawingml/2006/table">
            <a:tbl>
              <a:tblPr/>
              <a:tblGrid>
                <a:gridCol w="1109160">
                  <a:extLst>
                    <a:ext uri="{9D8B030D-6E8A-4147-A177-3AD203B41FA5}">
                      <a16:colId xmlns:a16="http://schemas.microsoft.com/office/drawing/2014/main" val="20000"/>
                    </a:ext>
                  </a:extLst>
                </a:gridCol>
                <a:gridCol w="2329560">
                  <a:extLst>
                    <a:ext uri="{9D8B030D-6E8A-4147-A177-3AD203B41FA5}">
                      <a16:colId xmlns:a16="http://schemas.microsoft.com/office/drawing/2014/main" val="20001"/>
                    </a:ext>
                  </a:extLst>
                </a:gridCol>
              </a:tblGrid>
              <a:tr h="219240">
                <a:tc>
                  <a:txBody>
                    <a:bodyPr/>
                    <a:lstStyle/>
                    <a:p>
                      <a:pPr defTabSz="457200">
                        <a:lnSpc>
                          <a:spcPct val="100000"/>
                        </a:lnSpc>
                      </a:pPr>
                      <a:r>
                        <a:rPr lang="en-US" sz="680" b="1" strike="noStrike" spc="-1">
                          <a:solidFill>
                            <a:srgbClr val="898781"/>
                          </a:solidFill>
                          <a:latin typeface="Calibri"/>
                        </a:rPr>
                        <a:t>MODULE</a:t>
                      </a:r>
                      <a:endParaRPr lang="en-US" sz="680" b="0" strike="noStrike" spc="-1">
                        <a:solidFill>
                          <a:srgbClr val="000000"/>
                        </a:solidFill>
                        <a:latin typeface="Arial"/>
                      </a:endParaRPr>
                    </a:p>
                  </a:txBody>
                  <a:tcPr marL="31680" marR="316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680" b="1" strike="noStrike" spc="-1">
                          <a:solidFill>
                            <a:srgbClr val="898781"/>
                          </a:solidFill>
                          <a:latin typeface="Calibri"/>
                        </a:rPr>
                        <a:t>RESPONSIBILITY</a:t>
                      </a:r>
                      <a:endParaRPr lang="en-US" sz="680" b="0" strike="noStrike" spc="-1">
                        <a:solidFill>
                          <a:srgbClr val="000000"/>
                        </a:solidFill>
                        <a:latin typeface="Arial"/>
                      </a:endParaRPr>
                    </a:p>
                  </a:txBody>
                  <a:tcPr marL="31680" marR="316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0"/>
                  </a:ext>
                </a:extLst>
              </a:tr>
              <a:tr h="219240">
                <a:tc>
                  <a:txBody>
                    <a:bodyPr/>
                    <a:lstStyle/>
                    <a:p>
                      <a:pPr defTabSz="457200">
                        <a:lnSpc>
                          <a:spcPct val="100000"/>
                        </a:lnSpc>
                      </a:pPr>
                      <a:r>
                        <a:rPr lang="en-US" sz="740" b="1" strike="noStrike" spc="-1">
                          <a:solidFill>
                            <a:srgbClr val="52514E"/>
                          </a:solidFill>
                          <a:latin typeface="Calibri"/>
                        </a:rPr>
                        <a:t>config.py</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740" b="0" strike="noStrike" spc="-1" dirty="0">
                          <a:solidFill>
                            <a:srgbClr val="898781"/>
                          </a:solidFill>
                          <a:latin typeface="Calibri"/>
                        </a:rPr>
                        <a:t>Every assumption in one frozen </a:t>
                      </a:r>
                      <a:r>
                        <a:rPr lang="en-US" sz="740" b="0" strike="noStrike" spc="-1" dirty="0" err="1">
                          <a:solidFill>
                            <a:srgbClr val="898781"/>
                          </a:solidFill>
                          <a:latin typeface="Calibri"/>
                        </a:rPr>
                        <a:t>dataclass</a:t>
                      </a:r>
                      <a:endParaRPr lang="en-US" sz="740" b="0" strike="noStrike" spc="-1" dirty="0">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1"/>
                  </a:ext>
                </a:extLst>
              </a:tr>
              <a:tr h="219240">
                <a:tc>
                  <a:txBody>
                    <a:bodyPr/>
                    <a:lstStyle/>
                    <a:p>
                      <a:pPr defTabSz="457200">
                        <a:lnSpc>
                          <a:spcPct val="100000"/>
                        </a:lnSpc>
                      </a:pPr>
                      <a:r>
                        <a:rPr lang="en-US" sz="740" b="1" strike="noStrike" spc="-1">
                          <a:solidFill>
                            <a:srgbClr val="52514E"/>
                          </a:solidFill>
                          <a:latin typeface="Calibri"/>
                        </a:rPr>
                        <a:t>erlang.py</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740" b="0" strike="noStrike" spc="-1" dirty="0">
                          <a:solidFill>
                            <a:srgbClr val="898781"/>
                          </a:solidFill>
                          <a:latin typeface="Calibri"/>
                        </a:rPr>
                        <a:t>Erlang B/C, service level, ASA, solver</a:t>
                      </a:r>
                      <a:endParaRPr lang="en-US" sz="740" b="0" strike="noStrike" spc="-1" dirty="0">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2"/>
                  </a:ext>
                </a:extLst>
              </a:tr>
              <a:tr h="290880">
                <a:tc>
                  <a:txBody>
                    <a:bodyPr/>
                    <a:lstStyle/>
                    <a:p>
                      <a:pPr defTabSz="457200">
                        <a:lnSpc>
                          <a:spcPct val="100000"/>
                        </a:lnSpc>
                      </a:pPr>
                      <a:r>
                        <a:rPr lang="en-US" sz="740" b="1" strike="noStrike" spc="-1">
                          <a:solidFill>
                            <a:srgbClr val="52514E"/>
                          </a:solidFill>
                          <a:latin typeface="Calibri"/>
                        </a:rPr>
                        <a:t>loader.py</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740" b="0" strike="noStrike" spc="-1">
                          <a:solidFill>
                            <a:srgbClr val="898781"/>
                          </a:solidFill>
                          <a:latin typeface="Calibri"/>
                        </a:rPr>
                        <a:t>Schema-driven reader; refuses the hidden sheet</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3"/>
                  </a:ext>
                </a:extLst>
              </a:tr>
              <a:tr h="219240">
                <a:tc>
                  <a:txBody>
                    <a:bodyPr/>
                    <a:lstStyle/>
                    <a:p>
                      <a:pPr defTabSz="457200">
                        <a:lnSpc>
                          <a:spcPct val="100000"/>
                        </a:lnSpc>
                      </a:pPr>
                      <a:r>
                        <a:rPr lang="en-US" sz="740" b="1" strike="noStrike" spc="-1">
                          <a:solidFill>
                            <a:srgbClr val="52514E"/>
                          </a:solidFill>
                          <a:latin typeface="Calibri"/>
                        </a:rPr>
                        <a:t>clean.py</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740" b="0" strike="noStrike" spc="-1">
                          <a:solidFill>
                            <a:srgbClr val="898781"/>
                          </a:solidFill>
                          <a:latin typeface="Calibri"/>
                        </a:rPr>
                        <a:t>12 data-quality checks → structured log</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4"/>
                  </a:ext>
                </a:extLst>
              </a:tr>
              <a:tr h="219240">
                <a:tc>
                  <a:txBody>
                    <a:bodyPr/>
                    <a:lstStyle/>
                    <a:p>
                      <a:pPr defTabSz="457200">
                        <a:lnSpc>
                          <a:spcPct val="100000"/>
                        </a:lnSpc>
                      </a:pPr>
                      <a:r>
                        <a:rPr lang="en-US" sz="740" b="1" strike="noStrike" spc="-1">
                          <a:solidFill>
                            <a:srgbClr val="52514E"/>
                          </a:solidFill>
                          <a:latin typeface="Calibri"/>
                        </a:rPr>
                        <a:t>forecast.py</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740" b="0" strike="noStrike" spc="-1">
                          <a:solidFill>
                            <a:srgbClr val="898781"/>
                          </a:solidFill>
                          <a:latin typeface="Calibri"/>
                        </a:rPr>
                        <a:t>Break detection, growth test, scenarios</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5"/>
                  </a:ext>
                </a:extLst>
              </a:tr>
              <a:tr h="219240">
                <a:tc>
                  <a:txBody>
                    <a:bodyPr/>
                    <a:lstStyle/>
                    <a:p>
                      <a:pPr defTabSz="457200">
                        <a:lnSpc>
                          <a:spcPct val="100000"/>
                        </a:lnSpc>
                      </a:pPr>
                      <a:r>
                        <a:rPr lang="en-US" sz="740" b="1" strike="noStrike" spc="-1">
                          <a:solidFill>
                            <a:srgbClr val="52514E"/>
                          </a:solidFill>
                          <a:latin typeface="Calibri"/>
                        </a:rPr>
                        <a:t>capacity.py</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740" b="0" strike="noStrike" spc="-1">
                          <a:solidFill>
                            <a:srgbClr val="898781"/>
                          </a:solidFill>
                          <a:latin typeface="Calibri"/>
                        </a:rPr>
                        <a:t>Workload → Erlang → seats → FTE, by BPO</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6"/>
                  </a:ext>
                </a:extLst>
              </a:tr>
              <a:tr h="290880">
                <a:tc>
                  <a:txBody>
                    <a:bodyPr/>
                    <a:lstStyle/>
                    <a:p>
                      <a:pPr defTabSz="457200">
                        <a:lnSpc>
                          <a:spcPct val="100000"/>
                        </a:lnSpc>
                      </a:pPr>
                      <a:r>
                        <a:rPr lang="en-US" sz="740" b="1" strike="noStrike" spc="-1">
                          <a:solidFill>
                            <a:srgbClr val="52514E"/>
                          </a:solidFill>
                          <a:latin typeface="Calibri"/>
                        </a:rPr>
                        <a:t>optimise.py</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740" b="0" strike="noStrike" spc="-1">
                          <a:solidFill>
                            <a:srgbClr val="898781"/>
                          </a:solidFill>
                          <a:latin typeface="Calibri"/>
                        </a:rPr>
                        <a:t>Each lever re-solved through the same engine</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7"/>
                  </a:ext>
                </a:extLst>
              </a:tr>
              <a:tr h="219240">
                <a:tc>
                  <a:txBody>
                    <a:bodyPr/>
                    <a:lstStyle/>
                    <a:p>
                      <a:pPr defTabSz="457200">
                        <a:lnSpc>
                          <a:spcPct val="100000"/>
                        </a:lnSpc>
                      </a:pPr>
                      <a:r>
                        <a:rPr lang="en-US" sz="740" b="1" strike="noStrike" spc="-1">
                          <a:solidFill>
                            <a:srgbClr val="52514E"/>
                          </a:solidFill>
                          <a:latin typeface="Calibri"/>
                        </a:rPr>
                        <a:t>report.py</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740" b="0" strike="noStrike" spc="-1" dirty="0">
                          <a:solidFill>
                            <a:srgbClr val="898781"/>
                          </a:solidFill>
                          <a:latin typeface="Calibri"/>
                        </a:rPr>
                        <a:t>16-sheet Excel export</a:t>
                      </a:r>
                      <a:endParaRPr lang="en-US" sz="740" b="0" strike="noStrike" spc="-1" dirty="0">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8"/>
                  </a:ext>
                </a:extLst>
              </a:tr>
            </a:tbl>
          </a:graphicData>
        </a:graphic>
      </p:graphicFrame>
      <p:sp>
        <p:nvSpPr>
          <p:cNvPr id="8" name="TextBox 9">
            <a:extLst>
              <a:ext uri="{FF2B5EF4-FFF2-40B4-BE49-F238E27FC236}">
                <a16:creationId xmlns:a16="http://schemas.microsoft.com/office/drawing/2014/main" id="{E4E57B9A-E439-890E-D7E5-C1E5C5DC54CE}"/>
              </a:ext>
            </a:extLst>
          </p:cNvPr>
          <p:cNvSpPr/>
          <p:nvPr/>
        </p:nvSpPr>
        <p:spPr>
          <a:xfrm>
            <a:off x="7419143" y="3455606"/>
            <a:ext cx="2255857" cy="15645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820" b="1" strike="noStrike" spc="58" dirty="0">
                <a:solidFill>
                  <a:srgbClr val="898781"/>
                </a:solidFill>
                <a:latin typeface="Calibri" panose="020F0502020204030204" pitchFamily="34" charset="0"/>
                <a:cs typeface="Calibri" panose="020F0502020204030204" pitchFamily="34" charset="0"/>
              </a:rPr>
              <a:t>VERIFICATION — 72 CHECKS, ALL PASSING</a:t>
            </a:r>
            <a:endParaRPr lang="en-US" sz="820" b="0" strike="noStrike" spc="-1" dirty="0">
              <a:solidFill>
                <a:srgbClr val="000000"/>
              </a:solidFill>
              <a:latin typeface="Calibri" panose="020F0502020204030204" pitchFamily="34" charset="0"/>
              <a:cs typeface="Calibri" panose="020F0502020204030204" pitchFamily="34" charset="0"/>
            </a:endParaRPr>
          </a:p>
        </p:txBody>
      </p:sp>
      <p:graphicFrame>
        <p:nvGraphicFramePr>
          <p:cNvPr id="9" name="Table 10">
            <a:extLst>
              <a:ext uri="{FF2B5EF4-FFF2-40B4-BE49-F238E27FC236}">
                <a16:creationId xmlns:a16="http://schemas.microsoft.com/office/drawing/2014/main" id="{7336A632-FF1A-0F20-0A35-24272C9979D2}"/>
              </a:ext>
            </a:extLst>
          </p:cNvPr>
          <p:cNvGraphicFramePr/>
          <p:nvPr>
            <p:extLst>
              <p:ext uri="{D42A27DB-BD31-4B8C-83A1-F6EECF244321}">
                <p14:modId xmlns:p14="http://schemas.microsoft.com/office/powerpoint/2010/main" val="2011949021"/>
              </p:ext>
            </p:extLst>
          </p:nvPr>
        </p:nvGraphicFramePr>
        <p:xfrm>
          <a:off x="6813360" y="3659897"/>
          <a:ext cx="3868560" cy="2044800"/>
        </p:xfrm>
        <a:graphic>
          <a:graphicData uri="http://schemas.openxmlformats.org/drawingml/2006/table">
            <a:tbl>
              <a:tblPr/>
              <a:tblGrid>
                <a:gridCol w="853200">
                  <a:extLst>
                    <a:ext uri="{9D8B030D-6E8A-4147-A177-3AD203B41FA5}">
                      <a16:colId xmlns:a16="http://schemas.microsoft.com/office/drawing/2014/main" val="20000"/>
                    </a:ext>
                  </a:extLst>
                </a:gridCol>
                <a:gridCol w="3015360">
                  <a:extLst>
                    <a:ext uri="{9D8B030D-6E8A-4147-A177-3AD203B41FA5}">
                      <a16:colId xmlns:a16="http://schemas.microsoft.com/office/drawing/2014/main" val="20001"/>
                    </a:ext>
                  </a:extLst>
                </a:gridCol>
              </a:tblGrid>
              <a:tr h="219240">
                <a:tc>
                  <a:txBody>
                    <a:bodyPr/>
                    <a:lstStyle/>
                    <a:p>
                      <a:pPr defTabSz="457200">
                        <a:lnSpc>
                          <a:spcPct val="100000"/>
                        </a:lnSpc>
                      </a:pPr>
                      <a:r>
                        <a:rPr lang="en-US" sz="680" b="1" strike="noStrike" spc="-1">
                          <a:solidFill>
                            <a:srgbClr val="898781"/>
                          </a:solidFill>
                          <a:latin typeface="Calibri"/>
                        </a:rPr>
                        <a:t>LAYER</a:t>
                      </a:r>
                      <a:endParaRPr lang="en-US" sz="680" b="0" strike="noStrike" spc="-1">
                        <a:solidFill>
                          <a:srgbClr val="000000"/>
                        </a:solidFill>
                        <a:latin typeface="Arial"/>
                      </a:endParaRPr>
                    </a:p>
                  </a:txBody>
                  <a:tcPr marL="31680" marR="316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680" b="1" strike="noStrike" spc="-1">
                          <a:solidFill>
                            <a:srgbClr val="898781"/>
                          </a:solidFill>
                          <a:latin typeface="Calibri"/>
                        </a:rPr>
                        <a:t>WHAT IS ACTUALLY PROVED</a:t>
                      </a:r>
                      <a:endParaRPr lang="en-US" sz="680" b="0" strike="noStrike" spc="-1">
                        <a:solidFill>
                          <a:srgbClr val="000000"/>
                        </a:solidFill>
                        <a:latin typeface="Arial"/>
                      </a:endParaRPr>
                    </a:p>
                  </a:txBody>
                  <a:tcPr marL="31680" marR="316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0"/>
                  </a:ext>
                </a:extLst>
              </a:tr>
              <a:tr h="290880">
                <a:tc>
                  <a:txBody>
                    <a:bodyPr/>
                    <a:lstStyle/>
                    <a:p>
                      <a:pPr defTabSz="457200">
                        <a:lnSpc>
                          <a:spcPct val="100000"/>
                        </a:lnSpc>
                      </a:pPr>
                      <a:r>
                        <a:rPr lang="en-US" sz="740" b="1" strike="noStrike" spc="-1">
                          <a:solidFill>
                            <a:srgbClr val="52514E"/>
                          </a:solidFill>
                          <a:latin typeface="Calibri"/>
                        </a:rPr>
                        <a:t>Erlang B/C</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740" b="0" strike="noStrike" spc="-1" dirty="0">
                          <a:solidFill>
                            <a:srgbClr val="898781"/>
                          </a:solidFill>
                          <a:latin typeface="Calibri"/>
                        </a:rPr>
                        <a:t>Recursion vs closed form (1.1e-16); vs stationary dist. (&lt;1e-12)</a:t>
                      </a:r>
                      <a:endParaRPr lang="en-US" sz="740" b="0" strike="noStrike" spc="-1" dirty="0">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1"/>
                  </a:ext>
                </a:extLst>
              </a:tr>
              <a:tr h="219240">
                <a:tc>
                  <a:txBody>
                    <a:bodyPr/>
                    <a:lstStyle/>
                    <a:p>
                      <a:pPr defTabSz="457200">
                        <a:lnSpc>
                          <a:spcPct val="100000"/>
                        </a:lnSpc>
                      </a:pPr>
                      <a:r>
                        <a:rPr lang="en-US" sz="740" b="1" strike="noStrike" spc="-1">
                          <a:solidFill>
                            <a:srgbClr val="52514E"/>
                          </a:solidFill>
                          <a:latin typeface="Calibri"/>
                        </a:rPr>
                        <a:t>Simulation</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740" b="0" strike="noStrike" spc="-1">
                          <a:solidFill>
                            <a:srgbClr val="898781"/>
                          </a:solidFill>
                          <a:latin typeface="Calibri"/>
                        </a:rPr>
                        <a:t>vs discrete-event M/M/c — 3σ band on SL and ASA</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2"/>
                  </a:ext>
                </a:extLst>
              </a:tr>
              <a:tr h="219240">
                <a:tc>
                  <a:txBody>
                    <a:bodyPr/>
                    <a:lstStyle/>
                    <a:p>
                      <a:pPr defTabSz="457200">
                        <a:lnSpc>
                          <a:spcPct val="100000"/>
                        </a:lnSpc>
                      </a:pPr>
                      <a:r>
                        <a:rPr lang="en-US" sz="740" b="1" strike="noStrike" spc="-1">
                          <a:solidFill>
                            <a:srgbClr val="52514E"/>
                          </a:solidFill>
                          <a:latin typeface="Calibri"/>
                        </a:rPr>
                        <a:t>Solver</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740" b="0" strike="noStrike" spc="-1">
                          <a:solidFill>
                            <a:srgbClr val="898781"/>
                          </a:solidFill>
                          <a:latin typeface="Calibri"/>
                        </a:rPr>
                        <a:t>Minimal feasible seats; SL monotone in seats</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3"/>
                  </a:ext>
                </a:extLst>
              </a:tr>
              <a:tr h="219240">
                <a:tc>
                  <a:txBody>
                    <a:bodyPr/>
                    <a:lstStyle/>
                    <a:p>
                      <a:pPr defTabSz="457200">
                        <a:lnSpc>
                          <a:spcPct val="100000"/>
                        </a:lnSpc>
                      </a:pPr>
                      <a:r>
                        <a:rPr lang="en-US" sz="740" b="1" strike="noStrike" spc="-1">
                          <a:solidFill>
                            <a:srgbClr val="52514E"/>
                          </a:solidFill>
                          <a:latin typeface="Calibri"/>
                        </a:rPr>
                        <a:t>Queueing</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740" b="0" strike="noStrike" spc="-1">
                          <a:solidFill>
                            <a:srgbClr val="898781"/>
                          </a:solidFill>
                          <a:latin typeface="Calibri"/>
                        </a:rPr>
                        <a:t>Little's Law holds exactly</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4"/>
                  </a:ext>
                </a:extLst>
              </a:tr>
              <a:tr h="219240">
                <a:tc>
                  <a:txBody>
                    <a:bodyPr/>
                    <a:lstStyle/>
                    <a:p>
                      <a:pPr defTabSz="457200">
                        <a:lnSpc>
                          <a:spcPct val="100000"/>
                        </a:lnSpc>
                      </a:pPr>
                      <a:r>
                        <a:rPr lang="en-US" sz="740" b="1" strike="noStrike" spc="-1">
                          <a:solidFill>
                            <a:srgbClr val="52514E"/>
                          </a:solidFill>
                          <a:latin typeface="Calibri"/>
                        </a:rPr>
                        <a:t>Raw cells</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740" b="0" strike="noStrike" spc="-1">
                          <a:solidFill>
                            <a:srgbClr val="898781"/>
                          </a:solidFill>
                          <a:latin typeface="Calibri"/>
                        </a:rPr>
                        <a:t>Full July chain re-derived from cells — matches 1e-6</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5"/>
                  </a:ext>
                </a:extLst>
              </a:tr>
              <a:tr h="219240">
                <a:tc>
                  <a:txBody>
                    <a:bodyPr/>
                    <a:lstStyle/>
                    <a:p>
                      <a:pPr defTabSz="457200">
                        <a:lnSpc>
                          <a:spcPct val="100000"/>
                        </a:lnSpc>
                      </a:pPr>
                      <a:r>
                        <a:rPr lang="en-US" sz="740" b="1" strike="noStrike" spc="-1">
                          <a:solidFill>
                            <a:srgbClr val="52514E"/>
                          </a:solidFill>
                          <a:latin typeface="Calibri"/>
                        </a:rPr>
                        <a:t>Invariants</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740" b="0" strike="noStrike" spc="-1">
                          <a:solidFill>
                            <a:srgbClr val="898781"/>
                          </a:solidFill>
                          <a:latin typeface="Calibri"/>
                        </a:rPr>
                        <a:t>Every queue ≥80%; roll-up sums exact; LOW≤BASE≤HIGH</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6"/>
                  </a:ext>
                </a:extLst>
              </a:tr>
              <a:tr h="219240">
                <a:tc>
                  <a:txBody>
                    <a:bodyPr/>
                    <a:lstStyle/>
                    <a:p>
                      <a:pPr defTabSz="457200">
                        <a:lnSpc>
                          <a:spcPct val="100000"/>
                        </a:lnSpc>
                      </a:pPr>
                      <a:r>
                        <a:rPr lang="en-US" sz="740" b="1" strike="noStrike" spc="-1">
                          <a:solidFill>
                            <a:srgbClr val="52514E"/>
                          </a:solidFill>
                          <a:latin typeface="Calibri"/>
                        </a:rPr>
                        <a:t>HR maths</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740" b="0" strike="noStrike" spc="-1">
                          <a:solidFill>
                            <a:srgbClr val="898781"/>
                          </a:solidFill>
                          <a:latin typeface="Calibri"/>
                        </a:rPr>
                        <a:t>Attrition compounds to 36.00%/yr</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7"/>
                  </a:ext>
                </a:extLst>
              </a:tr>
              <a:tr h="219240">
                <a:tc>
                  <a:txBody>
                    <a:bodyPr/>
                    <a:lstStyle/>
                    <a:p>
                      <a:pPr defTabSz="457200">
                        <a:lnSpc>
                          <a:spcPct val="100000"/>
                        </a:lnSpc>
                      </a:pPr>
                      <a:r>
                        <a:rPr lang="en-US" sz="740" b="1" strike="noStrike" spc="-1">
                          <a:solidFill>
                            <a:srgbClr val="52514E"/>
                          </a:solidFill>
                          <a:latin typeface="Calibri"/>
                        </a:rPr>
                        <a:t>Levers</a:t>
                      </a:r>
                      <a:endParaRPr lang="en-US" sz="74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740" b="0" strike="noStrike" spc="-1" dirty="0">
                          <a:solidFill>
                            <a:srgbClr val="898781"/>
                          </a:solidFill>
                          <a:latin typeface="Calibri"/>
                        </a:rPr>
                        <a:t>Each 1b strategy re-solved, not asserted</a:t>
                      </a:r>
                      <a:endParaRPr lang="en-US" sz="740" b="0" strike="noStrike" spc="-1" dirty="0">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8"/>
                  </a:ext>
                </a:extLst>
              </a:tr>
            </a:tbl>
          </a:graphicData>
        </a:graphic>
      </p:graphicFrame>
      <p:sp>
        <p:nvSpPr>
          <p:cNvPr id="18" name="TextBox 8">
            <a:extLst>
              <a:ext uri="{FF2B5EF4-FFF2-40B4-BE49-F238E27FC236}">
                <a16:creationId xmlns:a16="http://schemas.microsoft.com/office/drawing/2014/main" id="{147D5B7C-964D-EAE8-C9AB-2D325D598FD6}"/>
              </a:ext>
            </a:extLst>
          </p:cNvPr>
          <p:cNvSpPr/>
          <p:nvPr/>
        </p:nvSpPr>
        <p:spPr>
          <a:xfrm>
            <a:off x="502920" y="1003097"/>
            <a:ext cx="1118376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100" b="1" strike="noStrike" spc="-1" dirty="0">
                <a:latin typeface="Calibri" panose="020F0502020204030204" pitchFamily="34" charset="0"/>
                <a:cs typeface="Calibri" panose="020F0502020204030204" pitchFamily="34" charset="0"/>
              </a:rPr>
              <a:t>Automation</a:t>
            </a:r>
            <a:r>
              <a:rPr lang="en-US" sz="1100" b="0" strike="noStrike" spc="-1" dirty="0">
                <a:latin typeface="Calibri" panose="020F0502020204030204" pitchFamily="34" charset="0"/>
                <a:cs typeface="Calibri" panose="020F0502020204030204" pitchFamily="34" charset="0"/>
              </a:rPr>
              <a:t>: Excel file was used as an input and all subsequent steps like data cleaning, configuration, forecast, capacity plan are generated by python files. If you include/exclude any data, this tool would give the plan accordingly.</a:t>
            </a:r>
          </a:p>
          <a:p>
            <a:pPr defTabSz="457200">
              <a:lnSpc>
                <a:spcPct val="100000"/>
              </a:lnSpc>
            </a:pPr>
            <a:endParaRPr lang="en-US" sz="1100" spc="-1" dirty="0">
              <a:latin typeface="Calibri" panose="020F0502020204030204" pitchFamily="34" charset="0"/>
              <a:cs typeface="Calibri" panose="020F0502020204030204" pitchFamily="34" charset="0"/>
            </a:endParaRPr>
          </a:p>
          <a:p>
            <a:pPr defTabSz="457200">
              <a:lnSpc>
                <a:spcPct val="100000"/>
              </a:lnSpc>
            </a:pPr>
            <a:r>
              <a:rPr lang="en-US" sz="1100" b="1" strike="noStrike" spc="-1" dirty="0">
                <a:latin typeface="Calibri" panose="020F0502020204030204" pitchFamily="34" charset="0"/>
                <a:cs typeface="Calibri" panose="020F0502020204030204" pitchFamily="34" charset="0"/>
              </a:rPr>
              <a:t>Validation</a:t>
            </a:r>
            <a:r>
              <a:rPr lang="en-US" sz="1100" b="0" strike="noStrike" spc="-1" dirty="0">
                <a:latin typeface="Calibri" panose="020F0502020204030204" pitchFamily="34" charset="0"/>
                <a:cs typeface="Calibri" panose="020F0502020204030204" pitchFamily="34" charset="0"/>
              </a:rPr>
              <a:t>: Build a code through AI is good until is validated by a different AI model, therefore 2 AI models have been used</a:t>
            </a:r>
          </a:p>
          <a:p>
            <a:pPr defTabSz="457200">
              <a:lnSpc>
                <a:spcPct val="100000"/>
              </a:lnSpc>
            </a:pPr>
            <a:endParaRPr lang="en-US" sz="1100" spc="-1" dirty="0">
              <a:latin typeface="Calibri" panose="020F0502020204030204" pitchFamily="34" charset="0"/>
              <a:cs typeface="Calibri" panose="020F0502020204030204" pitchFamily="34" charset="0"/>
            </a:endParaRPr>
          </a:p>
          <a:p>
            <a:pPr defTabSz="457200"/>
            <a:r>
              <a:rPr lang="en-US" sz="1100" b="1" strike="noStrike" spc="-1" dirty="0">
                <a:latin typeface="Calibri" panose="020F0502020204030204" pitchFamily="34" charset="0"/>
                <a:cs typeface="Calibri" panose="020F0502020204030204" pitchFamily="34" charset="0"/>
              </a:rPr>
              <a:t>Quality: </a:t>
            </a:r>
            <a:r>
              <a:rPr lang="en-US" sz="1100" strike="noStrike" spc="-1" dirty="0">
                <a:latin typeface="Calibri" panose="020F0502020204030204" pitchFamily="34" charset="0"/>
                <a:cs typeface="Calibri" panose="020F0502020204030204" pitchFamily="34" charset="0"/>
              </a:rPr>
              <a:t>In my 1</a:t>
            </a:r>
            <a:r>
              <a:rPr lang="en-US" sz="1100" strike="noStrike" spc="-1" baseline="30000" dirty="0">
                <a:latin typeface="Calibri" panose="020F0502020204030204" pitchFamily="34" charset="0"/>
                <a:cs typeface="Calibri" panose="020F0502020204030204" pitchFamily="34" charset="0"/>
              </a:rPr>
              <a:t>st</a:t>
            </a:r>
            <a:r>
              <a:rPr lang="en-US" sz="1100" strike="noStrike" spc="-1" dirty="0">
                <a:latin typeface="Calibri" panose="020F0502020204030204" pitchFamily="34" charset="0"/>
                <a:cs typeface="Calibri" panose="020F0502020204030204" pitchFamily="34" charset="0"/>
              </a:rPr>
              <a:t> draft there were couple of issues in AI output. E.g. </a:t>
            </a:r>
            <a:r>
              <a:rPr lang="en-FI" sz="1100" b="1" dirty="0">
                <a:latin typeface="Calibri" panose="020F0502020204030204" pitchFamily="34" charset="0"/>
                <a:cs typeface="Calibri" panose="020F0502020204030204" pitchFamily="34" charset="0"/>
              </a:rPr>
              <a:t>SLA is computed but never costed. The FTE number does not meet service level. </a:t>
            </a:r>
            <a:r>
              <a:rPr lang="en-FI" sz="1100" dirty="0">
                <a:latin typeface="Calibri" panose="020F0502020204030204" pitchFamily="34" charset="0"/>
                <a:cs typeface="Calibri" panose="020F0502020204030204" pitchFamily="34" charset="0"/>
              </a:rPr>
              <a:t>It suggested an optimization strategy to move </a:t>
            </a:r>
            <a:r>
              <a:rPr lang="en-FI" sz="1100" b="1" dirty="0">
                <a:latin typeface="Calibri" panose="020F0502020204030204" pitchFamily="34" charset="0"/>
                <a:cs typeface="Calibri" panose="020F0502020204030204" pitchFamily="34" charset="0"/>
              </a:rPr>
              <a:t>phone to chat </a:t>
            </a:r>
            <a:r>
              <a:rPr lang="en-FI" sz="1100" dirty="0">
                <a:latin typeface="Calibri" panose="020F0502020204030204" pitchFamily="34" charset="0"/>
                <a:cs typeface="Calibri" panose="020F0502020204030204" pitchFamily="34" charset="0"/>
              </a:rPr>
              <a:t>but in reality chat AHT is more than phone therefore AI suggestion was not correct. Through a QA process </a:t>
            </a:r>
            <a:r>
              <a:rPr lang="en-GB" sz="1100" dirty="0">
                <a:latin typeface="Calibri" panose="020F0502020204030204" pitchFamily="34" charset="0"/>
                <a:cs typeface="Calibri" panose="020F0502020204030204" pitchFamily="34" charset="0"/>
              </a:rPr>
              <a:t>I</a:t>
            </a:r>
            <a:r>
              <a:rPr lang="en-FI" sz="1100" dirty="0">
                <a:latin typeface="Calibri" panose="020F0502020204030204" pitchFamily="34" charset="0"/>
                <a:cs typeface="Calibri" panose="020F0502020204030204" pitchFamily="34" charset="0"/>
              </a:rPr>
              <a:t> mentioned to highlight these things</a:t>
            </a:r>
          </a:p>
          <a:p>
            <a:pPr defTabSz="457200"/>
            <a:endParaRPr lang="en-FI" sz="1100" dirty="0">
              <a:latin typeface="Calibri" panose="020F0502020204030204" pitchFamily="34" charset="0"/>
              <a:cs typeface="Calibri" panose="020F0502020204030204" pitchFamily="34" charset="0"/>
            </a:endParaRPr>
          </a:p>
          <a:p>
            <a:pPr defTabSz="457200"/>
            <a:r>
              <a:rPr lang="en-FI" sz="1100" b="1" dirty="0">
                <a:latin typeface="Calibri" panose="020F0502020204030204" pitchFamily="34" charset="0"/>
                <a:cs typeface="Calibri" panose="020F0502020204030204" pitchFamily="34" charset="0"/>
              </a:rPr>
              <a:t>What was not done: </a:t>
            </a:r>
            <a:r>
              <a:rPr lang="en-FI" sz="1100" dirty="0">
                <a:latin typeface="Calibri" panose="020F0502020204030204" pitchFamily="34" charset="0"/>
                <a:cs typeface="Calibri" panose="020F0502020204030204" pitchFamily="34" charset="0"/>
              </a:rPr>
              <a:t>I didn’t just give AI the data and asked what is the forecast and capacity. I created a framework which I could test, reason and validate.</a:t>
            </a:r>
          </a:p>
          <a:p>
            <a:pPr defTabSz="457200"/>
            <a:endParaRPr lang="en-FI" sz="1100" b="1" dirty="0">
              <a:latin typeface="Calibri" panose="020F0502020204030204" pitchFamily="34" charset="0"/>
              <a:cs typeface="Calibri" panose="020F0502020204030204" pitchFamily="34" charset="0"/>
            </a:endParaRPr>
          </a:p>
          <a:p>
            <a:pPr defTabSz="457200"/>
            <a:r>
              <a:rPr lang="en-FI" sz="1100" b="1" dirty="0">
                <a:latin typeface="Calibri" panose="020F0502020204030204" pitchFamily="34" charset="0"/>
                <a:cs typeface="Calibri" panose="020F0502020204030204" pitchFamily="34" charset="0"/>
              </a:rPr>
              <a:t>What could have been better: </a:t>
            </a:r>
            <a:r>
              <a:rPr lang="en-FI" sz="1100" dirty="0">
                <a:latin typeface="Calibri" panose="020F0502020204030204" pitchFamily="34" charset="0"/>
                <a:cs typeface="Calibri" panose="020F0502020204030204" pitchFamily="34" charset="0"/>
              </a:rPr>
              <a:t>Given it is a synthetic data therefore in validation and doing a quality check it hallucinate a lot. </a:t>
            </a:r>
            <a:r>
              <a:rPr lang="en-GB" sz="1100" dirty="0">
                <a:latin typeface="Calibri" panose="020F0502020204030204" pitchFamily="34" charset="0"/>
                <a:cs typeface="Calibri" panose="020F0502020204030204" pitchFamily="34" charset="0"/>
              </a:rPr>
              <a:t>E</a:t>
            </a:r>
            <a:r>
              <a:rPr lang="en-FI" sz="1100" dirty="0">
                <a:latin typeface="Calibri" panose="020F0502020204030204" pitchFamily="34" charset="0"/>
                <a:cs typeface="Calibri" panose="020F0502020204030204" pitchFamily="34" charset="0"/>
              </a:rPr>
              <a:t>.g. outbound and inbound contact volume is equal which would generally be the case</a:t>
            </a:r>
          </a:p>
        </p:txBody>
      </p:sp>
    </p:spTree>
    <p:extLst>
      <p:ext uri="{BB962C8B-B14F-4D97-AF65-F5344CB8AC3E}">
        <p14:creationId xmlns:p14="http://schemas.microsoft.com/office/powerpoint/2010/main" val="1439850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194" name="TextBox 1"/>
          <p:cNvSpPr/>
          <p:nvPr/>
        </p:nvSpPr>
        <p:spPr>
          <a:xfrm>
            <a:off x="502920" y="320040"/>
            <a:ext cx="111855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800" b="1" strike="noStrike" spc="-1" dirty="0">
                <a:solidFill>
                  <a:srgbClr val="2A78D6"/>
                </a:solidFill>
                <a:latin typeface="Calibri"/>
              </a:rPr>
              <a:t>Section 2</a:t>
            </a:r>
            <a:r>
              <a:rPr lang="en-US" sz="800" b="0" strike="noStrike" spc="-1" dirty="0">
                <a:solidFill>
                  <a:srgbClr val="898781"/>
                </a:solidFill>
                <a:latin typeface="Calibri"/>
              </a:rPr>
              <a:t>   Manager, Workforce Management · Care Experience &amp; Strategy</a:t>
            </a:r>
            <a:endParaRPr lang="en-US" sz="800" b="0" strike="noStrike" spc="-1" dirty="0">
              <a:solidFill>
                <a:srgbClr val="000000"/>
              </a:solidFill>
              <a:latin typeface="Arial"/>
            </a:endParaRPr>
          </a:p>
        </p:txBody>
      </p:sp>
      <p:sp>
        <p:nvSpPr>
          <p:cNvPr id="195" name="TextBox 2"/>
          <p:cNvSpPr/>
          <p:nvPr/>
        </p:nvSpPr>
        <p:spPr>
          <a:xfrm>
            <a:off x="502920" y="484560"/>
            <a:ext cx="111855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900" b="1" strike="noStrike" spc="-1">
                <a:solidFill>
                  <a:srgbClr val="0B0B0B"/>
                </a:solidFill>
                <a:latin typeface="Calibri"/>
              </a:rPr>
              <a:t>Leading the transformation — and how AI was actually used</a:t>
            </a:r>
            <a:endParaRPr lang="en-US" sz="1900" b="0" strike="noStrike" spc="-1">
              <a:solidFill>
                <a:srgbClr val="000000"/>
              </a:solidFill>
              <a:latin typeface="Arial"/>
            </a:endParaRPr>
          </a:p>
        </p:txBody>
      </p:sp>
      <p:cxnSp>
        <p:nvCxnSpPr>
          <p:cNvPr id="196" name="Connector 3"/>
          <p:cNvCxnSpPr/>
          <p:nvPr/>
        </p:nvCxnSpPr>
        <p:spPr>
          <a:xfrm>
            <a:off x="502920" y="822960"/>
            <a:ext cx="11185920" cy="360"/>
          </a:xfrm>
          <a:prstGeom prst="straightConnector1">
            <a:avLst/>
          </a:prstGeom>
          <a:ln w="9525">
            <a:solidFill>
              <a:srgbClr val="E1E0D9"/>
            </a:solidFill>
            <a:round/>
          </a:ln>
        </p:spPr>
      </p:cxnSp>
      <p:sp>
        <p:nvSpPr>
          <p:cNvPr id="197" name="TextBox 4"/>
          <p:cNvSpPr/>
          <p:nvPr/>
        </p:nvSpPr>
        <p:spPr>
          <a:xfrm>
            <a:off x="502920" y="960120"/>
            <a:ext cx="408348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200" b="1" strike="noStrike" spc="58" dirty="0">
                <a:solidFill>
                  <a:srgbClr val="898781"/>
                </a:solidFill>
                <a:latin typeface="Calibri"/>
              </a:rPr>
              <a:t>2A · 30 / 60 / 90</a:t>
            </a:r>
            <a:endParaRPr lang="en-US" sz="1200" b="0" strike="noStrike" spc="-1" dirty="0">
              <a:solidFill>
                <a:srgbClr val="000000"/>
              </a:solidFill>
              <a:latin typeface="Arial"/>
            </a:endParaRPr>
          </a:p>
        </p:txBody>
      </p:sp>
      <p:sp>
        <p:nvSpPr>
          <p:cNvPr id="198" name="TextBox 5"/>
          <p:cNvSpPr/>
          <p:nvPr/>
        </p:nvSpPr>
        <p:spPr>
          <a:xfrm>
            <a:off x="502920" y="1207080"/>
            <a:ext cx="4083480" cy="15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900" b="1" strike="noStrike" spc="-1" dirty="0">
                <a:solidFill>
                  <a:srgbClr val="0B0B0B"/>
                </a:solidFill>
                <a:latin typeface="Calibri"/>
              </a:rPr>
              <a:t>0–30 · Understand the business (most important</a:t>
            </a:r>
            <a:r>
              <a:rPr lang="en-US" sz="900" spc="-1" dirty="0">
                <a:solidFill>
                  <a:srgbClr val="000000"/>
                </a:solidFill>
                <a:latin typeface="Arial"/>
              </a:rPr>
              <a:t>)</a:t>
            </a:r>
            <a:endParaRPr lang="en-US" sz="900" b="1" strike="noStrike" spc="-1" dirty="0">
              <a:solidFill>
                <a:srgbClr val="0B0B0B"/>
              </a:solidFill>
              <a:latin typeface="Calibri"/>
            </a:endParaRPr>
          </a:p>
        </p:txBody>
      </p:sp>
      <p:sp>
        <p:nvSpPr>
          <p:cNvPr id="199" name="TextBox 6"/>
          <p:cNvSpPr/>
          <p:nvPr/>
        </p:nvSpPr>
        <p:spPr>
          <a:xfrm>
            <a:off x="502920" y="1437120"/>
            <a:ext cx="3732800" cy="233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900" b="0" strike="noStrike" spc="-1" dirty="0">
                <a:latin typeface="Calibri"/>
              </a:rPr>
              <a:t>Before doing any development, I would spend first 30 days in understanding the business. A capacity plan may look great in theory, but many constraints would make that plan fail fast therefore</a:t>
            </a:r>
          </a:p>
          <a:p>
            <a:pPr defTabSz="457200">
              <a:lnSpc>
                <a:spcPct val="100000"/>
              </a:lnSpc>
            </a:pPr>
            <a:endParaRPr lang="en-US" sz="900" b="0" strike="noStrike" spc="-1" dirty="0">
              <a:latin typeface="Calibri"/>
            </a:endParaRPr>
          </a:p>
          <a:p>
            <a:pPr marL="171450" indent="-171450" defTabSz="457200">
              <a:lnSpc>
                <a:spcPct val="100000"/>
              </a:lnSpc>
              <a:buFont typeface="Arial" panose="020B0604020202020204" pitchFamily="34" charset="0"/>
              <a:buChar char="•"/>
            </a:pPr>
            <a:r>
              <a:rPr lang="en-US" sz="900" b="0" strike="noStrike" spc="-1" dirty="0">
                <a:latin typeface="Calibri"/>
              </a:rPr>
              <a:t>Meet care experience and strategy </a:t>
            </a:r>
            <a:r>
              <a:rPr lang="en-US" sz="900" b="1" strike="noStrike" spc="-1" dirty="0">
                <a:latin typeface="Calibri"/>
              </a:rPr>
              <a:t>team</a:t>
            </a:r>
            <a:r>
              <a:rPr lang="en-US" sz="900" b="0" strike="noStrike" spc="-1" dirty="0">
                <a:latin typeface="Calibri"/>
              </a:rPr>
              <a:t> and </a:t>
            </a:r>
            <a:r>
              <a:rPr lang="en-US" sz="900" b="1" strike="noStrike" spc="-1" dirty="0">
                <a:latin typeface="Calibri"/>
              </a:rPr>
              <a:t>stakeholders</a:t>
            </a:r>
            <a:r>
              <a:rPr lang="en-US" sz="900" b="0" strike="noStrike" spc="-1" dirty="0">
                <a:latin typeface="Calibri"/>
              </a:rPr>
              <a:t>, understand where we stand right now</a:t>
            </a:r>
            <a:r>
              <a:rPr lang="en-US" sz="900" spc="-1" dirty="0">
                <a:latin typeface="Calibri"/>
              </a:rPr>
              <a:t>, what are the goals for the future, what are the bottlenecks, what is good/can be improved, understand the constraints we work with, how AHT assumptions are calculated, how BPO agents lang skillset is distributed, How is current calls are distributed across channels, how off-peak and peak intraday hours are managed, leverage all existing on-boarding documentation if available, understand current forecast framework, how AI is currently used within the team, what is the team’s current core skillsets</a:t>
            </a:r>
          </a:p>
          <a:p>
            <a:pPr marL="171450" indent="-171450" defTabSz="457200">
              <a:lnSpc>
                <a:spcPct val="100000"/>
              </a:lnSpc>
              <a:buFont typeface="Arial" panose="020B0604020202020204" pitchFamily="34" charset="0"/>
              <a:buChar char="•"/>
            </a:pPr>
            <a:r>
              <a:rPr lang="en-US" sz="900" b="1" spc="-1" dirty="0">
                <a:latin typeface="Calibri"/>
              </a:rPr>
              <a:t>Outcome expected: </a:t>
            </a:r>
            <a:r>
              <a:rPr lang="en-US" sz="900" spc="-1" dirty="0">
                <a:latin typeface="Calibri"/>
              </a:rPr>
              <a:t>Build a business understanding document and align with Nils (head of care experience) to share the learning on what’s good and what could be improved. This document also acts as a on-boarding document for other team members, so it is not just sitting in silo</a:t>
            </a:r>
          </a:p>
          <a:p>
            <a:pPr defTabSz="457200">
              <a:lnSpc>
                <a:spcPct val="100000"/>
              </a:lnSpc>
            </a:pPr>
            <a:endParaRPr lang="en-US" sz="900" spc="-1" dirty="0">
              <a:latin typeface="Calibri"/>
            </a:endParaRPr>
          </a:p>
          <a:p>
            <a:pPr marL="171450" indent="-171450" defTabSz="457200">
              <a:lnSpc>
                <a:spcPct val="100000"/>
              </a:lnSpc>
              <a:buFont typeface="Arial" panose="020B0604020202020204" pitchFamily="34" charset="0"/>
              <a:buChar char="•"/>
            </a:pPr>
            <a:endParaRPr lang="en-US" sz="900" spc="-1" dirty="0">
              <a:latin typeface="Calibri"/>
            </a:endParaRPr>
          </a:p>
          <a:p>
            <a:pPr defTabSz="457200">
              <a:lnSpc>
                <a:spcPct val="100000"/>
              </a:lnSpc>
            </a:pPr>
            <a:endParaRPr lang="en-US" sz="900" b="0" strike="noStrike" spc="-1" dirty="0">
              <a:latin typeface="Calibri"/>
            </a:endParaRPr>
          </a:p>
        </p:txBody>
      </p:sp>
      <p:sp>
        <p:nvSpPr>
          <p:cNvPr id="200" name="TextBox 7"/>
          <p:cNvSpPr/>
          <p:nvPr/>
        </p:nvSpPr>
        <p:spPr>
          <a:xfrm>
            <a:off x="502920" y="3851529"/>
            <a:ext cx="2164779" cy="20419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900" b="1" strike="noStrike" spc="-1" dirty="0">
                <a:solidFill>
                  <a:srgbClr val="0B0B0B"/>
                </a:solidFill>
                <a:latin typeface="Calibri"/>
              </a:rPr>
              <a:t>31–60 · Act on improvement areas</a:t>
            </a:r>
            <a:endParaRPr lang="en-US" sz="900" b="0" strike="noStrike" spc="-1" dirty="0">
              <a:solidFill>
                <a:srgbClr val="000000"/>
              </a:solidFill>
              <a:latin typeface="Arial"/>
            </a:endParaRPr>
          </a:p>
        </p:txBody>
      </p:sp>
      <p:sp>
        <p:nvSpPr>
          <p:cNvPr id="202" name="TextBox 9"/>
          <p:cNvSpPr/>
          <p:nvPr/>
        </p:nvSpPr>
        <p:spPr>
          <a:xfrm>
            <a:off x="502920" y="5306706"/>
            <a:ext cx="4083480" cy="15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900" b="1" strike="noStrike" spc="-1" dirty="0">
                <a:solidFill>
                  <a:srgbClr val="0B0B0B"/>
                </a:solidFill>
                <a:latin typeface="Calibri"/>
              </a:rPr>
              <a:t>61–90 · Benchmark and compare</a:t>
            </a:r>
            <a:endParaRPr lang="en-US" sz="900" b="0" strike="noStrike" spc="-1" dirty="0">
              <a:solidFill>
                <a:srgbClr val="000000"/>
              </a:solidFill>
              <a:latin typeface="Arial"/>
            </a:endParaRPr>
          </a:p>
        </p:txBody>
      </p:sp>
      <p:sp>
        <p:nvSpPr>
          <p:cNvPr id="206" name="TextBox 13"/>
          <p:cNvSpPr/>
          <p:nvPr/>
        </p:nvSpPr>
        <p:spPr>
          <a:xfrm>
            <a:off x="4412609" y="960120"/>
            <a:ext cx="2972791" cy="131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200" b="1" strike="noStrike" spc="58" dirty="0">
                <a:solidFill>
                  <a:srgbClr val="898781"/>
                </a:solidFill>
                <a:latin typeface="Calibri"/>
              </a:rPr>
              <a:t>2B · BRINGING THREE SPECIALISTS ALONG</a:t>
            </a:r>
            <a:endParaRPr lang="en-US" sz="1200" b="0" strike="noStrike" spc="-1" dirty="0">
              <a:solidFill>
                <a:srgbClr val="000000"/>
              </a:solidFill>
              <a:latin typeface="Arial"/>
            </a:endParaRPr>
          </a:p>
        </p:txBody>
      </p:sp>
      <p:cxnSp>
        <p:nvCxnSpPr>
          <p:cNvPr id="220" name="Connector 27"/>
          <p:cNvCxnSpPr/>
          <p:nvPr/>
        </p:nvCxnSpPr>
        <p:spPr>
          <a:xfrm>
            <a:off x="502920" y="6400800"/>
            <a:ext cx="11185920" cy="360"/>
          </a:xfrm>
          <a:prstGeom prst="straightConnector1">
            <a:avLst/>
          </a:prstGeom>
          <a:ln w="9525">
            <a:solidFill>
              <a:srgbClr val="E1E0D9"/>
            </a:solidFill>
            <a:round/>
          </a:ln>
        </p:spPr>
      </p:cxnSp>
      <p:sp>
        <p:nvSpPr>
          <p:cNvPr id="221" name="TextBox 28"/>
          <p:cNvSpPr/>
          <p:nvPr/>
        </p:nvSpPr>
        <p:spPr>
          <a:xfrm>
            <a:off x="502920" y="6446520"/>
            <a:ext cx="91720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750" b="0" strike="noStrike" spc="-1">
                <a:solidFill>
                  <a:srgbClr val="898781"/>
                </a:solidFill>
                <a:latin typeface="Calibri"/>
              </a:rPr>
              <a:t>GetYourGuide · WFM take-home submission · </a:t>
            </a:r>
            <a:endParaRPr lang="en-US" sz="750" b="0" strike="noStrike" spc="-1">
              <a:solidFill>
                <a:srgbClr val="000000"/>
              </a:solidFill>
              <a:latin typeface="Arial"/>
            </a:endParaRPr>
          </a:p>
        </p:txBody>
      </p:sp>
      <p:sp>
        <p:nvSpPr>
          <p:cNvPr id="2" name="TextBox 6">
            <a:extLst>
              <a:ext uri="{FF2B5EF4-FFF2-40B4-BE49-F238E27FC236}">
                <a16:creationId xmlns:a16="http://schemas.microsoft.com/office/drawing/2014/main" id="{F5832ACB-5589-91D4-1B9E-42911C7957E0}"/>
              </a:ext>
            </a:extLst>
          </p:cNvPr>
          <p:cNvSpPr/>
          <p:nvPr/>
        </p:nvSpPr>
        <p:spPr>
          <a:xfrm>
            <a:off x="502920" y="4065914"/>
            <a:ext cx="3732800" cy="116812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900" b="0" strike="noStrike" spc="-1" dirty="0">
                <a:latin typeface="Calibri"/>
              </a:rPr>
              <a:t>Rather than fixing everything at once, I would break down the improvement areas based on couple of factors such as </a:t>
            </a:r>
            <a:r>
              <a:rPr lang="en-US" sz="900" spc="-1" dirty="0">
                <a:latin typeface="Calibri"/>
              </a:rPr>
              <a:t>Data Complexity, Effort required, </a:t>
            </a:r>
            <a:r>
              <a:rPr lang="en-US" sz="900" b="0" strike="noStrike" spc="-1" dirty="0">
                <a:latin typeface="Calibri"/>
              </a:rPr>
              <a:t>Dependency on other team/area, </a:t>
            </a:r>
            <a:r>
              <a:rPr lang="en-US" sz="900" spc="-1" dirty="0">
                <a:latin typeface="Calibri"/>
              </a:rPr>
              <a:t>Impact</a:t>
            </a:r>
          </a:p>
          <a:p>
            <a:pPr marL="228600" indent="-228600" defTabSz="457200">
              <a:lnSpc>
                <a:spcPct val="100000"/>
              </a:lnSpc>
              <a:buAutoNum type="arabicPeriod"/>
            </a:pPr>
            <a:endParaRPr lang="en-US" sz="900" b="0" strike="noStrike" spc="-1" dirty="0">
              <a:latin typeface="Calibri"/>
            </a:endParaRPr>
          </a:p>
          <a:p>
            <a:pPr defTabSz="457200">
              <a:lnSpc>
                <a:spcPct val="100000"/>
              </a:lnSpc>
            </a:pPr>
            <a:r>
              <a:rPr lang="en-US" sz="900" b="0" strike="noStrike" spc="-1" dirty="0">
                <a:latin typeface="Calibri"/>
              </a:rPr>
              <a:t>Identify high impact areas with low/medium effort or complexity which would be the quick wins. E.g. if we are using excel workbook as an input, I would try to find a solution based on my learning if it could be moved to a database or we could directly fetch this information from data</a:t>
            </a:r>
          </a:p>
        </p:txBody>
      </p:sp>
      <p:sp>
        <p:nvSpPr>
          <p:cNvPr id="4" name="TextBox 3">
            <a:extLst>
              <a:ext uri="{FF2B5EF4-FFF2-40B4-BE49-F238E27FC236}">
                <a16:creationId xmlns:a16="http://schemas.microsoft.com/office/drawing/2014/main" id="{F5FB17DB-9E30-15F1-4D97-53A2CB39AC33}"/>
              </a:ext>
            </a:extLst>
          </p:cNvPr>
          <p:cNvSpPr txBox="1"/>
          <p:nvPr/>
        </p:nvSpPr>
        <p:spPr>
          <a:xfrm>
            <a:off x="435808" y="5530726"/>
            <a:ext cx="3799912" cy="923330"/>
          </a:xfrm>
          <a:prstGeom prst="rect">
            <a:avLst/>
          </a:prstGeom>
          <a:noFill/>
        </p:spPr>
        <p:txBody>
          <a:bodyPr wrap="square">
            <a:spAutoFit/>
          </a:bodyPr>
          <a:lstStyle/>
          <a:p>
            <a:r>
              <a:rPr lang="en-US" sz="900" b="0" strike="noStrike" spc="-1" dirty="0">
                <a:latin typeface="Calibri"/>
              </a:rPr>
              <a:t>Main KPI I am looking to improve here is </a:t>
            </a:r>
            <a:r>
              <a:rPr lang="en-US" sz="900" b="1" strike="noStrike" spc="-1" dirty="0">
                <a:latin typeface="Calibri"/>
              </a:rPr>
              <a:t>reduce time to build the forecast with same/better quality.</a:t>
            </a:r>
            <a:r>
              <a:rPr lang="en-US" sz="900" b="0" strike="noStrike" spc="-1" dirty="0">
                <a:latin typeface="Calibri"/>
              </a:rPr>
              <a:t> If earlier we used to take 1 day to build a plan, and if within 3 months we can reduce that to </a:t>
            </a:r>
            <a:r>
              <a:rPr lang="en-US" sz="900" spc="-1" dirty="0">
                <a:latin typeface="Calibri"/>
              </a:rPr>
              <a:t>4</a:t>
            </a:r>
            <a:r>
              <a:rPr lang="en-US" sz="900" b="0" strike="noStrike" spc="-1" dirty="0">
                <a:latin typeface="Calibri"/>
              </a:rPr>
              <a:t> hours/ 3 hours with quick wins I believe that would not only motivate the team but overall bring better stakeholder experience. I would keep the realistic expectation and don’t want to give everything AI to control all the output</a:t>
            </a:r>
            <a:endParaRPr lang="en-FI" dirty="0"/>
          </a:p>
        </p:txBody>
      </p:sp>
      <p:sp>
        <p:nvSpPr>
          <p:cNvPr id="6" name="TextBox 5">
            <a:extLst>
              <a:ext uri="{FF2B5EF4-FFF2-40B4-BE49-F238E27FC236}">
                <a16:creationId xmlns:a16="http://schemas.microsoft.com/office/drawing/2014/main" id="{0D765FF9-DD1E-6DA8-35D9-D621D5D37737}"/>
              </a:ext>
            </a:extLst>
          </p:cNvPr>
          <p:cNvSpPr txBox="1"/>
          <p:nvPr/>
        </p:nvSpPr>
        <p:spPr>
          <a:xfrm>
            <a:off x="4336002" y="1251680"/>
            <a:ext cx="2918318" cy="4108817"/>
          </a:xfrm>
          <a:prstGeom prst="rect">
            <a:avLst/>
          </a:prstGeom>
          <a:noFill/>
        </p:spPr>
        <p:txBody>
          <a:bodyPr wrap="square">
            <a:spAutoFit/>
          </a:bodyPr>
          <a:lstStyle/>
          <a:p>
            <a:r>
              <a:rPr lang="en-US" sz="900" b="1" strike="noStrike" spc="-1" dirty="0">
                <a:latin typeface="Calibri"/>
              </a:rPr>
              <a:t>Assess with an artefact, not an opinion.</a:t>
            </a:r>
            <a:r>
              <a:rPr lang="en-US" sz="900" b="0" strike="noStrike" spc="-1" dirty="0">
                <a:latin typeface="Calibri"/>
              </a:rPr>
              <a:t> Give all three the same task on this dataset — clean it, forecast one language, document the assumptions</a:t>
            </a:r>
          </a:p>
          <a:p>
            <a:endParaRPr lang="en-US" sz="900" spc="-1" dirty="0">
              <a:latin typeface="Calibri"/>
            </a:endParaRPr>
          </a:p>
          <a:p>
            <a:r>
              <a:rPr lang="en-US" sz="900" b="1" spc="-1" dirty="0">
                <a:latin typeface="Calibri"/>
              </a:rPr>
              <a:t>AI is a helping hand. </a:t>
            </a:r>
            <a:r>
              <a:rPr lang="en-US" sz="900" spc="-1" dirty="0">
                <a:latin typeface="Calibri"/>
              </a:rPr>
              <a:t>I would try to understand, how the team currently uses AI, is it prompt driven? Do they create a plan before execution? How do they validate the output of the AI?  With AI we need to understand when we need to give it full control and we need to take back the control. E.g. giving all the numbers to AI and asking for plan: All control is given to the AI whereas if you create a framework through which you can input any numbers and get a plan, this is where you have full control. Setting up best practices on AI usage is also will be my focus</a:t>
            </a:r>
          </a:p>
          <a:p>
            <a:endParaRPr lang="en-US" sz="900" spc="-1" dirty="0">
              <a:latin typeface="Calibri"/>
            </a:endParaRPr>
          </a:p>
          <a:p>
            <a:r>
              <a:rPr lang="en-US" sz="900" b="1" spc="-1" dirty="0">
                <a:latin typeface="Calibri"/>
              </a:rPr>
              <a:t>Strengths and Improvement areas. </a:t>
            </a:r>
            <a:r>
              <a:rPr lang="en-US" sz="900" spc="-1" dirty="0">
                <a:latin typeface="Calibri"/>
              </a:rPr>
              <a:t>Few team members may be more technical/business oriented therefore within the team I need to make sure that whenever we get a problem statement we split into multiple sub task and assign it is to the team members such that each sub task is relevant for each team member but at end we should all collaborate and share each other learning. Business oriented analyst can be shown how automation works and technical analyst can be shown how business decisions are taken</a:t>
            </a:r>
          </a:p>
          <a:p>
            <a:endParaRPr lang="en-US" sz="900" spc="-1" dirty="0">
              <a:latin typeface="Calibri"/>
            </a:endParaRPr>
          </a:p>
          <a:p>
            <a:endParaRPr lang="en-US" sz="900" spc="-1" dirty="0">
              <a:latin typeface="Calibri"/>
            </a:endParaRPr>
          </a:p>
          <a:p>
            <a:endParaRPr lang="en-FI" dirty="0"/>
          </a:p>
        </p:txBody>
      </p:sp>
      <p:sp>
        <p:nvSpPr>
          <p:cNvPr id="7" name="TextBox 13">
            <a:extLst>
              <a:ext uri="{FF2B5EF4-FFF2-40B4-BE49-F238E27FC236}">
                <a16:creationId xmlns:a16="http://schemas.microsoft.com/office/drawing/2014/main" id="{D84E120F-7577-04AC-0E6B-2599175757B3}"/>
              </a:ext>
            </a:extLst>
          </p:cNvPr>
          <p:cNvSpPr/>
          <p:nvPr/>
        </p:nvSpPr>
        <p:spPr>
          <a:xfrm>
            <a:off x="8113552" y="960120"/>
            <a:ext cx="2972791" cy="131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200" b="1" strike="noStrike" spc="58" dirty="0">
                <a:solidFill>
                  <a:srgbClr val="898781"/>
                </a:solidFill>
                <a:latin typeface="Calibri"/>
              </a:rPr>
              <a:t>2B · MEASURING SUCCESS</a:t>
            </a:r>
            <a:endParaRPr lang="en-US" sz="1200" b="0" strike="noStrike" spc="-1" dirty="0">
              <a:solidFill>
                <a:srgbClr val="000000"/>
              </a:solidFill>
              <a:latin typeface="Arial"/>
            </a:endParaRPr>
          </a:p>
        </p:txBody>
      </p:sp>
      <p:sp>
        <p:nvSpPr>
          <p:cNvPr id="3" name="TextBox 2">
            <a:extLst>
              <a:ext uri="{FF2B5EF4-FFF2-40B4-BE49-F238E27FC236}">
                <a16:creationId xmlns:a16="http://schemas.microsoft.com/office/drawing/2014/main" id="{AA8F524F-FA46-FFCD-CF12-149A3F854D9D}"/>
              </a:ext>
            </a:extLst>
          </p:cNvPr>
          <p:cNvSpPr txBox="1"/>
          <p:nvPr/>
        </p:nvSpPr>
        <p:spPr>
          <a:xfrm>
            <a:off x="7981410" y="1251680"/>
            <a:ext cx="2918318" cy="3554819"/>
          </a:xfrm>
          <a:prstGeom prst="rect">
            <a:avLst/>
          </a:prstGeom>
          <a:noFill/>
        </p:spPr>
        <p:txBody>
          <a:bodyPr wrap="square">
            <a:spAutoFit/>
          </a:bodyPr>
          <a:lstStyle/>
          <a:p>
            <a:r>
              <a:rPr lang="en-US" sz="900" b="1" strike="noStrike" spc="-1" dirty="0">
                <a:latin typeface="Calibri"/>
              </a:rPr>
              <a:t>To measure the transformation is on track?</a:t>
            </a:r>
          </a:p>
          <a:p>
            <a:endParaRPr lang="en-US" sz="900" b="1" spc="-1" dirty="0">
              <a:latin typeface="Calibri"/>
            </a:endParaRPr>
          </a:p>
          <a:p>
            <a:r>
              <a:rPr lang="en-US" sz="900" spc="-1" dirty="0">
                <a:latin typeface="Calibri"/>
              </a:rPr>
              <a:t>My KPIs would be</a:t>
            </a:r>
          </a:p>
          <a:p>
            <a:endParaRPr lang="en-US" sz="900" spc="-1" dirty="0">
              <a:latin typeface="Calibri"/>
            </a:endParaRPr>
          </a:p>
          <a:p>
            <a:pPr marL="342900" indent="-342900">
              <a:buFont typeface="+mj-lt"/>
              <a:buAutoNum type="arabicPeriod"/>
            </a:pPr>
            <a:r>
              <a:rPr lang="en-US" sz="900" spc="-1" dirty="0">
                <a:latin typeface="Calibri"/>
              </a:rPr>
              <a:t>Time required to produce the forecast</a:t>
            </a:r>
          </a:p>
          <a:p>
            <a:pPr marL="342900" indent="-342900">
              <a:buFont typeface="+mj-lt"/>
              <a:buAutoNum type="arabicPeriod"/>
            </a:pPr>
            <a:r>
              <a:rPr lang="en-US" sz="900" spc="-1" dirty="0">
                <a:latin typeface="Calibri"/>
              </a:rPr>
              <a:t>MAPE of the forecast</a:t>
            </a:r>
          </a:p>
          <a:p>
            <a:pPr marL="342900" indent="-342900">
              <a:buFont typeface="+mj-lt"/>
              <a:buAutoNum type="arabicPeriod"/>
            </a:pPr>
            <a:r>
              <a:rPr lang="en-US" sz="900" spc="-1" dirty="0">
                <a:latin typeface="Calibri"/>
              </a:rPr>
              <a:t>% of automation: Let’s say we have 10 components in forecast framework, how many of them are automated</a:t>
            </a:r>
          </a:p>
          <a:p>
            <a:pPr marL="342900" indent="-342900">
              <a:buFont typeface="+mj-lt"/>
              <a:buAutoNum type="arabicPeriod"/>
            </a:pPr>
            <a:r>
              <a:rPr lang="en-US" sz="900" spc="-1" dirty="0">
                <a:latin typeface="Calibri"/>
              </a:rPr>
              <a:t>Scenario MAPE:  Not only track the accuracy of our actual forecast but different scenario which we may have discussed</a:t>
            </a:r>
          </a:p>
          <a:p>
            <a:endParaRPr lang="en-US" sz="900" spc="-1" dirty="0">
              <a:latin typeface="Calibri"/>
            </a:endParaRPr>
          </a:p>
          <a:p>
            <a:r>
              <a:rPr lang="en-US" sz="900" spc="-1" dirty="0">
                <a:latin typeface="Calibri"/>
              </a:rPr>
              <a:t>In addition to KPIs, I would also look at</a:t>
            </a:r>
          </a:p>
          <a:p>
            <a:endParaRPr lang="en-US" sz="900" spc="-1" dirty="0">
              <a:latin typeface="Calibri"/>
            </a:endParaRPr>
          </a:p>
          <a:p>
            <a:pPr marL="228600" indent="-228600">
              <a:buAutoNum type="arabicPeriod"/>
            </a:pPr>
            <a:r>
              <a:rPr lang="en-US" sz="900" spc="-1" dirty="0">
                <a:latin typeface="Calibri"/>
              </a:rPr>
              <a:t>Do we have single of source truth?</a:t>
            </a:r>
          </a:p>
          <a:p>
            <a:pPr marL="228600" indent="-228600">
              <a:buAutoNum type="arabicPeriod"/>
            </a:pPr>
            <a:r>
              <a:rPr lang="en-US" sz="900" spc="-1" dirty="0">
                <a:latin typeface="Calibri"/>
              </a:rPr>
              <a:t>Do we have dashboard where we daily/weekly track accuracy of our plan</a:t>
            </a:r>
          </a:p>
          <a:p>
            <a:pPr marL="228600" indent="-228600">
              <a:buAutoNum type="arabicPeriod"/>
            </a:pPr>
            <a:r>
              <a:rPr lang="en-US" sz="900" spc="-1" dirty="0">
                <a:latin typeface="Calibri"/>
              </a:rPr>
              <a:t>Do we have standard process such as SQL queries by which we can fetch and check the data</a:t>
            </a:r>
          </a:p>
          <a:p>
            <a:pPr marL="228600" indent="-228600">
              <a:buAutoNum type="arabicPeriod"/>
            </a:pPr>
            <a:r>
              <a:rPr lang="en-US" sz="900" spc="-1" dirty="0">
                <a:latin typeface="Calibri"/>
              </a:rPr>
              <a:t>How does system react to big deviations, what stakeholder friction is creates</a:t>
            </a:r>
          </a:p>
          <a:p>
            <a:pPr marL="228600" indent="-228600">
              <a:buAutoNum type="arabicPeriod"/>
            </a:pPr>
            <a:endParaRPr lang="en-US" sz="900" spc="-1" dirty="0">
              <a:latin typeface="Calibri"/>
            </a:endParaRPr>
          </a:p>
          <a:p>
            <a:r>
              <a:rPr lang="en-US" sz="900" spc="-1" dirty="0">
                <a:latin typeface="Calibri"/>
              </a:rPr>
              <a:t>So it is not only about KPIs but also how we can streamline the process</a:t>
            </a:r>
          </a:p>
        </p:txBody>
      </p:sp>
      <p:sp>
        <p:nvSpPr>
          <p:cNvPr id="5" name="TextBox 25">
            <a:extLst>
              <a:ext uri="{FF2B5EF4-FFF2-40B4-BE49-F238E27FC236}">
                <a16:creationId xmlns:a16="http://schemas.microsoft.com/office/drawing/2014/main" id="{13C3C5C4-6DE1-5E02-5531-71A13F8A1A87}"/>
              </a:ext>
            </a:extLst>
          </p:cNvPr>
          <p:cNvSpPr/>
          <p:nvPr/>
        </p:nvSpPr>
        <p:spPr>
          <a:xfrm>
            <a:off x="9675360" y="6446520"/>
            <a:ext cx="2013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457200">
              <a:lnSpc>
                <a:spcPct val="100000"/>
              </a:lnSpc>
            </a:pPr>
            <a:r>
              <a:rPr lang="en-US" sz="800" b="1" strike="noStrike" spc="-1" dirty="0">
                <a:solidFill>
                  <a:srgbClr val="52514E"/>
                </a:solidFill>
                <a:latin typeface="Calibri" panose="020F0502020204030204" pitchFamily="34" charset="0"/>
                <a:cs typeface="Calibri" panose="020F0502020204030204" pitchFamily="34" charset="0"/>
              </a:rPr>
              <a:t>4 / 5</a:t>
            </a:r>
            <a:endParaRPr lang="en-US" sz="800" b="0" strike="noStrike" spc="-1" dirty="0">
              <a:solidFill>
                <a:srgbClr val="000000"/>
              </a:solidFill>
              <a:latin typeface="Calibri" panose="020F0502020204030204" pitchFamily="34" charset="0"/>
              <a:cs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a:extLst>
            <a:ext uri="{FF2B5EF4-FFF2-40B4-BE49-F238E27FC236}">
              <a16:creationId xmlns:a16="http://schemas.microsoft.com/office/drawing/2014/main" id="{58DFF8A2-930A-9DFD-A70D-090F1EC8DE1D}"/>
            </a:ext>
          </a:extLst>
        </p:cNvPr>
        <p:cNvGrpSpPr/>
        <p:nvPr/>
      </p:nvGrpSpPr>
      <p:grpSpPr>
        <a:xfrm>
          <a:off x="0" y="0"/>
          <a:ext cx="0" cy="0"/>
          <a:chOff x="0" y="0"/>
          <a:chExt cx="0" cy="0"/>
        </a:xfrm>
      </p:grpSpPr>
      <p:sp>
        <p:nvSpPr>
          <p:cNvPr id="194" name="TextBox 1">
            <a:extLst>
              <a:ext uri="{FF2B5EF4-FFF2-40B4-BE49-F238E27FC236}">
                <a16:creationId xmlns:a16="http://schemas.microsoft.com/office/drawing/2014/main" id="{0AF1013E-2C0F-138C-91CB-0799EBC4268B}"/>
              </a:ext>
            </a:extLst>
          </p:cNvPr>
          <p:cNvSpPr/>
          <p:nvPr/>
        </p:nvSpPr>
        <p:spPr>
          <a:xfrm>
            <a:off x="502920" y="320040"/>
            <a:ext cx="111855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800" b="1" strike="noStrike" spc="-1" dirty="0">
                <a:solidFill>
                  <a:srgbClr val="2A78D6"/>
                </a:solidFill>
                <a:latin typeface="Calibri"/>
              </a:rPr>
              <a:t>Appendix  </a:t>
            </a:r>
            <a:r>
              <a:rPr lang="en-US" sz="800" b="0" strike="noStrike" spc="-1" dirty="0">
                <a:solidFill>
                  <a:srgbClr val="898781"/>
                </a:solidFill>
                <a:latin typeface="Calibri"/>
              </a:rPr>
              <a:t>Manager, Workforce Management · Care Experience &amp; Strategy</a:t>
            </a:r>
            <a:endParaRPr lang="en-US" sz="800" b="0" strike="noStrike" spc="-1" dirty="0">
              <a:solidFill>
                <a:srgbClr val="000000"/>
              </a:solidFill>
              <a:latin typeface="Arial"/>
            </a:endParaRPr>
          </a:p>
        </p:txBody>
      </p:sp>
      <p:sp>
        <p:nvSpPr>
          <p:cNvPr id="195" name="TextBox 2">
            <a:extLst>
              <a:ext uri="{FF2B5EF4-FFF2-40B4-BE49-F238E27FC236}">
                <a16:creationId xmlns:a16="http://schemas.microsoft.com/office/drawing/2014/main" id="{D799BEC0-34E7-542A-C3D0-93C09C80D3F1}"/>
              </a:ext>
            </a:extLst>
          </p:cNvPr>
          <p:cNvSpPr/>
          <p:nvPr/>
        </p:nvSpPr>
        <p:spPr>
          <a:xfrm>
            <a:off x="502920" y="484560"/>
            <a:ext cx="111855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900" b="1" strike="noStrike" spc="-1" dirty="0">
                <a:solidFill>
                  <a:srgbClr val="0B0B0B"/>
                </a:solidFill>
                <a:latin typeface="Calibri"/>
              </a:rPr>
              <a:t>Appendix</a:t>
            </a:r>
            <a:endParaRPr lang="en-US" sz="1900" b="0" strike="noStrike" spc="-1" dirty="0">
              <a:solidFill>
                <a:srgbClr val="000000"/>
              </a:solidFill>
              <a:latin typeface="Arial"/>
            </a:endParaRPr>
          </a:p>
        </p:txBody>
      </p:sp>
      <p:cxnSp>
        <p:nvCxnSpPr>
          <p:cNvPr id="196" name="Connector 3">
            <a:extLst>
              <a:ext uri="{FF2B5EF4-FFF2-40B4-BE49-F238E27FC236}">
                <a16:creationId xmlns:a16="http://schemas.microsoft.com/office/drawing/2014/main" id="{471B3A40-7074-96C9-AC2F-D1017687C0D9}"/>
              </a:ext>
            </a:extLst>
          </p:cNvPr>
          <p:cNvCxnSpPr/>
          <p:nvPr/>
        </p:nvCxnSpPr>
        <p:spPr>
          <a:xfrm>
            <a:off x="502920" y="822960"/>
            <a:ext cx="11185920" cy="360"/>
          </a:xfrm>
          <a:prstGeom prst="straightConnector1">
            <a:avLst/>
          </a:prstGeom>
          <a:ln w="9525">
            <a:solidFill>
              <a:srgbClr val="E1E0D9"/>
            </a:solidFill>
            <a:round/>
          </a:ln>
        </p:spPr>
      </p:cxnSp>
      <p:cxnSp>
        <p:nvCxnSpPr>
          <p:cNvPr id="220" name="Connector 27">
            <a:extLst>
              <a:ext uri="{FF2B5EF4-FFF2-40B4-BE49-F238E27FC236}">
                <a16:creationId xmlns:a16="http://schemas.microsoft.com/office/drawing/2014/main" id="{8F07F4C6-4241-42BC-D96B-69438787A2B5}"/>
              </a:ext>
            </a:extLst>
          </p:cNvPr>
          <p:cNvCxnSpPr/>
          <p:nvPr/>
        </p:nvCxnSpPr>
        <p:spPr>
          <a:xfrm>
            <a:off x="502920" y="6400800"/>
            <a:ext cx="11185920" cy="360"/>
          </a:xfrm>
          <a:prstGeom prst="straightConnector1">
            <a:avLst/>
          </a:prstGeom>
          <a:ln w="9525">
            <a:solidFill>
              <a:srgbClr val="E1E0D9"/>
            </a:solidFill>
            <a:round/>
          </a:ln>
        </p:spPr>
      </p:cxnSp>
      <p:sp>
        <p:nvSpPr>
          <p:cNvPr id="221" name="TextBox 28">
            <a:extLst>
              <a:ext uri="{FF2B5EF4-FFF2-40B4-BE49-F238E27FC236}">
                <a16:creationId xmlns:a16="http://schemas.microsoft.com/office/drawing/2014/main" id="{0C332BED-D486-D7C3-172D-B827ACDABDD0}"/>
              </a:ext>
            </a:extLst>
          </p:cNvPr>
          <p:cNvSpPr/>
          <p:nvPr/>
        </p:nvSpPr>
        <p:spPr>
          <a:xfrm>
            <a:off x="502920" y="6446520"/>
            <a:ext cx="91720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750" b="0" strike="noStrike" spc="-1">
                <a:solidFill>
                  <a:srgbClr val="898781"/>
                </a:solidFill>
                <a:latin typeface="Calibri"/>
              </a:rPr>
              <a:t>GetYourGuide · WFM take-home submission · </a:t>
            </a:r>
            <a:endParaRPr lang="en-US" sz="750" b="0" strike="noStrike" spc="-1">
              <a:solidFill>
                <a:srgbClr val="000000"/>
              </a:solidFill>
              <a:latin typeface="Arial"/>
            </a:endParaRPr>
          </a:p>
        </p:txBody>
      </p:sp>
    </p:spTree>
    <p:extLst>
      <p:ext uri="{BB962C8B-B14F-4D97-AF65-F5344CB8AC3E}">
        <p14:creationId xmlns:p14="http://schemas.microsoft.com/office/powerpoint/2010/main" val="4229495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103" name="TextBox 1"/>
          <p:cNvSpPr/>
          <p:nvPr/>
        </p:nvSpPr>
        <p:spPr>
          <a:xfrm>
            <a:off x="502920" y="320040"/>
            <a:ext cx="111855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800" b="1" strike="noStrike" spc="-1" dirty="0">
                <a:solidFill>
                  <a:srgbClr val="2A78D6"/>
                </a:solidFill>
                <a:latin typeface="Calibri" panose="020F0502020204030204" pitchFamily="34" charset="0"/>
                <a:cs typeface="Calibri" panose="020F0502020204030204" pitchFamily="34" charset="0"/>
              </a:rPr>
              <a:t>Appendix A1</a:t>
            </a:r>
            <a:r>
              <a:rPr lang="en-US" sz="800" b="0" strike="noStrike" spc="-1" dirty="0">
                <a:solidFill>
                  <a:srgbClr val="898781"/>
                </a:solidFill>
                <a:latin typeface="Calibri" panose="020F0502020204030204" pitchFamily="34" charset="0"/>
                <a:cs typeface="Calibri" panose="020F0502020204030204" pitchFamily="34" charset="0"/>
              </a:rPr>
              <a:t>  Manager, Workforce Management · Care Experience &amp; Strategy</a:t>
            </a:r>
            <a:endParaRPr lang="en-US" sz="800" b="0" strike="noStrike" spc="-1" dirty="0">
              <a:solidFill>
                <a:srgbClr val="000000"/>
              </a:solidFill>
              <a:latin typeface="Calibri" panose="020F0502020204030204" pitchFamily="34" charset="0"/>
              <a:cs typeface="Calibri" panose="020F0502020204030204" pitchFamily="34" charset="0"/>
            </a:endParaRPr>
          </a:p>
        </p:txBody>
      </p:sp>
      <p:sp>
        <p:nvSpPr>
          <p:cNvPr id="104" name="TextBox 2"/>
          <p:cNvSpPr/>
          <p:nvPr/>
        </p:nvSpPr>
        <p:spPr>
          <a:xfrm>
            <a:off x="502920" y="484560"/>
            <a:ext cx="111855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900" b="1" strike="noStrike" spc="-1">
                <a:solidFill>
                  <a:srgbClr val="0B0B0B"/>
                </a:solidFill>
                <a:latin typeface="Calibri" panose="020F0502020204030204" pitchFamily="34" charset="0"/>
                <a:cs typeface="Calibri" panose="020F0502020204030204" pitchFamily="34" charset="0"/>
              </a:rPr>
              <a:t>Forecast, capacity and the range around it</a:t>
            </a:r>
            <a:endParaRPr lang="en-US" sz="1900" b="0" strike="noStrike" spc="-1">
              <a:solidFill>
                <a:srgbClr val="000000"/>
              </a:solidFill>
              <a:latin typeface="Calibri" panose="020F0502020204030204" pitchFamily="34" charset="0"/>
              <a:cs typeface="Calibri" panose="020F0502020204030204" pitchFamily="34" charset="0"/>
            </a:endParaRPr>
          </a:p>
        </p:txBody>
      </p:sp>
      <p:cxnSp>
        <p:nvCxnSpPr>
          <p:cNvPr id="105" name="Connector 3"/>
          <p:cNvCxnSpPr/>
          <p:nvPr/>
        </p:nvCxnSpPr>
        <p:spPr>
          <a:xfrm>
            <a:off x="502920" y="1336769"/>
            <a:ext cx="11185920" cy="360"/>
          </a:xfrm>
          <a:prstGeom prst="straightConnector1">
            <a:avLst/>
          </a:prstGeom>
          <a:ln w="9525">
            <a:solidFill>
              <a:srgbClr val="E1E0D9"/>
            </a:solidFill>
            <a:round/>
          </a:ln>
        </p:spPr>
      </p:cxnSp>
      <p:sp>
        <p:nvSpPr>
          <p:cNvPr id="106" name="TextBox 4"/>
          <p:cNvSpPr/>
          <p:nvPr/>
        </p:nvSpPr>
        <p:spPr>
          <a:xfrm>
            <a:off x="502920" y="1473929"/>
            <a:ext cx="49431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200" b="1" strike="noStrike" spc="58" dirty="0">
                <a:solidFill>
                  <a:srgbClr val="898781"/>
                </a:solidFill>
                <a:latin typeface="Calibri" panose="020F0502020204030204" pitchFamily="34" charset="0"/>
                <a:cs typeface="Calibri" panose="020F0502020204030204" pitchFamily="34" charset="0"/>
              </a:rPr>
              <a:t>VOLUME — SIX MONTHS OF ACTUALS, THREE OF FORECAST</a:t>
            </a:r>
            <a:endParaRPr lang="en-US" sz="1200" b="0" strike="noStrike" spc="-1" dirty="0">
              <a:solidFill>
                <a:srgbClr val="000000"/>
              </a:solidFill>
              <a:latin typeface="Calibri" panose="020F0502020204030204" pitchFamily="34" charset="0"/>
              <a:cs typeface="Calibri" panose="020F0502020204030204" pitchFamily="34" charset="0"/>
            </a:endParaRPr>
          </a:p>
        </p:txBody>
      </p:sp>
      <p:graphicFrame>
        <p:nvGraphicFramePr>
          <p:cNvPr id="107" name="Chart 5"/>
          <p:cNvGraphicFramePr/>
          <p:nvPr>
            <p:extLst>
              <p:ext uri="{D42A27DB-BD31-4B8C-83A1-F6EECF244321}">
                <p14:modId xmlns:p14="http://schemas.microsoft.com/office/powerpoint/2010/main" val="2228438007"/>
              </p:ext>
            </p:extLst>
          </p:nvPr>
        </p:nvGraphicFramePr>
        <p:xfrm>
          <a:off x="502920" y="1720889"/>
          <a:ext cx="3938451" cy="1354062"/>
        </p:xfrm>
        <a:graphic>
          <a:graphicData uri="http://schemas.openxmlformats.org/drawingml/2006/chart">
            <c:chart xmlns:c="http://schemas.openxmlformats.org/drawingml/2006/chart" xmlns:r="http://schemas.openxmlformats.org/officeDocument/2006/relationships" r:id="rId3"/>
          </a:graphicData>
        </a:graphic>
      </p:graphicFrame>
      <p:sp>
        <p:nvSpPr>
          <p:cNvPr id="108" name="TextBox 6"/>
          <p:cNvSpPr/>
          <p:nvPr/>
        </p:nvSpPr>
        <p:spPr>
          <a:xfrm>
            <a:off x="517069" y="3121219"/>
            <a:ext cx="3592815" cy="13732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900" b="1" strike="noStrike" spc="-1" dirty="0">
                <a:solidFill>
                  <a:srgbClr val="52514E"/>
                </a:solidFill>
                <a:latin typeface="Calibri" panose="020F0502020204030204" pitchFamily="34" charset="0"/>
                <a:cs typeface="Calibri" panose="020F0502020204030204" pitchFamily="34" charset="0"/>
              </a:rPr>
              <a:t>BASE</a:t>
            </a:r>
            <a:r>
              <a:rPr lang="en-US" sz="900" b="0" strike="noStrike" spc="-1" dirty="0">
                <a:solidFill>
                  <a:srgbClr val="52514E"/>
                </a:solidFill>
                <a:latin typeface="Calibri" panose="020F0502020204030204" pitchFamily="34" charset="0"/>
                <a:cs typeface="Calibri" panose="020F0502020204030204" pitchFamily="34" charset="0"/>
              </a:rPr>
              <a:t> holds Jul–Sep flat; </a:t>
            </a:r>
            <a:r>
              <a:rPr lang="en-US" sz="900" b="1" strike="noStrike" spc="-1" dirty="0">
                <a:solidFill>
                  <a:srgbClr val="52514E"/>
                </a:solidFill>
                <a:latin typeface="Calibri" panose="020F0502020204030204" pitchFamily="34" charset="0"/>
                <a:cs typeface="Calibri" panose="020F0502020204030204" pitchFamily="34" charset="0"/>
              </a:rPr>
              <a:t>HIGH</a:t>
            </a:r>
            <a:r>
              <a:rPr lang="en-US" sz="900" b="0" strike="noStrike" spc="-1" dirty="0">
                <a:solidFill>
                  <a:srgbClr val="52514E"/>
                </a:solidFill>
                <a:latin typeface="Calibri" panose="020F0502020204030204" pitchFamily="34" charset="0"/>
                <a:cs typeface="Calibri" panose="020F0502020204030204" pitchFamily="34" charset="0"/>
              </a:rPr>
              <a:t> carries English’s own 3-month trend forward.</a:t>
            </a:r>
            <a:endParaRPr lang="en-US" sz="900" b="0" strike="noStrike" spc="-1" dirty="0">
              <a:solidFill>
                <a:srgbClr val="000000"/>
              </a:solidFill>
              <a:latin typeface="Calibri" panose="020F0502020204030204" pitchFamily="34" charset="0"/>
              <a:cs typeface="Calibri" panose="020F0502020204030204" pitchFamily="34" charset="0"/>
            </a:endParaRPr>
          </a:p>
        </p:txBody>
      </p:sp>
      <p:sp>
        <p:nvSpPr>
          <p:cNvPr id="109" name="TextBox 7"/>
          <p:cNvSpPr/>
          <p:nvPr/>
        </p:nvSpPr>
        <p:spPr>
          <a:xfrm>
            <a:off x="517069" y="3612615"/>
            <a:ext cx="2387764" cy="9201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200" b="1" strike="noStrike" spc="58" dirty="0">
                <a:solidFill>
                  <a:srgbClr val="898781"/>
                </a:solidFill>
                <a:latin typeface="Calibri" panose="020F0502020204030204" pitchFamily="34" charset="0"/>
                <a:cs typeface="Calibri" panose="020F0502020204030204" pitchFamily="34" charset="0"/>
              </a:rPr>
              <a:t>ONLY ENGLISH IS GROWING</a:t>
            </a:r>
            <a:endParaRPr lang="en-US" sz="1200" b="0" strike="noStrike" spc="-1" dirty="0">
              <a:solidFill>
                <a:srgbClr val="000000"/>
              </a:solidFill>
              <a:latin typeface="Calibri" panose="020F0502020204030204" pitchFamily="34" charset="0"/>
              <a:cs typeface="Calibri" panose="020F0502020204030204" pitchFamily="34" charset="0"/>
            </a:endParaRPr>
          </a:p>
        </p:txBody>
      </p:sp>
      <p:sp>
        <p:nvSpPr>
          <p:cNvPr id="110" name="TextBox 8"/>
          <p:cNvSpPr/>
          <p:nvPr/>
        </p:nvSpPr>
        <p:spPr>
          <a:xfrm>
            <a:off x="590008" y="3945059"/>
            <a:ext cx="1833678" cy="38825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400" b="1" strike="noStrike" spc="-1" dirty="0">
                <a:solidFill>
                  <a:srgbClr val="0B0B0B"/>
                </a:solidFill>
                <a:latin typeface="Calibri" panose="020F0502020204030204" pitchFamily="34" charset="0"/>
                <a:cs typeface="Calibri" panose="020F0502020204030204" pitchFamily="34" charset="0"/>
              </a:rPr>
              <a:t>English</a:t>
            </a:r>
            <a:endParaRPr lang="en-US" sz="1400" b="0" strike="noStrike" spc="-1" dirty="0">
              <a:solidFill>
                <a:srgbClr val="000000"/>
              </a:solidFill>
              <a:latin typeface="Calibri" panose="020F0502020204030204" pitchFamily="34" charset="0"/>
              <a:cs typeface="Calibri" panose="020F0502020204030204" pitchFamily="34" charset="0"/>
            </a:endParaRPr>
          </a:p>
        </p:txBody>
      </p:sp>
      <p:sp>
        <p:nvSpPr>
          <p:cNvPr id="111" name="TextBox 9"/>
          <p:cNvSpPr/>
          <p:nvPr/>
        </p:nvSpPr>
        <p:spPr>
          <a:xfrm>
            <a:off x="590008" y="4107387"/>
            <a:ext cx="1159300" cy="20156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400" b="1" strike="noStrike" spc="-1" dirty="0">
                <a:solidFill>
                  <a:srgbClr val="2A78D6"/>
                </a:solidFill>
                <a:latin typeface="Calibri" panose="020F0502020204030204" pitchFamily="34" charset="0"/>
                <a:cs typeface="Calibri" panose="020F0502020204030204" pitchFamily="34" charset="0"/>
              </a:rPr>
              <a:t>+16,870/</a:t>
            </a:r>
            <a:r>
              <a:rPr lang="en-US" sz="1400" b="1" strike="noStrike" spc="-1" dirty="0" err="1">
                <a:solidFill>
                  <a:srgbClr val="2A78D6"/>
                </a:solidFill>
                <a:latin typeface="Calibri" panose="020F0502020204030204" pitchFamily="34" charset="0"/>
                <a:cs typeface="Calibri" panose="020F0502020204030204" pitchFamily="34" charset="0"/>
              </a:rPr>
              <a:t>mo</a:t>
            </a:r>
            <a:endParaRPr lang="en-US" sz="1400" b="0" strike="noStrike" spc="-1" dirty="0">
              <a:solidFill>
                <a:srgbClr val="000000"/>
              </a:solidFill>
              <a:latin typeface="Calibri" panose="020F0502020204030204" pitchFamily="34" charset="0"/>
              <a:cs typeface="Calibri" panose="020F0502020204030204" pitchFamily="34" charset="0"/>
            </a:endParaRPr>
          </a:p>
        </p:txBody>
      </p:sp>
      <p:graphicFrame>
        <p:nvGraphicFramePr>
          <p:cNvPr id="112" name="Chart 10"/>
          <p:cNvGraphicFramePr/>
          <p:nvPr>
            <p:extLst>
              <p:ext uri="{D42A27DB-BD31-4B8C-83A1-F6EECF244321}">
                <p14:modId xmlns:p14="http://schemas.microsoft.com/office/powerpoint/2010/main" val="3484098777"/>
              </p:ext>
            </p:extLst>
          </p:nvPr>
        </p:nvGraphicFramePr>
        <p:xfrm>
          <a:off x="380964" y="4306447"/>
          <a:ext cx="1307349" cy="826424"/>
        </p:xfrm>
        <a:graphic>
          <a:graphicData uri="http://schemas.openxmlformats.org/drawingml/2006/chart">
            <c:chart xmlns:c="http://schemas.openxmlformats.org/drawingml/2006/chart" xmlns:r="http://schemas.openxmlformats.org/officeDocument/2006/relationships" r:id="rId4"/>
          </a:graphicData>
        </a:graphic>
      </p:graphicFrame>
      <p:sp>
        <p:nvSpPr>
          <p:cNvPr id="113" name="TextBox 11"/>
          <p:cNvSpPr/>
          <p:nvPr/>
        </p:nvSpPr>
        <p:spPr>
          <a:xfrm>
            <a:off x="2070794" y="3945060"/>
            <a:ext cx="90072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400" b="1" strike="noStrike" spc="-1">
                <a:solidFill>
                  <a:srgbClr val="52514E"/>
                </a:solidFill>
                <a:latin typeface="Calibri" panose="020F0502020204030204" pitchFamily="34" charset="0"/>
                <a:cs typeface="Calibri" panose="020F0502020204030204" pitchFamily="34" charset="0"/>
              </a:rPr>
              <a:t>German</a:t>
            </a:r>
            <a:endParaRPr lang="en-US" sz="1400" b="0" strike="noStrike" spc="-1">
              <a:solidFill>
                <a:srgbClr val="000000"/>
              </a:solidFill>
              <a:latin typeface="Calibri" panose="020F0502020204030204" pitchFamily="34" charset="0"/>
              <a:cs typeface="Calibri" panose="020F0502020204030204" pitchFamily="34" charset="0"/>
            </a:endParaRPr>
          </a:p>
        </p:txBody>
      </p:sp>
      <p:sp>
        <p:nvSpPr>
          <p:cNvPr id="114" name="TextBox 12"/>
          <p:cNvSpPr/>
          <p:nvPr/>
        </p:nvSpPr>
        <p:spPr>
          <a:xfrm>
            <a:off x="2070794" y="4082220"/>
            <a:ext cx="90072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400" b="1" strike="noStrike" spc="-1" dirty="0">
                <a:solidFill>
                  <a:srgbClr val="52514E"/>
                </a:solidFill>
                <a:latin typeface="Calibri" panose="020F0502020204030204" pitchFamily="34" charset="0"/>
                <a:cs typeface="Calibri" panose="020F0502020204030204" pitchFamily="34" charset="0"/>
              </a:rPr>
              <a:t>−1,904/</a:t>
            </a:r>
            <a:r>
              <a:rPr lang="en-US" sz="1400" b="1" strike="noStrike" spc="-1" dirty="0" err="1">
                <a:solidFill>
                  <a:srgbClr val="52514E"/>
                </a:solidFill>
                <a:latin typeface="Calibri" panose="020F0502020204030204" pitchFamily="34" charset="0"/>
                <a:cs typeface="Calibri" panose="020F0502020204030204" pitchFamily="34" charset="0"/>
              </a:rPr>
              <a:t>mo</a:t>
            </a:r>
            <a:endParaRPr lang="en-US" sz="1400" b="0" strike="noStrike" spc="-1" dirty="0">
              <a:solidFill>
                <a:srgbClr val="000000"/>
              </a:solidFill>
              <a:latin typeface="Calibri" panose="020F0502020204030204" pitchFamily="34" charset="0"/>
              <a:cs typeface="Calibri" panose="020F0502020204030204" pitchFamily="34" charset="0"/>
            </a:endParaRPr>
          </a:p>
        </p:txBody>
      </p:sp>
      <p:graphicFrame>
        <p:nvGraphicFramePr>
          <p:cNvPr id="115" name="Chart 13"/>
          <p:cNvGraphicFramePr/>
          <p:nvPr>
            <p:extLst>
              <p:ext uri="{D42A27DB-BD31-4B8C-83A1-F6EECF244321}">
                <p14:modId xmlns:p14="http://schemas.microsoft.com/office/powerpoint/2010/main" val="1193831591"/>
              </p:ext>
            </p:extLst>
          </p:nvPr>
        </p:nvGraphicFramePr>
        <p:xfrm>
          <a:off x="1824564" y="4226857"/>
          <a:ext cx="1146950" cy="906013"/>
        </p:xfrm>
        <a:graphic>
          <a:graphicData uri="http://schemas.openxmlformats.org/drawingml/2006/chart">
            <c:chart xmlns:c="http://schemas.openxmlformats.org/drawingml/2006/chart" xmlns:r="http://schemas.openxmlformats.org/officeDocument/2006/relationships" r:id="rId5"/>
          </a:graphicData>
        </a:graphic>
      </p:graphicFrame>
      <p:sp>
        <p:nvSpPr>
          <p:cNvPr id="116" name="TextBox 14"/>
          <p:cNvSpPr/>
          <p:nvPr/>
        </p:nvSpPr>
        <p:spPr>
          <a:xfrm>
            <a:off x="3395179" y="3945060"/>
            <a:ext cx="90072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400" b="1" strike="noStrike" spc="-1">
                <a:solidFill>
                  <a:srgbClr val="52514E"/>
                </a:solidFill>
                <a:latin typeface="Calibri" panose="020F0502020204030204" pitchFamily="34" charset="0"/>
                <a:cs typeface="Calibri" panose="020F0502020204030204" pitchFamily="34" charset="0"/>
              </a:rPr>
              <a:t>Spanish</a:t>
            </a:r>
            <a:endParaRPr lang="en-US" sz="1400" b="0" strike="noStrike" spc="-1">
              <a:solidFill>
                <a:srgbClr val="000000"/>
              </a:solidFill>
              <a:latin typeface="Calibri" panose="020F0502020204030204" pitchFamily="34" charset="0"/>
              <a:cs typeface="Calibri" panose="020F0502020204030204" pitchFamily="34" charset="0"/>
            </a:endParaRPr>
          </a:p>
        </p:txBody>
      </p:sp>
      <p:sp>
        <p:nvSpPr>
          <p:cNvPr id="117" name="TextBox 15"/>
          <p:cNvSpPr/>
          <p:nvPr/>
        </p:nvSpPr>
        <p:spPr>
          <a:xfrm>
            <a:off x="3395179" y="4082220"/>
            <a:ext cx="90072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400" b="1" strike="noStrike" spc="-1">
                <a:solidFill>
                  <a:srgbClr val="52514E"/>
                </a:solidFill>
                <a:latin typeface="Calibri" panose="020F0502020204030204" pitchFamily="34" charset="0"/>
                <a:cs typeface="Calibri" panose="020F0502020204030204" pitchFamily="34" charset="0"/>
              </a:rPr>
              <a:t>+282/mo</a:t>
            </a:r>
            <a:endParaRPr lang="en-US" sz="1400" b="0" strike="noStrike" spc="-1">
              <a:solidFill>
                <a:srgbClr val="000000"/>
              </a:solidFill>
              <a:latin typeface="Calibri" panose="020F0502020204030204" pitchFamily="34" charset="0"/>
              <a:cs typeface="Calibri" panose="020F0502020204030204" pitchFamily="34" charset="0"/>
            </a:endParaRPr>
          </a:p>
        </p:txBody>
      </p:sp>
      <p:graphicFrame>
        <p:nvGraphicFramePr>
          <p:cNvPr id="118" name="Chart 16"/>
          <p:cNvGraphicFramePr/>
          <p:nvPr>
            <p:extLst>
              <p:ext uri="{D42A27DB-BD31-4B8C-83A1-F6EECF244321}">
                <p14:modId xmlns:p14="http://schemas.microsoft.com/office/powerpoint/2010/main" val="2710251906"/>
              </p:ext>
            </p:extLst>
          </p:nvPr>
        </p:nvGraphicFramePr>
        <p:xfrm>
          <a:off x="3054697" y="4208745"/>
          <a:ext cx="1240482" cy="924125"/>
        </p:xfrm>
        <a:graphic>
          <a:graphicData uri="http://schemas.openxmlformats.org/drawingml/2006/chart">
            <c:chart xmlns:c="http://schemas.openxmlformats.org/drawingml/2006/chart" xmlns:r="http://schemas.openxmlformats.org/officeDocument/2006/relationships" r:id="rId6"/>
          </a:graphicData>
        </a:graphic>
      </p:graphicFrame>
      <p:sp>
        <p:nvSpPr>
          <p:cNvPr id="119" name="TextBox 17"/>
          <p:cNvSpPr/>
          <p:nvPr/>
        </p:nvSpPr>
        <p:spPr>
          <a:xfrm>
            <a:off x="612720" y="5305079"/>
            <a:ext cx="90072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400" b="1" strike="noStrike" spc="-1">
                <a:solidFill>
                  <a:srgbClr val="52514E"/>
                </a:solidFill>
                <a:latin typeface="Calibri" panose="020F0502020204030204" pitchFamily="34" charset="0"/>
                <a:cs typeface="Calibri" panose="020F0502020204030204" pitchFamily="34" charset="0"/>
              </a:rPr>
              <a:t>French</a:t>
            </a:r>
            <a:endParaRPr lang="en-US" sz="1400" b="0" strike="noStrike" spc="-1">
              <a:solidFill>
                <a:srgbClr val="000000"/>
              </a:solidFill>
              <a:latin typeface="Calibri" panose="020F0502020204030204" pitchFamily="34" charset="0"/>
              <a:cs typeface="Calibri" panose="020F0502020204030204" pitchFamily="34" charset="0"/>
            </a:endParaRPr>
          </a:p>
        </p:txBody>
      </p:sp>
      <p:sp>
        <p:nvSpPr>
          <p:cNvPr id="120" name="TextBox 18"/>
          <p:cNvSpPr/>
          <p:nvPr/>
        </p:nvSpPr>
        <p:spPr>
          <a:xfrm>
            <a:off x="612720" y="5442239"/>
            <a:ext cx="90072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400" b="1" strike="noStrike" spc="-1">
                <a:solidFill>
                  <a:srgbClr val="52514E"/>
                </a:solidFill>
                <a:latin typeface="Calibri" panose="020F0502020204030204" pitchFamily="34" charset="0"/>
                <a:cs typeface="Calibri" panose="020F0502020204030204" pitchFamily="34" charset="0"/>
              </a:rPr>
              <a:t>−363/mo</a:t>
            </a:r>
            <a:endParaRPr lang="en-US" sz="1400" b="0" strike="noStrike" spc="-1">
              <a:solidFill>
                <a:srgbClr val="000000"/>
              </a:solidFill>
              <a:latin typeface="Calibri" panose="020F0502020204030204" pitchFamily="34" charset="0"/>
              <a:cs typeface="Calibri" panose="020F0502020204030204" pitchFamily="34" charset="0"/>
            </a:endParaRPr>
          </a:p>
        </p:txBody>
      </p:sp>
      <p:graphicFrame>
        <p:nvGraphicFramePr>
          <p:cNvPr id="121" name="Chart 19"/>
          <p:cNvGraphicFramePr/>
          <p:nvPr>
            <p:extLst>
              <p:ext uri="{D42A27DB-BD31-4B8C-83A1-F6EECF244321}">
                <p14:modId xmlns:p14="http://schemas.microsoft.com/office/powerpoint/2010/main" val="4294434215"/>
              </p:ext>
            </p:extLst>
          </p:nvPr>
        </p:nvGraphicFramePr>
        <p:xfrm>
          <a:off x="391647" y="5673041"/>
          <a:ext cx="1296665" cy="700399"/>
        </p:xfrm>
        <a:graphic>
          <a:graphicData uri="http://schemas.openxmlformats.org/drawingml/2006/chart">
            <c:chart xmlns:c="http://schemas.openxmlformats.org/drawingml/2006/chart" xmlns:r="http://schemas.openxmlformats.org/officeDocument/2006/relationships" r:id="rId7"/>
          </a:graphicData>
        </a:graphic>
      </p:graphicFrame>
      <p:sp>
        <p:nvSpPr>
          <p:cNvPr id="122" name="TextBox 20"/>
          <p:cNvSpPr/>
          <p:nvPr/>
        </p:nvSpPr>
        <p:spPr>
          <a:xfrm>
            <a:off x="2026970" y="5270181"/>
            <a:ext cx="90072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400" b="1" strike="noStrike" spc="-1">
                <a:solidFill>
                  <a:srgbClr val="52514E"/>
                </a:solidFill>
                <a:latin typeface="Calibri" panose="020F0502020204030204" pitchFamily="34" charset="0"/>
                <a:cs typeface="Calibri" panose="020F0502020204030204" pitchFamily="34" charset="0"/>
              </a:rPr>
              <a:t>Italian</a:t>
            </a:r>
            <a:endParaRPr lang="en-US" sz="1400" b="0" strike="noStrike" spc="-1">
              <a:solidFill>
                <a:srgbClr val="000000"/>
              </a:solidFill>
              <a:latin typeface="Calibri" panose="020F0502020204030204" pitchFamily="34" charset="0"/>
              <a:cs typeface="Calibri" panose="020F0502020204030204" pitchFamily="34" charset="0"/>
            </a:endParaRPr>
          </a:p>
        </p:txBody>
      </p:sp>
      <p:sp>
        <p:nvSpPr>
          <p:cNvPr id="123" name="TextBox 21"/>
          <p:cNvSpPr/>
          <p:nvPr/>
        </p:nvSpPr>
        <p:spPr>
          <a:xfrm>
            <a:off x="2026970" y="5407341"/>
            <a:ext cx="90072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400" b="1" strike="noStrike" spc="-1">
                <a:solidFill>
                  <a:srgbClr val="52514E"/>
                </a:solidFill>
                <a:latin typeface="Calibri" panose="020F0502020204030204" pitchFamily="34" charset="0"/>
                <a:cs typeface="Calibri" panose="020F0502020204030204" pitchFamily="34" charset="0"/>
              </a:rPr>
              <a:t>−474/mo</a:t>
            </a:r>
            <a:endParaRPr lang="en-US" sz="1400" b="0" strike="noStrike" spc="-1">
              <a:solidFill>
                <a:srgbClr val="000000"/>
              </a:solidFill>
              <a:latin typeface="Calibri" panose="020F0502020204030204" pitchFamily="34" charset="0"/>
              <a:cs typeface="Calibri" panose="020F0502020204030204" pitchFamily="34" charset="0"/>
            </a:endParaRPr>
          </a:p>
        </p:txBody>
      </p:sp>
      <p:graphicFrame>
        <p:nvGraphicFramePr>
          <p:cNvPr id="124" name="Chart 22"/>
          <p:cNvGraphicFramePr/>
          <p:nvPr>
            <p:extLst>
              <p:ext uri="{D42A27DB-BD31-4B8C-83A1-F6EECF244321}">
                <p14:modId xmlns:p14="http://schemas.microsoft.com/office/powerpoint/2010/main" val="3719029926"/>
              </p:ext>
            </p:extLst>
          </p:nvPr>
        </p:nvGraphicFramePr>
        <p:xfrm>
          <a:off x="1757002" y="5544500"/>
          <a:ext cx="1296664" cy="810581"/>
        </p:xfrm>
        <a:graphic>
          <a:graphicData uri="http://schemas.openxmlformats.org/drawingml/2006/chart">
            <c:chart xmlns:c="http://schemas.openxmlformats.org/drawingml/2006/chart" xmlns:r="http://schemas.openxmlformats.org/officeDocument/2006/relationships" r:id="rId8"/>
          </a:graphicData>
        </a:graphic>
      </p:graphicFrame>
      <p:sp>
        <p:nvSpPr>
          <p:cNvPr id="125" name="TextBox 23"/>
          <p:cNvSpPr/>
          <p:nvPr/>
        </p:nvSpPr>
        <p:spPr>
          <a:xfrm>
            <a:off x="5021607" y="1473929"/>
            <a:ext cx="2901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200" b="1" strike="noStrike" spc="58" dirty="0">
                <a:solidFill>
                  <a:srgbClr val="898781"/>
                </a:solidFill>
                <a:latin typeface="Calibri" panose="020F0502020204030204" pitchFamily="34" charset="0"/>
                <a:cs typeface="Calibri" panose="020F0502020204030204" pitchFamily="34" charset="0"/>
              </a:rPr>
              <a:t>CAPACITY BY LANGUAGE — BASE, PER MONTH</a:t>
            </a:r>
            <a:endParaRPr lang="en-US" sz="1200" b="0" strike="noStrike" spc="-1" dirty="0">
              <a:solidFill>
                <a:srgbClr val="000000"/>
              </a:solidFill>
              <a:latin typeface="Calibri" panose="020F0502020204030204" pitchFamily="34" charset="0"/>
              <a:cs typeface="Calibri" panose="020F0502020204030204" pitchFamily="34" charset="0"/>
            </a:endParaRPr>
          </a:p>
        </p:txBody>
      </p:sp>
      <p:graphicFrame>
        <p:nvGraphicFramePr>
          <p:cNvPr id="126" name="Table 24"/>
          <p:cNvGraphicFramePr/>
          <p:nvPr>
            <p:extLst>
              <p:ext uri="{D42A27DB-BD31-4B8C-83A1-F6EECF244321}">
                <p14:modId xmlns:p14="http://schemas.microsoft.com/office/powerpoint/2010/main" val="3758336546"/>
              </p:ext>
            </p:extLst>
          </p:nvPr>
        </p:nvGraphicFramePr>
        <p:xfrm>
          <a:off x="4823837" y="1711529"/>
          <a:ext cx="3767204" cy="1699509"/>
        </p:xfrm>
        <a:graphic>
          <a:graphicData uri="http://schemas.openxmlformats.org/drawingml/2006/table">
            <a:tbl>
              <a:tblPr/>
              <a:tblGrid>
                <a:gridCol w="609052">
                  <a:extLst>
                    <a:ext uri="{9D8B030D-6E8A-4147-A177-3AD203B41FA5}">
                      <a16:colId xmlns:a16="http://schemas.microsoft.com/office/drawing/2014/main" val="20000"/>
                    </a:ext>
                  </a:extLst>
                </a:gridCol>
                <a:gridCol w="662302">
                  <a:extLst>
                    <a:ext uri="{9D8B030D-6E8A-4147-A177-3AD203B41FA5}">
                      <a16:colId xmlns:a16="http://schemas.microsoft.com/office/drawing/2014/main" val="20001"/>
                    </a:ext>
                  </a:extLst>
                </a:gridCol>
                <a:gridCol w="510918">
                  <a:extLst>
                    <a:ext uri="{9D8B030D-6E8A-4147-A177-3AD203B41FA5}">
                      <a16:colId xmlns:a16="http://schemas.microsoft.com/office/drawing/2014/main" val="20002"/>
                    </a:ext>
                  </a:extLst>
                </a:gridCol>
                <a:gridCol w="567687">
                  <a:extLst>
                    <a:ext uri="{9D8B030D-6E8A-4147-A177-3AD203B41FA5}">
                      <a16:colId xmlns:a16="http://schemas.microsoft.com/office/drawing/2014/main" val="20003"/>
                    </a:ext>
                  </a:extLst>
                </a:gridCol>
                <a:gridCol w="586610">
                  <a:extLst>
                    <a:ext uri="{9D8B030D-6E8A-4147-A177-3AD203B41FA5}">
                      <a16:colId xmlns:a16="http://schemas.microsoft.com/office/drawing/2014/main" val="20004"/>
                    </a:ext>
                  </a:extLst>
                </a:gridCol>
                <a:gridCol w="830635">
                  <a:extLst>
                    <a:ext uri="{9D8B030D-6E8A-4147-A177-3AD203B41FA5}">
                      <a16:colId xmlns:a16="http://schemas.microsoft.com/office/drawing/2014/main" val="20005"/>
                    </a:ext>
                  </a:extLst>
                </a:gridCol>
              </a:tblGrid>
              <a:tr h="327909">
                <a:tc>
                  <a:txBody>
                    <a:bodyPr/>
                    <a:lstStyle/>
                    <a:p>
                      <a:pPr algn="ctr" defTabSz="457200">
                        <a:lnSpc>
                          <a:spcPct val="100000"/>
                        </a:lnSpc>
                      </a:pPr>
                      <a:r>
                        <a:rPr lang="en-US" sz="900" b="1" strike="noStrike" spc="-1" dirty="0">
                          <a:solidFill>
                            <a:schemeClr val="bg1"/>
                          </a:solidFill>
                          <a:latin typeface="Calibri"/>
                        </a:rPr>
                        <a:t>LANGUAGE</a:t>
                      </a:r>
                      <a:endParaRPr lang="en-US" sz="900" b="0" strike="noStrike" spc="-1" dirty="0">
                        <a:solidFill>
                          <a:schemeClr val="bg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tx2">
                        <a:lumMod val="40000"/>
                        <a:lumOff val="60000"/>
                      </a:schemeClr>
                    </a:solidFill>
                  </a:tcPr>
                </a:tc>
                <a:tc>
                  <a:txBody>
                    <a:bodyPr/>
                    <a:lstStyle/>
                    <a:p>
                      <a:pPr algn="ctr" defTabSz="457200">
                        <a:lnSpc>
                          <a:spcPct val="100000"/>
                        </a:lnSpc>
                      </a:pPr>
                      <a:r>
                        <a:rPr lang="en-US" sz="900" b="1" strike="noStrike" spc="-1" dirty="0">
                          <a:solidFill>
                            <a:schemeClr val="bg1"/>
                          </a:solidFill>
                          <a:latin typeface="Calibri"/>
                        </a:rPr>
                        <a:t>CONTACTS</a:t>
                      </a:r>
                      <a:endParaRPr lang="en-US" sz="900" b="0" strike="noStrike" spc="-1" dirty="0">
                        <a:solidFill>
                          <a:schemeClr val="bg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tx2">
                        <a:lumMod val="40000"/>
                        <a:lumOff val="60000"/>
                      </a:schemeClr>
                    </a:solidFill>
                  </a:tcPr>
                </a:tc>
                <a:tc>
                  <a:txBody>
                    <a:bodyPr/>
                    <a:lstStyle/>
                    <a:p>
                      <a:pPr algn="ctr" defTabSz="457200">
                        <a:lnSpc>
                          <a:spcPct val="100000"/>
                        </a:lnSpc>
                      </a:pPr>
                      <a:r>
                        <a:rPr lang="en-US" sz="900" b="1" strike="noStrike" spc="-1" dirty="0">
                          <a:solidFill>
                            <a:schemeClr val="bg1"/>
                          </a:solidFill>
                          <a:latin typeface="Calibri"/>
                        </a:rPr>
                        <a:t>PROD H</a:t>
                      </a:r>
                      <a:endParaRPr lang="en-US" sz="900" b="0" strike="noStrike" spc="-1" dirty="0">
                        <a:solidFill>
                          <a:schemeClr val="bg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tx2">
                        <a:lumMod val="40000"/>
                        <a:lumOff val="60000"/>
                      </a:schemeClr>
                    </a:solidFill>
                  </a:tcPr>
                </a:tc>
                <a:tc>
                  <a:txBody>
                    <a:bodyPr/>
                    <a:lstStyle/>
                    <a:p>
                      <a:pPr algn="ctr"/>
                      <a:r>
                        <a:rPr lang="en-US" sz="900" b="1" strike="noStrike" spc="-1" dirty="0">
                          <a:solidFill>
                            <a:schemeClr val="bg1"/>
                          </a:solidFill>
                          <a:latin typeface="Calibri"/>
                        </a:rPr>
                        <a:t>WKLD</a:t>
                      </a:r>
                      <a:r>
                        <a:rPr lang="en-US" sz="900" b="0" strike="noStrike" spc="-1" dirty="0">
                          <a:solidFill>
                            <a:schemeClr val="bg1"/>
                          </a:solidFill>
                          <a:latin typeface="Arial"/>
                        </a:rPr>
                        <a:t> </a:t>
                      </a:r>
                      <a:r>
                        <a:rPr lang="en-US" sz="900" b="1" strike="noStrike" spc="-1" dirty="0">
                          <a:solidFill>
                            <a:schemeClr val="bg1"/>
                          </a:solidFill>
                          <a:latin typeface="Calibri"/>
                        </a:rPr>
                        <a:t>FTE</a:t>
                      </a:r>
                      <a:endParaRPr lang="en-US" sz="900" b="0" strike="noStrike" spc="-1" dirty="0">
                        <a:solidFill>
                          <a:schemeClr val="bg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tx2">
                        <a:lumMod val="40000"/>
                        <a:lumOff val="60000"/>
                      </a:schemeClr>
                    </a:solidFill>
                  </a:tcPr>
                </a:tc>
                <a:tc>
                  <a:txBody>
                    <a:bodyPr/>
                    <a:lstStyle/>
                    <a:p>
                      <a:pPr algn="ctr"/>
                      <a:r>
                        <a:rPr lang="en-US" sz="900" b="1" strike="noStrike" spc="-1" dirty="0">
                          <a:solidFill>
                            <a:schemeClr val="bg1"/>
                          </a:solidFill>
                          <a:latin typeface="Calibri"/>
                        </a:rPr>
                        <a:t>SLA</a:t>
                      </a:r>
                      <a:r>
                        <a:rPr lang="en-US" sz="900" b="0" strike="noStrike" spc="-1" dirty="0">
                          <a:solidFill>
                            <a:schemeClr val="bg1"/>
                          </a:solidFill>
                          <a:latin typeface="Arial"/>
                        </a:rPr>
                        <a:t> </a:t>
                      </a:r>
                      <a:r>
                        <a:rPr lang="en-US" sz="900" b="1" strike="noStrike" spc="-1" dirty="0">
                          <a:solidFill>
                            <a:schemeClr val="bg1"/>
                          </a:solidFill>
                          <a:latin typeface="Calibri"/>
                        </a:rPr>
                        <a:t>FTE</a:t>
                      </a:r>
                      <a:endParaRPr lang="en-US" sz="900" b="0" strike="noStrike" spc="-1" dirty="0">
                        <a:solidFill>
                          <a:schemeClr val="bg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tx2">
                        <a:lumMod val="40000"/>
                        <a:lumOff val="60000"/>
                      </a:schemeClr>
                    </a:solidFill>
                  </a:tcPr>
                </a:tc>
                <a:tc>
                  <a:txBody>
                    <a:bodyPr/>
                    <a:lstStyle/>
                    <a:p>
                      <a:pPr algn="ctr"/>
                      <a:r>
                        <a:rPr lang="en-US" sz="900" b="1" strike="noStrike" spc="-1" dirty="0">
                          <a:solidFill>
                            <a:schemeClr val="bg1"/>
                          </a:solidFill>
                          <a:latin typeface="Calibri"/>
                        </a:rPr>
                        <a:t>PAID</a:t>
                      </a:r>
                      <a:r>
                        <a:rPr lang="en-US" sz="900" b="0" strike="noStrike" spc="-1" dirty="0">
                          <a:solidFill>
                            <a:schemeClr val="bg1"/>
                          </a:solidFill>
                          <a:latin typeface="Arial"/>
                        </a:rPr>
                        <a:t> </a:t>
                      </a:r>
                      <a:r>
                        <a:rPr lang="en-US" sz="900" b="1" strike="noStrike" spc="-1" dirty="0">
                          <a:solidFill>
                            <a:schemeClr val="bg1"/>
                          </a:solidFill>
                          <a:latin typeface="Calibri"/>
                        </a:rPr>
                        <a:t>FTE</a:t>
                      </a:r>
                      <a:endParaRPr lang="en-US" sz="900" b="0" strike="noStrike" spc="-1" dirty="0">
                        <a:solidFill>
                          <a:schemeClr val="bg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tx2">
                        <a:lumMod val="40000"/>
                        <a:lumOff val="60000"/>
                      </a:schemeClr>
                    </a:solidFill>
                  </a:tcPr>
                </a:tc>
                <a:extLst>
                  <a:ext uri="{0D108BD9-81ED-4DB2-BD59-A6C34878D82A}">
                    <a16:rowId xmlns:a16="http://schemas.microsoft.com/office/drawing/2014/main" val="10000"/>
                  </a:ext>
                </a:extLst>
              </a:tr>
              <a:tr h="227529">
                <a:tc>
                  <a:txBody>
                    <a:bodyPr/>
                    <a:lstStyle/>
                    <a:p>
                      <a:pPr algn="ctr" defTabSz="457200">
                        <a:lnSpc>
                          <a:spcPct val="100000"/>
                        </a:lnSpc>
                      </a:pPr>
                      <a:r>
                        <a:rPr lang="en-US" sz="900" b="1" strike="noStrike" spc="-1" dirty="0">
                          <a:solidFill>
                            <a:schemeClr val="tx1"/>
                          </a:solidFill>
                          <a:latin typeface="Calibri"/>
                        </a:rPr>
                        <a:t>English</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dirty="0">
                          <a:solidFill>
                            <a:schemeClr val="tx1"/>
                          </a:solidFill>
                          <a:latin typeface="Calibri"/>
                        </a:rPr>
                        <a:t>174,128</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dirty="0">
                          <a:solidFill>
                            <a:schemeClr val="tx1"/>
                          </a:solidFill>
                          <a:latin typeface="Calibri"/>
                        </a:rPr>
                        <a:t>40,298</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a:solidFill>
                            <a:schemeClr val="tx1"/>
                          </a:solidFill>
                          <a:latin typeface="Calibri"/>
                        </a:rPr>
                        <a:t>242</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dirty="0">
                          <a:solidFill>
                            <a:schemeClr val="tx1"/>
                          </a:solidFill>
                          <a:latin typeface="Calibri"/>
                        </a:rPr>
                        <a:t>284</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1" strike="noStrike" spc="-1" dirty="0">
                          <a:solidFill>
                            <a:schemeClr val="tx1"/>
                          </a:solidFill>
                          <a:latin typeface="Calibri"/>
                        </a:rPr>
                        <a:t>297</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1"/>
                  </a:ext>
                </a:extLst>
              </a:tr>
              <a:tr h="227529">
                <a:tc>
                  <a:txBody>
                    <a:bodyPr/>
                    <a:lstStyle/>
                    <a:p>
                      <a:pPr algn="ctr" defTabSz="457200">
                        <a:lnSpc>
                          <a:spcPct val="100000"/>
                        </a:lnSpc>
                      </a:pPr>
                      <a:r>
                        <a:rPr lang="en-US" sz="900" b="1" strike="noStrike" spc="-1">
                          <a:solidFill>
                            <a:schemeClr val="tx1"/>
                          </a:solidFill>
                          <a:latin typeface="Calibri"/>
                        </a:rPr>
                        <a:t>German</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dirty="0">
                          <a:solidFill>
                            <a:schemeClr val="tx1"/>
                          </a:solidFill>
                          <a:latin typeface="Calibri"/>
                        </a:rPr>
                        <a:t>36,135</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dirty="0">
                          <a:solidFill>
                            <a:schemeClr val="tx1"/>
                          </a:solidFill>
                          <a:latin typeface="Calibri"/>
                        </a:rPr>
                        <a:t>8,220</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dirty="0">
                          <a:solidFill>
                            <a:schemeClr val="tx1"/>
                          </a:solidFill>
                          <a:latin typeface="Calibri"/>
                        </a:rPr>
                        <a:t>36</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dirty="0">
                          <a:solidFill>
                            <a:schemeClr val="tx1"/>
                          </a:solidFill>
                          <a:latin typeface="Calibri"/>
                        </a:rPr>
                        <a:t>58</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1" strike="noStrike" spc="-1">
                          <a:solidFill>
                            <a:schemeClr val="tx1"/>
                          </a:solidFill>
                          <a:latin typeface="Calibri"/>
                        </a:rPr>
                        <a:t>61</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2"/>
                  </a:ext>
                </a:extLst>
              </a:tr>
              <a:tr h="227529">
                <a:tc>
                  <a:txBody>
                    <a:bodyPr/>
                    <a:lstStyle/>
                    <a:p>
                      <a:pPr algn="ctr" defTabSz="457200">
                        <a:lnSpc>
                          <a:spcPct val="100000"/>
                        </a:lnSpc>
                      </a:pPr>
                      <a:r>
                        <a:rPr lang="en-US" sz="900" b="1" strike="noStrike" spc="-1">
                          <a:solidFill>
                            <a:schemeClr val="tx1"/>
                          </a:solidFill>
                          <a:latin typeface="Calibri"/>
                        </a:rPr>
                        <a:t>Spanish</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a:solidFill>
                            <a:schemeClr val="tx1"/>
                          </a:solidFill>
                          <a:latin typeface="Calibri"/>
                        </a:rPr>
                        <a:t>32,879</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dirty="0">
                          <a:solidFill>
                            <a:schemeClr val="tx1"/>
                          </a:solidFill>
                          <a:latin typeface="Calibri"/>
                        </a:rPr>
                        <a:t>7,133</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dirty="0">
                          <a:solidFill>
                            <a:schemeClr val="tx1"/>
                          </a:solidFill>
                          <a:latin typeface="Calibri"/>
                        </a:rPr>
                        <a:t>31</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dirty="0">
                          <a:solidFill>
                            <a:schemeClr val="tx1"/>
                          </a:solidFill>
                          <a:latin typeface="Calibri"/>
                        </a:rPr>
                        <a:t>50</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1" strike="noStrike" spc="-1" dirty="0">
                          <a:solidFill>
                            <a:schemeClr val="tx1"/>
                          </a:solidFill>
                          <a:latin typeface="Calibri"/>
                        </a:rPr>
                        <a:t>53</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3"/>
                  </a:ext>
                </a:extLst>
              </a:tr>
              <a:tr h="227529">
                <a:tc>
                  <a:txBody>
                    <a:bodyPr/>
                    <a:lstStyle/>
                    <a:p>
                      <a:pPr algn="ctr" defTabSz="457200">
                        <a:lnSpc>
                          <a:spcPct val="100000"/>
                        </a:lnSpc>
                      </a:pPr>
                      <a:r>
                        <a:rPr lang="en-US" sz="900" b="1" strike="noStrike" spc="-1">
                          <a:solidFill>
                            <a:schemeClr val="tx1"/>
                          </a:solidFill>
                          <a:latin typeface="Calibri"/>
                        </a:rPr>
                        <a:t>French</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a:solidFill>
                            <a:schemeClr val="tx1"/>
                          </a:solidFill>
                          <a:latin typeface="Calibri"/>
                        </a:rPr>
                        <a:t>26,662</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a:solidFill>
                            <a:schemeClr val="tx1"/>
                          </a:solidFill>
                          <a:latin typeface="Calibri"/>
                        </a:rPr>
                        <a:t>6,773</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dirty="0">
                          <a:solidFill>
                            <a:schemeClr val="tx1"/>
                          </a:solidFill>
                          <a:latin typeface="Calibri"/>
                        </a:rPr>
                        <a:t>26</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a:solidFill>
                            <a:schemeClr val="tx1"/>
                          </a:solidFill>
                          <a:latin typeface="Calibri"/>
                        </a:rPr>
                        <a:t>48</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1" strike="noStrike" spc="-1" dirty="0">
                          <a:solidFill>
                            <a:schemeClr val="tx1"/>
                          </a:solidFill>
                          <a:latin typeface="Calibri"/>
                        </a:rPr>
                        <a:t>50</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4"/>
                  </a:ext>
                </a:extLst>
              </a:tr>
              <a:tr h="227529">
                <a:tc>
                  <a:txBody>
                    <a:bodyPr/>
                    <a:lstStyle/>
                    <a:p>
                      <a:pPr algn="ctr" defTabSz="457200">
                        <a:lnSpc>
                          <a:spcPct val="100000"/>
                        </a:lnSpc>
                      </a:pPr>
                      <a:r>
                        <a:rPr lang="en-US" sz="900" b="1" strike="noStrike" spc="-1">
                          <a:solidFill>
                            <a:schemeClr val="tx1"/>
                          </a:solidFill>
                          <a:latin typeface="Calibri"/>
                        </a:rPr>
                        <a:t>Italian</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a:solidFill>
                            <a:schemeClr val="tx1"/>
                          </a:solidFill>
                          <a:latin typeface="Calibri"/>
                        </a:rPr>
                        <a:t>24,066</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a:solidFill>
                            <a:schemeClr val="tx1"/>
                          </a:solidFill>
                          <a:latin typeface="Calibri"/>
                        </a:rPr>
                        <a:t>6,402</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a:solidFill>
                            <a:schemeClr val="tx1"/>
                          </a:solidFill>
                          <a:latin typeface="Calibri"/>
                        </a:rPr>
                        <a:t>25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dirty="0">
                          <a:solidFill>
                            <a:schemeClr val="tx1"/>
                          </a:solidFill>
                          <a:latin typeface="Calibri"/>
                        </a:rPr>
                        <a:t>45</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1" strike="noStrike" spc="-1" dirty="0">
                          <a:solidFill>
                            <a:schemeClr val="tx1"/>
                          </a:solidFill>
                          <a:latin typeface="Calibri"/>
                        </a:rPr>
                        <a:t>47</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5"/>
                  </a:ext>
                </a:extLst>
              </a:tr>
              <a:tr h="227529">
                <a:tc>
                  <a:txBody>
                    <a:bodyPr/>
                    <a:lstStyle/>
                    <a:p>
                      <a:pPr algn="ctr" defTabSz="457200">
                        <a:lnSpc>
                          <a:spcPct val="100000"/>
                        </a:lnSpc>
                      </a:pPr>
                      <a:r>
                        <a:rPr lang="en-US" sz="900" b="1" strike="noStrike" spc="-1" dirty="0">
                          <a:solidFill>
                            <a:schemeClr val="tx1"/>
                          </a:solidFill>
                          <a:latin typeface="Calibri"/>
                        </a:rPr>
                        <a:t>Total</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1" strike="noStrike" spc="-1">
                          <a:solidFill>
                            <a:schemeClr val="tx1"/>
                          </a:solidFill>
                          <a:latin typeface="Calibri"/>
                        </a:rPr>
                        <a:t>293,869</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1" strike="noStrike" spc="-1">
                          <a:solidFill>
                            <a:schemeClr val="tx1"/>
                          </a:solidFill>
                          <a:latin typeface="Calibri"/>
                        </a:rPr>
                        <a:t>68,827</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1" strike="noStrike" spc="-1">
                          <a:solidFill>
                            <a:schemeClr val="tx1"/>
                          </a:solidFill>
                          <a:latin typeface="Calibri"/>
                        </a:rPr>
                        <a:t>360</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1" strike="noStrike" spc="-1">
                          <a:solidFill>
                            <a:schemeClr val="tx1"/>
                          </a:solidFill>
                          <a:latin typeface="Calibri"/>
                        </a:rPr>
                        <a:t>484</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1" strike="noStrike" spc="-1" dirty="0">
                          <a:solidFill>
                            <a:schemeClr val="tx1"/>
                          </a:solidFill>
                          <a:latin typeface="Calibri"/>
                        </a:rPr>
                        <a:t>508</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6"/>
                  </a:ext>
                </a:extLst>
              </a:tr>
            </a:tbl>
          </a:graphicData>
        </a:graphic>
      </p:graphicFrame>
      <p:sp>
        <p:nvSpPr>
          <p:cNvPr id="128" name="TextBox 26"/>
          <p:cNvSpPr/>
          <p:nvPr/>
        </p:nvSpPr>
        <p:spPr>
          <a:xfrm>
            <a:off x="4995176" y="3671397"/>
            <a:ext cx="2901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200" b="1" strike="noStrike" spc="58" dirty="0">
                <a:solidFill>
                  <a:srgbClr val="898781"/>
                </a:solidFill>
                <a:latin typeface="Calibri" panose="020F0502020204030204" pitchFamily="34" charset="0"/>
                <a:cs typeface="Calibri" panose="020F0502020204030204" pitchFamily="34" charset="0"/>
              </a:rPr>
              <a:t>BY BPO — VENDOR SPLIT</a:t>
            </a:r>
            <a:endParaRPr lang="en-US" sz="1200" b="0" strike="noStrike" spc="-1" dirty="0">
              <a:solidFill>
                <a:srgbClr val="000000"/>
              </a:solidFill>
              <a:latin typeface="Calibri" panose="020F0502020204030204" pitchFamily="34" charset="0"/>
              <a:cs typeface="Calibri" panose="020F0502020204030204" pitchFamily="34" charset="0"/>
            </a:endParaRPr>
          </a:p>
        </p:txBody>
      </p:sp>
      <p:graphicFrame>
        <p:nvGraphicFramePr>
          <p:cNvPr id="129" name="Table 27"/>
          <p:cNvGraphicFramePr/>
          <p:nvPr>
            <p:extLst>
              <p:ext uri="{D42A27DB-BD31-4B8C-83A1-F6EECF244321}">
                <p14:modId xmlns:p14="http://schemas.microsoft.com/office/powerpoint/2010/main" val="3990604435"/>
              </p:ext>
            </p:extLst>
          </p:nvPr>
        </p:nvGraphicFramePr>
        <p:xfrm>
          <a:off x="4833394" y="3912807"/>
          <a:ext cx="2900880" cy="914400"/>
        </p:xfrm>
        <a:graphic>
          <a:graphicData uri="http://schemas.openxmlformats.org/drawingml/2006/table">
            <a:tbl>
              <a:tblPr/>
              <a:tblGrid>
                <a:gridCol w="686880">
                  <a:extLst>
                    <a:ext uri="{9D8B030D-6E8A-4147-A177-3AD203B41FA5}">
                      <a16:colId xmlns:a16="http://schemas.microsoft.com/office/drawing/2014/main" val="20000"/>
                    </a:ext>
                  </a:extLst>
                </a:gridCol>
                <a:gridCol w="992520">
                  <a:extLst>
                    <a:ext uri="{9D8B030D-6E8A-4147-A177-3AD203B41FA5}">
                      <a16:colId xmlns:a16="http://schemas.microsoft.com/office/drawing/2014/main" val="20001"/>
                    </a:ext>
                  </a:extLst>
                </a:gridCol>
                <a:gridCol w="534240">
                  <a:extLst>
                    <a:ext uri="{9D8B030D-6E8A-4147-A177-3AD203B41FA5}">
                      <a16:colId xmlns:a16="http://schemas.microsoft.com/office/drawing/2014/main" val="20002"/>
                    </a:ext>
                  </a:extLst>
                </a:gridCol>
                <a:gridCol w="687240">
                  <a:extLst>
                    <a:ext uri="{9D8B030D-6E8A-4147-A177-3AD203B41FA5}">
                      <a16:colId xmlns:a16="http://schemas.microsoft.com/office/drawing/2014/main" val="20003"/>
                    </a:ext>
                  </a:extLst>
                </a:gridCol>
              </a:tblGrid>
              <a:tr h="173520">
                <a:tc>
                  <a:txBody>
                    <a:bodyPr/>
                    <a:lstStyle/>
                    <a:p>
                      <a:pPr algn="ctr" defTabSz="457200">
                        <a:lnSpc>
                          <a:spcPct val="100000"/>
                        </a:lnSpc>
                      </a:pPr>
                      <a:r>
                        <a:rPr lang="en-US" sz="900" b="1" strike="noStrike" spc="-1" dirty="0">
                          <a:solidFill>
                            <a:schemeClr val="bg1"/>
                          </a:solidFill>
                          <a:latin typeface="Calibri"/>
                        </a:rPr>
                        <a:t>BPO</a:t>
                      </a:r>
                      <a:endParaRPr lang="en-US" sz="900" b="0" strike="noStrike" spc="-1" dirty="0">
                        <a:solidFill>
                          <a:schemeClr val="bg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tx2">
                        <a:lumMod val="40000"/>
                        <a:lumOff val="60000"/>
                      </a:schemeClr>
                    </a:solidFill>
                  </a:tcPr>
                </a:tc>
                <a:tc>
                  <a:txBody>
                    <a:bodyPr/>
                    <a:lstStyle/>
                    <a:p>
                      <a:pPr algn="ctr" defTabSz="457200">
                        <a:lnSpc>
                          <a:spcPct val="100000"/>
                        </a:lnSpc>
                      </a:pPr>
                      <a:r>
                        <a:rPr lang="en-US" sz="900" b="1" strike="noStrike" spc="-1" dirty="0">
                          <a:solidFill>
                            <a:schemeClr val="bg1"/>
                          </a:solidFill>
                          <a:latin typeface="Calibri"/>
                        </a:rPr>
                        <a:t>LANGUAGES</a:t>
                      </a:r>
                      <a:endParaRPr lang="en-US" sz="900" b="0" strike="noStrike" spc="-1" dirty="0">
                        <a:solidFill>
                          <a:schemeClr val="bg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tx2">
                        <a:lumMod val="40000"/>
                        <a:lumOff val="60000"/>
                      </a:schemeClr>
                    </a:solidFill>
                  </a:tcPr>
                </a:tc>
                <a:tc>
                  <a:txBody>
                    <a:bodyPr/>
                    <a:lstStyle/>
                    <a:p>
                      <a:pPr algn="ctr" defTabSz="457200">
                        <a:lnSpc>
                          <a:spcPct val="100000"/>
                        </a:lnSpc>
                      </a:pPr>
                      <a:r>
                        <a:rPr lang="en-US" sz="900" b="1" strike="noStrike" spc="-1" dirty="0">
                          <a:solidFill>
                            <a:schemeClr val="bg1"/>
                          </a:solidFill>
                          <a:latin typeface="Calibri"/>
                        </a:rPr>
                        <a:t>FTE</a:t>
                      </a:r>
                      <a:endParaRPr lang="en-US" sz="900" b="0" strike="noStrike" spc="-1" dirty="0">
                        <a:solidFill>
                          <a:schemeClr val="bg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tx2">
                        <a:lumMod val="40000"/>
                        <a:lumOff val="60000"/>
                      </a:schemeClr>
                    </a:solidFill>
                  </a:tcPr>
                </a:tc>
                <a:tc>
                  <a:txBody>
                    <a:bodyPr/>
                    <a:lstStyle/>
                    <a:p>
                      <a:pPr algn="ctr" defTabSz="457200">
                        <a:lnSpc>
                          <a:spcPct val="100000"/>
                        </a:lnSpc>
                      </a:pPr>
                      <a:r>
                        <a:rPr lang="en-US" sz="900" b="1" strike="noStrike" spc="-1" dirty="0">
                          <a:solidFill>
                            <a:schemeClr val="bg1"/>
                          </a:solidFill>
                          <a:latin typeface="Calibri"/>
                        </a:rPr>
                        <a:t>PROD H</a:t>
                      </a:r>
                      <a:endParaRPr lang="en-US" sz="900" b="0" strike="noStrike" spc="-1" dirty="0">
                        <a:solidFill>
                          <a:schemeClr val="bg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tx2">
                        <a:lumMod val="40000"/>
                        <a:lumOff val="60000"/>
                      </a:schemeClr>
                    </a:solidFill>
                  </a:tcPr>
                </a:tc>
                <a:extLst>
                  <a:ext uri="{0D108BD9-81ED-4DB2-BD59-A6C34878D82A}">
                    <a16:rowId xmlns:a16="http://schemas.microsoft.com/office/drawing/2014/main" val="10000"/>
                  </a:ext>
                </a:extLst>
              </a:tr>
              <a:tr h="180000">
                <a:tc>
                  <a:txBody>
                    <a:bodyPr/>
                    <a:lstStyle/>
                    <a:p>
                      <a:pPr algn="ctr" defTabSz="457200">
                        <a:lnSpc>
                          <a:spcPct val="100000"/>
                        </a:lnSpc>
                      </a:pPr>
                      <a:r>
                        <a:rPr lang="en-US" sz="900" b="1" strike="noStrike" spc="-1" dirty="0">
                          <a:solidFill>
                            <a:schemeClr val="tx1"/>
                          </a:solidFill>
                          <a:latin typeface="Calibri"/>
                        </a:rPr>
                        <a:t>BPO 3</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dirty="0">
                          <a:solidFill>
                            <a:schemeClr val="tx1"/>
                          </a:solidFill>
                          <a:latin typeface="Calibri"/>
                        </a:rPr>
                        <a:t>DE IT ES FR</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1" strike="noStrike" spc="-1">
                          <a:solidFill>
                            <a:schemeClr val="tx1"/>
                          </a:solidFill>
                          <a:latin typeface="Calibri"/>
                        </a:rPr>
                        <a:t>201</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a:solidFill>
                            <a:schemeClr val="tx1"/>
                          </a:solidFill>
                          <a:latin typeface="Calibri"/>
                        </a:rPr>
                        <a:t>28,529</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1"/>
                  </a:ext>
                </a:extLst>
              </a:tr>
              <a:tr h="180000">
                <a:tc>
                  <a:txBody>
                    <a:bodyPr/>
                    <a:lstStyle/>
                    <a:p>
                      <a:pPr algn="ctr" defTabSz="457200">
                        <a:lnSpc>
                          <a:spcPct val="100000"/>
                        </a:lnSpc>
                      </a:pPr>
                      <a:r>
                        <a:rPr lang="en-US" sz="900" b="1" strike="noStrike" spc="-1">
                          <a:solidFill>
                            <a:schemeClr val="tx1"/>
                          </a:solidFill>
                          <a:latin typeface="Calibri"/>
                        </a:rPr>
                        <a:t>BPO 1</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dirty="0">
                          <a:solidFill>
                            <a:schemeClr val="tx1"/>
                          </a:solidFill>
                          <a:latin typeface="Calibri"/>
                        </a:rPr>
                        <a:t>English 50%</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1" strike="noStrike" spc="-1" dirty="0">
                          <a:solidFill>
                            <a:schemeClr val="tx1"/>
                          </a:solidFill>
                          <a:latin typeface="Calibri"/>
                        </a:rPr>
                        <a:t>142</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dirty="0">
                          <a:solidFill>
                            <a:schemeClr val="tx1"/>
                          </a:solidFill>
                          <a:latin typeface="Calibri"/>
                        </a:rPr>
                        <a:t>20,149</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2"/>
                  </a:ext>
                </a:extLst>
              </a:tr>
              <a:tr h="180000">
                <a:tc>
                  <a:txBody>
                    <a:bodyPr/>
                    <a:lstStyle/>
                    <a:p>
                      <a:pPr algn="ctr" defTabSz="457200">
                        <a:lnSpc>
                          <a:spcPct val="100000"/>
                        </a:lnSpc>
                      </a:pPr>
                      <a:r>
                        <a:rPr lang="en-US" sz="900" b="1" strike="noStrike" spc="-1">
                          <a:solidFill>
                            <a:schemeClr val="tx1"/>
                          </a:solidFill>
                          <a:latin typeface="Calibri"/>
                        </a:rPr>
                        <a:t>BPO 2</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dirty="0">
                          <a:solidFill>
                            <a:schemeClr val="tx1"/>
                          </a:solidFill>
                          <a:latin typeface="Calibri"/>
                        </a:rPr>
                        <a:t>English 50%</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1" strike="noStrike" spc="-1">
                          <a:solidFill>
                            <a:schemeClr val="tx1"/>
                          </a:solidFill>
                          <a:latin typeface="Calibri"/>
                        </a:rPr>
                        <a:t>142</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dirty="0">
                          <a:solidFill>
                            <a:schemeClr val="tx1"/>
                          </a:solidFill>
                          <a:latin typeface="Calibri"/>
                        </a:rPr>
                        <a:t>20,149</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3"/>
                  </a:ext>
                </a:extLst>
              </a:tr>
            </a:tbl>
          </a:graphicData>
        </a:graphic>
      </p:graphicFrame>
      <p:sp>
        <p:nvSpPr>
          <p:cNvPr id="130" name="TextBox 28"/>
          <p:cNvSpPr/>
          <p:nvPr/>
        </p:nvSpPr>
        <p:spPr>
          <a:xfrm>
            <a:off x="4833393" y="4898600"/>
            <a:ext cx="3602683" cy="33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900" b="0" strike="noStrike" spc="-1" dirty="0">
                <a:latin typeface="Calibri" panose="020F0502020204030204" pitchFamily="34" charset="0"/>
                <a:cs typeface="Calibri" panose="020F0502020204030204" pitchFamily="34" charset="0"/>
              </a:rPr>
              <a:t>The 50/50 English split is </a:t>
            </a:r>
            <a:r>
              <a:rPr lang="en-US" sz="900" b="0" strike="noStrike" spc="-1" dirty="0">
                <a:solidFill>
                  <a:srgbClr val="FF0000"/>
                </a:solidFill>
                <a:latin typeface="Calibri" panose="020F0502020204030204" pitchFamily="34" charset="0"/>
                <a:cs typeface="Calibri" panose="020F0502020204030204" pitchFamily="34" charset="0"/>
              </a:rPr>
              <a:t>assumed</a:t>
            </a:r>
            <a:r>
              <a:rPr lang="en-US" sz="900" b="0" strike="noStrike" spc="-1" dirty="0">
                <a:latin typeface="Calibri" panose="020F0502020204030204" pitchFamily="34" charset="0"/>
                <a:cs typeface="Calibri" panose="020F0502020204030204" pitchFamily="34" charset="0"/>
              </a:rPr>
              <a:t>, English AHT is the BPO1/BPO2 blend either way, so total capacity is split-agnostic, but the per-vendor bill above isn’t.</a:t>
            </a:r>
          </a:p>
        </p:txBody>
      </p:sp>
      <p:sp>
        <p:nvSpPr>
          <p:cNvPr id="131" name="TextBox 29"/>
          <p:cNvSpPr/>
          <p:nvPr/>
        </p:nvSpPr>
        <p:spPr>
          <a:xfrm>
            <a:off x="8787240" y="1473929"/>
            <a:ext cx="2901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200" b="1" strike="noStrike" spc="58" dirty="0">
                <a:solidFill>
                  <a:srgbClr val="898781"/>
                </a:solidFill>
                <a:latin typeface="Calibri" panose="020F0502020204030204" pitchFamily="34" charset="0"/>
                <a:cs typeface="Calibri" panose="020F0502020204030204" pitchFamily="34" charset="0"/>
              </a:rPr>
              <a:t>SCENARIOS — PAID FTE</a:t>
            </a:r>
            <a:endParaRPr lang="en-US" sz="1200" b="0" strike="noStrike" spc="-1" dirty="0">
              <a:solidFill>
                <a:srgbClr val="000000"/>
              </a:solidFill>
              <a:latin typeface="Calibri" panose="020F0502020204030204" pitchFamily="34" charset="0"/>
              <a:cs typeface="Calibri" panose="020F0502020204030204" pitchFamily="34" charset="0"/>
            </a:endParaRPr>
          </a:p>
        </p:txBody>
      </p:sp>
      <p:graphicFrame>
        <p:nvGraphicFramePr>
          <p:cNvPr id="132" name="Table 30"/>
          <p:cNvGraphicFramePr/>
          <p:nvPr>
            <p:extLst>
              <p:ext uri="{D42A27DB-BD31-4B8C-83A1-F6EECF244321}">
                <p14:modId xmlns:p14="http://schemas.microsoft.com/office/powerpoint/2010/main" val="1062201766"/>
              </p:ext>
            </p:extLst>
          </p:nvPr>
        </p:nvGraphicFramePr>
        <p:xfrm>
          <a:off x="8787240" y="1711529"/>
          <a:ext cx="2900880" cy="943920"/>
        </p:xfrm>
        <a:graphic>
          <a:graphicData uri="http://schemas.openxmlformats.org/drawingml/2006/table">
            <a:tbl>
              <a:tblPr/>
              <a:tblGrid>
                <a:gridCol w="507600">
                  <a:extLst>
                    <a:ext uri="{9D8B030D-6E8A-4147-A177-3AD203B41FA5}">
                      <a16:colId xmlns:a16="http://schemas.microsoft.com/office/drawing/2014/main" val="20000"/>
                    </a:ext>
                  </a:extLst>
                </a:gridCol>
                <a:gridCol w="398880">
                  <a:extLst>
                    <a:ext uri="{9D8B030D-6E8A-4147-A177-3AD203B41FA5}">
                      <a16:colId xmlns:a16="http://schemas.microsoft.com/office/drawing/2014/main" val="20001"/>
                    </a:ext>
                  </a:extLst>
                </a:gridCol>
                <a:gridCol w="398880">
                  <a:extLst>
                    <a:ext uri="{9D8B030D-6E8A-4147-A177-3AD203B41FA5}">
                      <a16:colId xmlns:a16="http://schemas.microsoft.com/office/drawing/2014/main" val="20002"/>
                    </a:ext>
                  </a:extLst>
                </a:gridCol>
                <a:gridCol w="398880">
                  <a:extLst>
                    <a:ext uri="{9D8B030D-6E8A-4147-A177-3AD203B41FA5}">
                      <a16:colId xmlns:a16="http://schemas.microsoft.com/office/drawing/2014/main" val="20003"/>
                    </a:ext>
                  </a:extLst>
                </a:gridCol>
                <a:gridCol w="1196640">
                  <a:extLst>
                    <a:ext uri="{9D8B030D-6E8A-4147-A177-3AD203B41FA5}">
                      <a16:colId xmlns:a16="http://schemas.microsoft.com/office/drawing/2014/main" val="20004"/>
                    </a:ext>
                  </a:extLst>
                </a:gridCol>
              </a:tblGrid>
              <a:tr h="274320">
                <a:tc>
                  <a:txBody>
                    <a:bodyPr/>
                    <a:lstStyle/>
                    <a:p>
                      <a:pPr algn="ctr" defTabSz="457200">
                        <a:lnSpc>
                          <a:spcPct val="100000"/>
                        </a:lnSpc>
                      </a:pPr>
                      <a:r>
                        <a:rPr lang="en-US" sz="900" b="1" strike="noStrike" spc="-1" dirty="0">
                          <a:solidFill>
                            <a:schemeClr val="bg1"/>
                          </a:solidFill>
                          <a:latin typeface="Calibri"/>
                        </a:rPr>
                        <a:t>CASE</a:t>
                      </a:r>
                      <a:endParaRPr lang="en-US" sz="900" b="0" strike="noStrike" spc="-1" dirty="0">
                        <a:solidFill>
                          <a:schemeClr val="bg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tx2">
                        <a:lumMod val="40000"/>
                        <a:lumOff val="60000"/>
                      </a:schemeClr>
                    </a:solidFill>
                  </a:tcPr>
                </a:tc>
                <a:tc>
                  <a:txBody>
                    <a:bodyPr/>
                    <a:lstStyle/>
                    <a:p>
                      <a:pPr algn="ctr" defTabSz="457200">
                        <a:lnSpc>
                          <a:spcPct val="100000"/>
                        </a:lnSpc>
                      </a:pPr>
                      <a:r>
                        <a:rPr lang="en-US" sz="900" b="1" strike="noStrike" spc="-1" dirty="0">
                          <a:solidFill>
                            <a:schemeClr val="bg1"/>
                          </a:solidFill>
                          <a:latin typeface="Calibri"/>
                        </a:rPr>
                        <a:t>JUL</a:t>
                      </a:r>
                      <a:endParaRPr lang="en-US" sz="900" b="0" strike="noStrike" spc="-1" dirty="0">
                        <a:solidFill>
                          <a:schemeClr val="bg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tx2">
                        <a:lumMod val="40000"/>
                        <a:lumOff val="60000"/>
                      </a:schemeClr>
                    </a:solidFill>
                  </a:tcPr>
                </a:tc>
                <a:tc>
                  <a:txBody>
                    <a:bodyPr/>
                    <a:lstStyle/>
                    <a:p>
                      <a:pPr algn="ctr" defTabSz="457200">
                        <a:lnSpc>
                          <a:spcPct val="100000"/>
                        </a:lnSpc>
                      </a:pPr>
                      <a:r>
                        <a:rPr lang="en-US" sz="900" b="1" strike="noStrike" spc="-1" dirty="0">
                          <a:solidFill>
                            <a:schemeClr val="bg1"/>
                          </a:solidFill>
                          <a:latin typeface="Calibri"/>
                        </a:rPr>
                        <a:t>AUG</a:t>
                      </a:r>
                      <a:endParaRPr lang="en-US" sz="900" b="0" strike="noStrike" spc="-1" dirty="0">
                        <a:solidFill>
                          <a:schemeClr val="bg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tx2">
                        <a:lumMod val="40000"/>
                        <a:lumOff val="60000"/>
                      </a:schemeClr>
                    </a:solidFill>
                  </a:tcPr>
                </a:tc>
                <a:tc>
                  <a:txBody>
                    <a:bodyPr/>
                    <a:lstStyle/>
                    <a:p>
                      <a:pPr algn="ctr" defTabSz="457200">
                        <a:lnSpc>
                          <a:spcPct val="100000"/>
                        </a:lnSpc>
                      </a:pPr>
                      <a:r>
                        <a:rPr lang="en-US" sz="900" b="1" strike="noStrike" spc="-1" dirty="0">
                          <a:solidFill>
                            <a:schemeClr val="bg1"/>
                          </a:solidFill>
                          <a:latin typeface="Calibri"/>
                        </a:rPr>
                        <a:t>SEP</a:t>
                      </a:r>
                      <a:endParaRPr lang="en-US" sz="900" b="0" strike="noStrike" spc="-1" dirty="0">
                        <a:solidFill>
                          <a:schemeClr val="bg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tx2">
                        <a:lumMod val="40000"/>
                        <a:lumOff val="60000"/>
                      </a:schemeClr>
                    </a:solidFill>
                  </a:tcPr>
                </a:tc>
                <a:tc>
                  <a:txBody>
                    <a:bodyPr/>
                    <a:lstStyle/>
                    <a:p>
                      <a:pPr algn="ctr" defTabSz="457200">
                        <a:lnSpc>
                          <a:spcPct val="100000"/>
                        </a:lnSpc>
                      </a:pPr>
                      <a:r>
                        <a:rPr lang="en-US" sz="900" b="1" strike="noStrike" spc="-1" dirty="0">
                          <a:solidFill>
                            <a:schemeClr val="bg1"/>
                          </a:solidFill>
                          <a:latin typeface="Calibri"/>
                        </a:rPr>
                        <a:t>BASIS</a:t>
                      </a:r>
                      <a:endParaRPr lang="en-US" sz="900" b="0" strike="noStrike" spc="-1" dirty="0">
                        <a:solidFill>
                          <a:schemeClr val="bg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tx2">
                        <a:lumMod val="40000"/>
                        <a:lumOff val="60000"/>
                      </a:schemeClr>
                    </a:solidFill>
                  </a:tcPr>
                </a:tc>
                <a:extLst>
                  <a:ext uri="{0D108BD9-81ED-4DB2-BD59-A6C34878D82A}">
                    <a16:rowId xmlns:a16="http://schemas.microsoft.com/office/drawing/2014/main" val="10000"/>
                  </a:ext>
                </a:extLst>
              </a:tr>
              <a:tr h="303840">
                <a:tc>
                  <a:txBody>
                    <a:bodyPr/>
                    <a:lstStyle/>
                    <a:p>
                      <a:pPr algn="ctr" defTabSz="457200">
                        <a:lnSpc>
                          <a:spcPct val="100000"/>
                        </a:lnSpc>
                      </a:pPr>
                      <a:r>
                        <a:rPr lang="en-US" sz="900" b="1" strike="noStrike" spc="-1" dirty="0">
                          <a:solidFill>
                            <a:schemeClr val="tx1"/>
                          </a:solidFill>
                          <a:latin typeface="Calibri"/>
                        </a:rPr>
                        <a:t>BASE</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dirty="0">
                          <a:solidFill>
                            <a:schemeClr val="tx1"/>
                          </a:solidFill>
                          <a:latin typeface="Calibri"/>
                        </a:rPr>
                        <a:t>508</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dirty="0">
                          <a:solidFill>
                            <a:schemeClr val="tx1"/>
                          </a:solidFill>
                          <a:latin typeface="Calibri"/>
                        </a:rPr>
                        <a:t>508</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dirty="0">
                          <a:solidFill>
                            <a:schemeClr val="tx1"/>
                          </a:solidFill>
                          <a:latin typeface="Calibri"/>
                        </a:rPr>
                        <a:t>508</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dirty="0">
                          <a:solidFill>
                            <a:schemeClr val="tx1"/>
                          </a:solidFill>
                          <a:latin typeface="Calibri"/>
                        </a:rPr>
                        <a:t>June × 1.10, held flat</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1"/>
                  </a:ext>
                </a:extLst>
              </a:tr>
              <a:tr h="303840">
                <a:tc>
                  <a:txBody>
                    <a:bodyPr/>
                    <a:lstStyle/>
                    <a:p>
                      <a:pPr algn="ctr" defTabSz="457200">
                        <a:lnSpc>
                          <a:spcPct val="100000"/>
                        </a:lnSpc>
                      </a:pPr>
                      <a:r>
                        <a:rPr lang="en-US" sz="900" b="1" strike="noStrike" spc="-1">
                          <a:solidFill>
                            <a:schemeClr val="tx1"/>
                          </a:solidFill>
                          <a:latin typeface="Calibri"/>
                        </a:rPr>
                        <a:t>HIGH</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a:solidFill>
                            <a:schemeClr val="tx1"/>
                          </a:solidFill>
                          <a:latin typeface="Calibri"/>
                        </a:rPr>
                        <a:t>518</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a:solidFill>
                            <a:schemeClr val="tx1"/>
                          </a:solidFill>
                          <a:latin typeface="Calibri"/>
                        </a:rPr>
                        <a:t>551</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a:solidFill>
                            <a:schemeClr val="tx1"/>
                          </a:solidFill>
                          <a:latin typeface="Calibri"/>
                        </a:rPr>
                        <a:t>579</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ctr" defTabSz="457200">
                        <a:lnSpc>
                          <a:spcPct val="100000"/>
                        </a:lnSpc>
                      </a:pPr>
                      <a:r>
                        <a:rPr lang="en-US" sz="900" b="0" strike="noStrike" spc="-1" dirty="0">
                          <a:solidFill>
                            <a:schemeClr val="tx1"/>
                          </a:solidFill>
                          <a:latin typeface="Calibri"/>
                        </a:rPr>
                        <a:t>English 3-mo trend ×1.10; rest ×1.10</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2"/>
                  </a:ext>
                </a:extLst>
              </a:tr>
            </a:tbl>
          </a:graphicData>
        </a:graphic>
      </p:graphicFrame>
      <p:sp>
        <p:nvSpPr>
          <p:cNvPr id="133" name="TextBox 31"/>
          <p:cNvSpPr/>
          <p:nvPr/>
        </p:nvSpPr>
        <p:spPr>
          <a:xfrm>
            <a:off x="8797072" y="2990060"/>
            <a:ext cx="29012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200" b="1" strike="noStrike" spc="58" dirty="0">
                <a:solidFill>
                  <a:srgbClr val="898781"/>
                </a:solidFill>
                <a:latin typeface="Calibri" panose="020F0502020204030204" pitchFamily="34" charset="0"/>
                <a:cs typeface="Calibri" panose="020F0502020204030204" pitchFamily="34" charset="0"/>
              </a:rPr>
              <a:t>PAID FTE — 80% CONFIDENCE BAND</a:t>
            </a:r>
            <a:endParaRPr lang="en-US" sz="1200" b="0" strike="noStrike" spc="-1" dirty="0">
              <a:solidFill>
                <a:srgbClr val="000000"/>
              </a:solidFill>
              <a:latin typeface="Calibri" panose="020F0502020204030204" pitchFamily="34" charset="0"/>
              <a:cs typeface="Calibri" panose="020F0502020204030204" pitchFamily="34" charset="0"/>
            </a:endParaRPr>
          </a:p>
        </p:txBody>
      </p:sp>
      <p:sp>
        <p:nvSpPr>
          <p:cNvPr id="134" name="Rounded Rectangle 32"/>
          <p:cNvSpPr/>
          <p:nvPr/>
        </p:nvSpPr>
        <p:spPr>
          <a:xfrm>
            <a:off x="8797072" y="3417020"/>
            <a:ext cx="2901240" cy="124200"/>
          </a:xfrm>
          <a:prstGeom prst="roundRect">
            <a:avLst>
              <a:gd name="adj" fmla="val 16667"/>
            </a:avLst>
          </a:prstGeom>
          <a:solidFill>
            <a:srgbClr val="CDE2F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panose="020F0502020204030204" pitchFamily="34" charset="0"/>
              <a:cs typeface="Calibri" panose="020F0502020204030204" pitchFamily="34" charset="0"/>
            </a:endParaRPr>
          </a:p>
        </p:txBody>
      </p:sp>
      <p:sp>
        <p:nvSpPr>
          <p:cNvPr id="135" name="Rounded Rectangle 33"/>
          <p:cNvSpPr/>
          <p:nvPr/>
        </p:nvSpPr>
        <p:spPr>
          <a:xfrm>
            <a:off x="9280552" y="3417020"/>
            <a:ext cx="1944720" cy="124200"/>
          </a:xfrm>
          <a:prstGeom prst="roundRect">
            <a:avLst>
              <a:gd name="adj" fmla="val 16667"/>
            </a:avLst>
          </a:prstGeom>
          <a:solidFill>
            <a:srgbClr val="9FC2E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panose="020F0502020204030204" pitchFamily="34" charset="0"/>
              <a:cs typeface="Calibri" panose="020F0502020204030204" pitchFamily="34" charset="0"/>
            </a:endParaRPr>
          </a:p>
        </p:txBody>
      </p:sp>
      <p:sp>
        <p:nvSpPr>
          <p:cNvPr id="136" name="Rounded Rectangle 34"/>
          <p:cNvSpPr/>
          <p:nvPr/>
        </p:nvSpPr>
        <p:spPr>
          <a:xfrm>
            <a:off x="10149592" y="3371300"/>
            <a:ext cx="45360" cy="215640"/>
          </a:xfrm>
          <a:prstGeom prst="roundRect">
            <a:avLst>
              <a:gd name="adj" fmla="val 16667"/>
            </a:avLst>
          </a:prstGeom>
          <a:solidFill>
            <a:srgbClr val="2A78D6"/>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panose="020F0502020204030204" pitchFamily="34" charset="0"/>
              <a:cs typeface="Calibri" panose="020F0502020204030204" pitchFamily="34" charset="0"/>
            </a:endParaRPr>
          </a:p>
        </p:txBody>
      </p:sp>
      <p:sp>
        <p:nvSpPr>
          <p:cNvPr id="137" name="TextBox 35"/>
          <p:cNvSpPr/>
          <p:nvPr/>
        </p:nvSpPr>
        <p:spPr>
          <a:xfrm>
            <a:off x="9806872" y="3161060"/>
            <a:ext cx="7311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457200">
              <a:lnSpc>
                <a:spcPct val="100000"/>
              </a:lnSpc>
            </a:pPr>
            <a:r>
              <a:rPr lang="en-US" sz="1100" b="1" strike="noStrike" spc="-1" dirty="0">
                <a:solidFill>
                  <a:srgbClr val="0B0B0B"/>
                </a:solidFill>
                <a:latin typeface="Calibri" panose="020F0502020204030204" pitchFamily="34" charset="0"/>
                <a:cs typeface="Calibri" panose="020F0502020204030204" pitchFamily="34" charset="0"/>
              </a:rPr>
              <a:t>508</a:t>
            </a:r>
            <a:endParaRPr lang="en-US" sz="1100" b="0" strike="noStrike" spc="-1" dirty="0">
              <a:solidFill>
                <a:srgbClr val="000000"/>
              </a:solidFill>
              <a:latin typeface="Calibri" panose="020F0502020204030204" pitchFamily="34" charset="0"/>
              <a:cs typeface="Calibri" panose="020F0502020204030204" pitchFamily="34" charset="0"/>
            </a:endParaRPr>
          </a:p>
        </p:txBody>
      </p:sp>
      <p:sp>
        <p:nvSpPr>
          <p:cNvPr id="138" name="TextBox 36"/>
          <p:cNvSpPr/>
          <p:nvPr/>
        </p:nvSpPr>
        <p:spPr>
          <a:xfrm>
            <a:off x="8914792" y="3596660"/>
            <a:ext cx="7311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900" b="1" strike="noStrike" spc="-1" dirty="0">
                <a:solidFill>
                  <a:srgbClr val="898781"/>
                </a:solidFill>
                <a:latin typeface="Calibri" panose="020F0502020204030204" pitchFamily="34" charset="0"/>
                <a:cs typeface="Calibri" panose="020F0502020204030204" pitchFamily="34" charset="0"/>
              </a:rPr>
              <a:t>P10</a:t>
            </a:r>
            <a:endParaRPr lang="en-US" sz="900" b="0" strike="noStrike" spc="-1" dirty="0">
              <a:solidFill>
                <a:srgbClr val="000000"/>
              </a:solidFill>
              <a:latin typeface="Calibri" panose="020F0502020204030204" pitchFamily="34" charset="0"/>
              <a:cs typeface="Calibri" panose="020F0502020204030204" pitchFamily="34" charset="0"/>
            </a:endParaRPr>
          </a:p>
          <a:p>
            <a:pPr algn="ctr" defTabSz="457200">
              <a:lnSpc>
                <a:spcPct val="100000"/>
              </a:lnSpc>
            </a:pPr>
            <a:r>
              <a:rPr lang="en-US" sz="900" b="1" strike="noStrike" spc="-1" dirty="0">
                <a:solidFill>
                  <a:srgbClr val="898781"/>
                </a:solidFill>
                <a:latin typeface="Calibri" panose="020F0502020204030204" pitchFamily="34" charset="0"/>
                <a:cs typeface="Calibri" panose="020F0502020204030204" pitchFamily="34" charset="0"/>
              </a:rPr>
              <a:t>425</a:t>
            </a:r>
            <a:endParaRPr lang="en-US" sz="900" b="0" strike="noStrike" spc="-1" dirty="0">
              <a:solidFill>
                <a:srgbClr val="000000"/>
              </a:solidFill>
              <a:latin typeface="Calibri" panose="020F0502020204030204" pitchFamily="34" charset="0"/>
              <a:cs typeface="Calibri" panose="020F0502020204030204" pitchFamily="34" charset="0"/>
            </a:endParaRPr>
          </a:p>
        </p:txBody>
      </p:sp>
      <p:sp>
        <p:nvSpPr>
          <p:cNvPr id="139" name="TextBox 37"/>
          <p:cNvSpPr/>
          <p:nvPr/>
        </p:nvSpPr>
        <p:spPr>
          <a:xfrm>
            <a:off x="10859872" y="3596660"/>
            <a:ext cx="7311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900" b="1" strike="noStrike" spc="-1" dirty="0">
                <a:solidFill>
                  <a:srgbClr val="898781"/>
                </a:solidFill>
                <a:latin typeface="Calibri" panose="020F0502020204030204" pitchFamily="34" charset="0"/>
                <a:cs typeface="Calibri" panose="020F0502020204030204" pitchFamily="34" charset="0"/>
              </a:rPr>
              <a:t>P90</a:t>
            </a:r>
            <a:endParaRPr lang="en-US" sz="900" b="0" strike="noStrike" spc="-1" dirty="0">
              <a:solidFill>
                <a:srgbClr val="000000"/>
              </a:solidFill>
              <a:latin typeface="Calibri" panose="020F0502020204030204" pitchFamily="34" charset="0"/>
              <a:cs typeface="Calibri" panose="020F0502020204030204" pitchFamily="34" charset="0"/>
            </a:endParaRPr>
          </a:p>
          <a:p>
            <a:pPr algn="ctr" defTabSz="457200">
              <a:lnSpc>
                <a:spcPct val="100000"/>
              </a:lnSpc>
            </a:pPr>
            <a:r>
              <a:rPr lang="en-US" sz="900" b="1" strike="noStrike" spc="-1" dirty="0">
                <a:solidFill>
                  <a:srgbClr val="898781"/>
                </a:solidFill>
                <a:latin typeface="Calibri" panose="020F0502020204030204" pitchFamily="34" charset="0"/>
                <a:cs typeface="Calibri" panose="020F0502020204030204" pitchFamily="34" charset="0"/>
              </a:rPr>
              <a:t>606</a:t>
            </a:r>
            <a:endParaRPr lang="en-US" sz="900" b="0" strike="noStrike" spc="-1" dirty="0">
              <a:solidFill>
                <a:srgbClr val="000000"/>
              </a:solidFill>
              <a:latin typeface="Calibri" panose="020F0502020204030204" pitchFamily="34" charset="0"/>
              <a:cs typeface="Calibri" panose="020F0502020204030204" pitchFamily="34" charset="0"/>
            </a:endParaRPr>
          </a:p>
        </p:txBody>
      </p:sp>
      <p:cxnSp>
        <p:nvCxnSpPr>
          <p:cNvPr id="140" name="Connector 38"/>
          <p:cNvCxnSpPr/>
          <p:nvPr/>
        </p:nvCxnSpPr>
        <p:spPr>
          <a:xfrm>
            <a:off x="8840257" y="4045948"/>
            <a:ext cx="360" cy="615240"/>
          </a:xfrm>
          <a:prstGeom prst="straightConnector1">
            <a:avLst/>
          </a:prstGeom>
          <a:ln w="28575">
            <a:solidFill>
              <a:srgbClr val="2A78D6"/>
            </a:solidFill>
            <a:round/>
          </a:ln>
        </p:spPr>
      </p:cxnSp>
      <p:sp>
        <p:nvSpPr>
          <p:cNvPr id="141" name="TextBox 39"/>
          <p:cNvSpPr/>
          <p:nvPr/>
        </p:nvSpPr>
        <p:spPr>
          <a:xfrm>
            <a:off x="8915872" y="4073668"/>
            <a:ext cx="2782440" cy="54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900" b="1" strike="noStrike" spc="-1" dirty="0">
                <a:latin typeface="Calibri" panose="020F0502020204030204" pitchFamily="34" charset="0"/>
                <a:cs typeface="Calibri" panose="020F0502020204030204" pitchFamily="34" charset="0"/>
              </a:rPr>
              <a:t>Do not hire to a point estimate.</a:t>
            </a:r>
            <a:r>
              <a:rPr lang="en-US" sz="900" b="0" strike="noStrike" spc="-1" dirty="0">
                <a:latin typeface="Calibri" panose="020F0502020204030204" pitchFamily="34" charset="0"/>
                <a:cs typeface="Calibri" panose="020F0502020204030204" pitchFamily="34" charset="0"/>
              </a:rPr>
              <a:t> Contract a </a:t>
            </a:r>
            <a:r>
              <a:rPr lang="en-US" sz="900" b="1" strike="noStrike" spc="-1" dirty="0">
                <a:latin typeface="Calibri" panose="020F0502020204030204" pitchFamily="34" charset="0"/>
                <a:cs typeface="Calibri" panose="020F0502020204030204" pitchFamily="34" charset="0"/>
              </a:rPr>
              <a:t>~490 FTE core</a:t>
            </a:r>
            <a:r>
              <a:rPr lang="en-US" sz="900" b="0" strike="noStrike" spc="-1" dirty="0">
                <a:latin typeface="Calibri" panose="020F0502020204030204" pitchFamily="34" charset="0"/>
                <a:cs typeface="Calibri" panose="020F0502020204030204" pitchFamily="34" charset="0"/>
              </a:rPr>
              <a:t> and hold a cross-trained flex pool of </a:t>
            </a:r>
            <a:r>
              <a:rPr lang="en-US" sz="900" b="1" strike="noStrike" spc="-1" dirty="0">
                <a:latin typeface="Calibri" panose="020F0502020204030204" pitchFamily="34" charset="0"/>
                <a:cs typeface="Calibri" panose="020F0502020204030204" pitchFamily="34" charset="0"/>
              </a:rPr>
              <a:t>60–100</a:t>
            </a:r>
            <a:r>
              <a:rPr lang="en-US" sz="900" b="0" strike="noStrike" spc="-1" dirty="0">
                <a:latin typeface="Calibri" panose="020F0502020204030204" pitchFamily="34" charset="0"/>
                <a:cs typeface="Calibri" panose="020F0502020204030204" pitchFamily="34" charset="0"/>
              </a:rPr>
              <a:t> against the P90, released monthly on the re-forecast trigger.</a:t>
            </a:r>
          </a:p>
        </p:txBody>
      </p:sp>
      <p:cxnSp>
        <p:nvCxnSpPr>
          <p:cNvPr id="143" name="Connector 41"/>
          <p:cNvCxnSpPr/>
          <p:nvPr/>
        </p:nvCxnSpPr>
        <p:spPr>
          <a:xfrm>
            <a:off x="502920" y="6400800"/>
            <a:ext cx="11185920" cy="360"/>
          </a:xfrm>
          <a:prstGeom prst="straightConnector1">
            <a:avLst/>
          </a:prstGeom>
          <a:ln w="9525">
            <a:solidFill>
              <a:srgbClr val="E1E0D9"/>
            </a:solidFill>
            <a:round/>
          </a:ln>
        </p:spPr>
      </p:cxnSp>
      <p:sp>
        <p:nvSpPr>
          <p:cNvPr id="144" name="TextBox 42"/>
          <p:cNvSpPr/>
          <p:nvPr/>
        </p:nvSpPr>
        <p:spPr>
          <a:xfrm>
            <a:off x="502920" y="6446520"/>
            <a:ext cx="91720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750" spc="-1" dirty="0" err="1">
                <a:solidFill>
                  <a:srgbClr val="898781"/>
                </a:solidFill>
                <a:latin typeface="Calibri" panose="020F0502020204030204" pitchFamily="34" charset="0"/>
                <a:cs typeface="Calibri" panose="020F0502020204030204" pitchFamily="34" charset="0"/>
              </a:rPr>
              <a:t>GetYourGuide</a:t>
            </a:r>
            <a:r>
              <a:rPr lang="en-US" sz="750" spc="-1" dirty="0">
                <a:solidFill>
                  <a:srgbClr val="898781"/>
                </a:solidFill>
                <a:latin typeface="Calibri" panose="020F0502020204030204" pitchFamily="34" charset="0"/>
                <a:cs typeface="Calibri" panose="020F0502020204030204" pitchFamily="34" charset="0"/>
              </a:rPr>
              <a:t> · WFM take-home submission · </a:t>
            </a:r>
            <a:endParaRPr lang="en-US" sz="750" spc="-1" dirty="0">
              <a:solidFill>
                <a:srgbClr val="000000"/>
              </a:solidFill>
              <a:latin typeface="Calibri" panose="020F0502020204030204" pitchFamily="34" charset="0"/>
              <a:cs typeface="Calibri" panose="020F0502020204030204" pitchFamily="34" charset="0"/>
            </a:endParaRPr>
          </a:p>
        </p:txBody>
      </p:sp>
      <p:sp>
        <p:nvSpPr>
          <p:cNvPr id="145" name="TextBox 43"/>
          <p:cNvSpPr/>
          <p:nvPr/>
        </p:nvSpPr>
        <p:spPr>
          <a:xfrm>
            <a:off x="9675360" y="6446520"/>
            <a:ext cx="2013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457200">
              <a:lnSpc>
                <a:spcPct val="100000"/>
              </a:lnSpc>
            </a:pPr>
            <a:r>
              <a:rPr lang="en-US" sz="800" b="1" spc="-1" dirty="0">
                <a:solidFill>
                  <a:srgbClr val="52514E"/>
                </a:solidFill>
                <a:latin typeface="Calibri" panose="020F0502020204030204" pitchFamily="34" charset="0"/>
                <a:cs typeface="Calibri" panose="020F0502020204030204" pitchFamily="34" charset="0"/>
              </a:rPr>
              <a:t>A1</a:t>
            </a:r>
            <a:r>
              <a:rPr lang="en-US" sz="800" b="1" strike="noStrike" spc="-1" dirty="0">
                <a:solidFill>
                  <a:srgbClr val="52514E"/>
                </a:solidFill>
                <a:latin typeface="Calibri" panose="020F0502020204030204" pitchFamily="34" charset="0"/>
                <a:cs typeface="Calibri" panose="020F0502020204030204" pitchFamily="34" charset="0"/>
              </a:rPr>
              <a:t> / 4</a:t>
            </a:r>
            <a:endParaRPr lang="en-US" sz="800" b="0" strike="noStrike" spc="-1" dirty="0">
              <a:solidFill>
                <a:srgbClr val="000000"/>
              </a:solidFill>
              <a:latin typeface="Calibri" panose="020F0502020204030204" pitchFamily="34" charset="0"/>
              <a:cs typeface="Calibri" panose="020F0502020204030204" pitchFamily="34" charset="0"/>
            </a:endParaRPr>
          </a:p>
        </p:txBody>
      </p:sp>
      <p:sp>
        <p:nvSpPr>
          <p:cNvPr id="5" name="Oval 4">
            <a:extLst>
              <a:ext uri="{FF2B5EF4-FFF2-40B4-BE49-F238E27FC236}">
                <a16:creationId xmlns:a16="http://schemas.microsoft.com/office/drawing/2014/main" id="{BA48082B-B16D-11B9-9ED8-F151FDCB9544}"/>
              </a:ext>
            </a:extLst>
          </p:cNvPr>
          <p:cNvSpPr/>
          <p:nvPr/>
        </p:nvSpPr>
        <p:spPr>
          <a:xfrm>
            <a:off x="1137240" y="992760"/>
            <a:ext cx="288000" cy="288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I" sz="1400" dirty="0">
                <a:latin typeface="Calibri" panose="020F0502020204030204" pitchFamily="34" charset="0"/>
                <a:cs typeface="Calibri" panose="020F0502020204030204" pitchFamily="34" charset="0"/>
              </a:rPr>
              <a:t>1</a:t>
            </a:r>
          </a:p>
        </p:txBody>
      </p:sp>
      <p:sp>
        <p:nvSpPr>
          <p:cNvPr id="6" name="Oval 5">
            <a:extLst>
              <a:ext uri="{FF2B5EF4-FFF2-40B4-BE49-F238E27FC236}">
                <a16:creationId xmlns:a16="http://schemas.microsoft.com/office/drawing/2014/main" id="{8831BFBD-3231-2248-1BFC-CA2FE934ACA3}"/>
              </a:ext>
            </a:extLst>
          </p:cNvPr>
          <p:cNvSpPr/>
          <p:nvPr/>
        </p:nvSpPr>
        <p:spPr>
          <a:xfrm>
            <a:off x="5951520" y="998092"/>
            <a:ext cx="288000" cy="288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I" sz="1400" dirty="0">
                <a:latin typeface="Calibri" panose="020F0502020204030204" pitchFamily="34" charset="0"/>
                <a:cs typeface="Calibri" panose="020F0502020204030204" pitchFamily="34" charset="0"/>
              </a:rPr>
              <a:t>2</a:t>
            </a:r>
          </a:p>
        </p:txBody>
      </p:sp>
      <p:sp>
        <p:nvSpPr>
          <p:cNvPr id="7" name="Oval 6">
            <a:extLst>
              <a:ext uri="{FF2B5EF4-FFF2-40B4-BE49-F238E27FC236}">
                <a16:creationId xmlns:a16="http://schemas.microsoft.com/office/drawing/2014/main" id="{9AC2E8AF-E9FD-897C-50C1-B35AD78B71EF}"/>
              </a:ext>
            </a:extLst>
          </p:cNvPr>
          <p:cNvSpPr/>
          <p:nvPr/>
        </p:nvSpPr>
        <p:spPr>
          <a:xfrm>
            <a:off x="9905040" y="1004212"/>
            <a:ext cx="288000" cy="288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I" sz="1400" dirty="0">
                <a:latin typeface="Calibri" panose="020F0502020204030204" pitchFamily="34" charset="0"/>
                <a:cs typeface="Calibri" panose="020F0502020204030204" pitchFamily="34" charset="0"/>
              </a:rPr>
              <a:t>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23" name="TextBox 1"/>
          <p:cNvSpPr/>
          <p:nvPr/>
        </p:nvSpPr>
        <p:spPr>
          <a:xfrm>
            <a:off x="502920" y="320040"/>
            <a:ext cx="111855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800" b="1" strike="noStrike" spc="-1" dirty="0">
                <a:solidFill>
                  <a:schemeClr val="accent1"/>
                </a:solidFill>
                <a:latin typeface="Calibri"/>
              </a:rPr>
              <a:t>Appendix A2</a:t>
            </a:r>
            <a:r>
              <a:rPr lang="en-US" sz="800" b="0" strike="noStrike" spc="-1" dirty="0">
                <a:solidFill>
                  <a:srgbClr val="898781"/>
                </a:solidFill>
                <a:latin typeface="Calibri"/>
              </a:rPr>
              <a:t>  Manager, Workforce Management · Care Experience &amp; Strategy</a:t>
            </a:r>
            <a:endParaRPr lang="en-US" sz="800" b="0" strike="noStrike" spc="-1" dirty="0">
              <a:solidFill>
                <a:srgbClr val="000000"/>
              </a:solidFill>
              <a:latin typeface="Arial"/>
            </a:endParaRPr>
          </a:p>
        </p:txBody>
      </p:sp>
      <p:sp>
        <p:nvSpPr>
          <p:cNvPr id="224" name="TextBox 2"/>
          <p:cNvSpPr/>
          <p:nvPr/>
        </p:nvSpPr>
        <p:spPr>
          <a:xfrm>
            <a:off x="502920" y="484560"/>
            <a:ext cx="111855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700" b="1" strike="noStrike" spc="-1">
                <a:solidFill>
                  <a:srgbClr val="0B0B0B"/>
                </a:solidFill>
                <a:latin typeface="Calibri"/>
              </a:rPr>
              <a:t>Every queue, end to end — BASE, July</a:t>
            </a:r>
            <a:endParaRPr lang="en-US" sz="1700" b="0" strike="noStrike" spc="-1">
              <a:solidFill>
                <a:srgbClr val="000000"/>
              </a:solidFill>
              <a:latin typeface="Arial"/>
            </a:endParaRPr>
          </a:p>
        </p:txBody>
      </p:sp>
      <p:sp>
        <p:nvSpPr>
          <p:cNvPr id="225" name="TextBox 3"/>
          <p:cNvSpPr/>
          <p:nvPr/>
        </p:nvSpPr>
        <p:spPr>
          <a:xfrm>
            <a:off x="502920" y="822960"/>
            <a:ext cx="111855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050" b="0" strike="noStrike" spc="-1" dirty="0">
                <a:solidFill>
                  <a:srgbClr val="52514E"/>
                </a:solidFill>
                <a:latin typeface="Calibri"/>
              </a:rPr>
              <a:t>The full working behind Occupancy below 100% on the Erlang rows is the cost of the service level.</a:t>
            </a:r>
            <a:endParaRPr lang="en-US" sz="1050" b="0" strike="noStrike" spc="-1" dirty="0">
              <a:solidFill>
                <a:srgbClr val="000000"/>
              </a:solidFill>
              <a:latin typeface="Arial"/>
            </a:endParaRPr>
          </a:p>
        </p:txBody>
      </p:sp>
      <p:cxnSp>
        <p:nvCxnSpPr>
          <p:cNvPr id="226" name="Connector 4"/>
          <p:cNvCxnSpPr/>
          <p:nvPr/>
        </p:nvCxnSpPr>
        <p:spPr>
          <a:xfrm>
            <a:off x="502920" y="1078920"/>
            <a:ext cx="11185920" cy="360"/>
          </a:xfrm>
          <a:prstGeom prst="straightConnector1">
            <a:avLst/>
          </a:prstGeom>
          <a:ln w="9525">
            <a:solidFill>
              <a:srgbClr val="E1E0D9"/>
            </a:solidFill>
            <a:round/>
          </a:ln>
        </p:spPr>
      </p:cxnSp>
      <p:graphicFrame>
        <p:nvGraphicFramePr>
          <p:cNvPr id="227" name="Table 5"/>
          <p:cNvGraphicFramePr/>
          <p:nvPr>
            <p:extLst>
              <p:ext uri="{D42A27DB-BD31-4B8C-83A1-F6EECF244321}">
                <p14:modId xmlns:p14="http://schemas.microsoft.com/office/powerpoint/2010/main" val="2851778361"/>
              </p:ext>
            </p:extLst>
          </p:nvPr>
        </p:nvGraphicFramePr>
        <p:xfrm>
          <a:off x="502920" y="1261800"/>
          <a:ext cx="7454880" cy="5029200"/>
        </p:xfrm>
        <a:graphic>
          <a:graphicData uri="http://schemas.openxmlformats.org/drawingml/2006/table">
            <a:tbl>
              <a:tblPr/>
              <a:tblGrid>
                <a:gridCol w="690120">
                  <a:extLst>
                    <a:ext uri="{9D8B030D-6E8A-4147-A177-3AD203B41FA5}">
                      <a16:colId xmlns:a16="http://schemas.microsoft.com/office/drawing/2014/main" val="20000"/>
                    </a:ext>
                  </a:extLst>
                </a:gridCol>
                <a:gridCol w="644400">
                  <a:extLst>
                    <a:ext uri="{9D8B030D-6E8A-4147-A177-3AD203B41FA5}">
                      <a16:colId xmlns:a16="http://schemas.microsoft.com/office/drawing/2014/main" val="20001"/>
                    </a:ext>
                  </a:extLst>
                </a:gridCol>
                <a:gridCol w="690120">
                  <a:extLst>
                    <a:ext uri="{9D8B030D-6E8A-4147-A177-3AD203B41FA5}">
                      <a16:colId xmlns:a16="http://schemas.microsoft.com/office/drawing/2014/main" val="20002"/>
                    </a:ext>
                  </a:extLst>
                </a:gridCol>
                <a:gridCol w="506160">
                  <a:extLst>
                    <a:ext uri="{9D8B030D-6E8A-4147-A177-3AD203B41FA5}">
                      <a16:colId xmlns:a16="http://schemas.microsoft.com/office/drawing/2014/main" val="20003"/>
                    </a:ext>
                  </a:extLst>
                </a:gridCol>
                <a:gridCol w="598320">
                  <a:extLst>
                    <a:ext uri="{9D8B030D-6E8A-4147-A177-3AD203B41FA5}">
                      <a16:colId xmlns:a16="http://schemas.microsoft.com/office/drawing/2014/main" val="20004"/>
                    </a:ext>
                  </a:extLst>
                </a:gridCol>
                <a:gridCol w="460080">
                  <a:extLst>
                    <a:ext uri="{9D8B030D-6E8A-4147-A177-3AD203B41FA5}">
                      <a16:colId xmlns:a16="http://schemas.microsoft.com/office/drawing/2014/main" val="20005"/>
                    </a:ext>
                  </a:extLst>
                </a:gridCol>
                <a:gridCol w="460080">
                  <a:extLst>
                    <a:ext uri="{9D8B030D-6E8A-4147-A177-3AD203B41FA5}">
                      <a16:colId xmlns:a16="http://schemas.microsoft.com/office/drawing/2014/main" val="20006"/>
                    </a:ext>
                  </a:extLst>
                </a:gridCol>
                <a:gridCol w="460080">
                  <a:extLst>
                    <a:ext uri="{9D8B030D-6E8A-4147-A177-3AD203B41FA5}">
                      <a16:colId xmlns:a16="http://schemas.microsoft.com/office/drawing/2014/main" val="20007"/>
                    </a:ext>
                  </a:extLst>
                </a:gridCol>
                <a:gridCol w="506160">
                  <a:extLst>
                    <a:ext uri="{9D8B030D-6E8A-4147-A177-3AD203B41FA5}">
                      <a16:colId xmlns:a16="http://schemas.microsoft.com/office/drawing/2014/main" val="20008"/>
                    </a:ext>
                  </a:extLst>
                </a:gridCol>
                <a:gridCol w="598320">
                  <a:extLst>
                    <a:ext uri="{9D8B030D-6E8A-4147-A177-3AD203B41FA5}">
                      <a16:colId xmlns:a16="http://schemas.microsoft.com/office/drawing/2014/main" val="20009"/>
                    </a:ext>
                  </a:extLst>
                </a:gridCol>
                <a:gridCol w="598320">
                  <a:extLst>
                    <a:ext uri="{9D8B030D-6E8A-4147-A177-3AD203B41FA5}">
                      <a16:colId xmlns:a16="http://schemas.microsoft.com/office/drawing/2014/main" val="20010"/>
                    </a:ext>
                  </a:extLst>
                </a:gridCol>
                <a:gridCol w="644400">
                  <a:extLst>
                    <a:ext uri="{9D8B030D-6E8A-4147-A177-3AD203B41FA5}">
                      <a16:colId xmlns:a16="http://schemas.microsoft.com/office/drawing/2014/main" val="20011"/>
                    </a:ext>
                  </a:extLst>
                </a:gridCol>
                <a:gridCol w="598320">
                  <a:extLst>
                    <a:ext uri="{9D8B030D-6E8A-4147-A177-3AD203B41FA5}">
                      <a16:colId xmlns:a16="http://schemas.microsoft.com/office/drawing/2014/main" val="20012"/>
                    </a:ext>
                  </a:extLst>
                </a:gridCol>
              </a:tblGrid>
              <a:tr h="144360">
                <a:tc>
                  <a:txBody>
                    <a:bodyPr/>
                    <a:lstStyle/>
                    <a:p>
                      <a:pPr defTabSz="457200">
                        <a:lnSpc>
                          <a:spcPct val="100000"/>
                        </a:lnSpc>
                      </a:pPr>
                      <a:r>
                        <a:rPr lang="en-US" sz="900" b="1" strike="noStrike" spc="-1" dirty="0">
                          <a:solidFill>
                            <a:schemeClr val="tx1"/>
                          </a:solidFill>
                          <a:latin typeface="Calibri"/>
                        </a:rPr>
                        <a:t>LANG</a:t>
                      </a:r>
                      <a:endParaRPr lang="en-US" sz="900" b="0" strike="noStrike" spc="-1" dirty="0">
                        <a:solidFill>
                          <a:schemeClr val="tx1"/>
                        </a:solidFill>
                        <a:latin typeface="Arial"/>
                      </a:endParaRPr>
                    </a:p>
                  </a:txBody>
                  <a:tcPr marL="31680" marR="316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1" strike="noStrike" spc="-1" dirty="0">
                          <a:solidFill>
                            <a:schemeClr val="tx1"/>
                          </a:solidFill>
                          <a:latin typeface="Calibri"/>
                        </a:rPr>
                        <a:t>CHAN</a:t>
                      </a:r>
                      <a:endParaRPr lang="en-US" sz="900" b="0" strike="noStrike" spc="-1" dirty="0">
                        <a:solidFill>
                          <a:schemeClr val="tx1"/>
                        </a:solidFill>
                        <a:latin typeface="Arial"/>
                      </a:endParaRPr>
                    </a:p>
                  </a:txBody>
                  <a:tcPr marL="31680" marR="316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CONTACTS</a:t>
                      </a:r>
                      <a:endParaRPr lang="en-US" sz="900" b="0" strike="noStrike" spc="-1">
                        <a:solidFill>
                          <a:schemeClr val="tx1"/>
                        </a:solidFill>
                        <a:latin typeface="Arial"/>
                      </a:endParaRPr>
                    </a:p>
                  </a:txBody>
                  <a:tcPr marL="31680" marR="316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AHT</a:t>
                      </a:r>
                      <a:endParaRPr lang="en-US" sz="900" b="0" strike="noStrike" spc="-1">
                        <a:solidFill>
                          <a:schemeClr val="tx1"/>
                        </a:solidFill>
                        <a:latin typeface="Arial"/>
                      </a:endParaRPr>
                    </a:p>
                  </a:txBody>
                  <a:tcPr marL="31680" marR="316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1" strike="noStrike" spc="-1">
                          <a:solidFill>
                            <a:schemeClr val="tx1"/>
                          </a:solidFill>
                          <a:latin typeface="Calibri"/>
                        </a:rPr>
                        <a:t>MODEL</a:t>
                      </a:r>
                      <a:endParaRPr lang="en-US" sz="900" b="0" strike="noStrike" spc="-1">
                        <a:solidFill>
                          <a:schemeClr val="tx1"/>
                        </a:solidFill>
                        <a:latin typeface="Arial"/>
                      </a:endParaRPr>
                    </a:p>
                  </a:txBody>
                  <a:tcPr marL="31680" marR="316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ERL</a:t>
                      </a:r>
                      <a:endParaRPr lang="en-US" sz="900" b="0" strike="noStrike" spc="-1">
                        <a:solidFill>
                          <a:schemeClr val="tx1"/>
                        </a:solidFill>
                        <a:latin typeface="Arial"/>
                      </a:endParaRPr>
                    </a:p>
                  </a:txBody>
                  <a:tcPr marL="31680" marR="316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SEATS</a:t>
                      </a:r>
                      <a:endParaRPr lang="en-US" sz="900" b="0" strike="noStrike" spc="-1">
                        <a:solidFill>
                          <a:schemeClr val="tx1"/>
                        </a:solidFill>
                        <a:latin typeface="Arial"/>
                      </a:endParaRPr>
                    </a:p>
                  </a:txBody>
                  <a:tcPr marL="31680" marR="316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OCC</a:t>
                      </a:r>
                      <a:endParaRPr lang="en-US" sz="900" b="0" strike="noStrike" spc="-1">
                        <a:solidFill>
                          <a:schemeClr val="tx1"/>
                        </a:solidFill>
                        <a:latin typeface="Arial"/>
                      </a:endParaRPr>
                    </a:p>
                  </a:txBody>
                  <a:tcPr marL="31680" marR="316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SL</a:t>
                      </a:r>
                      <a:endParaRPr lang="en-US" sz="900" b="0" strike="noStrike" spc="-1">
                        <a:solidFill>
                          <a:schemeClr val="tx1"/>
                        </a:solidFill>
                        <a:latin typeface="Arial"/>
                      </a:endParaRPr>
                    </a:p>
                  </a:txBody>
                  <a:tcPr marL="31680" marR="316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WKLD H</a:t>
                      </a:r>
                      <a:endParaRPr lang="en-US" sz="900" b="0" strike="noStrike" spc="-1">
                        <a:solidFill>
                          <a:schemeClr val="tx1"/>
                        </a:solidFill>
                        <a:latin typeface="Arial"/>
                      </a:endParaRPr>
                    </a:p>
                  </a:txBody>
                  <a:tcPr marL="31680" marR="316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PROD H</a:t>
                      </a:r>
                      <a:endParaRPr lang="en-US" sz="900" b="0" strike="noStrike" spc="-1">
                        <a:solidFill>
                          <a:schemeClr val="tx1"/>
                        </a:solidFill>
                        <a:latin typeface="Arial"/>
                      </a:endParaRPr>
                    </a:p>
                  </a:txBody>
                  <a:tcPr marL="31680" marR="316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WKLD FTE</a:t>
                      </a:r>
                      <a:endParaRPr lang="en-US" sz="900" b="0" strike="noStrike" spc="-1">
                        <a:solidFill>
                          <a:schemeClr val="tx1"/>
                        </a:solidFill>
                        <a:latin typeface="Arial"/>
                      </a:endParaRPr>
                    </a:p>
                  </a:txBody>
                  <a:tcPr marL="31680" marR="316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SLA FTE</a:t>
                      </a:r>
                      <a:endParaRPr lang="en-US" sz="900" b="0" strike="noStrike" spc="-1">
                        <a:solidFill>
                          <a:schemeClr val="tx1"/>
                        </a:solidFill>
                        <a:latin typeface="Arial"/>
                      </a:endParaRPr>
                    </a:p>
                  </a:txBody>
                  <a:tcPr marL="31680" marR="316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0"/>
                  </a:ext>
                </a:extLst>
              </a:tr>
              <a:tr h="152640">
                <a:tc>
                  <a:txBody>
                    <a:bodyPr/>
                    <a:lstStyle/>
                    <a:p>
                      <a:pPr defTabSz="457200">
                        <a:lnSpc>
                          <a:spcPct val="100000"/>
                        </a:lnSpc>
                      </a:pPr>
                      <a:r>
                        <a:rPr lang="en-US" sz="900" b="1" strike="noStrike" spc="-1" dirty="0">
                          <a:solidFill>
                            <a:schemeClr val="tx1"/>
                          </a:solidFill>
                          <a:latin typeface="Calibri"/>
                        </a:rPr>
                        <a:t>English</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dirty="0">
                          <a:solidFill>
                            <a:schemeClr val="tx1"/>
                          </a:solidFill>
                          <a:latin typeface="Calibri"/>
                        </a:rPr>
                        <a:t>Chat</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42,882</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1,150</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Erlang C</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18.77</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24</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78%</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86.2%</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13,699</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14,600</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96.4</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102.7</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1"/>
                  </a:ext>
                </a:extLst>
              </a:tr>
              <a:tr h="152640">
                <a:tc>
                  <a:txBody>
                    <a:bodyPr/>
                    <a:lstStyle/>
                    <a:p>
                      <a:pPr defTabSz="457200">
                        <a:lnSpc>
                          <a:spcPct val="100000"/>
                        </a:lnSpc>
                      </a:pPr>
                      <a:r>
                        <a:rPr lang="en-US" sz="900" b="1" strike="noStrike" spc="-1">
                          <a:solidFill>
                            <a:schemeClr val="tx1"/>
                          </a:solidFill>
                          <a:latin typeface="Calibri"/>
                        </a:rPr>
                        <a:t>English</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dirty="0">
                          <a:solidFill>
                            <a:schemeClr val="tx1"/>
                          </a:solidFill>
                          <a:latin typeface="Calibri"/>
                        </a:rPr>
                        <a:t>Email</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dirty="0">
                          <a:solidFill>
                            <a:schemeClr val="tx1"/>
                          </a:solidFill>
                          <a:latin typeface="Calibri"/>
                        </a:rPr>
                        <a:t>42,882</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1,150</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deferred</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85%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13,699</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16,116</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96.4</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113.4</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2"/>
                  </a:ext>
                </a:extLst>
              </a:tr>
              <a:tr h="152640">
                <a:tc>
                  <a:txBody>
                    <a:bodyPr/>
                    <a:lstStyle/>
                    <a:p>
                      <a:pPr defTabSz="457200">
                        <a:lnSpc>
                          <a:spcPct val="100000"/>
                        </a:lnSpc>
                      </a:pPr>
                      <a:r>
                        <a:rPr lang="en-US" sz="900" b="1" strike="noStrike" spc="-1">
                          <a:solidFill>
                            <a:schemeClr val="tx1"/>
                          </a:solidFill>
                          <a:latin typeface="Calibri"/>
                        </a:rPr>
                        <a:t>English</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dirty="0">
                          <a:solidFill>
                            <a:schemeClr val="tx1"/>
                          </a:solidFill>
                          <a:latin typeface="Calibri"/>
                        </a:rPr>
                        <a:t>Inbound</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44,182</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dirty="0">
                          <a:solidFill>
                            <a:schemeClr val="tx1"/>
                          </a:solidFill>
                          <a:latin typeface="Calibri"/>
                        </a:rPr>
                        <a:t>458</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Erlang C</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7.69</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11</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70%</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82.6%</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5,615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8,030</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39.5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56.5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3"/>
                  </a:ext>
                </a:extLst>
              </a:tr>
              <a:tr h="152640">
                <a:tc>
                  <a:txBody>
                    <a:bodyPr/>
                    <a:lstStyle/>
                    <a:p>
                      <a:pPr defTabSz="457200">
                        <a:lnSpc>
                          <a:spcPct val="100000"/>
                        </a:lnSpc>
                      </a:pPr>
                      <a:r>
                        <a:rPr lang="en-US" sz="900" b="1" strike="noStrike" spc="-1">
                          <a:solidFill>
                            <a:schemeClr val="tx1"/>
                          </a:solidFill>
                          <a:latin typeface="Calibri"/>
                        </a:rPr>
                        <a:t>English</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Outbound</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44,182</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108</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dirty="0">
                          <a:solidFill>
                            <a:schemeClr val="tx1"/>
                          </a:solidFill>
                          <a:latin typeface="Calibri"/>
                        </a:rPr>
                        <a:t>deferred</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85%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1,319</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1,552</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9.3</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10.9</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4"/>
                  </a:ext>
                </a:extLst>
              </a:tr>
              <a:tr h="152640">
                <a:tc>
                  <a:txBody>
                    <a:bodyPr/>
                    <a:lstStyle/>
                    <a:p>
                      <a:pPr defTabSz="457200">
                        <a:lnSpc>
                          <a:spcPct val="100000"/>
                        </a:lnSpc>
                      </a:pPr>
                      <a:r>
                        <a:rPr lang="en-US" sz="900" b="1" strike="noStrike" spc="-1">
                          <a:solidFill>
                            <a:schemeClr val="tx1"/>
                          </a:solidFill>
                          <a:latin typeface="Calibri"/>
                        </a:rPr>
                        <a:t>French</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Chat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6,566</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dirty="0">
                          <a:solidFill>
                            <a:schemeClr val="tx1"/>
                          </a:solidFill>
                          <a:latin typeface="Calibri"/>
                        </a:rPr>
                        <a:t>900</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Erlang C</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dirty="0">
                          <a:solidFill>
                            <a:schemeClr val="tx1"/>
                          </a:solidFill>
                          <a:latin typeface="Calibri"/>
                        </a:rPr>
                        <a:t>2.25</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45%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92.5%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1,641</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3,042</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11.5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21.4</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5"/>
                  </a:ext>
                </a:extLst>
              </a:tr>
              <a:tr h="152640">
                <a:tc>
                  <a:txBody>
                    <a:bodyPr/>
                    <a:lstStyle/>
                    <a:p>
                      <a:pPr defTabSz="457200">
                        <a:lnSpc>
                          <a:spcPct val="100000"/>
                        </a:lnSpc>
                      </a:pPr>
                      <a:r>
                        <a:rPr lang="en-US" sz="900" b="1" strike="noStrike" spc="-1">
                          <a:solidFill>
                            <a:schemeClr val="tx1"/>
                          </a:solidFill>
                          <a:latin typeface="Calibri"/>
                        </a:rPr>
                        <a:t>French</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Email</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6,566</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600</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dirty="0">
                          <a:solidFill>
                            <a:schemeClr val="tx1"/>
                          </a:solidFill>
                          <a:latin typeface="Calibri"/>
                        </a:rPr>
                        <a:t>deferred</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dirty="0">
                          <a:solidFill>
                            <a:schemeClr val="tx1"/>
                          </a:solidFill>
                          <a:latin typeface="Calibri"/>
                        </a:rPr>
                        <a:t>—</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85%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1,094</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1,287</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7.7</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9.1</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6"/>
                  </a:ext>
                </a:extLst>
              </a:tr>
              <a:tr h="152640">
                <a:tc>
                  <a:txBody>
                    <a:bodyPr/>
                    <a:lstStyle/>
                    <a:p>
                      <a:pPr defTabSz="457200">
                        <a:lnSpc>
                          <a:spcPct val="100000"/>
                        </a:lnSpc>
                      </a:pPr>
                      <a:r>
                        <a:rPr lang="en-US" sz="900" b="1" strike="noStrike" spc="-1">
                          <a:solidFill>
                            <a:schemeClr val="tx1"/>
                          </a:solidFill>
                          <a:latin typeface="Calibri"/>
                        </a:rPr>
                        <a:t>French</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Inbound</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6,765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360</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dirty="0">
                          <a:solidFill>
                            <a:schemeClr val="tx1"/>
                          </a:solidFill>
                          <a:latin typeface="Calibri"/>
                        </a:rPr>
                        <a:t>Erlang C</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0.93</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dirty="0">
                          <a:solidFill>
                            <a:schemeClr val="tx1"/>
                          </a:solidFill>
                          <a:latin typeface="Calibri"/>
                        </a:rPr>
                        <a:t>3</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31%</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93.3%</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677</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2,190</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4.8</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15.4</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7"/>
                  </a:ext>
                </a:extLst>
              </a:tr>
              <a:tr h="152640">
                <a:tc>
                  <a:txBody>
                    <a:bodyPr/>
                    <a:lstStyle/>
                    <a:p>
                      <a:pPr defTabSz="457200">
                        <a:lnSpc>
                          <a:spcPct val="100000"/>
                        </a:lnSpc>
                      </a:pPr>
                      <a:r>
                        <a:rPr lang="en-US" sz="900" b="1" strike="noStrike" spc="-1">
                          <a:solidFill>
                            <a:schemeClr val="tx1"/>
                          </a:solidFill>
                          <a:latin typeface="Calibri"/>
                        </a:rPr>
                        <a:t>French</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Outbound</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6,765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115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deferred</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dirty="0">
                          <a:solidFill>
                            <a:schemeClr val="tx1"/>
                          </a:solidFill>
                          <a:latin typeface="Calibri"/>
                        </a:rPr>
                        <a:t>—</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85%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dirty="0">
                          <a:solidFill>
                            <a:schemeClr val="tx1"/>
                          </a:solidFill>
                          <a:latin typeface="Calibri"/>
                        </a:rPr>
                        <a:t>216</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254</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1.8</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8"/>
                  </a:ext>
                </a:extLst>
              </a:tr>
              <a:tr h="152640">
                <a:tc>
                  <a:txBody>
                    <a:bodyPr/>
                    <a:lstStyle/>
                    <a:p>
                      <a:pPr defTabSz="457200">
                        <a:lnSpc>
                          <a:spcPct val="100000"/>
                        </a:lnSpc>
                      </a:pPr>
                      <a:r>
                        <a:rPr lang="en-US" sz="900" b="1" strike="noStrike" spc="-1">
                          <a:solidFill>
                            <a:schemeClr val="tx1"/>
                          </a:solidFill>
                          <a:latin typeface="Calibri"/>
                        </a:rPr>
                        <a:t>German</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Chat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8,899</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900</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Erlang C</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3.05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6</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dirty="0">
                          <a:solidFill>
                            <a:schemeClr val="tx1"/>
                          </a:solidFill>
                          <a:latin typeface="Calibri"/>
                        </a:rPr>
                        <a:t>51%</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91.3%</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2,225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3,650</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15.7</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25.7</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9"/>
                  </a:ext>
                </a:extLst>
              </a:tr>
              <a:tr h="152640">
                <a:tc>
                  <a:txBody>
                    <a:bodyPr/>
                    <a:lstStyle/>
                    <a:p>
                      <a:pPr defTabSz="457200">
                        <a:lnSpc>
                          <a:spcPct val="100000"/>
                        </a:lnSpc>
                      </a:pPr>
                      <a:r>
                        <a:rPr lang="en-US" sz="900" b="1" strike="noStrike" spc="-1">
                          <a:solidFill>
                            <a:schemeClr val="tx1"/>
                          </a:solidFill>
                          <a:latin typeface="Calibri"/>
                        </a:rPr>
                        <a:t>German</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Email</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dirty="0">
                          <a:solidFill>
                            <a:schemeClr val="tx1"/>
                          </a:solidFill>
                          <a:latin typeface="Calibri"/>
                        </a:rPr>
                        <a:t>8,899</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700</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deferred</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dirty="0">
                          <a:solidFill>
                            <a:schemeClr val="tx1"/>
                          </a:solidFill>
                          <a:latin typeface="Calibri"/>
                        </a:rPr>
                        <a:t>85%</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1,730</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2,036</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12.2</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14.3</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10"/>
                  </a:ext>
                </a:extLst>
              </a:tr>
              <a:tr h="152640">
                <a:tc>
                  <a:txBody>
                    <a:bodyPr/>
                    <a:lstStyle/>
                    <a:p>
                      <a:pPr defTabSz="457200">
                        <a:lnSpc>
                          <a:spcPct val="100000"/>
                        </a:lnSpc>
                      </a:pPr>
                      <a:r>
                        <a:rPr lang="en-US" sz="900" b="1" strike="noStrike" spc="-1">
                          <a:solidFill>
                            <a:schemeClr val="tx1"/>
                          </a:solidFill>
                          <a:latin typeface="Calibri"/>
                        </a:rPr>
                        <a:t>German</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Inbound</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9,168</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360</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Erlang C</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1.26</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3</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42%</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dirty="0">
                          <a:solidFill>
                            <a:schemeClr val="tx1"/>
                          </a:solidFill>
                          <a:latin typeface="Calibri"/>
                        </a:rPr>
                        <a:t>85.7%</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917</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2,190</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6.5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15.4</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11"/>
                  </a:ext>
                </a:extLst>
              </a:tr>
              <a:tr h="152640">
                <a:tc>
                  <a:txBody>
                    <a:bodyPr/>
                    <a:lstStyle/>
                    <a:p>
                      <a:pPr defTabSz="457200">
                        <a:lnSpc>
                          <a:spcPct val="100000"/>
                        </a:lnSpc>
                      </a:pPr>
                      <a:r>
                        <a:rPr lang="en-US" sz="900" b="1" strike="noStrike" spc="-1">
                          <a:solidFill>
                            <a:schemeClr val="tx1"/>
                          </a:solidFill>
                          <a:latin typeface="Calibri"/>
                        </a:rPr>
                        <a:t>German</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Outbound</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9,168</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115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deferred</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85%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dirty="0">
                          <a:solidFill>
                            <a:schemeClr val="tx1"/>
                          </a:solidFill>
                          <a:latin typeface="Calibri"/>
                        </a:rPr>
                        <a:t>—</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293</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345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2.1</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2.4</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12"/>
                  </a:ext>
                </a:extLst>
              </a:tr>
              <a:tr h="152640">
                <a:tc>
                  <a:txBody>
                    <a:bodyPr/>
                    <a:lstStyle/>
                    <a:p>
                      <a:pPr defTabSz="457200">
                        <a:lnSpc>
                          <a:spcPct val="100000"/>
                        </a:lnSpc>
                      </a:pPr>
                      <a:r>
                        <a:rPr lang="en-US" sz="900" b="1" strike="noStrike" spc="-1">
                          <a:solidFill>
                            <a:schemeClr val="tx1"/>
                          </a:solidFill>
                          <a:latin typeface="Calibri"/>
                        </a:rPr>
                        <a:t>Italian</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Chat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5,927</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900</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Erlang C</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2.03</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4</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51%</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dirty="0">
                          <a:solidFill>
                            <a:schemeClr val="tx1"/>
                          </a:solidFill>
                          <a:latin typeface="Calibri"/>
                        </a:rPr>
                        <a:t>84.1%</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1,482</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2,433</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10.4</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17.1</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13"/>
                  </a:ext>
                </a:extLst>
              </a:tr>
              <a:tr h="152640">
                <a:tc>
                  <a:txBody>
                    <a:bodyPr/>
                    <a:lstStyle/>
                    <a:p>
                      <a:pPr defTabSz="457200">
                        <a:lnSpc>
                          <a:spcPct val="100000"/>
                        </a:lnSpc>
                      </a:pPr>
                      <a:r>
                        <a:rPr lang="en-US" sz="900" b="1" strike="noStrike" spc="-1">
                          <a:solidFill>
                            <a:schemeClr val="tx1"/>
                          </a:solidFill>
                          <a:latin typeface="Calibri"/>
                        </a:rPr>
                        <a:t>Italian</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Email</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5,927</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800</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deferred</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85%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dirty="0">
                          <a:solidFill>
                            <a:schemeClr val="tx1"/>
                          </a:solidFill>
                          <a:latin typeface="Calibri"/>
                        </a:rPr>
                        <a:t>—</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dirty="0">
                          <a:solidFill>
                            <a:schemeClr val="tx1"/>
                          </a:solidFill>
                          <a:latin typeface="Calibri"/>
                        </a:rPr>
                        <a:t>1,317</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1,549</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9.3</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10.9</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14"/>
                  </a:ext>
                </a:extLst>
              </a:tr>
              <a:tr h="152640">
                <a:tc>
                  <a:txBody>
                    <a:bodyPr/>
                    <a:lstStyle/>
                    <a:p>
                      <a:pPr defTabSz="457200">
                        <a:lnSpc>
                          <a:spcPct val="100000"/>
                        </a:lnSpc>
                      </a:pPr>
                      <a:r>
                        <a:rPr lang="en-US" sz="900" b="1" strike="noStrike" spc="-1">
                          <a:solidFill>
                            <a:schemeClr val="tx1"/>
                          </a:solidFill>
                          <a:latin typeface="Calibri"/>
                        </a:rPr>
                        <a:t>Italian</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Inbound</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6,106</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360</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Erlang C</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0.84</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3</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28%</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94.8%</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dirty="0">
                          <a:solidFill>
                            <a:schemeClr val="tx1"/>
                          </a:solidFill>
                          <a:latin typeface="Calibri"/>
                        </a:rPr>
                        <a:t>611</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2,190</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4.3</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15.4</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15"/>
                  </a:ext>
                </a:extLst>
              </a:tr>
              <a:tr h="152640">
                <a:tc>
                  <a:txBody>
                    <a:bodyPr/>
                    <a:lstStyle/>
                    <a:p>
                      <a:pPr defTabSz="457200">
                        <a:lnSpc>
                          <a:spcPct val="100000"/>
                        </a:lnSpc>
                      </a:pPr>
                      <a:r>
                        <a:rPr lang="en-US" sz="900" b="1" strike="noStrike" spc="-1">
                          <a:solidFill>
                            <a:schemeClr val="tx1"/>
                          </a:solidFill>
                          <a:latin typeface="Calibri"/>
                        </a:rPr>
                        <a:t>Italian</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Outbound</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6,106</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115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deferred</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85%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dirty="0">
                          <a:solidFill>
                            <a:schemeClr val="tx1"/>
                          </a:solidFill>
                          <a:latin typeface="Calibri"/>
                        </a:rPr>
                        <a:t>195</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229</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dirty="0">
                          <a:solidFill>
                            <a:schemeClr val="tx1"/>
                          </a:solidFill>
                          <a:latin typeface="Calibri"/>
                        </a:rPr>
                        <a:t>1.4</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1.6</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16"/>
                  </a:ext>
                </a:extLst>
              </a:tr>
              <a:tr h="152640">
                <a:tc>
                  <a:txBody>
                    <a:bodyPr/>
                    <a:lstStyle/>
                    <a:p>
                      <a:pPr defTabSz="457200">
                        <a:lnSpc>
                          <a:spcPct val="100000"/>
                        </a:lnSpc>
                      </a:pPr>
                      <a:r>
                        <a:rPr lang="en-US" sz="900" b="1" strike="noStrike" spc="-1">
                          <a:solidFill>
                            <a:schemeClr val="tx1"/>
                          </a:solidFill>
                          <a:latin typeface="Calibri"/>
                        </a:rPr>
                        <a:t>Spanish</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Chat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8,097</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900</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Erlang C</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2.77</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55%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84.2%</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dirty="0">
                          <a:solidFill>
                            <a:schemeClr val="tx1"/>
                          </a:solidFill>
                          <a:latin typeface="Calibri"/>
                        </a:rPr>
                        <a:t>2,024</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dirty="0">
                          <a:solidFill>
                            <a:schemeClr val="tx1"/>
                          </a:solidFill>
                          <a:latin typeface="Calibri"/>
                        </a:rPr>
                        <a:t>3,042</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14.2</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21.4</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17"/>
                  </a:ext>
                </a:extLst>
              </a:tr>
              <a:tr h="152640">
                <a:tc>
                  <a:txBody>
                    <a:bodyPr/>
                    <a:lstStyle/>
                    <a:p>
                      <a:pPr defTabSz="457200">
                        <a:lnSpc>
                          <a:spcPct val="100000"/>
                        </a:lnSpc>
                      </a:pPr>
                      <a:r>
                        <a:rPr lang="en-US" sz="900" b="1" strike="noStrike" spc="-1">
                          <a:solidFill>
                            <a:schemeClr val="tx1"/>
                          </a:solidFill>
                          <a:latin typeface="Calibri"/>
                        </a:rPr>
                        <a:t>Spanish</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Email</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8,097</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600</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deferred</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85%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1,350</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dirty="0">
                          <a:solidFill>
                            <a:schemeClr val="tx1"/>
                          </a:solidFill>
                          <a:latin typeface="Calibri"/>
                        </a:rPr>
                        <a:t>1,588</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9.5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11.2</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18"/>
                  </a:ext>
                </a:extLst>
              </a:tr>
              <a:tr h="152640">
                <a:tc>
                  <a:txBody>
                    <a:bodyPr/>
                    <a:lstStyle/>
                    <a:p>
                      <a:pPr defTabSz="457200">
                        <a:lnSpc>
                          <a:spcPct val="100000"/>
                        </a:lnSpc>
                      </a:pPr>
                      <a:r>
                        <a:rPr lang="en-US" sz="900" b="1" strike="noStrike" spc="-1">
                          <a:solidFill>
                            <a:schemeClr val="tx1"/>
                          </a:solidFill>
                          <a:latin typeface="Calibri"/>
                        </a:rPr>
                        <a:t>Spanish</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Inbound</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8,342</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360</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Erlang C</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1.14</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3</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38%</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88.7%</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834</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dirty="0">
                          <a:solidFill>
                            <a:schemeClr val="tx1"/>
                          </a:solidFill>
                          <a:latin typeface="Calibri"/>
                        </a:rPr>
                        <a:t>2,190</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dirty="0">
                          <a:solidFill>
                            <a:schemeClr val="tx1"/>
                          </a:solidFill>
                          <a:latin typeface="Calibri"/>
                        </a:rPr>
                        <a:t>5.9</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dirty="0">
                          <a:solidFill>
                            <a:schemeClr val="tx1"/>
                          </a:solidFill>
                          <a:latin typeface="Calibri"/>
                        </a:rPr>
                        <a:t>15.4</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19"/>
                  </a:ext>
                </a:extLst>
              </a:tr>
              <a:tr h="152640">
                <a:tc>
                  <a:txBody>
                    <a:bodyPr/>
                    <a:lstStyle/>
                    <a:p>
                      <a:pPr defTabSz="457200">
                        <a:lnSpc>
                          <a:spcPct val="100000"/>
                        </a:lnSpc>
                      </a:pPr>
                      <a:r>
                        <a:rPr lang="en-US" sz="900" b="1" strike="noStrike" spc="-1">
                          <a:solidFill>
                            <a:schemeClr val="tx1"/>
                          </a:solidFill>
                          <a:latin typeface="Calibri"/>
                        </a:rPr>
                        <a:t>Spanish</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Outbound</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8,342</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115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chemeClr val="tx1"/>
                          </a:solidFill>
                          <a:latin typeface="Calibri"/>
                        </a:rPr>
                        <a:t>deferred</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85%</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266</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chemeClr val="tx1"/>
                          </a:solidFill>
                          <a:latin typeface="Calibri"/>
                        </a:rPr>
                        <a:t>314</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dirty="0">
                          <a:solidFill>
                            <a:schemeClr val="tx1"/>
                          </a:solidFill>
                          <a:latin typeface="Calibri"/>
                        </a:rPr>
                        <a:t>1.9</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dirty="0">
                          <a:solidFill>
                            <a:schemeClr val="tx1"/>
                          </a:solidFill>
                          <a:latin typeface="Calibri"/>
                        </a:rPr>
                        <a:t>2.2</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20"/>
                  </a:ext>
                </a:extLst>
              </a:tr>
              <a:tr h="152640">
                <a:tc>
                  <a:txBody>
                    <a:bodyPr/>
                    <a:lstStyle/>
                    <a:p>
                      <a:pPr defTabSz="457200">
                        <a:lnSpc>
                          <a:spcPct val="100000"/>
                        </a:lnSpc>
                      </a:pPr>
                      <a:r>
                        <a:rPr lang="en-US" sz="900" b="1" strike="noStrike" spc="-1">
                          <a:solidFill>
                            <a:schemeClr val="tx1"/>
                          </a:solidFill>
                          <a:latin typeface="Calibri"/>
                        </a:rPr>
                        <a:t>Total</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293,869</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51,203</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68,827</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a:solidFill>
                            <a:schemeClr val="tx1"/>
                          </a:solidFill>
                          <a:latin typeface="Calibri"/>
                        </a:rPr>
                        <a:t>360.2</a:t>
                      </a:r>
                      <a:endParaRPr lang="en-US" sz="900" b="0" strike="noStrike" spc="-1">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1" strike="noStrike" spc="-1" dirty="0">
                          <a:solidFill>
                            <a:schemeClr val="tx1"/>
                          </a:solidFill>
                          <a:latin typeface="Calibri"/>
                        </a:rPr>
                        <a:t>484.2</a:t>
                      </a:r>
                      <a:endParaRPr lang="en-US" sz="900" b="0" strike="noStrike" spc="-1" dirty="0">
                        <a:solidFill>
                          <a:schemeClr val="tx1"/>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21"/>
                  </a:ext>
                </a:extLst>
              </a:tr>
            </a:tbl>
          </a:graphicData>
        </a:graphic>
      </p:graphicFrame>
      <p:sp>
        <p:nvSpPr>
          <p:cNvPr id="228" name="TextBox 6"/>
          <p:cNvSpPr/>
          <p:nvPr/>
        </p:nvSpPr>
        <p:spPr>
          <a:xfrm>
            <a:off x="8179560" y="1216080"/>
            <a:ext cx="350892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820" b="1" strike="noStrike" spc="58">
                <a:solidFill>
                  <a:srgbClr val="898781"/>
                </a:solidFill>
                <a:latin typeface="Calibri"/>
              </a:rPr>
              <a:t>WHERE THE 484 FTE SITS</a:t>
            </a:r>
            <a:endParaRPr lang="en-US" sz="820" b="0" strike="noStrike" spc="-1">
              <a:solidFill>
                <a:srgbClr val="000000"/>
              </a:solidFill>
              <a:latin typeface="Arial"/>
            </a:endParaRPr>
          </a:p>
        </p:txBody>
      </p:sp>
      <p:sp>
        <p:nvSpPr>
          <p:cNvPr id="230" name="TextBox 8"/>
          <p:cNvSpPr/>
          <p:nvPr/>
        </p:nvSpPr>
        <p:spPr>
          <a:xfrm>
            <a:off x="8179560" y="1416549"/>
            <a:ext cx="3508920" cy="26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900" b="1" strike="noStrike" spc="-1">
                <a:latin typeface="Calibri"/>
              </a:rPr>
              <a:t>Chat is the single largest line at 39%</a:t>
            </a:r>
            <a:r>
              <a:rPr lang="en-US" sz="900" b="0" strike="noStrike" spc="-1">
                <a:latin typeface="Calibri"/>
              </a:rPr>
              <a:t>, which is why concurrency is the biggest available lever.</a:t>
            </a:r>
            <a:endParaRPr lang="en-US" sz="900" b="0" strike="noStrike" spc="-1">
              <a:latin typeface="Arial"/>
            </a:endParaRPr>
          </a:p>
        </p:txBody>
      </p:sp>
      <p:sp>
        <p:nvSpPr>
          <p:cNvPr id="231" name="TextBox 9"/>
          <p:cNvSpPr/>
          <p:nvPr/>
        </p:nvSpPr>
        <p:spPr>
          <a:xfrm>
            <a:off x="8179560" y="1726509"/>
            <a:ext cx="3508920" cy="26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900" b="1" strike="noStrike" spc="-1" dirty="0">
                <a:latin typeface="Calibri"/>
              </a:rPr>
              <a:t>Outbound is 4%</a:t>
            </a:r>
            <a:r>
              <a:rPr lang="en-US" sz="900" b="0" strike="noStrike" spc="-1" dirty="0">
                <a:latin typeface="Calibri"/>
              </a:rPr>
              <a:t> despite carrying a quarter of all contacts — its AHT is 107s against email's 1,150s.</a:t>
            </a:r>
            <a:endParaRPr lang="en-US" sz="900" b="0" strike="noStrike" spc="-1" dirty="0">
              <a:latin typeface="Arial"/>
            </a:endParaRPr>
          </a:p>
        </p:txBody>
      </p:sp>
      <p:sp>
        <p:nvSpPr>
          <p:cNvPr id="232" name="TextBox 10"/>
          <p:cNvSpPr/>
          <p:nvPr/>
        </p:nvSpPr>
        <p:spPr>
          <a:xfrm>
            <a:off x="8179560" y="2036469"/>
            <a:ext cx="3508920" cy="26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900" b="1" strike="noStrike" spc="-1">
                <a:latin typeface="Calibri"/>
              </a:rPr>
              <a:t>Email at 159 FTE is modelled as deferred work</a:t>
            </a:r>
            <a:r>
              <a:rPr lang="en-US" sz="900" b="0" strike="noStrike" spc="-1">
                <a:latin typeface="Calibri"/>
              </a:rPr>
              <a:t> at 85% planned occupancy — an explicit assumption, not from the workbook.</a:t>
            </a:r>
            <a:endParaRPr lang="en-US" sz="900" b="0" strike="noStrike" spc="-1">
              <a:latin typeface="Arial"/>
            </a:endParaRPr>
          </a:p>
        </p:txBody>
      </p:sp>
      <p:cxnSp>
        <p:nvCxnSpPr>
          <p:cNvPr id="233" name="Connector 11"/>
          <p:cNvCxnSpPr/>
          <p:nvPr/>
        </p:nvCxnSpPr>
        <p:spPr>
          <a:xfrm>
            <a:off x="8179200" y="2373429"/>
            <a:ext cx="360" cy="435240"/>
          </a:xfrm>
          <a:prstGeom prst="straightConnector1">
            <a:avLst/>
          </a:prstGeom>
          <a:ln w="28575">
            <a:solidFill>
              <a:srgbClr val="C3C2B7"/>
            </a:solidFill>
            <a:round/>
          </a:ln>
        </p:spPr>
      </p:cxnSp>
      <p:sp>
        <p:nvSpPr>
          <p:cNvPr id="234" name="TextBox 12"/>
          <p:cNvSpPr/>
          <p:nvPr/>
        </p:nvSpPr>
        <p:spPr>
          <a:xfrm>
            <a:off x="8298360" y="2401149"/>
            <a:ext cx="3390120" cy="36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900" b="0" strike="noStrike" spc="-1">
                <a:latin typeface="Calibri"/>
              </a:rPr>
              <a:t>The </a:t>
            </a:r>
            <a:r>
              <a:rPr lang="en-US" sz="900" b="1" strike="noStrike" spc="-1">
                <a:latin typeface="Calibri"/>
              </a:rPr>
              <a:t>deferred</a:t>
            </a:r>
            <a:r>
              <a:rPr lang="en-US" sz="900" b="0" strike="noStrike" spc="-1">
                <a:latin typeface="Calibri"/>
              </a:rPr>
              <a:t> rows carry no Erlang figures by design: a 120-minute target is a backlog commitment, not a queue discipline, so seats are derived from hours and planned occupancy instead.</a:t>
            </a:r>
            <a:endParaRPr lang="en-US" sz="900" b="0" strike="noStrike" spc="-1">
              <a:latin typeface="Arial"/>
            </a:endParaRPr>
          </a:p>
        </p:txBody>
      </p:sp>
      <p:cxnSp>
        <p:nvCxnSpPr>
          <p:cNvPr id="235" name="Connector 13"/>
          <p:cNvCxnSpPr/>
          <p:nvPr/>
        </p:nvCxnSpPr>
        <p:spPr>
          <a:xfrm>
            <a:off x="502920" y="6400800"/>
            <a:ext cx="11185920" cy="360"/>
          </a:xfrm>
          <a:prstGeom prst="straightConnector1">
            <a:avLst/>
          </a:prstGeom>
          <a:ln w="9525">
            <a:solidFill>
              <a:srgbClr val="E1E0D9"/>
            </a:solidFill>
            <a:round/>
          </a:ln>
        </p:spPr>
      </p:cxnSp>
      <p:sp>
        <p:nvSpPr>
          <p:cNvPr id="236" name="TextBox 14"/>
          <p:cNvSpPr/>
          <p:nvPr/>
        </p:nvSpPr>
        <p:spPr>
          <a:xfrm>
            <a:off x="502920" y="6446520"/>
            <a:ext cx="91720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750" spc="-1" dirty="0" err="1">
                <a:solidFill>
                  <a:srgbClr val="898781"/>
                </a:solidFill>
                <a:latin typeface="Calibri" panose="020F0502020204030204" pitchFamily="34" charset="0"/>
                <a:cs typeface="Calibri" panose="020F0502020204030204" pitchFamily="34" charset="0"/>
              </a:rPr>
              <a:t>GetYourGuide</a:t>
            </a:r>
            <a:r>
              <a:rPr lang="en-US" sz="750" spc="-1" dirty="0">
                <a:solidFill>
                  <a:srgbClr val="898781"/>
                </a:solidFill>
                <a:latin typeface="Calibri" panose="020F0502020204030204" pitchFamily="34" charset="0"/>
                <a:cs typeface="Calibri" panose="020F0502020204030204" pitchFamily="34" charset="0"/>
              </a:rPr>
              <a:t> · WFM take-home submission · </a:t>
            </a:r>
            <a:endParaRPr lang="en-US" sz="750" spc="-1" dirty="0">
              <a:solidFill>
                <a:srgbClr val="000000"/>
              </a:solidFill>
              <a:latin typeface="Calibri" panose="020F0502020204030204" pitchFamily="34" charset="0"/>
              <a:cs typeface="Calibri" panose="020F0502020204030204" pitchFamily="34" charset="0"/>
            </a:endParaRPr>
          </a:p>
        </p:txBody>
      </p:sp>
      <p:sp>
        <p:nvSpPr>
          <p:cNvPr id="237" name="TextBox 15"/>
          <p:cNvSpPr/>
          <p:nvPr/>
        </p:nvSpPr>
        <p:spPr>
          <a:xfrm>
            <a:off x="9675360" y="6446520"/>
            <a:ext cx="2013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457200">
              <a:lnSpc>
                <a:spcPct val="100000"/>
              </a:lnSpc>
            </a:pPr>
            <a:r>
              <a:rPr lang="en-US" sz="800" b="1" strike="noStrike" spc="-1" dirty="0">
                <a:solidFill>
                  <a:srgbClr val="52514E"/>
                </a:solidFill>
                <a:latin typeface="Calibri"/>
              </a:rPr>
              <a:t>A2 / </a:t>
            </a:r>
            <a:r>
              <a:rPr lang="en-US" sz="800" b="1" spc="-1" dirty="0">
                <a:solidFill>
                  <a:srgbClr val="52514E"/>
                </a:solidFill>
                <a:latin typeface="Calibri"/>
              </a:rPr>
              <a:t>4</a:t>
            </a:r>
            <a:endParaRPr lang="en-US" sz="800" b="0" strike="noStrike" spc="-1" dirty="0">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38" name="TextBox 1"/>
          <p:cNvSpPr/>
          <p:nvPr/>
        </p:nvSpPr>
        <p:spPr>
          <a:xfrm>
            <a:off x="502920" y="320040"/>
            <a:ext cx="111855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800" b="1" spc="-1" dirty="0">
                <a:solidFill>
                  <a:schemeClr val="accent1"/>
                </a:solidFill>
              </a:rPr>
              <a:t>Appendix A3 </a:t>
            </a:r>
            <a:r>
              <a:rPr lang="en-US" sz="800" b="0" strike="noStrike" spc="-1" dirty="0">
                <a:solidFill>
                  <a:srgbClr val="898781"/>
                </a:solidFill>
                <a:latin typeface="Calibri"/>
              </a:rPr>
              <a:t>Manager, Workforce Management · Care Experience &amp; Strategy</a:t>
            </a:r>
            <a:endParaRPr lang="en-US" sz="800" b="0" strike="noStrike" spc="-1" dirty="0">
              <a:solidFill>
                <a:srgbClr val="000000"/>
              </a:solidFill>
              <a:latin typeface="Arial"/>
            </a:endParaRPr>
          </a:p>
        </p:txBody>
      </p:sp>
      <p:sp>
        <p:nvSpPr>
          <p:cNvPr id="239" name="TextBox 2"/>
          <p:cNvSpPr/>
          <p:nvPr/>
        </p:nvSpPr>
        <p:spPr>
          <a:xfrm>
            <a:off x="502920" y="484560"/>
            <a:ext cx="111855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700" b="1" strike="noStrike" spc="-1" dirty="0">
                <a:solidFill>
                  <a:srgbClr val="0B0B0B"/>
                </a:solidFill>
                <a:latin typeface="Calibri"/>
              </a:rPr>
              <a:t>Data-quality log — all 7 checks</a:t>
            </a:r>
            <a:endParaRPr lang="en-US" sz="1700" b="0" strike="noStrike" spc="-1" dirty="0">
              <a:solidFill>
                <a:srgbClr val="000000"/>
              </a:solidFill>
              <a:latin typeface="Arial"/>
            </a:endParaRPr>
          </a:p>
        </p:txBody>
      </p:sp>
      <p:sp>
        <p:nvSpPr>
          <p:cNvPr id="240" name="TextBox 3"/>
          <p:cNvSpPr/>
          <p:nvPr/>
        </p:nvSpPr>
        <p:spPr>
          <a:xfrm>
            <a:off x="502920" y="822960"/>
            <a:ext cx="111855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050" b="0" strike="noStrike" spc="-1" dirty="0">
                <a:solidFill>
                  <a:srgbClr val="52514E"/>
                </a:solidFill>
                <a:latin typeface="Calibri"/>
              </a:rPr>
              <a:t>Condensed to five rows on slide 3. This is the full log, including the checks that passed.</a:t>
            </a:r>
            <a:endParaRPr lang="en-US" sz="1050" b="0" strike="noStrike" spc="-1" dirty="0">
              <a:solidFill>
                <a:srgbClr val="000000"/>
              </a:solidFill>
              <a:latin typeface="Arial"/>
            </a:endParaRPr>
          </a:p>
        </p:txBody>
      </p:sp>
      <p:cxnSp>
        <p:nvCxnSpPr>
          <p:cNvPr id="241" name="Connector 4"/>
          <p:cNvCxnSpPr/>
          <p:nvPr/>
        </p:nvCxnSpPr>
        <p:spPr>
          <a:xfrm>
            <a:off x="502920" y="1078920"/>
            <a:ext cx="11185920" cy="360"/>
          </a:xfrm>
          <a:prstGeom prst="straightConnector1">
            <a:avLst/>
          </a:prstGeom>
          <a:ln w="9525">
            <a:solidFill>
              <a:srgbClr val="E1E0D9"/>
            </a:solidFill>
            <a:round/>
          </a:ln>
        </p:spPr>
      </p:cxnSp>
      <p:graphicFrame>
        <p:nvGraphicFramePr>
          <p:cNvPr id="242" name="Table 5"/>
          <p:cNvGraphicFramePr/>
          <p:nvPr>
            <p:extLst>
              <p:ext uri="{D42A27DB-BD31-4B8C-83A1-F6EECF244321}">
                <p14:modId xmlns:p14="http://schemas.microsoft.com/office/powerpoint/2010/main" val="3412568109"/>
              </p:ext>
            </p:extLst>
          </p:nvPr>
        </p:nvGraphicFramePr>
        <p:xfrm>
          <a:off x="502920" y="1261800"/>
          <a:ext cx="6530926" cy="2724480"/>
        </p:xfrm>
        <a:graphic>
          <a:graphicData uri="http://schemas.openxmlformats.org/drawingml/2006/table">
            <a:tbl>
              <a:tblPr/>
              <a:tblGrid>
                <a:gridCol w="193811">
                  <a:extLst>
                    <a:ext uri="{9D8B030D-6E8A-4147-A177-3AD203B41FA5}">
                      <a16:colId xmlns:a16="http://schemas.microsoft.com/office/drawing/2014/main" val="20000"/>
                    </a:ext>
                  </a:extLst>
                </a:gridCol>
                <a:gridCol w="452576">
                  <a:extLst>
                    <a:ext uri="{9D8B030D-6E8A-4147-A177-3AD203B41FA5}">
                      <a16:colId xmlns:a16="http://schemas.microsoft.com/office/drawing/2014/main" val="20001"/>
                    </a:ext>
                  </a:extLst>
                </a:gridCol>
                <a:gridCol w="1681237">
                  <a:extLst>
                    <a:ext uri="{9D8B030D-6E8A-4147-A177-3AD203B41FA5}">
                      <a16:colId xmlns:a16="http://schemas.microsoft.com/office/drawing/2014/main" val="20002"/>
                    </a:ext>
                  </a:extLst>
                </a:gridCol>
                <a:gridCol w="2134023">
                  <a:extLst>
                    <a:ext uri="{9D8B030D-6E8A-4147-A177-3AD203B41FA5}">
                      <a16:colId xmlns:a16="http://schemas.microsoft.com/office/drawing/2014/main" val="20003"/>
                    </a:ext>
                  </a:extLst>
                </a:gridCol>
                <a:gridCol w="2069279">
                  <a:extLst>
                    <a:ext uri="{9D8B030D-6E8A-4147-A177-3AD203B41FA5}">
                      <a16:colId xmlns:a16="http://schemas.microsoft.com/office/drawing/2014/main" val="20004"/>
                    </a:ext>
                  </a:extLst>
                </a:gridCol>
              </a:tblGrid>
              <a:tr h="264960">
                <a:tc>
                  <a:txBody>
                    <a:bodyPr/>
                    <a:lstStyle/>
                    <a:p>
                      <a:pPr algn="r" defTabSz="457200">
                        <a:lnSpc>
                          <a:spcPct val="100000"/>
                        </a:lnSpc>
                      </a:pPr>
                      <a:r>
                        <a:rPr lang="en-US" sz="900" b="1" strike="noStrike" spc="-1">
                          <a:solidFill>
                            <a:srgbClr val="898781"/>
                          </a:solidFill>
                          <a:latin typeface="Calibri"/>
                        </a:rPr>
                        <a:t>#</a:t>
                      </a:r>
                      <a:endParaRPr lang="en-US" sz="900" b="0" strike="noStrike" spc="-1">
                        <a:solidFill>
                          <a:srgbClr val="000000"/>
                        </a:solidFill>
                        <a:latin typeface="Arial"/>
                      </a:endParaRPr>
                    </a:p>
                  </a:txBody>
                  <a:tcPr marL="31680" marR="316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1" strike="noStrike" spc="-1" dirty="0">
                          <a:solidFill>
                            <a:srgbClr val="898781"/>
                          </a:solidFill>
                          <a:latin typeface="Calibri"/>
                        </a:rPr>
                        <a:t>STATUS</a:t>
                      </a:r>
                      <a:endParaRPr lang="en-US" sz="900" b="0" strike="noStrike" spc="-1" dirty="0">
                        <a:solidFill>
                          <a:srgbClr val="000000"/>
                        </a:solidFill>
                        <a:latin typeface="Arial"/>
                      </a:endParaRPr>
                    </a:p>
                  </a:txBody>
                  <a:tcPr marL="31680" marR="316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1" strike="noStrike" spc="-1" dirty="0">
                          <a:solidFill>
                            <a:srgbClr val="898781"/>
                          </a:solidFill>
                          <a:latin typeface="Calibri"/>
                        </a:rPr>
                        <a:t>CHECK</a:t>
                      </a:r>
                      <a:endParaRPr lang="en-US" sz="900" b="0" strike="noStrike" spc="-1" dirty="0">
                        <a:solidFill>
                          <a:srgbClr val="000000"/>
                        </a:solidFill>
                        <a:latin typeface="Arial"/>
                      </a:endParaRPr>
                    </a:p>
                  </a:txBody>
                  <a:tcPr marL="31680" marR="316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1" strike="noStrike" spc="-1">
                          <a:solidFill>
                            <a:srgbClr val="898781"/>
                          </a:solidFill>
                          <a:latin typeface="Calibri"/>
                        </a:rPr>
                        <a:t>FINDING</a:t>
                      </a:r>
                      <a:endParaRPr lang="en-US" sz="900" b="0" strike="noStrike" spc="-1">
                        <a:solidFill>
                          <a:srgbClr val="000000"/>
                        </a:solidFill>
                        <a:latin typeface="Arial"/>
                      </a:endParaRPr>
                    </a:p>
                  </a:txBody>
                  <a:tcPr marL="31680" marR="316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1" strike="noStrike" spc="-1">
                          <a:solidFill>
                            <a:srgbClr val="898781"/>
                          </a:solidFill>
                          <a:latin typeface="Calibri"/>
                        </a:rPr>
                        <a:t>DECISION</a:t>
                      </a:r>
                      <a:endParaRPr lang="en-US" sz="900" b="0" strike="noStrike" spc="-1">
                        <a:solidFill>
                          <a:srgbClr val="000000"/>
                        </a:solidFill>
                        <a:latin typeface="Arial"/>
                      </a:endParaRPr>
                    </a:p>
                  </a:txBody>
                  <a:tcPr marL="31680" marR="316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0"/>
                  </a:ext>
                </a:extLst>
              </a:tr>
              <a:tr h="264960">
                <a:tc>
                  <a:txBody>
                    <a:bodyPr/>
                    <a:lstStyle/>
                    <a:p>
                      <a:pPr algn="r" defTabSz="457200">
                        <a:lnSpc>
                          <a:spcPct val="100000"/>
                        </a:lnSpc>
                      </a:pPr>
                      <a:r>
                        <a:rPr lang="en-US" sz="900" b="0" strike="noStrike" spc="-1" dirty="0">
                          <a:solidFill>
                            <a:srgbClr val="898781"/>
                          </a:solidFill>
                          <a:latin typeface="Calibri"/>
                        </a:rPr>
                        <a:t>1</a:t>
                      </a:r>
                      <a:endParaRPr lang="en-US" sz="900" b="0" strike="noStrike" spc="-1" dirty="0">
                        <a:solidFill>
                          <a:srgbClr val="000000"/>
                        </a:solidFill>
                        <a:latin typeface="Arial"/>
                      </a:endParaRPr>
                    </a:p>
                  </a:txBody>
                  <a:tcPr marL="31680" marR="31680" anchor="ctr">
                    <a:lnL w="12240">
                      <a:solidFill>
                        <a:srgbClr val="FFFFFF"/>
                      </a:solidFill>
                      <a:prstDash val="soli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a:solidFill>
                        <a:srgbClr val="FFFFFF"/>
                      </a:solidFill>
                      <a:prstDash val="solid"/>
                    </a:lnB>
                    <a:solidFill>
                      <a:srgbClr val="FCFCFB"/>
                    </a:solidFill>
                  </a:tcPr>
                </a:tc>
                <a:tc>
                  <a:txBody>
                    <a:bodyPr/>
                    <a:lstStyle/>
                    <a:p>
                      <a:pPr defTabSz="457200">
                        <a:lnSpc>
                          <a:spcPct val="100000"/>
                        </a:lnSpc>
                      </a:pPr>
                      <a:r>
                        <a:rPr lang="en-US" sz="900" b="1" strike="noStrike" spc="-1">
                          <a:solidFill>
                            <a:srgbClr val="1C5CAB"/>
                          </a:solidFill>
                          <a:latin typeface="Calibri"/>
                        </a:rPr>
                        <a:t>FIX</a:t>
                      </a:r>
                      <a:endParaRPr lang="en-US" sz="900" b="0" strike="noStrike" spc="-1">
                        <a:solidFill>
                          <a:srgbClr val="000000"/>
                        </a:solidFill>
                        <a:latin typeface="Arial"/>
                      </a:endParaRPr>
                    </a:p>
                  </a:txBody>
                  <a:tcPr marL="31680" marR="31680" anchor="ctr">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a:solidFill>
                        <a:srgbClr val="FFFFFF"/>
                      </a:solidFill>
                      <a:prstDash val="solid"/>
                    </a:lnB>
                    <a:solidFill>
                      <a:srgbClr val="FCFCFB"/>
                    </a:solidFill>
                  </a:tcPr>
                </a:tc>
                <a:tc>
                  <a:txBody>
                    <a:bodyPr/>
                    <a:lstStyle/>
                    <a:p>
                      <a:pPr defTabSz="457200">
                        <a:lnSpc>
                          <a:spcPct val="100000"/>
                        </a:lnSpc>
                      </a:pPr>
                      <a:r>
                        <a:rPr lang="en-US" sz="900" b="1" strike="noStrike" spc="-1" dirty="0">
                          <a:solidFill>
                            <a:srgbClr val="52514E"/>
                          </a:solidFill>
                          <a:latin typeface="Calibri"/>
                        </a:rPr>
                        <a:t>CSAT reported against zero tickets</a:t>
                      </a:r>
                      <a:endParaRPr lang="en-US" sz="900" b="0" strike="noStrike" spc="-1" dirty="0">
                        <a:solidFill>
                          <a:srgbClr val="000000"/>
                        </a:solidFill>
                        <a:latin typeface="Arial"/>
                      </a:endParaRPr>
                    </a:p>
                  </a:txBody>
                  <a:tcPr marL="31680" marR="31680" anchor="ctr">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a:solidFill>
                        <a:srgbClr val="FFFFFF"/>
                      </a:solidFill>
                      <a:prstDash val="solid"/>
                    </a:lnB>
                    <a:solidFill>
                      <a:srgbClr val="FCFCFB"/>
                    </a:solidFill>
                  </a:tcPr>
                </a:tc>
                <a:tc>
                  <a:txBody>
                    <a:bodyPr/>
                    <a:lstStyle/>
                    <a:p>
                      <a:pPr defTabSz="457200">
                        <a:lnSpc>
                          <a:spcPct val="100000"/>
                        </a:lnSpc>
                      </a:pPr>
                      <a:r>
                        <a:rPr lang="en-US" sz="900" b="0" strike="noStrike" spc="-1" dirty="0">
                          <a:solidFill>
                            <a:srgbClr val="898781"/>
                          </a:solidFill>
                          <a:latin typeface="Calibri"/>
                        </a:rPr>
                        <a:t>3 reason-months carry a CSAT score with 0 tickets</a:t>
                      </a:r>
                      <a:endParaRPr lang="en-US" sz="900" b="0" strike="noStrike" spc="-1" dirty="0">
                        <a:solidFill>
                          <a:srgbClr val="000000"/>
                        </a:solidFill>
                        <a:latin typeface="Arial"/>
                      </a:endParaRPr>
                    </a:p>
                  </a:txBody>
                  <a:tcPr marL="31680" marR="31680" anchor="ctr">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a:solidFill>
                        <a:srgbClr val="FFFFFF"/>
                      </a:solidFill>
                      <a:prstDash val="solid"/>
                    </a:lnB>
                    <a:solidFill>
                      <a:srgbClr val="FCFCFB"/>
                    </a:solidFill>
                  </a:tcPr>
                </a:tc>
                <a:tc>
                  <a:txBody>
                    <a:bodyPr/>
                    <a:lstStyle/>
                    <a:p>
                      <a:pPr defTabSz="457200">
                        <a:lnSpc>
                          <a:spcPct val="100000"/>
                        </a:lnSpc>
                      </a:pPr>
                      <a:r>
                        <a:rPr lang="en-US" sz="900" b="0" strike="noStrike" spc="-1" dirty="0">
                          <a:solidFill>
                            <a:srgbClr val="52514E"/>
                          </a:solidFill>
                          <a:latin typeface="Calibri"/>
                        </a:rPr>
                        <a:t>null the CSAT; keep the row</a:t>
                      </a:r>
                      <a:endParaRPr lang="en-US" sz="900" b="0" strike="noStrike" spc="-1" dirty="0">
                        <a:solidFill>
                          <a:srgbClr val="000000"/>
                        </a:solidFill>
                        <a:latin typeface="Arial"/>
                      </a:endParaRPr>
                    </a:p>
                  </a:txBody>
                  <a:tcPr marL="31680" marR="31680" anchor="ctr">
                    <a:lnL w="12240" cap="flat" cmpd="sng" algn="ctr">
                      <a:solidFill>
                        <a:srgbClr val="FFFFFF"/>
                      </a:solidFill>
                      <a:prstDash val="solid"/>
                      <a:round/>
                      <a:headEnd type="none" w="med" len="med"/>
                      <a:tailEnd type="none" w="med" len="med"/>
                    </a:lnL>
                    <a:lnR w="12240">
                      <a:solidFill>
                        <a:srgbClr val="FFFFFF"/>
                      </a:solidFill>
                      <a:prstDash val="solid"/>
                    </a:lnR>
                    <a:lnT w="12240" cap="flat" cmpd="sng" algn="ctr">
                      <a:solidFill>
                        <a:srgbClr val="FFFFFF"/>
                      </a:solidFill>
                      <a:prstDash val="solid"/>
                      <a:round/>
                      <a:headEnd type="none" w="med" len="med"/>
                      <a:tailEnd type="none" w="med" len="med"/>
                    </a:lnT>
                    <a:lnB w="12240">
                      <a:solidFill>
                        <a:srgbClr val="FFFFFF"/>
                      </a:solidFill>
                      <a:prstDash val="solid"/>
                    </a:lnB>
                    <a:solidFill>
                      <a:srgbClr val="FCFCFB"/>
                    </a:solidFill>
                  </a:tcPr>
                </a:tc>
                <a:extLst>
                  <a:ext uri="{0D108BD9-81ED-4DB2-BD59-A6C34878D82A}">
                    <a16:rowId xmlns:a16="http://schemas.microsoft.com/office/drawing/2014/main" val="10003"/>
                  </a:ext>
                </a:extLst>
              </a:tr>
              <a:tr h="264960">
                <a:tc>
                  <a:txBody>
                    <a:bodyPr/>
                    <a:lstStyle/>
                    <a:p>
                      <a:pPr algn="r" defTabSz="457200">
                        <a:lnSpc>
                          <a:spcPct val="100000"/>
                        </a:lnSpc>
                      </a:pPr>
                      <a:r>
                        <a:rPr lang="en-US" sz="900" b="0" strike="noStrike" spc="-1" dirty="0">
                          <a:solidFill>
                            <a:srgbClr val="898781"/>
                          </a:solidFill>
                          <a:latin typeface="Calibri"/>
                        </a:rPr>
                        <a:t>2</a:t>
                      </a:r>
                      <a:endParaRPr lang="en-US" sz="900" b="0" strike="noStrike" spc="-1" dirty="0">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1" strike="noStrike" spc="-1">
                          <a:solidFill>
                            <a:srgbClr val="1C5CAB"/>
                          </a:solidFill>
                          <a:latin typeface="Calibri"/>
                        </a:rPr>
                        <a:t>FIX</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1" strike="noStrike" spc="-1" dirty="0">
                          <a:solidFill>
                            <a:srgbClr val="52514E"/>
                          </a:solidFill>
                          <a:latin typeface="Calibri"/>
                        </a:rPr>
                        <a:t>reason label missing</a:t>
                      </a:r>
                      <a:endParaRPr lang="en-US" sz="900" b="0" strike="noStrike" spc="-1" dirty="0">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dirty="0">
                          <a:solidFill>
                            <a:srgbClr val="898781"/>
                          </a:solidFill>
                          <a:latin typeface="Calibri"/>
                        </a:rPr>
                        <a:t>blank label carrying 3,729 tickets (0.63% of EN volume)</a:t>
                      </a:r>
                      <a:endParaRPr lang="en-US" sz="900" b="0" strike="noStrike" spc="-1" dirty="0">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rgbClr val="52514E"/>
                          </a:solidFill>
                          <a:latin typeface="Calibri"/>
                        </a:rPr>
                        <a:t>relabel 'UNMAPPED' and keep the volume</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4"/>
                  </a:ext>
                </a:extLst>
              </a:tr>
              <a:tr h="264960">
                <a:tc>
                  <a:txBody>
                    <a:bodyPr/>
                    <a:lstStyle/>
                    <a:p>
                      <a:pPr algn="r" defTabSz="457200">
                        <a:lnSpc>
                          <a:spcPct val="100000"/>
                        </a:lnSpc>
                      </a:pPr>
                      <a:r>
                        <a:rPr lang="en-US" sz="900" b="0" strike="noStrike" spc="-1" dirty="0">
                          <a:solidFill>
                            <a:srgbClr val="898781"/>
                          </a:solidFill>
                          <a:latin typeface="Calibri"/>
                        </a:rPr>
                        <a:t>3</a:t>
                      </a:r>
                      <a:endParaRPr lang="en-US" sz="900" b="0" strike="noStrike" spc="-1" dirty="0">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1" strike="noStrike" spc="-1">
                          <a:solidFill>
                            <a:srgbClr val="1C5CAB"/>
                          </a:solidFill>
                          <a:latin typeface="Calibri"/>
                        </a:rPr>
                        <a:t>FIX</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1" strike="noStrike" spc="-1">
                          <a:solidFill>
                            <a:srgbClr val="52514E"/>
                          </a:solidFill>
                          <a:latin typeface="Calibri"/>
                        </a:rPr>
                        <a:t>AHT outliers vs reason median</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dirty="0">
                          <a:solidFill>
                            <a:srgbClr val="898781"/>
                          </a:solidFill>
                          <a:latin typeface="Calibri"/>
                        </a:rPr>
                        <a:t>1 reason-month outside 0.5x–2.0x its median</a:t>
                      </a:r>
                      <a:endParaRPr lang="en-US" sz="900" b="0" strike="noStrike" spc="-1" dirty="0">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rgbClr val="52514E"/>
                          </a:solidFill>
                          <a:latin typeface="Calibri"/>
                        </a:rPr>
                        <a:t>replace with the reason's own median</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5"/>
                  </a:ext>
                </a:extLst>
              </a:tr>
              <a:tr h="264960">
                <a:tc>
                  <a:txBody>
                    <a:bodyPr/>
                    <a:lstStyle/>
                    <a:p>
                      <a:pPr algn="r" defTabSz="457200">
                        <a:lnSpc>
                          <a:spcPct val="100000"/>
                        </a:lnSpc>
                      </a:pPr>
                      <a:r>
                        <a:rPr lang="en-US" sz="900" b="0" strike="noStrike" spc="-1" dirty="0">
                          <a:solidFill>
                            <a:srgbClr val="898781"/>
                          </a:solidFill>
                          <a:latin typeface="Calibri"/>
                        </a:rPr>
                        <a:t>4</a:t>
                      </a:r>
                      <a:endParaRPr lang="en-US" sz="900" b="0" strike="noStrike" spc="-1" dirty="0">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1" strike="noStrike" spc="-1">
                          <a:solidFill>
                            <a:srgbClr val="9C4A18"/>
                          </a:solidFill>
                          <a:latin typeface="Calibri"/>
                        </a:rPr>
                        <a:t>WARN</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1" strike="noStrike" spc="-1">
                          <a:solidFill>
                            <a:srgbClr val="52514E"/>
                          </a:solidFill>
                          <a:latin typeface="Calibri"/>
                        </a:rPr>
                        <a:t>channel pair Inbound == Outbound</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dirty="0">
                          <a:solidFill>
                            <a:srgbClr val="898781"/>
                          </a:solidFill>
                          <a:latin typeface="Calibri"/>
                        </a:rPr>
                        <a:t>identical in 29/30 language-months</a:t>
                      </a:r>
                      <a:endParaRPr lang="en-US" sz="900" b="0" strike="noStrike" spc="-1" dirty="0">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dirty="0">
                          <a:solidFill>
                            <a:srgbClr val="52514E"/>
                          </a:solidFill>
                          <a:latin typeface="Calibri"/>
                        </a:rPr>
                        <a:t>synthetic mirror — kept conservatively, flagged</a:t>
                      </a:r>
                      <a:endParaRPr lang="en-US" sz="900" b="0" strike="noStrike" spc="-1" dirty="0">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6"/>
                  </a:ext>
                </a:extLst>
              </a:tr>
              <a:tr h="264960">
                <a:tc>
                  <a:txBody>
                    <a:bodyPr/>
                    <a:lstStyle/>
                    <a:p>
                      <a:pPr algn="r" defTabSz="457200">
                        <a:lnSpc>
                          <a:spcPct val="100000"/>
                        </a:lnSpc>
                      </a:pPr>
                      <a:r>
                        <a:rPr lang="en-US" sz="900" b="0" strike="noStrike" spc="-1" dirty="0">
                          <a:solidFill>
                            <a:srgbClr val="898781"/>
                          </a:solidFill>
                          <a:latin typeface="Calibri"/>
                        </a:rPr>
                        <a:t>5</a:t>
                      </a:r>
                      <a:endParaRPr lang="en-US" sz="900" b="0" strike="noStrike" spc="-1" dirty="0">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1" strike="noStrike" spc="-1">
                          <a:solidFill>
                            <a:srgbClr val="9C4A18"/>
                          </a:solidFill>
                          <a:latin typeface="Calibri"/>
                        </a:rPr>
                        <a:t>WARN</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1" strike="noStrike" spc="-1">
                          <a:solidFill>
                            <a:srgbClr val="52514E"/>
                          </a:solidFill>
                          <a:latin typeface="Calibri"/>
                        </a:rPr>
                        <a:t>channel pair Email == Chat</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rgbClr val="898781"/>
                          </a:solidFill>
                          <a:latin typeface="Calibri"/>
                        </a:rPr>
                        <a:t>identical in 23/30 language-months</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dirty="0">
                          <a:solidFill>
                            <a:srgbClr val="52514E"/>
                          </a:solidFill>
                          <a:latin typeface="Calibri"/>
                        </a:rPr>
                        <a:t>synthetic mirror — kept conservatively, flagged</a:t>
                      </a:r>
                      <a:endParaRPr lang="en-US" sz="900" b="0" strike="noStrike" spc="-1" dirty="0">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7"/>
                  </a:ext>
                </a:extLst>
              </a:tr>
              <a:tr h="264960">
                <a:tc>
                  <a:txBody>
                    <a:bodyPr/>
                    <a:lstStyle/>
                    <a:p>
                      <a:pPr algn="r" defTabSz="457200">
                        <a:lnSpc>
                          <a:spcPct val="100000"/>
                        </a:lnSpc>
                      </a:pPr>
                      <a:r>
                        <a:rPr lang="en-US" sz="900" b="0" strike="noStrike" spc="-1" dirty="0">
                          <a:solidFill>
                            <a:srgbClr val="898781"/>
                          </a:solidFill>
                          <a:latin typeface="Calibri"/>
                        </a:rPr>
                        <a:t>6</a:t>
                      </a:r>
                      <a:endParaRPr lang="en-US" sz="900" b="0" strike="noStrike" spc="-1" dirty="0">
                        <a:solidFill>
                          <a:srgbClr val="000000"/>
                        </a:solidFill>
                        <a:latin typeface="Arial"/>
                      </a:endParaRPr>
                    </a:p>
                  </a:txBody>
                  <a:tcPr marL="31680" marR="31680" anchor="ctr">
                    <a:lnL w="12240">
                      <a:solidFill>
                        <a:srgbClr val="FFFFFF"/>
                      </a:solidFill>
                      <a:prstDash val="soli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a:solidFill>
                        <a:srgbClr val="FFFFFF"/>
                      </a:solidFill>
                      <a:prstDash val="solid"/>
                    </a:lnB>
                    <a:solidFill>
                      <a:srgbClr val="FCFCFB"/>
                    </a:solidFill>
                  </a:tcPr>
                </a:tc>
                <a:tc>
                  <a:txBody>
                    <a:bodyPr/>
                    <a:lstStyle/>
                    <a:p>
                      <a:pPr defTabSz="457200">
                        <a:lnSpc>
                          <a:spcPct val="100000"/>
                        </a:lnSpc>
                      </a:pPr>
                      <a:r>
                        <a:rPr lang="en-US" sz="900" b="1" strike="noStrike" spc="-1">
                          <a:solidFill>
                            <a:srgbClr val="1C5CAB"/>
                          </a:solidFill>
                          <a:latin typeface="Calibri"/>
                        </a:rPr>
                        <a:t>FIX</a:t>
                      </a:r>
                      <a:endParaRPr lang="en-US" sz="900" b="0" strike="noStrike" spc="-1">
                        <a:solidFill>
                          <a:srgbClr val="000000"/>
                        </a:solidFill>
                        <a:latin typeface="Arial"/>
                      </a:endParaRPr>
                    </a:p>
                  </a:txBody>
                  <a:tcPr marL="31680" marR="31680" anchor="ctr">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a:solidFill>
                        <a:srgbClr val="FFFFFF"/>
                      </a:solidFill>
                      <a:prstDash val="solid"/>
                    </a:lnB>
                    <a:solidFill>
                      <a:srgbClr val="FCFCFB"/>
                    </a:solidFill>
                  </a:tcPr>
                </a:tc>
                <a:tc>
                  <a:txBody>
                    <a:bodyPr/>
                    <a:lstStyle/>
                    <a:p>
                      <a:pPr defTabSz="457200">
                        <a:lnSpc>
                          <a:spcPct val="100000"/>
                        </a:lnSpc>
                      </a:pPr>
                      <a:r>
                        <a:rPr lang="en-US" sz="900" b="1" strike="noStrike" spc="-1">
                          <a:solidFill>
                            <a:srgbClr val="52514E"/>
                          </a:solidFill>
                          <a:latin typeface="Calibri"/>
                        </a:rPr>
                        <a:t>SLA attainment series within [0,1]</a:t>
                      </a:r>
                      <a:endParaRPr lang="en-US" sz="900" b="0" strike="noStrike" spc="-1">
                        <a:solidFill>
                          <a:srgbClr val="000000"/>
                        </a:solidFill>
                        <a:latin typeface="Arial"/>
                      </a:endParaRPr>
                    </a:p>
                  </a:txBody>
                  <a:tcPr marL="31680" marR="31680" anchor="ctr">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rgbClr val="898781"/>
                          </a:solidFill>
                          <a:latin typeface="Calibri"/>
                        </a:rPr>
                        <a:t>February reports 110% attainment</a:t>
                      </a:r>
                      <a:endParaRPr lang="en-US" sz="900" b="0" strike="noStrike" spc="-1">
                        <a:solidFill>
                          <a:srgbClr val="000000"/>
                        </a:solidFill>
                        <a:latin typeface="Arial"/>
                      </a:endParaRPr>
                    </a:p>
                  </a:txBody>
                  <a:tcPr marL="31680" marR="31680" anchor="ctr">
                    <a:lnL w="12240" cap="flat" cmpd="sng" algn="ctr">
                      <a:solidFill>
                        <a:srgbClr val="FFFFFF"/>
                      </a:solidFill>
                      <a:prstDash val="solid"/>
                      <a:round/>
                      <a:headEnd type="none" w="med" len="med"/>
                      <a:tailEnd type="none" w="med" len="med"/>
                    </a:lnL>
                    <a:lnR w="12240" cap="flat" cmpd="sng" algn="ctr">
                      <a:solidFill>
                        <a:srgbClr val="FFFFFF"/>
                      </a:solidFill>
                      <a:prstDash val="solid"/>
                      <a:round/>
                      <a:headEnd type="none" w="med" len="med"/>
                      <a:tailEnd type="none" w="med" len="med"/>
                    </a:lnR>
                    <a:lnT w="12240" cap="flat" cmpd="sng" algn="ctr">
                      <a:solidFill>
                        <a:srgbClr val="FFFFFF"/>
                      </a:solidFill>
                      <a:prstDash val="solid"/>
                      <a:round/>
                      <a:headEnd type="none" w="med" len="med"/>
                      <a:tailEnd type="none" w="med" len="med"/>
                    </a:lnT>
                    <a:lnB w="12240">
                      <a:solidFill>
                        <a:srgbClr val="FFFFFF"/>
                      </a:solidFill>
                      <a:prstDash val="solid"/>
                    </a:lnB>
                    <a:solidFill>
                      <a:srgbClr val="FCFCFB"/>
                    </a:solidFill>
                  </a:tcPr>
                </a:tc>
                <a:tc>
                  <a:txBody>
                    <a:bodyPr/>
                    <a:lstStyle/>
                    <a:p>
                      <a:pPr defTabSz="457200">
                        <a:lnSpc>
                          <a:spcPct val="100000"/>
                        </a:lnSpc>
                      </a:pPr>
                      <a:r>
                        <a:rPr lang="en-US" sz="900" b="0" strike="noStrike" spc="-1" dirty="0">
                          <a:solidFill>
                            <a:srgbClr val="52514E"/>
                          </a:solidFill>
                          <a:latin typeface="Calibri"/>
                        </a:rPr>
                        <a:t>exclude the impossible month</a:t>
                      </a:r>
                      <a:endParaRPr lang="en-US" sz="900" b="0" strike="noStrike" spc="-1" dirty="0">
                        <a:solidFill>
                          <a:srgbClr val="000000"/>
                        </a:solidFill>
                        <a:latin typeface="Arial"/>
                      </a:endParaRPr>
                    </a:p>
                  </a:txBody>
                  <a:tcPr marL="31680" marR="31680" anchor="ctr">
                    <a:lnL w="12240" cap="flat" cmpd="sng" algn="ctr">
                      <a:solidFill>
                        <a:srgbClr val="FFFFFF"/>
                      </a:solidFill>
                      <a:prstDash val="solid"/>
                      <a:round/>
                      <a:headEnd type="none" w="med" len="med"/>
                      <a:tailEnd type="none" w="med" len="med"/>
                    </a:lnL>
                    <a:lnR w="12240">
                      <a:solidFill>
                        <a:srgbClr val="FFFFFF"/>
                      </a:solidFill>
                      <a:prstDash val="solid"/>
                    </a:lnR>
                    <a:lnT w="12240" cap="flat" cmpd="sng" algn="ctr">
                      <a:solidFill>
                        <a:srgbClr val="FFFFFF"/>
                      </a:solidFill>
                      <a:prstDash val="solid"/>
                      <a:round/>
                      <a:headEnd type="none" w="med" len="med"/>
                      <a:tailEnd type="none" w="med" len="med"/>
                    </a:lnT>
                    <a:lnB w="12240">
                      <a:solidFill>
                        <a:srgbClr val="FFFFFF"/>
                      </a:solidFill>
                      <a:prstDash val="solid"/>
                    </a:lnB>
                    <a:solidFill>
                      <a:srgbClr val="FCFCFB"/>
                    </a:solidFill>
                  </a:tcPr>
                </a:tc>
                <a:extLst>
                  <a:ext uri="{0D108BD9-81ED-4DB2-BD59-A6C34878D82A}">
                    <a16:rowId xmlns:a16="http://schemas.microsoft.com/office/drawing/2014/main" val="10011"/>
                  </a:ext>
                </a:extLst>
              </a:tr>
              <a:tr h="264960">
                <a:tc>
                  <a:txBody>
                    <a:bodyPr/>
                    <a:lstStyle/>
                    <a:p>
                      <a:pPr algn="r" defTabSz="457200">
                        <a:lnSpc>
                          <a:spcPct val="100000"/>
                        </a:lnSpc>
                      </a:pPr>
                      <a:r>
                        <a:rPr lang="en-US" sz="900" b="0" strike="noStrike" spc="-1" dirty="0">
                          <a:solidFill>
                            <a:srgbClr val="898781"/>
                          </a:solidFill>
                          <a:latin typeface="Calibri"/>
                        </a:rPr>
                        <a:t>7</a:t>
                      </a:r>
                      <a:endParaRPr lang="en-US" sz="900" b="0" strike="noStrike" spc="-1" dirty="0">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1" strike="noStrike" spc="-1">
                          <a:solidFill>
                            <a:srgbClr val="9C4A18"/>
                          </a:solidFill>
                          <a:latin typeface="Calibri"/>
                        </a:rPr>
                        <a:t>WARN</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1" strike="noStrike" spc="-1">
                          <a:solidFill>
                            <a:srgbClr val="52514E"/>
                          </a:solidFill>
                          <a:latin typeface="Calibri"/>
                        </a:rPr>
                        <a:t>SLA attainment trend</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rgbClr val="898781"/>
                          </a:solidFill>
                          <a:latin typeface="Calibri"/>
                        </a:rPr>
                        <a:t>95%→92% while volume grows</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dirty="0">
                          <a:solidFill>
                            <a:srgbClr val="52514E"/>
                          </a:solidFill>
                          <a:latin typeface="Calibri"/>
                        </a:rPr>
                        <a:t>use as the business case for the transformation</a:t>
                      </a:r>
                      <a:endParaRPr lang="en-US" sz="900" b="0" strike="noStrike" spc="-1" dirty="0">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12"/>
                  </a:ext>
                </a:extLst>
              </a:tr>
            </a:tbl>
          </a:graphicData>
        </a:graphic>
      </p:graphicFrame>
      <p:cxnSp>
        <p:nvCxnSpPr>
          <p:cNvPr id="244" name="Connector 7"/>
          <p:cNvCxnSpPr/>
          <p:nvPr/>
        </p:nvCxnSpPr>
        <p:spPr>
          <a:xfrm>
            <a:off x="502920" y="6400800"/>
            <a:ext cx="11185920" cy="360"/>
          </a:xfrm>
          <a:prstGeom prst="straightConnector1">
            <a:avLst/>
          </a:prstGeom>
          <a:ln w="9525">
            <a:solidFill>
              <a:srgbClr val="E1E0D9"/>
            </a:solidFill>
            <a:round/>
          </a:ln>
        </p:spPr>
      </p:cxnSp>
      <p:sp>
        <p:nvSpPr>
          <p:cNvPr id="245" name="TextBox 8"/>
          <p:cNvSpPr/>
          <p:nvPr/>
        </p:nvSpPr>
        <p:spPr>
          <a:xfrm>
            <a:off x="502920" y="6446520"/>
            <a:ext cx="91720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750" spc="-1" dirty="0" err="1">
                <a:solidFill>
                  <a:srgbClr val="898781"/>
                </a:solidFill>
                <a:latin typeface="Calibri" panose="020F0502020204030204" pitchFamily="34" charset="0"/>
                <a:cs typeface="Calibri" panose="020F0502020204030204" pitchFamily="34" charset="0"/>
              </a:rPr>
              <a:t>GetYourGuide</a:t>
            </a:r>
            <a:r>
              <a:rPr lang="en-US" sz="750" spc="-1" dirty="0">
                <a:solidFill>
                  <a:srgbClr val="898781"/>
                </a:solidFill>
                <a:latin typeface="Calibri" panose="020F0502020204030204" pitchFamily="34" charset="0"/>
                <a:cs typeface="Calibri" panose="020F0502020204030204" pitchFamily="34" charset="0"/>
              </a:rPr>
              <a:t> · WFM take-home submission · </a:t>
            </a:r>
            <a:endParaRPr lang="en-US" sz="750" spc="-1" dirty="0">
              <a:solidFill>
                <a:srgbClr val="000000"/>
              </a:solidFill>
              <a:latin typeface="Calibri" panose="020F0502020204030204" pitchFamily="34" charset="0"/>
              <a:cs typeface="Calibri" panose="020F0502020204030204" pitchFamily="34" charset="0"/>
            </a:endParaRPr>
          </a:p>
        </p:txBody>
      </p:sp>
      <p:sp>
        <p:nvSpPr>
          <p:cNvPr id="246" name="TextBox 9"/>
          <p:cNvSpPr/>
          <p:nvPr/>
        </p:nvSpPr>
        <p:spPr>
          <a:xfrm>
            <a:off x="9675360" y="6446520"/>
            <a:ext cx="2013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457200">
              <a:lnSpc>
                <a:spcPct val="100000"/>
              </a:lnSpc>
            </a:pPr>
            <a:r>
              <a:rPr lang="en-US" sz="800" b="1" strike="noStrike" spc="-1" dirty="0">
                <a:solidFill>
                  <a:srgbClr val="52514E"/>
                </a:solidFill>
                <a:latin typeface="Calibri"/>
              </a:rPr>
              <a:t>A3 / </a:t>
            </a:r>
            <a:r>
              <a:rPr lang="en-US" sz="800" b="1" spc="-1" dirty="0">
                <a:solidFill>
                  <a:srgbClr val="52514E"/>
                </a:solidFill>
                <a:latin typeface="Calibri"/>
              </a:rPr>
              <a:t>4</a:t>
            </a:r>
            <a:endParaRPr lang="en-US" sz="800" b="0" strike="noStrike" spc="-1" dirty="0">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318" name="TextBox 1"/>
          <p:cNvSpPr/>
          <p:nvPr/>
        </p:nvSpPr>
        <p:spPr>
          <a:xfrm>
            <a:off x="502920" y="320040"/>
            <a:ext cx="111855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800" b="1" strike="noStrike" spc="-1" dirty="0">
                <a:solidFill>
                  <a:schemeClr val="accent1"/>
                </a:solidFill>
                <a:latin typeface="Calibri"/>
              </a:rPr>
              <a:t>Appendix A4</a:t>
            </a:r>
            <a:r>
              <a:rPr lang="en-US" sz="800" b="0" strike="noStrike" spc="-1" dirty="0">
                <a:solidFill>
                  <a:srgbClr val="898781"/>
                </a:solidFill>
                <a:latin typeface="Calibri"/>
              </a:rPr>
              <a:t>   Manager, Workforce Management · Care Experience &amp; Strategy</a:t>
            </a:r>
            <a:endParaRPr lang="en-US" sz="800" b="0" strike="noStrike" spc="-1" dirty="0">
              <a:solidFill>
                <a:srgbClr val="000000"/>
              </a:solidFill>
              <a:latin typeface="Arial"/>
            </a:endParaRPr>
          </a:p>
        </p:txBody>
      </p:sp>
      <p:sp>
        <p:nvSpPr>
          <p:cNvPr id="319" name="TextBox 2"/>
          <p:cNvSpPr/>
          <p:nvPr/>
        </p:nvSpPr>
        <p:spPr>
          <a:xfrm>
            <a:off x="502920" y="484560"/>
            <a:ext cx="111855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1700" b="1" strike="noStrike" spc="-1" dirty="0">
                <a:solidFill>
                  <a:srgbClr val="0B0B0B"/>
                </a:solidFill>
                <a:latin typeface="Calibri"/>
              </a:rPr>
              <a:t>Assumptions</a:t>
            </a:r>
            <a:endParaRPr lang="en-US" sz="1700" b="0" strike="noStrike" spc="-1" dirty="0">
              <a:solidFill>
                <a:srgbClr val="000000"/>
              </a:solidFill>
              <a:latin typeface="Arial"/>
            </a:endParaRPr>
          </a:p>
        </p:txBody>
      </p:sp>
      <p:cxnSp>
        <p:nvCxnSpPr>
          <p:cNvPr id="320" name="Connector 3"/>
          <p:cNvCxnSpPr/>
          <p:nvPr/>
        </p:nvCxnSpPr>
        <p:spPr>
          <a:xfrm>
            <a:off x="502920" y="822960"/>
            <a:ext cx="11185920" cy="360"/>
          </a:xfrm>
          <a:prstGeom prst="straightConnector1">
            <a:avLst/>
          </a:prstGeom>
          <a:ln w="9525">
            <a:solidFill>
              <a:srgbClr val="E1E0D9"/>
            </a:solidFill>
            <a:round/>
          </a:ln>
        </p:spPr>
      </p:cxnSp>
      <p:sp>
        <p:nvSpPr>
          <p:cNvPr id="321" name="TextBox 4"/>
          <p:cNvSpPr/>
          <p:nvPr/>
        </p:nvSpPr>
        <p:spPr>
          <a:xfrm>
            <a:off x="502920" y="960120"/>
            <a:ext cx="603108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820" b="1" strike="noStrike" spc="58" dirty="0">
                <a:solidFill>
                  <a:srgbClr val="898781"/>
                </a:solidFill>
                <a:latin typeface="Calibri"/>
              </a:rPr>
              <a:t>EVERY ASSUMPTION, AND WHERE IT COMES FROM</a:t>
            </a:r>
            <a:endParaRPr lang="en-US" sz="820" b="0" strike="noStrike" spc="-1" dirty="0">
              <a:solidFill>
                <a:srgbClr val="000000"/>
              </a:solidFill>
              <a:latin typeface="Arial"/>
            </a:endParaRPr>
          </a:p>
        </p:txBody>
      </p:sp>
      <p:graphicFrame>
        <p:nvGraphicFramePr>
          <p:cNvPr id="322" name="Table 5"/>
          <p:cNvGraphicFramePr/>
          <p:nvPr>
            <p:extLst>
              <p:ext uri="{D42A27DB-BD31-4B8C-83A1-F6EECF244321}">
                <p14:modId xmlns:p14="http://schemas.microsoft.com/office/powerpoint/2010/main" val="3005288554"/>
              </p:ext>
            </p:extLst>
          </p:nvPr>
        </p:nvGraphicFramePr>
        <p:xfrm>
          <a:off x="502920" y="1197720"/>
          <a:ext cx="6031080" cy="3794760"/>
        </p:xfrm>
        <a:graphic>
          <a:graphicData uri="http://schemas.openxmlformats.org/drawingml/2006/table">
            <a:tbl>
              <a:tblPr/>
              <a:tblGrid>
                <a:gridCol w="1830960">
                  <a:extLst>
                    <a:ext uri="{9D8B030D-6E8A-4147-A177-3AD203B41FA5}">
                      <a16:colId xmlns:a16="http://schemas.microsoft.com/office/drawing/2014/main" val="20000"/>
                    </a:ext>
                  </a:extLst>
                </a:gridCol>
                <a:gridCol w="1400040">
                  <a:extLst>
                    <a:ext uri="{9D8B030D-6E8A-4147-A177-3AD203B41FA5}">
                      <a16:colId xmlns:a16="http://schemas.microsoft.com/office/drawing/2014/main" val="20001"/>
                    </a:ext>
                  </a:extLst>
                </a:gridCol>
                <a:gridCol w="2800080">
                  <a:extLst>
                    <a:ext uri="{9D8B030D-6E8A-4147-A177-3AD203B41FA5}">
                      <a16:colId xmlns:a16="http://schemas.microsoft.com/office/drawing/2014/main" val="20002"/>
                    </a:ext>
                  </a:extLst>
                </a:gridCol>
              </a:tblGrid>
              <a:tr h="205560">
                <a:tc>
                  <a:txBody>
                    <a:bodyPr/>
                    <a:lstStyle/>
                    <a:p>
                      <a:pPr defTabSz="457200">
                        <a:lnSpc>
                          <a:spcPct val="100000"/>
                        </a:lnSpc>
                      </a:pPr>
                      <a:r>
                        <a:rPr lang="en-US" sz="900" b="1" strike="noStrike" spc="-1" dirty="0">
                          <a:solidFill>
                            <a:schemeClr val="bg1"/>
                          </a:solidFill>
                          <a:latin typeface="Calibri"/>
                        </a:rPr>
                        <a:t>ASSUMPTION</a:t>
                      </a:r>
                      <a:endParaRPr lang="en-US" sz="900" b="0" strike="noStrike" spc="-1" dirty="0">
                        <a:solidFill>
                          <a:schemeClr val="bg1"/>
                        </a:solidFill>
                        <a:latin typeface="Arial"/>
                      </a:endParaRPr>
                    </a:p>
                  </a:txBody>
                  <a:tcPr marL="31680" marR="316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tx2">
                        <a:lumMod val="40000"/>
                        <a:lumOff val="60000"/>
                      </a:schemeClr>
                    </a:solidFill>
                  </a:tcPr>
                </a:tc>
                <a:tc>
                  <a:txBody>
                    <a:bodyPr/>
                    <a:lstStyle/>
                    <a:p>
                      <a:pPr algn="r" defTabSz="457200">
                        <a:lnSpc>
                          <a:spcPct val="100000"/>
                        </a:lnSpc>
                      </a:pPr>
                      <a:r>
                        <a:rPr lang="en-US" sz="900" b="1" strike="noStrike" spc="-1" dirty="0">
                          <a:solidFill>
                            <a:schemeClr val="bg1"/>
                          </a:solidFill>
                          <a:latin typeface="Calibri"/>
                        </a:rPr>
                        <a:t>VALUE</a:t>
                      </a:r>
                      <a:endParaRPr lang="en-US" sz="900" b="0" strike="noStrike" spc="-1" dirty="0">
                        <a:solidFill>
                          <a:schemeClr val="bg1"/>
                        </a:solidFill>
                        <a:latin typeface="Arial"/>
                      </a:endParaRPr>
                    </a:p>
                  </a:txBody>
                  <a:tcPr marL="31680" marR="316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tx2">
                        <a:lumMod val="40000"/>
                        <a:lumOff val="60000"/>
                      </a:schemeClr>
                    </a:solidFill>
                  </a:tcPr>
                </a:tc>
                <a:tc>
                  <a:txBody>
                    <a:bodyPr/>
                    <a:lstStyle/>
                    <a:p>
                      <a:pPr defTabSz="457200">
                        <a:lnSpc>
                          <a:spcPct val="100000"/>
                        </a:lnSpc>
                      </a:pPr>
                      <a:r>
                        <a:rPr lang="en-US" sz="900" b="1" strike="noStrike" spc="-1" dirty="0">
                          <a:solidFill>
                            <a:schemeClr val="bg1"/>
                          </a:solidFill>
                          <a:latin typeface="Calibri"/>
                        </a:rPr>
                        <a:t>NOTE</a:t>
                      </a:r>
                      <a:endParaRPr lang="en-US" sz="900" b="0" strike="noStrike" spc="-1" dirty="0">
                        <a:solidFill>
                          <a:schemeClr val="bg1"/>
                        </a:solidFill>
                        <a:latin typeface="Arial"/>
                      </a:endParaRPr>
                    </a:p>
                  </a:txBody>
                  <a:tcPr marL="31680" marR="3168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tx2">
                        <a:lumMod val="40000"/>
                        <a:lumOff val="60000"/>
                      </a:schemeClr>
                    </a:solidFill>
                  </a:tcPr>
                </a:tc>
                <a:extLst>
                  <a:ext uri="{0D108BD9-81ED-4DB2-BD59-A6C34878D82A}">
                    <a16:rowId xmlns:a16="http://schemas.microsoft.com/office/drawing/2014/main" val="10000"/>
                  </a:ext>
                </a:extLst>
              </a:tr>
              <a:tr h="205560">
                <a:tc>
                  <a:txBody>
                    <a:bodyPr/>
                    <a:lstStyle/>
                    <a:p>
                      <a:pPr defTabSz="457200">
                        <a:lnSpc>
                          <a:spcPct val="100000"/>
                        </a:lnSpc>
                      </a:pPr>
                      <a:r>
                        <a:rPr lang="en-US" sz="900" b="1" strike="noStrike" spc="-1">
                          <a:solidFill>
                            <a:srgbClr val="52514E"/>
                          </a:solidFill>
                          <a:latin typeface="Calibri"/>
                        </a:rPr>
                        <a:t>Hours per FTE per month</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rgbClr val="52514E"/>
                          </a:solidFill>
                          <a:latin typeface="Calibri"/>
                        </a:rPr>
                        <a:t>173.33</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rgbClr val="898781"/>
                          </a:solidFill>
                          <a:latin typeface="Calibri"/>
                        </a:rPr>
                        <a:t>=40 × 52 ÷ 12</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1"/>
                  </a:ext>
                </a:extLst>
              </a:tr>
              <a:tr h="205560">
                <a:tc>
                  <a:txBody>
                    <a:bodyPr/>
                    <a:lstStyle/>
                    <a:p>
                      <a:pPr defTabSz="457200">
                        <a:lnSpc>
                          <a:spcPct val="100000"/>
                        </a:lnSpc>
                      </a:pPr>
                      <a:r>
                        <a:rPr lang="en-US" sz="900" b="1" strike="noStrike" spc="-1">
                          <a:solidFill>
                            <a:srgbClr val="52514E"/>
                          </a:solidFill>
                          <a:latin typeface="Calibri"/>
                        </a:rPr>
                        <a:t>Total shrinkage</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rgbClr val="52514E"/>
                          </a:solidFill>
                          <a:latin typeface="Calibri"/>
                        </a:rPr>
                        <a:t>18%</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rgbClr val="898781"/>
                          </a:solidFill>
                          <a:latin typeface="Calibri"/>
                        </a:rPr>
                        <a:t>divisor 0.82</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2"/>
                  </a:ext>
                </a:extLst>
              </a:tr>
              <a:tr h="205560">
                <a:tc>
                  <a:txBody>
                    <a:bodyPr/>
                    <a:lstStyle/>
                    <a:p>
                      <a:pPr defTabSz="457200">
                        <a:lnSpc>
                          <a:spcPct val="100000"/>
                        </a:lnSpc>
                      </a:pPr>
                      <a:r>
                        <a:rPr lang="en-US" sz="900" b="1" strike="noStrike" spc="-1">
                          <a:solidFill>
                            <a:srgbClr val="52514E"/>
                          </a:solidFill>
                          <a:latin typeface="Calibri"/>
                        </a:rPr>
                        <a:t>Operating hours per month</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rgbClr val="52514E"/>
                          </a:solidFill>
                          <a:latin typeface="Calibri"/>
                        </a:rPr>
                        <a:t>730</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rgbClr val="898781"/>
                          </a:solidFill>
                          <a:latin typeface="Calibri"/>
                        </a:rPr>
                        <a:t>24/7 → 8,760 ÷ 12</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3"/>
                  </a:ext>
                </a:extLst>
              </a:tr>
              <a:tr h="205560">
                <a:tc>
                  <a:txBody>
                    <a:bodyPr/>
                    <a:lstStyle/>
                    <a:p>
                      <a:pPr defTabSz="457200">
                        <a:lnSpc>
                          <a:spcPct val="100000"/>
                        </a:lnSpc>
                      </a:pPr>
                      <a:r>
                        <a:rPr lang="en-US" sz="900" b="1" strike="noStrike" spc="-1">
                          <a:solidFill>
                            <a:srgbClr val="52514E"/>
                          </a:solidFill>
                          <a:latin typeface="Calibri"/>
                        </a:rPr>
                        <a:t>Phone SLA</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rgbClr val="52514E"/>
                          </a:solidFill>
                          <a:latin typeface="Calibri"/>
                        </a:rPr>
                        <a:t>80% ≤ 20 s</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rgbClr val="898781"/>
                          </a:solidFill>
                          <a:latin typeface="Calibri"/>
                        </a:rPr>
                        <a:t>Erlang C</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4"/>
                  </a:ext>
                </a:extLst>
              </a:tr>
              <a:tr h="205560">
                <a:tc>
                  <a:txBody>
                    <a:bodyPr/>
                    <a:lstStyle/>
                    <a:p>
                      <a:pPr defTabSz="457200">
                        <a:lnSpc>
                          <a:spcPct val="100000"/>
                        </a:lnSpc>
                      </a:pPr>
                      <a:r>
                        <a:rPr lang="en-US" sz="900" b="1" strike="noStrike" spc="-1">
                          <a:solidFill>
                            <a:srgbClr val="52514E"/>
                          </a:solidFill>
                          <a:latin typeface="Calibri"/>
                        </a:rPr>
                        <a:t>Chat SLA</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rgbClr val="52514E"/>
                          </a:solidFill>
                          <a:latin typeface="Calibri"/>
                        </a:rPr>
                        <a:t>80% ≤ 60 s</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rgbClr val="898781"/>
                          </a:solidFill>
                          <a:latin typeface="Calibri"/>
                        </a:rPr>
                        <a:t>Erlang C, ÷ concurrency</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5"/>
                  </a:ext>
                </a:extLst>
              </a:tr>
              <a:tr h="205560">
                <a:tc>
                  <a:txBody>
                    <a:bodyPr/>
                    <a:lstStyle/>
                    <a:p>
                      <a:pPr defTabSz="457200">
                        <a:lnSpc>
                          <a:spcPct val="100000"/>
                        </a:lnSpc>
                      </a:pPr>
                      <a:r>
                        <a:rPr lang="en-US" sz="900" b="1" strike="noStrike" spc="-1">
                          <a:solidFill>
                            <a:srgbClr val="52514E"/>
                          </a:solidFill>
                          <a:latin typeface="Calibri"/>
                        </a:rPr>
                        <a:t>Email SLA</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rgbClr val="52514E"/>
                          </a:solidFill>
                          <a:latin typeface="Calibri"/>
                        </a:rPr>
                        <a:t>80% ≤ 120 min</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rgbClr val="898781"/>
                          </a:solidFill>
                          <a:latin typeface="Calibri"/>
                        </a:rPr>
                        <a:t>deferred model</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6"/>
                  </a:ext>
                </a:extLst>
              </a:tr>
              <a:tr h="205560">
                <a:tc>
                  <a:txBody>
                    <a:bodyPr/>
                    <a:lstStyle/>
                    <a:p>
                      <a:pPr defTabSz="457200">
                        <a:lnSpc>
                          <a:spcPct val="100000"/>
                        </a:lnSpc>
                      </a:pPr>
                      <a:r>
                        <a:rPr lang="en-US" sz="900" b="1" strike="noStrike" spc="-1">
                          <a:solidFill>
                            <a:srgbClr val="52514E"/>
                          </a:solidFill>
                          <a:latin typeface="Calibri"/>
                        </a:rPr>
                        <a:t>Chat concurrency</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rgbClr val="52514E"/>
                          </a:solidFill>
                          <a:latin typeface="Calibri"/>
                        </a:rPr>
                        <a:t>1.2</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rgbClr val="D03B3B"/>
                          </a:solidFill>
                          <a:latin typeface="Calibri"/>
                        </a:rPr>
                        <a:t>open question — worth 75 FTE</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7"/>
                  </a:ext>
                </a:extLst>
              </a:tr>
              <a:tr h="205560">
                <a:tc>
                  <a:txBody>
                    <a:bodyPr/>
                    <a:lstStyle/>
                    <a:p>
                      <a:pPr defTabSz="457200">
                        <a:lnSpc>
                          <a:spcPct val="100000"/>
                        </a:lnSpc>
                      </a:pPr>
                      <a:r>
                        <a:rPr lang="en-US" sz="900" b="1" strike="noStrike" spc="-1">
                          <a:solidFill>
                            <a:srgbClr val="52514E"/>
                          </a:solidFill>
                          <a:latin typeface="Calibri"/>
                        </a:rPr>
                        <a:t>Deferred occupancy</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rgbClr val="52514E"/>
                          </a:solidFill>
                          <a:latin typeface="Calibri"/>
                        </a:rPr>
                        <a:t>85%</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rgbClr val="D03B3B"/>
                          </a:solidFill>
                          <a:latin typeface="Calibri"/>
                        </a:rPr>
                        <a:t>modelling assumption — not in the data</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8"/>
                  </a:ext>
                </a:extLst>
              </a:tr>
              <a:tr h="205560">
                <a:tc>
                  <a:txBody>
                    <a:bodyPr/>
                    <a:lstStyle/>
                    <a:p>
                      <a:pPr defTabSz="457200">
                        <a:lnSpc>
                          <a:spcPct val="100000"/>
                        </a:lnSpc>
                      </a:pPr>
                      <a:r>
                        <a:rPr lang="en-US" sz="900" b="1" strike="noStrike" spc="-1">
                          <a:solidFill>
                            <a:srgbClr val="52514E"/>
                          </a:solidFill>
                          <a:latin typeface="Calibri"/>
                        </a:rPr>
                        <a:t>Seasonal uplift</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rgbClr val="52514E"/>
                          </a:solidFill>
                          <a:latin typeface="Calibri"/>
                        </a:rPr>
                        <a:t>+10%</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rgbClr val="898781"/>
                          </a:solidFill>
                          <a:latin typeface="Calibri"/>
                        </a:rPr>
                        <a:t>applied to the June baseline</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09"/>
                  </a:ext>
                </a:extLst>
              </a:tr>
              <a:tr h="205560">
                <a:tc>
                  <a:txBody>
                    <a:bodyPr/>
                    <a:lstStyle/>
                    <a:p>
                      <a:pPr defTabSz="457200">
                        <a:lnSpc>
                          <a:spcPct val="100000"/>
                        </a:lnSpc>
                      </a:pPr>
                      <a:r>
                        <a:rPr lang="en-US" sz="900" b="1" strike="noStrike" spc="-1">
                          <a:solidFill>
                            <a:srgbClr val="52514E"/>
                          </a:solidFill>
                          <a:latin typeface="Calibri"/>
                        </a:rPr>
                        <a:t>Annual attrition</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rgbClr val="52514E"/>
                          </a:solidFill>
                          <a:latin typeface="Calibri"/>
                        </a:rPr>
                        <a:t>36%</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rgbClr val="898781"/>
                          </a:solidFill>
                          <a:latin typeface="Calibri"/>
                        </a:rPr>
                        <a:t>compounds to 3.65%/month</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10"/>
                  </a:ext>
                </a:extLst>
              </a:tr>
              <a:tr h="205560">
                <a:tc>
                  <a:txBody>
                    <a:bodyPr/>
                    <a:lstStyle/>
                    <a:p>
                      <a:pPr defTabSz="457200">
                        <a:lnSpc>
                          <a:spcPct val="100000"/>
                        </a:lnSpc>
                      </a:pPr>
                      <a:r>
                        <a:rPr lang="en-US" sz="900" b="1" strike="noStrike" spc="-1">
                          <a:solidFill>
                            <a:srgbClr val="52514E"/>
                          </a:solidFill>
                          <a:latin typeface="Calibri"/>
                        </a:rPr>
                        <a:t>Learning curve</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rgbClr val="52514E"/>
                          </a:solidFill>
                          <a:latin typeface="Calibri"/>
                        </a:rPr>
                        <a:t>120/110/105%</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rgbClr val="898781"/>
                          </a:solidFill>
                          <a:latin typeface="Calibri"/>
                        </a:rPr>
                        <a:t>AHT multiplier, months 1–3</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11"/>
                  </a:ext>
                </a:extLst>
              </a:tr>
              <a:tr h="205560">
                <a:tc>
                  <a:txBody>
                    <a:bodyPr/>
                    <a:lstStyle/>
                    <a:p>
                      <a:pPr defTabSz="457200">
                        <a:lnSpc>
                          <a:spcPct val="100000"/>
                        </a:lnSpc>
                      </a:pPr>
                      <a:r>
                        <a:rPr lang="en-US" sz="900" b="1" strike="noStrike" spc="-1">
                          <a:solidFill>
                            <a:srgbClr val="52514E"/>
                          </a:solidFill>
                          <a:latin typeface="Calibri"/>
                        </a:rPr>
                        <a:t>Training</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rgbClr val="52514E"/>
                          </a:solidFill>
                          <a:latin typeface="Calibri"/>
                        </a:rPr>
                        <a:t>4 weeks</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rgbClr val="898781"/>
                          </a:solidFill>
                          <a:latin typeface="Calibri"/>
                        </a:rPr>
                        <a:t>non-producing, paid</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12"/>
                  </a:ext>
                </a:extLst>
              </a:tr>
              <a:tr h="284040">
                <a:tc>
                  <a:txBody>
                    <a:bodyPr/>
                    <a:lstStyle/>
                    <a:p>
                      <a:pPr defTabSz="457200">
                        <a:lnSpc>
                          <a:spcPct val="100000"/>
                        </a:lnSpc>
                      </a:pPr>
                      <a:r>
                        <a:rPr lang="en-US" sz="900" b="1" strike="noStrike" spc="-1">
                          <a:solidFill>
                            <a:srgbClr val="52514E"/>
                          </a:solidFill>
                          <a:latin typeface="Calibri"/>
                        </a:rPr>
                        <a:t>Routing</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rgbClr val="52514E"/>
                          </a:solidFill>
                          <a:latin typeface="Calibri"/>
                        </a:rPr>
                        <a:t>BPO 1&amp;2 EN; BPO 3 DE/IT/FR/ES</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rgbClr val="898781"/>
                          </a:solidFill>
                          <a:latin typeface="Calibri"/>
                        </a:rPr>
                        <a:t>9 of 15 AHT rows unroutable</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13"/>
                  </a:ext>
                </a:extLst>
              </a:tr>
              <a:tr h="205560">
                <a:tc>
                  <a:txBody>
                    <a:bodyPr/>
                    <a:lstStyle/>
                    <a:p>
                      <a:pPr defTabSz="457200">
                        <a:lnSpc>
                          <a:spcPct val="100000"/>
                        </a:lnSpc>
                      </a:pPr>
                      <a:r>
                        <a:rPr lang="en-US" sz="900" b="1" strike="noStrike" spc="-1">
                          <a:solidFill>
                            <a:srgbClr val="52514E"/>
                          </a:solidFill>
                          <a:latin typeface="Calibri"/>
                        </a:rPr>
                        <a:t>English BPO split</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rgbClr val="52514E"/>
                          </a:solidFill>
                          <a:latin typeface="Calibri"/>
                        </a:rPr>
                        <a:t>50 / 50</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a:solidFill>
                            <a:srgbClr val="D03B3B"/>
                          </a:solidFill>
                          <a:latin typeface="Calibri"/>
                        </a:rPr>
                        <a:t>AHT blended — assumption</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14"/>
                  </a:ext>
                </a:extLst>
              </a:tr>
              <a:tr h="205560">
                <a:tc>
                  <a:txBody>
                    <a:bodyPr/>
                    <a:lstStyle/>
                    <a:p>
                      <a:pPr defTabSz="457200">
                        <a:lnSpc>
                          <a:spcPct val="100000"/>
                        </a:lnSpc>
                      </a:pPr>
                      <a:r>
                        <a:rPr lang="en-US" sz="900" b="1" strike="noStrike" spc="-1">
                          <a:solidFill>
                            <a:srgbClr val="52514E"/>
                          </a:solidFill>
                          <a:latin typeface="Calibri"/>
                        </a:rPr>
                        <a:t>English AHT source</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algn="r" defTabSz="457200">
                        <a:lnSpc>
                          <a:spcPct val="100000"/>
                        </a:lnSpc>
                      </a:pPr>
                      <a:r>
                        <a:rPr lang="en-US" sz="900" b="0" strike="noStrike" spc="-1">
                          <a:solidFill>
                            <a:srgbClr val="52514E"/>
                          </a:solidFill>
                          <a:latin typeface="Calibri"/>
                        </a:rPr>
                        <a:t>channel-level (709.8s)</a:t>
                      </a:r>
                      <a:endParaRPr lang="en-US" sz="900" b="0" strike="noStrike" spc="-1">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tc>
                  <a:txBody>
                    <a:bodyPr/>
                    <a:lstStyle/>
                    <a:p>
                      <a:pPr defTabSz="457200">
                        <a:lnSpc>
                          <a:spcPct val="100000"/>
                        </a:lnSpc>
                      </a:pPr>
                      <a:r>
                        <a:rPr lang="en-US" sz="900" b="0" strike="noStrike" spc="-1" dirty="0">
                          <a:solidFill>
                            <a:srgbClr val="D03B3B"/>
                          </a:solidFill>
                          <a:latin typeface="Calibri"/>
                        </a:rPr>
                        <a:t>vs reason-level 908.8s — worth 78 FTE</a:t>
                      </a:r>
                      <a:endParaRPr lang="en-US" sz="900" b="0" strike="noStrike" spc="-1" dirty="0">
                        <a:solidFill>
                          <a:srgbClr val="000000"/>
                        </a:solidFill>
                        <a:latin typeface="Arial"/>
                      </a:endParaRPr>
                    </a:p>
                  </a:txBody>
                  <a:tcPr marL="31680" marR="3168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FCFB"/>
                    </a:solidFill>
                  </a:tcPr>
                </a:tc>
                <a:extLst>
                  <a:ext uri="{0D108BD9-81ED-4DB2-BD59-A6C34878D82A}">
                    <a16:rowId xmlns:a16="http://schemas.microsoft.com/office/drawing/2014/main" val="10015"/>
                  </a:ext>
                </a:extLst>
              </a:tr>
            </a:tbl>
          </a:graphicData>
        </a:graphic>
      </p:graphicFrame>
      <p:cxnSp>
        <p:nvCxnSpPr>
          <p:cNvPr id="329" name="Connector 12"/>
          <p:cNvCxnSpPr/>
          <p:nvPr/>
        </p:nvCxnSpPr>
        <p:spPr>
          <a:xfrm>
            <a:off x="502920" y="6400800"/>
            <a:ext cx="11185920" cy="360"/>
          </a:xfrm>
          <a:prstGeom prst="straightConnector1">
            <a:avLst/>
          </a:prstGeom>
          <a:ln w="9525">
            <a:solidFill>
              <a:srgbClr val="E1E0D9"/>
            </a:solidFill>
            <a:round/>
          </a:ln>
        </p:spPr>
      </p:cxnSp>
      <p:sp>
        <p:nvSpPr>
          <p:cNvPr id="330" name="TextBox 13"/>
          <p:cNvSpPr/>
          <p:nvPr/>
        </p:nvSpPr>
        <p:spPr>
          <a:xfrm>
            <a:off x="502920" y="6446520"/>
            <a:ext cx="91720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457200">
              <a:lnSpc>
                <a:spcPct val="100000"/>
              </a:lnSpc>
            </a:pPr>
            <a:r>
              <a:rPr lang="en-US" sz="750" spc="-1" dirty="0" err="1">
                <a:solidFill>
                  <a:srgbClr val="898781"/>
                </a:solidFill>
                <a:latin typeface="Calibri" panose="020F0502020204030204" pitchFamily="34" charset="0"/>
                <a:cs typeface="Calibri" panose="020F0502020204030204" pitchFamily="34" charset="0"/>
              </a:rPr>
              <a:t>GetYourGuide</a:t>
            </a:r>
            <a:r>
              <a:rPr lang="en-US" sz="750" spc="-1" dirty="0">
                <a:solidFill>
                  <a:srgbClr val="898781"/>
                </a:solidFill>
                <a:latin typeface="Calibri" panose="020F0502020204030204" pitchFamily="34" charset="0"/>
                <a:cs typeface="Calibri" panose="020F0502020204030204" pitchFamily="34" charset="0"/>
              </a:rPr>
              <a:t> · WFM take-home submission · </a:t>
            </a:r>
            <a:endParaRPr lang="en-US" sz="750" spc="-1" dirty="0">
              <a:solidFill>
                <a:srgbClr val="000000"/>
              </a:solidFill>
              <a:latin typeface="Calibri" panose="020F0502020204030204" pitchFamily="34" charset="0"/>
              <a:cs typeface="Calibri" panose="020F0502020204030204" pitchFamily="34" charset="0"/>
            </a:endParaRPr>
          </a:p>
        </p:txBody>
      </p:sp>
      <p:sp>
        <p:nvSpPr>
          <p:cNvPr id="331" name="TextBox 14"/>
          <p:cNvSpPr/>
          <p:nvPr/>
        </p:nvSpPr>
        <p:spPr>
          <a:xfrm>
            <a:off x="9675360" y="6446520"/>
            <a:ext cx="2013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457200">
              <a:lnSpc>
                <a:spcPct val="100000"/>
              </a:lnSpc>
            </a:pPr>
            <a:r>
              <a:rPr lang="en-US" sz="800" b="1" strike="noStrike" spc="-1" dirty="0">
                <a:solidFill>
                  <a:srgbClr val="52514E"/>
                </a:solidFill>
                <a:latin typeface="Calibri"/>
              </a:rPr>
              <a:t>A4 / </a:t>
            </a:r>
            <a:r>
              <a:rPr lang="en-US" sz="800" b="1" spc="-1" dirty="0">
                <a:solidFill>
                  <a:srgbClr val="52514E"/>
                </a:solidFill>
                <a:latin typeface="Calibri"/>
              </a:rPr>
              <a:t>4</a:t>
            </a:r>
            <a:endParaRPr lang="en-US" sz="800" b="0" strike="noStrike" spc="-1" dirty="0">
              <a:solidFill>
                <a:srgbClr val="000000"/>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249</TotalTime>
  <Words>3014</Words>
  <Application>Microsoft Macintosh PowerPoint</Application>
  <PresentationFormat>Widescreen</PresentationFormat>
  <Paragraphs>678</Paragraphs>
  <Slides>9</Slides>
  <Notes>1</Notes>
  <HiddenSlides>0</HiddenSlides>
  <MMClips>0</MMClips>
  <ScaleCrop>false</ScaleCrop>
  <HeadingPairs>
    <vt:vector size="6" baseType="variant">
      <vt:variant>
        <vt:lpstr>Fonts Used</vt:lpstr>
      </vt:variant>
      <vt:variant>
        <vt:i4>6</vt:i4>
      </vt:variant>
      <vt:variant>
        <vt:lpstr>Theme</vt:lpstr>
      </vt:variant>
      <vt:variant>
        <vt:i4>11</vt:i4>
      </vt:variant>
      <vt:variant>
        <vt:lpstr>Slide Titles</vt:lpstr>
      </vt:variant>
      <vt:variant>
        <vt:i4>9</vt:i4>
      </vt:variant>
    </vt:vector>
  </HeadingPairs>
  <TitlesOfParts>
    <vt:vector size="26" baseType="lpstr">
      <vt:lpstr>Aptos</vt:lpstr>
      <vt:lpstr>Arial</vt:lpstr>
      <vt:lpstr>Calibri</vt:lpstr>
      <vt:lpstr>Symbol</vt:lpstr>
      <vt:lpstr>Times New Roman</vt:lpstr>
      <vt:lpstr>Wingdings</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generated using python-pptx</dc:description>
  <cp:lastModifiedBy>Rajinder Singh</cp:lastModifiedBy>
  <cp:revision>100</cp:revision>
  <dcterms:created xsi:type="dcterms:W3CDTF">2013-01-27T09:14:16Z</dcterms:created>
  <dcterms:modified xsi:type="dcterms:W3CDTF">2026-09-29T07:28:32Z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