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charts/chart9.xml" ContentType="application/vnd.openxmlformats-officedocument.drawingml.chart+xml"/>
  <Override PartName="/ppt/charts/chart13.xml" ContentType="application/vnd.openxmlformats-officedocument.drawingml.chart+xml"/>
  <Override PartName="/ppt/charts/chart15.xml" ContentType="application/vnd.openxmlformats-officedocument.drawingml.chart+xml"/>
  <Override PartName="/ppt/charts/chart14.xml" ContentType="application/vnd.openxmlformats-officedocument.drawingml.chart+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10.xml" ContentType="application/vnd.openxmlformats-officedocument.drawingml.chart+xml"/>
  <Override PartName="/ppt/charts/chart6.xml" ContentType="application/vnd.openxmlformats-officedocument.drawingml.chart+xml"/>
  <Override PartName="/ppt/charts/chart11.xml" ContentType="application/vnd.openxmlformats-officedocument.drawingml.chart+xml"/>
  <Override PartName="/ppt/charts/chart7.xml" ContentType="application/vnd.openxmlformats-officedocument.drawingml.chart+xml"/>
  <Override PartName="/ppt/charts/chart12.xml" ContentType="application/vnd.openxmlformats-officedocument.drawingml.chart+xml"/>
  <Override PartName="/ppt/charts/chart8.xml" ContentType="application/vnd.openxmlformats-officedocument.drawingml.char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stacked"/>
        <c:varyColors val="0"/>
        <c:ser>
          <c:idx val="0"/>
          <c:order val="0"/>
          <c:tx>
            <c:strRef>
              <c:f>label 0</c:f>
              <c:strCache>
                <c:ptCount val="1"/>
                <c:pt idx="0">
                  <c:v>base</c:v>
                </c:pt>
              </c:strCache>
            </c:strRef>
          </c:tx>
          <c:spPr>
            <a:noFill/>
            <a:ln w="0">
              <a:noFill/>
            </a:ln>
          </c:spPr>
          <c:invertIfNegative val="0"/>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7"/>
                <c:pt idx="0">
                  <c:v>Workload</c:v>
                </c:pt>
                <c:pt idx="1">
                  <c:v>+SLA</c:v>
                </c:pt>
                <c:pt idx="2">
                  <c:v>SLA-met</c:v>
                </c:pt>
                <c:pt idx="3">
                  <c:v>+Learning</c:v>
                </c:pt>
                <c:pt idx="4">
                  <c:v>On-floor</c:v>
                </c:pt>
                <c:pt idx="5">
                  <c:v>+Attrition</c:v>
                </c:pt>
                <c:pt idx="6">
                  <c:v>Paid FTE</c:v>
                </c:pt>
              </c:strCache>
            </c:strRef>
          </c:cat>
          <c:val>
            <c:numRef>
              <c:f>0</c:f>
              <c:numCache>
                <c:formatCode>General</c:formatCode>
                <c:ptCount val="7"/>
                <c:pt idx="0">
                  <c:v>0</c:v>
                </c:pt>
                <c:pt idx="1">
                  <c:v>360.2</c:v>
                </c:pt>
                <c:pt idx="2">
                  <c:v>0</c:v>
                </c:pt>
                <c:pt idx="3">
                  <c:v>484.2</c:v>
                </c:pt>
                <c:pt idx="4">
                  <c:v>0</c:v>
                </c:pt>
                <c:pt idx="5">
                  <c:v>489.7</c:v>
                </c:pt>
                <c:pt idx="6">
                  <c:v>0</c:v>
                </c:pt>
              </c:numCache>
            </c:numRef>
          </c:val>
        </c:ser>
        <c:ser>
          <c:idx val="1"/>
          <c:order val="1"/>
          <c:tx>
            <c:strRef>
              <c:f>label 1</c:f>
              <c:strCache>
                <c:ptCount val="1"/>
                <c:pt idx="0">
                  <c:v>size</c:v>
                </c:pt>
              </c:strCache>
            </c:strRef>
          </c:tx>
          <c:spPr>
            <a:solidFill>
              <a:srgbClr val="c0504d"/>
            </a:solidFill>
            <a:ln w="0">
              <a:noFill/>
            </a:ln>
          </c:spPr>
          <c:invertIfNegative val="0"/>
          <c:dPt>
            <c:idx val="0"/>
            <c:invertIfNegative val="0"/>
            <c:spPr>
              <a:solidFill>
                <a:srgbClr val="d9d8d2"/>
              </a:solidFill>
              <a:ln w="0">
                <a:noFill/>
              </a:ln>
            </c:spPr>
          </c:dPt>
          <c:dPt>
            <c:idx val="1"/>
            <c:invertIfNegative val="0"/>
            <c:spPr>
              <a:solidFill>
                <a:srgbClr val="2a78d6"/>
              </a:solidFill>
              <a:ln w="0">
                <a:noFill/>
              </a:ln>
            </c:spPr>
          </c:dPt>
          <c:dPt>
            <c:idx val="2"/>
            <c:invertIfNegative val="0"/>
            <c:spPr>
              <a:solidFill>
                <a:srgbClr val="d9d8d2"/>
              </a:solidFill>
              <a:ln w="0">
                <a:noFill/>
              </a:ln>
            </c:spPr>
          </c:dPt>
          <c:dPt>
            <c:idx val="3"/>
            <c:invertIfNegative val="0"/>
            <c:spPr>
              <a:solidFill>
                <a:srgbClr val="2a78d6"/>
              </a:solidFill>
              <a:ln w="0">
                <a:noFill/>
              </a:ln>
            </c:spPr>
          </c:dPt>
          <c:dPt>
            <c:idx val="4"/>
            <c:invertIfNegative val="0"/>
            <c:spPr>
              <a:solidFill>
                <a:srgbClr val="d9d8d2"/>
              </a:solidFill>
              <a:ln w="0">
                <a:noFill/>
              </a:ln>
            </c:spPr>
          </c:dPt>
          <c:dPt>
            <c:idx val="5"/>
            <c:invertIfNegative val="0"/>
            <c:spPr>
              <a:solidFill>
                <a:srgbClr val="2a78d6"/>
              </a:solidFill>
              <a:ln w="0">
                <a:noFill/>
              </a:ln>
            </c:spPr>
          </c:dPt>
          <c:dPt>
            <c:idx val="6"/>
            <c:invertIfNegative val="0"/>
            <c:spPr>
              <a:solidFill>
                <a:srgbClr val="2a78d6"/>
              </a:solidFill>
              <a:ln w="0">
                <a:noFill/>
              </a:ln>
            </c:spPr>
          </c:dPt>
          <c:dLbls>
            <c:dLbl>
              <c:idx val="0"/>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360</a:t>
                    </a:r>
                  </a:p>
                </c:rich>
              </c:tx>
              <c:dLblPos val="ctr"/>
              <c:showLegendKey val="0"/>
              <c:showVal val="1"/>
              <c:showCatName val="0"/>
              <c:showSerName val="0"/>
              <c:showPercent val="0"/>
              <c:separator>; </c:separator>
            </c:dLbl>
            <c:dLbl>
              <c:idx val="1"/>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+124</a:t>
                    </a:r>
                  </a:p>
                </c:rich>
              </c:tx>
              <c:dLblPos val="ctr"/>
              <c:showLegendKey val="0"/>
              <c:showVal val="1"/>
              <c:showCatName val="0"/>
              <c:showSerName val="0"/>
              <c:showPercent val="0"/>
              <c:separator>; </c:separator>
            </c:dLbl>
            <c:dLbl>
              <c:idx val="2"/>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484</a:t>
                    </a:r>
                  </a:p>
                </c:rich>
              </c:tx>
              <c:dLblPos val="ctr"/>
              <c:showLegendKey val="0"/>
              <c:showVal val="1"/>
              <c:showCatName val="0"/>
              <c:showSerName val="0"/>
              <c:showPercent val="0"/>
              <c:separator>; </c:separator>
            </c:dLbl>
            <c:dLbl>
              <c:idx val="3"/>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+6</a:t>
                    </a:r>
                  </a:p>
                </c:rich>
              </c:tx>
              <c:dLblPos val="ctr"/>
              <c:showLegendKey val="0"/>
              <c:showVal val="1"/>
              <c:showCatName val="0"/>
              <c:showSerName val="0"/>
              <c:showPercent val="0"/>
              <c:separator>; </c:separator>
            </c:dLbl>
            <c:dLbl>
              <c:idx val="4"/>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490</a:t>
                    </a:r>
                  </a:p>
                </c:rich>
              </c:tx>
              <c:dLblPos val="ctr"/>
              <c:showLegendKey val="0"/>
              <c:showVal val="1"/>
              <c:showCatName val="0"/>
              <c:showSerName val="0"/>
              <c:showPercent val="0"/>
              <c:separator>; </c:separator>
            </c:dLbl>
            <c:dLbl>
              <c:idx val="5"/>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+18</a:t>
                    </a:r>
                  </a:p>
                </c:rich>
              </c:tx>
              <c:dLblPos val="ctr"/>
              <c:showLegendKey val="0"/>
              <c:showVal val="1"/>
              <c:showCatName val="0"/>
              <c:showSerName val="0"/>
              <c:showPercent val="0"/>
              <c:separator>; </c:separator>
            </c:dLbl>
            <c:dLbl>
              <c:idx val="6"/>
              <c:numFmt formatCode="General" sourceLinked="0"/>
              <c:txPr>
                <a:bodyPr wrap="square"/>
                <a:lstStyle/>
                <a:p>
                  <a:pPr>
                    <a:defRPr b="0" sz="1800" spc="-1" strike="noStrike">
                      <a:solidFill>
                        <a:srgbClr val="000000"/>
                      </a:solidFill>
                      <a:latin typeface="Calibri"/>
                    </a:defRPr>
                  </a:pPr>
                </a:p>
              </c:txPr>
              <c:tx>
                <c:rich>
                  <a:bodyPr/>
                  <a:p>
                    <a:r>
                      <a:rPr b="0" sz="1800" spc="-1" strike="noStrike">
                        <a:solidFill>
                          <a:srgbClr val="000000"/>
                        </a:solidFill>
                        <a:latin typeface="Calibri"/>
                      </a:rPr>
                      <a:t>508</a:t>
                    </a:r>
                  </a:p>
                </c:rich>
              </c:tx>
              <c:dLblPos val="ctr"/>
              <c:showLegendKey val="0"/>
              <c:showVal val="1"/>
              <c:showCatName val="0"/>
              <c:showSerName val="0"/>
              <c:showPercent val="0"/>
              <c:separator>; </c:separator>
            </c:dLbl>
            <c:txPr>
              <a:bodyPr wrap="square"/>
              <a:lstStyle/>
              <a:p>
                <a:pPr>
                  <a:defRPr b="1" sz="850" spc="-1" strike="noStrike">
                    <a:solidFill>
                      <a:srgbClr val="000000"/>
                    </a:solidFill>
                    <a:latin typeface="Calibri"/>
                  </a:defRPr>
                </a:pPr>
              </a:p>
            </c:txPr>
            <c:dLblPos val="ct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7"/>
                <c:pt idx="0">
                  <c:v>Workload</c:v>
                </c:pt>
                <c:pt idx="1">
                  <c:v>+SLA</c:v>
                </c:pt>
                <c:pt idx="2">
                  <c:v>SLA-met</c:v>
                </c:pt>
                <c:pt idx="3">
                  <c:v>+Learning</c:v>
                </c:pt>
                <c:pt idx="4">
                  <c:v>On-floor</c:v>
                </c:pt>
                <c:pt idx="5">
                  <c:v>+Attrition</c:v>
                </c:pt>
                <c:pt idx="6">
                  <c:v>Paid FTE</c:v>
                </c:pt>
              </c:strCache>
            </c:strRef>
          </c:cat>
          <c:val>
            <c:numRef>
              <c:f>1</c:f>
              <c:numCache>
                <c:formatCode>General</c:formatCode>
                <c:ptCount val="7"/>
                <c:pt idx="0">
                  <c:v>360.2</c:v>
                </c:pt>
                <c:pt idx="1">
                  <c:v>124</c:v>
                </c:pt>
                <c:pt idx="2">
                  <c:v>484.2</c:v>
                </c:pt>
                <c:pt idx="3">
                  <c:v>5.5</c:v>
                </c:pt>
                <c:pt idx="4">
                  <c:v>489.7</c:v>
                </c:pt>
                <c:pt idx="5">
                  <c:v>17.9</c:v>
                </c:pt>
                <c:pt idx="6">
                  <c:v>507.6</c:v>
                </c:pt>
              </c:numCache>
            </c:numRef>
          </c:val>
        </c:ser>
        <c:gapWidth val="35"/>
        <c:overlap val="100"/>
        <c:axId val="31031671"/>
        <c:axId val="63084558"/>
      </c:barChart>
      <c:catAx>
        <c:axId val="31031671"/>
        <c:scaling>
          <c:orientation val="minMax"/>
        </c:scaling>
        <c:delete val="0"/>
        <c:axPos val="b"/>
        <c:numFmt formatCode="[$-409]mm/dd/yyyy" sourceLinked="1"/>
        <c:majorTickMark val="out"/>
        <c:minorTickMark val="none"/>
        <c:tickLblPos val="nextTo"/>
        <c:spPr>
          <a:ln w="9360">
            <a:solidFill>
              <a:srgbClr val="c3c2b7"/>
            </a:solidFill>
            <a:round/>
          </a:ln>
        </c:spPr>
        <c:txPr>
          <a:bodyPr/>
          <a:lstStyle/>
          <a:p>
            <a:pPr>
              <a:defRPr b="0" sz="600" spc="-1" strike="noStrike">
                <a:solidFill>
                  <a:srgbClr val="898781"/>
                </a:solidFill>
                <a:latin typeface="Calibri"/>
              </a:defRPr>
            </a:pPr>
          </a:p>
        </c:txPr>
        <c:crossAx val="63084558"/>
        <c:crosses val="autoZero"/>
        <c:auto val="1"/>
        <c:lblAlgn val="ctr"/>
        <c:lblOffset val="100"/>
        <c:noMultiLvlLbl val="0"/>
      </c:catAx>
      <c:valAx>
        <c:axId val="63084558"/>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31031671"/>
        <c:crossBetween val="between"/>
      </c:valAx>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Actual</c:v>
                </c:pt>
              </c:strCache>
            </c:strRef>
          </c:tx>
          <c:spPr>
            <a:solidFill>
              <a:srgbClr val="2a78d6"/>
            </a:solidFill>
            <a:ln w="22320">
              <a:solidFill>
                <a:srgbClr val="2a78d6"/>
              </a:solidFill>
              <a:round/>
            </a:ln>
          </c:spPr>
          <c:marker>
            <c:symbol val="circle"/>
            <c:size val="5"/>
            <c:spPr>
              <a:solidFill>
                <a:srgbClr val="2a78d6"/>
              </a:solidFill>
            </c:spPr>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9"/>
                <c:pt idx="0">
                  <c:v>Jan</c:v>
                </c:pt>
                <c:pt idx="1">
                  <c:v>Feb</c:v>
                </c:pt>
                <c:pt idx="2">
                  <c:v>Mar</c:v>
                </c:pt>
                <c:pt idx="3">
                  <c:v>Apr</c:v>
                </c:pt>
                <c:pt idx="4">
                  <c:v>May</c:v>
                </c:pt>
                <c:pt idx="5">
                  <c:v>Jun</c:v>
                </c:pt>
                <c:pt idx="6">
                  <c:v>Jul</c:v>
                </c:pt>
                <c:pt idx="7">
                  <c:v>Aug</c:v>
                </c:pt>
                <c:pt idx="8">
                  <c:v>Sep</c:v>
                </c:pt>
              </c:strCache>
            </c:strRef>
          </c:cat>
          <c:val>
            <c:numRef>
              <c:f>0</c:f>
              <c:numCache>
                <c:formatCode>General</c:formatCode>
                <c:ptCount val="9"/>
                <c:pt idx="0">
                  <c:v>124</c:v>
                </c:pt>
                <c:pt idx="1">
                  <c:v>121</c:v>
                </c:pt>
                <c:pt idx="2">
                  <c:v>183</c:v>
                </c:pt>
                <c:pt idx="3">
                  <c:v>208</c:v>
                </c:pt>
                <c:pt idx="4">
                  <c:v>187</c:v>
                </c:pt>
                <c:pt idx="5">
                  <c:v>227</c:v>
                </c:pt>
              </c:numCache>
            </c:numRef>
          </c:val>
          <c:smooth val="0"/>
        </c:ser>
        <c:ser>
          <c:idx val="1"/>
          <c:order val="1"/>
          <c:tx>
            <c:strRef>
              <c:f>label 1</c:f>
              <c:strCache>
                <c:ptCount val="1"/>
                <c:pt idx="0">
                  <c:v>Forecast</c:v>
                </c:pt>
              </c:strCache>
            </c:strRef>
          </c:tx>
          <c:spPr>
            <a:solidFill>
              <a:srgbClr val="2a78d6"/>
            </a:solidFill>
            <a:ln w="22320">
              <a:solidFill>
                <a:srgbClr val="2a78d6"/>
              </a:solidFill>
              <a:prstDash val="dash"/>
              <a:round/>
            </a:ln>
          </c:spPr>
          <c:marker>
            <c:symbol val="circle"/>
            <c:size val="5"/>
            <c:spPr>
              <a:solidFill>
                <a:srgbClr val="2a78d6"/>
              </a:solidFill>
            </c:spPr>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9"/>
                <c:pt idx="0">
                  <c:v>Jan</c:v>
                </c:pt>
                <c:pt idx="1">
                  <c:v>Feb</c:v>
                </c:pt>
                <c:pt idx="2">
                  <c:v>Mar</c:v>
                </c:pt>
                <c:pt idx="3">
                  <c:v>Apr</c:v>
                </c:pt>
                <c:pt idx="4">
                  <c:v>May</c:v>
                </c:pt>
                <c:pt idx="5">
                  <c:v>Jun</c:v>
                </c:pt>
                <c:pt idx="6">
                  <c:v>Jul</c:v>
                </c:pt>
                <c:pt idx="7">
                  <c:v>Aug</c:v>
                </c:pt>
                <c:pt idx="8">
                  <c:v>Sep</c:v>
                </c:pt>
              </c:strCache>
            </c:strRef>
          </c:cat>
          <c:val>
            <c:numRef>
              <c:f>1</c:f>
              <c:numCache>
                <c:formatCode>General</c:formatCode>
                <c:ptCount val="9"/>
                <c:pt idx="5">
                  <c:v>227</c:v>
                </c:pt>
                <c:pt idx="6">
                  <c:v>234</c:v>
                </c:pt>
                <c:pt idx="7">
                  <c:v>234</c:v>
                </c:pt>
                <c:pt idx="8">
                  <c:v>234</c:v>
                </c:pt>
              </c:numCache>
            </c:numRef>
          </c:val>
          <c:smooth val="0"/>
        </c:ser>
        <c:hiLowLines>
          <c:spPr>
            <a:ln w="0">
              <a:noFill/>
            </a:ln>
          </c:spPr>
        </c:hiLowLines>
        <c:marker val="1"/>
        <c:axId val="58969796"/>
        <c:axId val="84302855"/>
      </c:lineChart>
      <c:catAx>
        <c:axId val="58969796"/>
        <c:scaling>
          <c:orientation val="minMax"/>
        </c:scaling>
        <c:delete val="0"/>
        <c:axPos val="b"/>
        <c:numFmt formatCode="[$-409]mm/dd/yyyy" sourceLinked="1"/>
        <c:majorTickMark val="out"/>
        <c:minorTickMark val="none"/>
        <c:tickLblPos val="nextTo"/>
        <c:spPr>
          <a:ln w="9360">
            <a:solidFill>
              <a:srgbClr val="c3c2b7"/>
            </a:solidFill>
            <a:round/>
          </a:ln>
        </c:spPr>
        <c:txPr>
          <a:bodyPr/>
          <a:lstStyle/>
          <a:p>
            <a:pPr>
              <a:defRPr b="0" sz="750" spc="-1" strike="noStrike">
                <a:solidFill>
                  <a:srgbClr val="898781"/>
                </a:solidFill>
                <a:latin typeface="Calibri"/>
              </a:defRPr>
            </a:pPr>
          </a:p>
        </c:txPr>
        <c:crossAx val="84302855"/>
        <c:crosses val="autoZero"/>
        <c:auto val="1"/>
        <c:lblAlgn val="ctr"/>
        <c:lblOffset val="100"/>
        <c:noMultiLvlLbl val="0"/>
      </c:catAx>
      <c:valAx>
        <c:axId val="84302855"/>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58969796"/>
        <c:crossBetween val="between"/>
      </c:valAx>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2a78d6"/>
            </a:solidFill>
            <a:ln w="19080">
              <a:solidFill>
                <a:srgbClr val="2a78d6"/>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124</c:v>
                </c:pt>
                <c:pt idx="1">
                  <c:v>121</c:v>
                </c:pt>
                <c:pt idx="2">
                  <c:v>183</c:v>
                </c:pt>
                <c:pt idx="3">
                  <c:v>208</c:v>
                </c:pt>
                <c:pt idx="4">
                  <c:v>187</c:v>
                </c:pt>
                <c:pt idx="5">
                  <c:v>227</c:v>
                </c:pt>
              </c:numCache>
            </c:numRef>
          </c:val>
          <c:smooth val="0"/>
        </c:ser>
        <c:hiLowLines>
          <c:spPr>
            <a:ln w="0">
              <a:noFill/>
            </a:ln>
          </c:spPr>
        </c:hiLowLines>
        <c:marker val="0"/>
        <c:axId val="93161301"/>
        <c:axId val="76992788"/>
      </c:lineChart>
      <c:catAx>
        <c:axId val="93161301"/>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76992788"/>
        <c:crosses val="autoZero"/>
        <c:auto val="1"/>
        <c:lblAlgn val="ctr"/>
        <c:lblOffset val="100"/>
        <c:noMultiLvlLbl val="0"/>
      </c:catAx>
      <c:valAx>
        <c:axId val="76992788"/>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93161301"/>
        <c:crossBetween val="between"/>
      </c:valAx>
      <c:spPr>
        <a:noFill/>
        <a:ln w="0">
          <a:noFill/>
        </a:ln>
      </c:spPr>
    </c:plotArea>
    <c:plotVisOnly val="1"/>
    <c:dispBlanksAs val="gap"/>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131</c:v>
                </c:pt>
                <c:pt idx="1">
                  <c:v>128</c:v>
                </c:pt>
                <c:pt idx="2">
                  <c:v>111</c:v>
                </c:pt>
                <c:pt idx="3">
                  <c:v>105</c:v>
                </c:pt>
                <c:pt idx="4">
                  <c:v>108</c:v>
                </c:pt>
                <c:pt idx="5">
                  <c:v>103</c:v>
                </c:pt>
              </c:numCache>
            </c:numRef>
          </c:val>
          <c:smooth val="0"/>
        </c:ser>
        <c:hiLowLines>
          <c:spPr>
            <a:ln w="0">
              <a:noFill/>
            </a:ln>
          </c:spPr>
        </c:hiLowLines>
        <c:marker val="0"/>
        <c:axId val="38201886"/>
        <c:axId val="46380148"/>
      </c:lineChart>
      <c:catAx>
        <c:axId val="38201886"/>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46380148"/>
        <c:crosses val="autoZero"/>
        <c:auto val="1"/>
        <c:lblAlgn val="ctr"/>
        <c:lblOffset val="100"/>
        <c:noMultiLvlLbl val="0"/>
      </c:catAx>
      <c:valAx>
        <c:axId val="46380148"/>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38201886"/>
        <c:crossBetween val="between"/>
      </c:valAx>
      <c:spPr>
        <a:noFill/>
        <a:ln w="0">
          <a:noFill/>
        </a:ln>
      </c:spPr>
    </c:plotArea>
    <c:plotVisOnly val="1"/>
    <c:dispBlanksAs val="gap"/>
  </c:chart>
  <c:spPr>
    <a:no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119</c:v>
                </c:pt>
                <c:pt idx="1">
                  <c:v>116</c:v>
                </c:pt>
                <c:pt idx="2">
                  <c:v>121</c:v>
                </c:pt>
                <c:pt idx="3">
                  <c:v>118</c:v>
                </c:pt>
                <c:pt idx="4">
                  <c:v>122</c:v>
                </c:pt>
                <c:pt idx="5">
                  <c:v>120</c:v>
                </c:pt>
              </c:numCache>
            </c:numRef>
          </c:val>
          <c:smooth val="0"/>
        </c:ser>
        <c:hiLowLines>
          <c:spPr>
            <a:ln w="0">
              <a:noFill/>
            </a:ln>
          </c:spPr>
        </c:hiLowLines>
        <c:marker val="0"/>
        <c:axId val="40304344"/>
        <c:axId val="51219621"/>
      </c:lineChart>
      <c:catAx>
        <c:axId val="40304344"/>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51219621"/>
        <c:crosses val="autoZero"/>
        <c:auto val="1"/>
        <c:lblAlgn val="ctr"/>
        <c:lblOffset val="100"/>
        <c:noMultiLvlLbl val="0"/>
      </c:catAx>
      <c:valAx>
        <c:axId val="51219621"/>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40304344"/>
        <c:crossBetween val="between"/>
      </c:valAx>
      <c:spPr>
        <a:noFill/>
        <a:ln w="0">
          <a:noFill/>
        </a:ln>
      </c:spPr>
    </c:plotArea>
    <c:plotVisOnly val="1"/>
    <c:dispBlanksAs val="gap"/>
  </c:chart>
  <c:spPr>
    <a:noFill/>
    <a:ln w="0">
      <a:noFill/>
    </a:ln>
  </c:spPr>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97</c:v>
                </c:pt>
                <c:pt idx="1">
                  <c:v>95</c:v>
                </c:pt>
                <c:pt idx="2">
                  <c:v>98</c:v>
                </c:pt>
                <c:pt idx="3">
                  <c:v>95</c:v>
                </c:pt>
                <c:pt idx="4">
                  <c:v>93</c:v>
                </c:pt>
                <c:pt idx="5">
                  <c:v>94</c:v>
                </c:pt>
              </c:numCache>
            </c:numRef>
          </c:val>
          <c:smooth val="0"/>
        </c:ser>
        <c:hiLowLines>
          <c:spPr>
            <a:ln w="0">
              <a:noFill/>
            </a:ln>
          </c:spPr>
        </c:hiLowLines>
        <c:marker val="0"/>
        <c:axId val="20347668"/>
        <c:axId val="3773022"/>
      </c:lineChart>
      <c:catAx>
        <c:axId val="20347668"/>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3773022"/>
        <c:crosses val="autoZero"/>
        <c:auto val="1"/>
        <c:lblAlgn val="ctr"/>
        <c:lblOffset val="100"/>
        <c:noMultiLvlLbl val="0"/>
      </c:catAx>
      <c:valAx>
        <c:axId val="3773022"/>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20347668"/>
        <c:crossBetween val="between"/>
      </c:valAx>
      <c:spPr>
        <a:noFill/>
        <a:ln w="0">
          <a:noFill/>
        </a:ln>
      </c:spPr>
    </c:plotArea>
    <c:plotVisOnly val="1"/>
    <c:dispBlanksAs val="gap"/>
  </c:chart>
  <c:spPr>
    <a:noFill/>
    <a:ln w="0">
      <a:noFill/>
    </a:ln>
  </c:spPr>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88</c:v>
                </c:pt>
                <c:pt idx="1">
                  <c:v>86</c:v>
                </c:pt>
                <c:pt idx="2">
                  <c:v>92</c:v>
                </c:pt>
                <c:pt idx="3">
                  <c:v>88</c:v>
                </c:pt>
                <c:pt idx="4">
                  <c:v>84</c:v>
                </c:pt>
                <c:pt idx="5">
                  <c:v>86</c:v>
                </c:pt>
              </c:numCache>
            </c:numRef>
          </c:val>
          <c:smooth val="0"/>
        </c:ser>
        <c:hiLowLines>
          <c:spPr>
            <a:ln w="0">
              <a:noFill/>
            </a:ln>
          </c:spPr>
        </c:hiLowLines>
        <c:marker val="0"/>
        <c:axId val="78965775"/>
        <c:axId val="53313490"/>
      </c:lineChart>
      <c:catAx>
        <c:axId val="78965775"/>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53313490"/>
        <c:crosses val="autoZero"/>
        <c:auto val="1"/>
        <c:lblAlgn val="ctr"/>
        <c:lblOffset val="100"/>
        <c:noMultiLvlLbl val="0"/>
      </c:catAx>
      <c:valAx>
        <c:axId val="53313490"/>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78965775"/>
        <c:crossBetween val="between"/>
      </c:valAx>
      <c:spPr>
        <a:noFill/>
        <a:ln w="0">
          <a:noFill/>
        </a:ln>
      </c:spPr>
    </c:plotArea>
    <c:plotVisOnly val="1"/>
    <c:dispBlanksAs val="gap"/>
  </c:chart>
  <c:spPr>
    <a:noFill/>
    <a:ln w="0">
      <a:noFill/>
    </a:ln>
  </c:spPr>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v</c:v>
                </c:pt>
              </c:strCache>
            </c:strRef>
          </c:tx>
          <c:spPr>
            <a:solidFill>
              <a:srgbClr val="4f81bd"/>
            </a:solidFill>
            <a:ln w="0">
              <a:noFill/>
            </a:ln>
          </c:spPr>
          <c:invertIfNegative val="0"/>
          <c:dPt>
            <c:idx val="0"/>
            <c:invertIfNegative val="0"/>
            <c:spPr>
              <a:solidFill>
                <a:srgbClr val="2a78d6"/>
              </a:solidFill>
              <a:ln w="0">
                <a:noFill/>
              </a:ln>
            </c:spPr>
          </c:dPt>
          <c:dPt>
            <c:idx val="1"/>
            <c:invertIfNegative val="0"/>
            <c:spPr>
              <a:solidFill>
                <a:srgbClr val="2a78d6"/>
              </a:solidFill>
              <a:ln w="0">
                <a:noFill/>
              </a:ln>
            </c:spPr>
          </c:dPt>
          <c:dPt>
            <c:idx val="2"/>
            <c:invertIfNegative val="0"/>
            <c:spPr>
              <a:solidFill>
                <a:srgbClr val="2a78d6"/>
              </a:solidFill>
              <a:ln w="0">
                <a:noFill/>
              </a:ln>
            </c:spPr>
          </c:dPt>
          <c:dPt>
            <c:idx val="3"/>
            <c:invertIfNegative val="0"/>
            <c:spPr>
              <a:solidFill>
                <a:srgbClr val="2a78d6"/>
              </a:solidFill>
              <a:ln w="0">
                <a:noFill/>
              </a:ln>
            </c:spPr>
          </c:dPt>
          <c:dLbls>
            <c:dLbl>
              <c:idx val="0"/>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42%</a:t>
                    </a:r>
                  </a:p>
                </c:rich>
              </c:tx>
              <c:dLblPos val="outEnd"/>
              <c:showLegendKey val="0"/>
              <c:showVal val="1"/>
              <c:showCatName val="0"/>
              <c:showSerName val="0"/>
              <c:showPercent val="0"/>
              <c:separator>; </c:separator>
            </c:dLbl>
            <c:dLbl>
              <c:idx val="1"/>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38%</a:t>
                    </a:r>
                  </a:p>
                </c:rich>
              </c:tx>
              <c:dLblPos val="outEnd"/>
              <c:showLegendKey val="0"/>
              <c:showVal val="1"/>
              <c:showCatName val="0"/>
              <c:showSerName val="0"/>
              <c:showPercent val="0"/>
              <c:separator>; </c:separator>
            </c:dLbl>
            <c:dLbl>
              <c:idx val="2"/>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31%</a:t>
                    </a:r>
                  </a:p>
                </c:rich>
              </c:tx>
              <c:dLblPos val="outEnd"/>
              <c:showLegendKey val="0"/>
              <c:showVal val="1"/>
              <c:showCatName val="0"/>
              <c:showSerName val="0"/>
              <c:showPercent val="0"/>
              <c:separator>; </c:separator>
            </c:dLbl>
            <c:dLbl>
              <c:idx val="3"/>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28%</a:t>
                    </a:r>
                  </a:p>
                </c:rich>
              </c:tx>
              <c:dLblPos val="outEnd"/>
              <c:showLegendKey val="0"/>
              <c:showVal val="1"/>
              <c:showCatName val="0"/>
              <c:showSerName val="0"/>
              <c:showPercent val="0"/>
              <c:separator>; </c:separator>
            </c:dLbl>
            <c:txPr>
              <a:bodyPr wrap="square"/>
              <a:lstStyle/>
              <a:p>
                <a:pPr>
                  <a:defRPr b="1" sz="750" spc="-1" strike="noStrike">
                    <a:solidFill>
                      <a:srgbClr val="0b0b0b"/>
                    </a:solidFill>
                    <a:latin typeface="Calibri"/>
                  </a:defRPr>
                </a:pPr>
              </a:p>
            </c:txPr>
            <c:dLblPos val="outEnd"/>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4"/>
                <c:pt idx="0">
                  <c:v>German inb 42%</c:v>
                </c:pt>
                <c:pt idx="1">
                  <c:v>Spanish inb 38%</c:v>
                </c:pt>
                <c:pt idx="2">
                  <c:v>French inb 31%</c:v>
                </c:pt>
                <c:pt idx="3">
                  <c:v>Italian inb 28%</c:v>
                </c:pt>
              </c:strCache>
            </c:strRef>
          </c:cat>
          <c:val>
            <c:numRef>
              <c:f>0</c:f>
              <c:numCache>
                <c:formatCode>General</c:formatCode>
                <c:ptCount val="4"/>
                <c:pt idx="0">
                  <c:v>42</c:v>
                </c:pt>
                <c:pt idx="1">
                  <c:v>38</c:v>
                </c:pt>
                <c:pt idx="2">
                  <c:v>31</c:v>
                </c:pt>
                <c:pt idx="3">
                  <c:v>28</c:v>
                </c:pt>
              </c:numCache>
            </c:numRef>
          </c:val>
        </c:ser>
        <c:gapWidth val="45"/>
        <c:overlap val="0"/>
        <c:axId val="90203907"/>
        <c:axId val="96638615"/>
      </c:barChart>
      <c:catAx>
        <c:axId val="90203907"/>
        <c:scaling>
          <c:orientation val="minMax"/>
        </c:scaling>
        <c:delete val="0"/>
        <c:axPos val="b"/>
        <c:numFmt formatCode="[$-409]mm/dd/yyyy" sourceLinked="1"/>
        <c:majorTickMark val="out"/>
        <c:minorTickMark val="none"/>
        <c:tickLblPos val="nextTo"/>
        <c:spPr>
          <a:ln w="9360">
            <a:solidFill>
              <a:srgbClr val="c3c2b7"/>
            </a:solidFill>
            <a:round/>
          </a:ln>
        </c:spPr>
        <c:txPr>
          <a:bodyPr/>
          <a:lstStyle/>
          <a:p>
            <a:pPr>
              <a:defRPr b="0" sz="700" spc="-1" strike="noStrike">
                <a:solidFill>
                  <a:srgbClr val="52514e"/>
                </a:solidFill>
                <a:latin typeface="Calibri"/>
              </a:defRPr>
            </a:pPr>
          </a:p>
        </c:txPr>
        <c:crossAx val="96638615"/>
        <c:crosses val="autoZero"/>
        <c:auto val="1"/>
        <c:lblAlgn val="ctr"/>
        <c:lblOffset val="100"/>
        <c:noMultiLvlLbl val="0"/>
      </c:catAx>
      <c:valAx>
        <c:axId val="96638615"/>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90203907"/>
        <c:crossBetween val="between"/>
      </c:valAx>
      <c:spPr>
        <a:noFill/>
        <a:ln w="0">
          <a:noFill/>
        </a:ln>
      </c:spPr>
    </c:plotArea>
    <c:plotVisOnly val="1"/>
    <c:dispBlanksAs val="gap"/>
  </c:chart>
  <c:spPr>
    <a:noFill/>
    <a:ln w="0">
      <a:noFill/>
    </a:ln>
  </c:spPr>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v</c:v>
                </c:pt>
              </c:strCache>
            </c:strRef>
          </c:tx>
          <c:spPr>
            <a:solidFill>
              <a:srgbClr val="4f81bd"/>
            </a:solidFill>
            <a:ln w="0">
              <a:noFill/>
            </a:ln>
          </c:spPr>
          <c:invertIfNegative val="0"/>
          <c:dPt>
            <c:idx val="0"/>
            <c:invertIfNegative val="0"/>
            <c:spPr>
              <a:solidFill>
                <a:srgbClr val="2a78d6"/>
              </a:solidFill>
              <a:ln w="0">
                <a:noFill/>
              </a:ln>
            </c:spPr>
          </c:dPt>
          <c:dPt>
            <c:idx val="1"/>
            <c:invertIfNegative val="0"/>
            <c:spPr>
              <a:solidFill>
                <a:srgbClr val="d9d8d2"/>
              </a:solidFill>
              <a:ln w="0">
                <a:noFill/>
              </a:ln>
            </c:spPr>
          </c:dPt>
          <c:dPt>
            <c:idx val="2"/>
            <c:invertIfNegative val="0"/>
            <c:spPr>
              <a:solidFill>
                <a:srgbClr val="2a78d6"/>
              </a:solidFill>
              <a:ln w="0">
                <a:noFill/>
              </a:ln>
            </c:spPr>
          </c:dPt>
          <c:dPt>
            <c:idx val="3"/>
            <c:invertIfNegative val="0"/>
            <c:spPr>
              <a:solidFill>
                <a:srgbClr val="d9d8d2"/>
              </a:solidFill>
              <a:ln w="0">
                <a:noFill/>
              </a:ln>
            </c:spPr>
          </c:dPt>
          <c:dPt>
            <c:idx val="4"/>
            <c:invertIfNegative val="0"/>
            <c:spPr>
              <a:solidFill>
                <a:srgbClr val="d9d8d2"/>
              </a:solidFill>
              <a:ln w="0">
                <a:noFill/>
              </a:ln>
            </c:spPr>
          </c:dPt>
          <c:dLbls>
            <c:dLbl>
              <c:idx val="0"/>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188</a:t>
                    </a:r>
                  </a:p>
                </c:rich>
              </c:tx>
              <c:dLblPos val="outEnd"/>
              <c:showLegendKey val="0"/>
              <c:showVal val="1"/>
              <c:showCatName val="0"/>
              <c:showSerName val="0"/>
              <c:showPercent val="0"/>
              <c:separator>; </c:separator>
            </c:dLbl>
            <c:dLbl>
              <c:idx val="1"/>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151</a:t>
                    </a:r>
                  </a:p>
                </c:rich>
              </c:tx>
              <c:dLblPos val="outEnd"/>
              <c:showLegendKey val="0"/>
              <c:showVal val="1"/>
              <c:showCatName val="0"/>
              <c:showSerName val="0"/>
              <c:showPercent val="0"/>
              <c:separator>; </c:separator>
            </c:dLbl>
            <c:dLbl>
              <c:idx val="2"/>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113</a:t>
                    </a:r>
                  </a:p>
                </c:rich>
              </c:tx>
              <c:dLblPos val="outEnd"/>
              <c:showLegendKey val="0"/>
              <c:showVal val="1"/>
              <c:showCatName val="0"/>
              <c:showSerName val="0"/>
              <c:showPercent val="0"/>
              <c:separator>; </c:separator>
            </c:dLbl>
            <c:dLbl>
              <c:idx val="3"/>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90</a:t>
                    </a:r>
                  </a:p>
                </c:rich>
              </c:tx>
              <c:dLblPos val="outEnd"/>
              <c:showLegendKey val="0"/>
              <c:showVal val="1"/>
              <c:showCatName val="0"/>
              <c:showSerName val="0"/>
              <c:showPercent val="0"/>
              <c:separator>; </c:separator>
            </c:dLbl>
            <c:dLbl>
              <c:idx val="4"/>
              <c:numFmt formatCode="General" sourceLinked="0"/>
              <c:txPr>
                <a:bodyPr wrap="square"/>
                <a:lstStyle/>
                <a:p>
                  <a:pPr>
                    <a:defRPr b="1" sz="750" spc="-1" strike="noStrike">
                      <a:solidFill>
                        <a:srgbClr val="0b0b0b"/>
                      </a:solidFill>
                      <a:latin typeface="Calibri"/>
                    </a:defRPr>
                  </a:pPr>
                </a:p>
              </c:txPr>
              <c:tx>
                <c:rich>
                  <a:bodyPr/>
                  <a:p>
                    <a:r>
                      <a:rPr b="0" sz="750" spc="-1" strike="noStrike">
                        <a:solidFill>
                          <a:srgbClr val="0b0b0b"/>
                        </a:solidFill>
                        <a:latin typeface="Calibri"/>
                      </a:rPr>
                      <a:t>75</a:t>
                    </a:r>
                  </a:p>
                </c:rich>
              </c:tx>
              <c:dLblPos val="outEnd"/>
              <c:showLegendKey val="0"/>
              <c:showVal val="1"/>
              <c:showCatName val="0"/>
              <c:showSerName val="0"/>
              <c:showPercent val="0"/>
              <c:separator>; </c:separator>
            </c:dLbl>
            <c:txPr>
              <a:bodyPr wrap="square"/>
              <a:lstStyle/>
              <a:p>
                <a:pPr>
                  <a:defRPr b="1" sz="750" spc="-1" strike="noStrike">
                    <a:solidFill>
                      <a:srgbClr val="0b0b0b"/>
                    </a:solidFill>
                    <a:latin typeface="Calibri"/>
                  </a:defRPr>
                </a:pPr>
              </a:p>
            </c:txPr>
            <c:dLblPos val="outEnd"/>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5"/>
                <c:pt idx="0">
                  <c:v>1.2</c:v>
                </c:pt>
                <c:pt idx="1">
                  <c:v>1.5</c:v>
                </c:pt>
                <c:pt idx="2">
                  <c:v>2</c:v>
                </c:pt>
                <c:pt idx="3">
                  <c:v>2.5</c:v>
                </c:pt>
                <c:pt idx="4">
                  <c:v>3</c:v>
                </c:pt>
              </c:strCache>
            </c:strRef>
          </c:cat>
          <c:val>
            <c:numRef>
              <c:f>0</c:f>
              <c:numCache>
                <c:formatCode>General</c:formatCode>
                <c:ptCount val="5"/>
                <c:pt idx="0">
                  <c:v>188</c:v>
                </c:pt>
                <c:pt idx="1">
                  <c:v>151</c:v>
                </c:pt>
                <c:pt idx="2">
                  <c:v>113</c:v>
                </c:pt>
                <c:pt idx="3">
                  <c:v>90</c:v>
                </c:pt>
                <c:pt idx="4">
                  <c:v>75</c:v>
                </c:pt>
              </c:numCache>
            </c:numRef>
          </c:val>
        </c:ser>
        <c:gapWidth val="35"/>
        <c:overlap val="0"/>
        <c:axId val="89469735"/>
        <c:axId val="94016981"/>
      </c:barChart>
      <c:catAx>
        <c:axId val="89469735"/>
        <c:scaling>
          <c:orientation val="minMax"/>
        </c:scaling>
        <c:delete val="0"/>
        <c:axPos val="b"/>
        <c:numFmt formatCode="[$-409]mm/dd/yyyy" sourceLinked="1"/>
        <c:majorTickMark val="out"/>
        <c:minorTickMark val="none"/>
        <c:tickLblPos val="nextTo"/>
        <c:spPr>
          <a:ln w="9360">
            <a:solidFill>
              <a:srgbClr val="c3c2b7"/>
            </a:solidFill>
            <a:round/>
          </a:ln>
        </c:spPr>
        <c:txPr>
          <a:bodyPr/>
          <a:lstStyle/>
          <a:p>
            <a:pPr>
              <a:defRPr b="0" sz="650" spc="-1" strike="noStrike">
                <a:solidFill>
                  <a:srgbClr val="52514e"/>
                </a:solidFill>
                <a:latin typeface="Calibri"/>
              </a:defRPr>
            </a:pPr>
          </a:p>
        </c:txPr>
        <c:crossAx val="94016981"/>
        <c:crosses val="autoZero"/>
        <c:auto val="1"/>
        <c:lblAlgn val="ctr"/>
        <c:lblOffset val="100"/>
        <c:noMultiLvlLbl val="0"/>
      </c:catAx>
      <c:valAx>
        <c:axId val="94016981"/>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89469735"/>
        <c:crossBetween val="between"/>
      </c:valAx>
      <c:spPr>
        <a:noFill/>
        <a:ln w="0">
          <a:noFill/>
        </a:ln>
      </c:spPr>
    </c:plotArea>
    <c:plotVisOnly val="1"/>
    <c:dispBlanksAs val="gap"/>
  </c:chart>
  <c:spPr>
    <a:noFill/>
    <a:ln w="0">
      <a:noFill/>
    </a:ln>
  </c:spPr>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stacked"/>
        <c:varyColors val="0"/>
        <c:ser>
          <c:idx val="0"/>
          <c:order val="0"/>
          <c:tx>
            <c:strRef>
              <c:f>label 0</c:f>
              <c:strCache>
                <c:ptCount val="1"/>
                <c:pt idx="0">
                  <c:v>Chat 39%</c:v>
                </c:pt>
              </c:strCache>
            </c:strRef>
          </c:tx>
          <c:spPr>
            <a:solidFill>
              <a:srgbClr val="2a78d6"/>
            </a:solidFill>
            <a:ln w="19080">
              <a:solidFill>
                <a:srgbClr val="fcfcfb"/>
              </a:solidFill>
              <a:round/>
            </a:ln>
          </c:spPr>
          <c:invertIfNegative val="0"/>
          <c:dPt>
            <c:idx val="0"/>
            <c:invertIfNegative val="0"/>
            <c:spPr>
              <a:solidFill>
                <a:srgbClr val="2a78d6"/>
              </a:solidFill>
              <a:ln w="19080">
                <a:solidFill>
                  <a:srgbClr val="fcfcfb"/>
                </a:solidFill>
                <a:round/>
              </a:ln>
            </c:spPr>
          </c:dPt>
          <c:dLbls>
            <c:numFmt formatCode="0" sourceLinked="0"/>
            <c:dLbl>
              <c:idx val="0"/>
              <c:numFmt formatCode="0" sourceLinked="0"/>
              <c:txPr>
                <a:bodyPr wrap="none"/>
                <a:lstStyle/>
                <a:p>
                  <a:pPr>
                    <a:defRPr b="1" sz="800" spc="-1" strike="noStrike">
                      <a:solidFill>
                        <a:srgbClr val="fcfcfb"/>
                      </a:solidFill>
                      <a:latin typeface="Calibri"/>
                    </a:defRPr>
                  </a:pPr>
                </a:p>
              </c:txPr>
              <c:dLblPos val="ctr"/>
              <c:showLegendKey val="0"/>
              <c:showVal val="1"/>
              <c:showCatName val="0"/>
              <c:showSerName val="0"/>
              <c:showPercent val="0"/>
              <c:separator>; </c:separator>
            </c:dLbl>
            <c:txPr>
              <a:bodyPr wrap="square"/>
              <a:lstStyle/>
              <a:p>
                <a:pPr>
                  <a:defRPr b="1" sz="800" spc="-1" strike="noStrike">
                    <a:solidFill>
                      <a:srgbClr val="fcfcfb"/>
                    </a:solidFill>
                    <a:latin typeface="Calibri"/>
                  </a:defRPr>
                </a:pPr>
              </a:p>
            </c:txPr>
            <c:dLblPos val="ctr"/>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val>
            <c:numRef>
              <c:f>0</c:f>
              <c:numCache>
                <c:formatCode>General</c:formatCode>
                <c:ptCount val="1"/>
                <c:pt idx="0">
                  <c:v>188</c:v>
                </c:pt>
              </c:numCache>
            </c:numRef>
          </c:val>
        </c:ser>
        <c:ser>
          <c:idx val="1"/>
          <c:order val="1"/>
          <c:tx>
            <c:strRef>
              <c:f>label 1</c:f>
              <c:strCache>
                <c:ptCount val="1"/>
                <c:pt idx="0">
                  <c:v>Email 33%</c:v>
                </c:pt>
              </c:strCache>
            </c:strRef>
          </c:tx>
          <c:spPr>
            <a:solidFill>
              <a:srgbClr val="eb6834"/>
            </a:solidFill>
            <a:ln w="19080">
              <a:solidFill>
                <a:srgbClr val="fcfcfb"/>
              </a:solidFill>
              <a:round/>
            </a:ln>
          </c:spPr>
          <c:invertIfNegative val="0"/>
          <c:dPt>
            <c:idx val="0"/>
            <c:invertIfNegative val="0"/>
            <c:spPr>
              <a:solidFill>
                <a:srgbClr val="eb6834"/>
              </a:solidFill>
              <a:ln w="19080">
                <a:solidFill>
                  <a:srgbClr val="fcfcfb"/>
                </a:solidFill>
                <a:round/>
              </a:ln>
            </c:spPr>
          </c:dPt>
          <c:dLbls>
            <c:numFmt formatCode="0" sourceLinked="0"/>
            <c:dLbl>
              <c:idx val="0"/>
              <c:numFmt formatCode="0" sourceLinked="0"/>
              <c:txPr>
                <a:bodyPr wrap="none"/>
                <a:lstStyle/>
                <a:p>
                  <a:pPr>
                    <a:defRPr b="1" sz="800" spc="-1" strike="noStrike">
                      <a:solidFill>
                        <a:srgbClr val="fcfcfb"/>
                      </a:solidFill>
                      <a:latin typeface="Calibri"/>
                    </a:defRPr>
                  </a:pPr>
                </a:p>
              </c:txPr>
              <c:dLblPos val="ctr"/>
              <c:showLegendKey val="0"/>
              <c:showVal val="1"/>
              <c:showCatName val="0"/>
              <c:showSerName val="0"/>
              <c:showPercent val="0"/>
              <c:separator>; </c:separator>
            </c:dLbl>
            <c:txPr>
              <a:bodyPr wrap="square"/>
              <a:lstStyle/>
              <a:p>
                <a:pPr>
                  <a:defRPr b="1" sz="800" spc="-1" strike="noStrike">
                    <a:solidFill>
                      <a:srgbClr val="fcfcfb"/>
                    </a:solidFill>
                    <a:latin typeface="Calibri"/>
                  </a:defRPr>
                </a:pPr>
              </a:p>
            </c:txPr>
            <c:dLblPos val="ctr"/>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val>
            <c:numRef>
              <c:f>1</c:f>
              <c:numCache>
                <c:formatCode>General</c:formatCode>
                <c:ptCount val="1"/>
                <c:pt idx="0">
                  <c:v>159</c:v>
                </c:pt>
              </c:numCache>
            </c:numRef>
          </c:val>
        </c:ser>
        <c:ser>
          <c:idx val="2"/>
          <c:order val="2"/>
          <c:tx>
            <c:strRef>
              <c:f>label 2</c:f>
              <c:strCache>
                <c:ptCount val="1"/>
                <c:pt idx="0">
                  <c:v>Inbound 24%</c:v>
                </c:pt>
              </c:strCache>
            </c:strRef>
          </c:tx>
          <c:spPr>
            <a:solidFill>
              <a:srgbClr val="0ca30c"/>
            </a:solidFill>
            <a:ln w="19080">
              <a:solidFill>
                <a:srgbClr val="fcfcfb"/>
              </a:solidFill>
              <a:round/>
            </a:ln>
          </c:spPr>
          <c:invertIfNegative val="0"/>
          <c:dPt>
            <c:idx val="0"/>
            <c:invertIfNegative val="0"/>
            <c:spPr>
              <a:solidFill>
                <a:srgbClr val="0ca30c"/>
              </a:solidFill>
              <a:ln w="19080">
                <a:solidFill>
                  <a:srgbClr val="fcfcfb"/>
                </a:solidFill>
                <a:round/>
              </a:ln>
            </c:spPr>
          </c:dPt>
          <c:dLbls>
            <c:numFmt formatCode="0" sourceLinked="0"/>
            <c:dLbl>
              <c:idx val="0"/>
              <c:numFmt formatCode="0" sourceLinked="0"/>
              <c:txPr>
                <a:bodyPr wrap="none"/>
                <a:lstStyle/>
                <a:p>
                  <a:pPr>
                    <a:defRPr b="1" sz="800" spc="-1" strike="noStrike">
                      <a:solidFill>
                        <a:srgbClr val="fcfcfb"/>
                      </a:solidFill>
                      <a:latin typeface="Calibri"/>
                    </a:defRPr>
                  </a:pPr>
                </a:p>
              </c:txPr>
              <c:dLblPos val="ctr"/>
              <c:showLegendKey val="0"/>
              <c:showVal val="1"/>
              <c:showCatName val="0"/>
              <c:showSerName val="0"/>
              <c:showPercent val="0"/>
              <c:separator>; </c:separator>
            </c:dLbl>
            <c:txPr>
              <a:bodyPr wrap="square"/>
              <a:lstStyle/>
              <a:p>
                <a:pPr>
                  <a:defRPr b="1" sz="800" spc="-1" strike="noStrike">
                    <a:solidFill>
                      <a:srgbClr val="fcfcfb"/>
                    </a:solidFill>
                    <a:latin typeface="Calibri"/>
                  </a:defRPr>
                </a:pPr>
              </a:p>
            </c:txPr>
            <c:dLblPos val="ctr"/>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val>
            <c:numRef>
              <c:f>2</c:f>
              <c:numCache>
                <c:formatCode>General</c:formatCode>
                <c:ptCount val="1"/>
                <c:pt idx="0">
                  <c:v>118</c:v>
                </c:pt>
              </c:numCache>
            </c:numRef>
          </c:val>
        </c:ser>
        <c:ser>
          <c:idx val="3"/>
          <c:order val="3"/>
          <c:tx>
            <c:strRef>
              <c:f>label 3</c:f>
              <c:strCache>
                <c:ptCount val="1"/>
                <c:pt idx="0">
                  <c:v>Outbound 4%</c:v>
                </c:pt>
              </c:strCache>
            </c:strRef>
          </c:tx>
          <c:spPr>
            <a:solidFill>
              <a:srgbClr val="eda100"/>
            </a:solidFill>
            <a:ln w="19080">
              <a:solidFill>
                <a:srgbClr val="fcfcfb"/>
              </a:solidFill>
              <a:round/>
            </a:ln>
          </c:spPr>
          <c:invertIfNegative val="0"/>
          <c:dPt>
            <c:idx val="0"/>
            <c:invertIfNegative val="0"/>
            <c:spPr>
              <a:solidFill>
                <a:srgbClr val="eda100"/>
              </a:solidFill>
              <a:ln w="19080">
                <a:solidFill>
                  <a:srgbClr val="fcfcfb"/>
                </a:solidFill>
                <a:round/>
              </a:ln>
            </c:spPr>
          </c:dPt>
          <c:dLbls>
            <c:numFmt formatCode="0" sourceLinked="0"/>
            <c:dLbl>
              <c:idx val="0"/>
              <c:numFmt formatCode="0" sourceLinked="0"/>
              <c:txPr>
                <a:bodyPr wrap="none"/>
                <a:lstStyle/>
                <a:p>
                  <a:pPr>
                    <a:defRPr b="1" sz="800" spc="-1" strike="noStrike">
                      <a:solidFill>
                        <a:srgbClr val="fcfcfb"/>
                      </a:solidFill>
                      <a:latin typeface="Calibri"/>
                    </a:defRPr>
                  </a:pPr>
                </a:p>
              </c:txPr>
              <c:dLblPos val="ctr"/>
              <c:showLegendKey val="0"/>
              <c:showVal val="1"/>
              <c:showCatName val="0"/>
              <c:showSerName val="0"/>
              <c:showPercent val="0"/>
              <c:separator>; </c:separator>
            </c:dLbl>
            <c:txPr>
              <a:bodyPr wrap="square"/>
              <a:lstStyle/>
              <a:p>
                <a:pPr>
                  <a:defRPr b="1" sz="800" spc="-1" strike="noStrike">
                    <a:solidFill>
                      <a:srgbClr val="fcfcfb"/>
                    </a:solidFill>
                    <a:latin typeface="Calibri"/>
                  </a:defRPr>
                </a:pPr>
              </a:p>
            </c:txPr>
            <c:dLblPos val="ctr"/>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val>
            <c:numRef>
              <c:f>3</c:f>
              <c:numCache>
                <c:formatCode>General</c:formatCode>
                <c:ptCount val="1"/>
                <c:pt idx="0">
                  <c:v>19</c:v>
                </c:pt>
              </c:numCache>
            </c:numRef>
          </c:val>
        </c:ser>
        <c:gapWidth val="20"/>
        <c:overlap val="100"/>
        <c:axId val="65707599"/>
        <c:axId val="16409245"/>
      </c:barChart>
      <c:catAx>
        <c:axId val="65707599"/>
        <c:scaling>
          <c:orientation val="minMax"/>
        </c:scaling>
        <c:delete val="1"/>
        <c:axPos val="b"/>
        <c:numFmt formatCode="[$-409]mm/dd/yyyy"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16409245"/>
        <c:auto val="1"/>
        <c:lblAlgn val="ctr"/>
        <c:lblOffset val="100"/>
        <c:noMultiLvlLbl val="0"/>
      </c:catAx>
      <c:valAx>
        <c:axId val="16409245"/>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65707599"/>
        <c:crossBetween val="between"/>
      </c:valAx>
      <c:spPr>
        <a:noFill/>
        <a:ln w="0">
          <a:noFill/>
        </a:ln>
      </c:spPr>
    </c:plotArea>
    <c:plotVisOnly val="1"/>
    <c:dispBlanksAs val="gap"/>
  </c:chart>
  <c:spPr>
    <a:noFill/>
    <a:ln w="0">
      <a:noFill/>
    </a:ln>
  </c:spPr>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2a78d6"/>
            </a:solidFill>
            <a:ln w="19080">
              <a:solidFill>
                <a:srgbClr val="2a78d6"/>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124</c:v>
                </c:pt>
                <c:pt idx="1">
                  <c:v>121</c:v>
                </c:pt>
                <c:pt idx="2">
                  <c:v>183</c:v>
                </c:pt>
                <c:pt idx="3">
                  <c:v>208</c:v>
                </c:pt>
                <c:pt idx="4">
                  <c:v>187</c:v>
                </c:pt>
                <c:pt idx="5">
                  <c:v>227</c:v>
                </c:pt>
              </c:numCache>
            </c:numRef>
          </c:val>
          <c:smooth val="0"/>
        </c:ser>
        <c:hiLowLines>
          <c:spPr>
            <a:ln w="0">
              <a:noFill/>
            </a:ln>
          </c:spPr>
        </c:hiLowLines>
        <c:marker val="0"/>
        <c:axId val="24261814"/>
        <c:axId val="21675178"/>
      </c:lineChart>
      <c:catAx>
        <c:axId val="24261814"/>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21675178"/>
        <c:crosses val="autoZero"/>
        <c:auto val="1"/>
        <c:lblAlgn val="ctr"/>
        <c:lblOffset val="100"/>
        <c:noMultiLvlLbl val="0"/>
      </c:catAx>
      <c:valAx>
        <c:axId val="21675178"/>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24261814"/>
        <c:crossBetween val="between"/>
      </c:valAx>
      <c:spPr>
        <a:noFill/>
        <a:ln w="0">
          <a:noFill/>
        </a:ln>
      </c:spPr>
    </c:plotArea>
    <c:plotVisOnly val="1"/>
    <c:dispBlanksAs val="gap"/>
  </c:chart>
  <c:spPr>
    <a:noFill/>
    <a:ln w="0">
      <a:noFill/>
    </a:ln>
  </c:spPr>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131</c:v>
                </c:pt>
                <c:pt idx="1">
                  <c:v>128</c:v>
                </c:pt>
                <c:pt idx="2">
                  <c:v>111</c:v>
                </c:pt>
                <c:pt idx="3">
                  <c:v>105</c:v>
                </c:pt>
                <c:pt idx="4">
                  <c:v>108</c:v>
                </c:pt>
                <c:pt idx="5">
                  <c:v>103</c:v>
                </c:pt>
              </c:numCache>
            </c:numRef>
          </c:val>
          <c:smooth val="0"/>
        </c:ser>
        <c:hiLowLines>
          <c:spPr>
            <a:ln w="0">
              <a:noFill/>
            </a:ln>
          </c:spPr>
        </c:hiLowLines>
        <c:marker val="0"/>
        <c:axId val="88045105"/>
        <c:axId val="3783620"/>
      </c:lineChart>
      <c:catAx>
        <c:axId val="88045105"/>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3783620"/>
        <c:crosses val="autoZero"/>
        <c:auto val="1"/>
        <c:lblAlgn val="ctr"/>
        <c:lblOffset val="100"/>
        <c:noMultiLvlLbl val="0"/>
      </c:catAx>
      <c:valAx>
        <c:axId val="3783620"/>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88045105"/>
        <c:crossBetween val="between"/>
      </c:valAx>
      <c:spPr>
        <a:noFill/>
        <a:ln w="0">
          <a:noFill/>
        </a:ln>
      </c:spPr>
    </c:plotArea>
    <c:plotVisOnly val="1"/>
    <c:dispBlanksAs val="gap"/>
  </c:chart>
  <c:spPr>
    <a:noFill/>
    <a:ln w="0">
      <a:noFill/>
    </a:ln>
  </c:spPr>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119</c:v>
                </c:pt>
                <c:pt idx="1">
                  <c:v>116</c:v>
                </c:pt>
                <c:pt idx="2">
                  <c:v>121</c:v>
                </c:pt>
                <c:pt idx="3">
                  <c:v>118</c:v>
                </c:pt>
                <c:pt idx="4">
                  <c:v>122</c:v>
                </c:pt>
                <c:pt idx="5">
                  <c:v>120</c:v>
                </c:pt>
              </c:numCache>
            </c:numRef>
          </c:val>
          <c:smooth val="0"/>
        </c:ser>
        <c:hiLowLines>
          <c:spPr>
            <a:ln w="0">
              <a:noFill/>
            </a:ln>
          </c:spPr>
        </c:hiLowLines>
        <c:marker val="0"/>
        <c:axId val="93742751"/>
        <c:axId val="76002633"/>
      </c:lineChart>
      <c:catAx>
        <c:axId val="93742751"/>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76002633"/>
        <c:crosses val="autoZero"/>
        <c:auto val="1"/>
        <c:lblAlgn val="ctr"/>
        <c:lblOffset val="100"/>
        <c:noMultiLvlLbl val="0"/>
      </c:catAx>
      <c:valAx>
        <c:axId val="76002633"/>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93742751"/>
        <c:crossBetween val="between"/>
      </c:valAx>
      <c:spPr>
        <a:noFill/>
        <a:ln w="0">
          <a:noFill/>
        </a:ln>
      </c:spPr>
    </c:plotArea>
    <c:plotVisOnly val="1"/>
    <c:dispBlanksAs val="gap"/>
  </c:chart>
  <c:spPr>
    <a:noFill/>
    <a:ln w="0">
      <a:noFill/>
    </a:ln>
  </c:spPr>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97</c:v>
                </c:pt>
                <c:pt idx="1">
                  <c:v>95</c:v>
                </c:pt>
                <c:pt idx="2">
                  <c:v>98</c:v>
                </c:pt>
                <c:pt idx="3">
                  <c:v>95</c:v>
                </c:pt>
                <c:pt idx="4">
                  <c:v>93</c:v>
                </c:pt>
                <c:pt idx="5">
                  <c:v>94</c:v>
                </c:pt>
              </c:numCache>
            </c:numRef>
          </c:val>
          <c:smooth val="0"/>
        </c:ser>
        <c:hiLowLines>
          <c:spPr>
            <a:ln w="0">
              <a:noFill/>
            </a:ln>
          </c:spPr>
        </c:hiLowLines>
        <c:marker val="0"/>
        <c:axId val="75642959"/>
        <c:axId val="98924112"/>
      </c:lineChart>
      <c:catAx>
        <c:axId val="75642959"/>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98924112"/>
        <c:crosses val="autoZero"/>
        <c:auto val="1"/>
        <c:lblAlgn val="ctr"/>
        <c:lblOffset val="100"/>
        <c:noMultiLvlLbl val="0"/>
      </c:catAx>
      <c:valAx>
        <c:axId val="98924112"/>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75642959"/>
        <c:crossBetween val="between"/>
      </c:valAx>
      <c:spPr>
        <a:noFill/>
        <a:ln w="0">
          <a:noFill/>
        </a:ln>
      </c:spPr>
    </c:plotArea>
    <c:plotVisOnly val="1"/>
    <c:dispBlanksAs val="gap"/>
  </c:chart>
  <c:spPr>
    <a:noFill/>
    <a:ln w="0">
      <a:noFill/>
    </a:ln>
  </c:spPr>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v</c:v>
                </c:pt>
              </c:strCache>
            </c:strRef>
          </c:tx>
          <c:spPr>
            <a:solidFill>
              <a:srgbClr val="52514e"/>
            </a:solidFill>
            <a:ln w="19080">
              <a:solidFill>
                <a:srgbClr val="52514e"/>
              </a:solidFill>
              <a:round/>
            </a:ln>
          </c:spPr>
          <c:marker>
            <c:symbol val="none"/>
          </c:marker>
          <c:dLbls>
            <c:txPr>
              <a:bodyPr wrap="none"/>
              <a:lstStyle/>
              <a:p>
                <a:pPr>
                  <a:defRPr b="0" sz="1000" spc="-1" strike="noStrike">
                    <a:solidFill>
                      <a:srgbClr val="000000"/>
                    </a:solidFill>
                    <a:latin typeface="Arial"/>
                  </a:defRPr>
                </a:pPr>
              </a:p>
            </c:txPr>
            <c:showLegendKey val="0"/>
            <c:showVal val="0"/>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6"/>
                <c:pt idx="0">
                  <c:v>J</c:v>
                </c:pt>
                <c:pt idx="1">
                  <c:v>F</c:v>
                </c:pt>
                <c:pt idx="2">
                  <c:v>M</c:v>
                </c:pt>
                <c:pt idx="3">
                  <c:v>A</c:v>
                </c:pt>
                <c:pt idx="4">
                  <c:v>M</c:v>
                </c:pt>
                <c:pt idx="5">
                  <c:v>J</c:v>
                </c:pt>
              </c:strCache>
            </c:strRef>
          </c:cat>
          <c:val>
            <c:numRef>
              <c:f>0</c:f>
              <c:numCache>
                <c:formatCode>General</c:formatCode>
                <c:ptCount val="6"/>
                <c:pt idx="0">
                  <c:v>88</c:v>
                </c:pt>
                <c:pt idx="1">
                  <c:v>86</c:v>
                </c:pt>
                <c:pt idx="2">
                  <c:v>92</c:v>
                </c:pt>
                <c:pt idx="3">
                  <c:v>88</c:v>
                </c:pt>
                <c:pt idx="4">
                  <c:v>84</c:v>
                </c:pt>
                <c:pt idx="5">
                  <c:v>86</c:v>
                </c:pt>
              </c:numCache>
            </c:numRef>
          </c:val>
          <c:smooth val="0"/>
        </c:ser>
        <c:hiLowLines>
          <c:spPr>
            <a:ln w="0">
              <a:noFill/>
            </a:ln>
          </c:spPr>
        </c:hiLowLines>
        <c:marker val="0"/>
        <c:axId val="61881626"/>
        <c:axId val="9810538"/>
      </c:lineChart>
      <c:catAx>
        <c:axId val="61881626"/>
        <c:scaling>
          <c:orientation val="minMax"/>
        </c:scaling>
        <c:delete val="0"/>
        <c:axPos val="b"/>
        <c:numFmt formatCode="[$-409]mm/dd/yyyy" sourceLinked="1"/>
        <c:majorTickMark val="out"/>
        <c:minorTickMark val="none"/>
        <c:tickLblPos val="nextTo"/>
        <c:spPr>
          <a:ln w="9360">
            <a:solidFill>
              <a:srgbClr val="e1e0d9"/>
            </a:solidFill>
            <a:round/>
          </a:ln>
        </c:spPr>
        <c:txPr>
          <a:bodyPr/>
          <a:lstStyle/>
          <a:p>
            <a:pPr>
              <a:defRPr b="0" sz="650" spc="-1" strike="noStrike">
                <a:solidFill>
                  <a:srgbClr val="898781"/>
                </a:solidFill>
                <a:latin typeface="Calibri"/>
              </a:defRPr>
            </a:pPr>
          </a:p>
        </c:txPr>
        <c:crossAx val="9810538"/>
        <c:crosses val="autoZero"/>
        <c:auto val="1"/>
        <c:lblAlgn val="ctr"/>
        <c:lblOffset val="100"/>
        <c:noMultiLvlLbl val="0"/>
      </c:catAx>
      <c:valAx>
        <c:axId val="9810538"/>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b="0" sz="1800" spc="-1" strike="noStrike">
                <a:solidFill>
                  <a:srgbClr val="000000"/>
                </a:solidFill>
                <a:latin typeface="Calibri"/>
              </a:defRPr>
            </a:pPr>
          </a:p>
        </c:txPr>
        <c:crossAx val="61881626"/>
        <c:crossBetween val="between"/>
      </c:valAx>
      <c:spPr>
        <a:noFill/>
        <a:ln w="0">
          <a:noFill/>
        </a:ln>
      </c:spPr>
    </c:plotArea>
    <c:plotVisOnly val="1"/>
    <c:dispBlanksAs val="gap"/>
  </c:chart>
  <c:spPr>
    <a:noFill/>
    <a:ln w="0">
      <a:noFill/>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C9BF27BA-4E35-4EB2-94EA-47EDB9104CE8}"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269F8E75-6903-4552-9FA1-D757134B679A}"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1AED372E-12BC-458D-B2DA-E7A4BEFCFEC5}"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DE7D3EB6-FA0E-4E88-87BE-BD605D22E68E}"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26B5AA64-BE82-4836-B5EA-AA2E22DD66B4}"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3813AE34-D393-4076-AE82-6B2E377EC89F}"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1DAA68F2-A8D9-4CC4-A046-2E5B0576CF40}"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1FB9C30-4839-493B-8BA6-F705E5ABBF95}"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E997B045-AAB5-49FC-9CCC-B9F4C63FE34B}"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E29E11FB-AD1E-4F36-8127-4224855D017C}"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A2E8FB96-48D8-4F55-A555-E1E754AB2AFC}"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a:t>
            </a:r>
            <a:r>
              <a:rPr b="0" lang="en-US" sz="4400" spc="-1" strike="noStrike">
                <a:solidFill>
                  <a:schemeClr val="dk1"/>
                </a:solidFill>
                <a:latin typeface="Calibri"/>
              </a:rPr>
              <a:t>ic</a:t>
            </a:r>
            <a:r>
              <a:rPr b="0" lang="en-US" sz="4400" spc="-1" strike="noStrike">
                <a:solidFill>
                  <a:schemeClr val="dk1"/>
                </a:solidFill>
                <a:latin typeface="Calibri"/>
              </a:rPr>
              <a:t>k </a:t>
            </a:r>
            <a:r>
              <a:rPr b="0" lang="en-US" sz="4400" spc="-1" strike="noStrike">
                <a:solidFill>
                  <a:schemeClr val="dk1"/>
                </a:solidFill>
                <a:latin typeface="Calibri"/>
              </a:rPr>
              <a:t>to </a:t>
            </a:r>
            <a:r>
              <a:rPr b="0" lang="en-US" sz="4400" spc="-1" strike="noStrike">
                <a:solidFill>
                  <a:schemeClr val="dk1"/>
                </a:solidFill>
                <a:latin typeface="Calibri"/>
              </a:rPr>
              <a:t>e</a:t>
            </a:r>
            <a:r>
              <a:rPr b="0" lang="en-US" sz="4400" spc="-1" strike="noStrike">
                <a:solidFill>
                  <a:schemeClr val="dk1"/>
                </a:solidFill>
                <a:latin typeface="Calibri"/>
              </a:rPr>
              <a:t>di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as</a:t>
            </a:r>
            <a:r>
              <a:rPr b="0" lang="en-US" sz="4400" spc="-1" strike="noStrike">
                <a:solidFill>
                  <a:schemeClr val="dk1"/>
                </a:solidFill>
                <a:latin typeface="Calibri"/>
              </a:rPr>
              <a:t>te</a:t>
            </a:r>
            <a:r>
              <a:rPr b="0" lang="en-US" sz="4400" spc="-1" strike="noStrike">
                <a:solidFill>
                  <a:schemeClr val="dk1"/>
                </a:solidFill>
                <a:latin typeface="Calibri"/>
              </a:rPr>
              <a:t>r </a:t>
            </a:r>
            <a:r>
              <a:rPr b="0" lang="en-US" sz="4400" spc="-1" strike="noStrike">
                <a:solidFill>
                  <a:schemeClr val="dk1"/>
                </a:solidFill>
                <a:latin typeface="Calibri"/>
              </a:rPr>
              <a:t>tit</a:t>
            </a:r>
            <a:r>
              <a:rPr b="0" lang="en-US" sz="4400" spc="-1" strike="noStrike">
                <a:solidFill>
                  <a:schemeClr val="dk1"/>
                </a:solidFill>
                <a:latin typeface="Calibri"/>
              </a:rPr>
              <a:t>le </a:t>
            </a:r>
            <a:r>
              <a:rPr b="0" lang="en-US" sz="4400" spc="-1" strike="noStrike">
                <a:solidFill>
                  <a:schemeClr val="dk1"/>
                </a:solidFill>
                <a:latin typeface="Calibri"/>
              </a:rPr>
              <a:t>st</a:t>
            </a:r>
            <a:r>
              <a:rPr b="0" lang="en-US" sz="4400" spc="-1" strike="noStrike">
                <a:solidFill>
                  <a:schemeClr val="dk1"/>
                </a:solidFill>
                <a:latin typeface="Calibri"/>
              </a:rPr>
              <a: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31FFAE82-7ECE-4E4E-92FA-DF01FAE3FD5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a:t>
            </a:r>
            <a:r>
              <a:rPr b="0" lang="en-US" sz="4400" spc="-1" strike="noStrike">
                <a:solidFill>
                  <a:schemeClr val="dk1"/>
                </a:solidFill>
                <a:latin typeface="Calibri"/>
              </a:rPr>
              <a:t>ic</a:t>
            </a:r>
            <a:r>
              <a:rPr b="0" lang="en-US" sz="4400" spc="-1" strike="noStrike">
                <a:solidFill>
                  <a:schemeClr val="dk1"/>
                </a:solidFill>
                <a:latin typeface="Calibri"/>
              </a:rPr>
              <a:t>k </a:t>
            </a:r>
            <a:r>
              <a:rPr b="0" lang="en-US" sz="4400" spc="-1" strike="noStrike">
                <a:solidFill>
                  <a:schemeClr val="dk1"/>
                </a:solidFill>
                <a:latin typeface="Calibri"/>
              </a:rPr>
              <a:t>to </a:t>
            </a:r>
            <a:r>
              <a:rPr b="0" lang="en-US" sz="4400" spc="-1" strike="noStrike">
                <a:solidFill>
                  <a:schemeClr val="dk1"/>
                </a:solidFill>
                <a:latin typeface="Calibri"/>
              </a:rPr>
              <a:t>e</a:t>
            </a:r>
            <a:r>
              <a:rPr b="0" lang="en-US" sz="4400" spc="-1" strike="noStrike">
                <a:solidFill>
                  <a:schemeClr val="dk1"/>
                </a:solidFill>
                <a:latin typeface="Calibri"/>
              </a:rPr>
              <a:t>di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as</a:t>
            </a:r>
            <a:r>
              <a:rPr b="0" lang="en-US" sz="4400" spc="-1" strike="noStrike">
                <a:solidFill>
                  <a:schemeClr val="dk1"/>
                </a:solidFill>
                <a:latin typeface="Calibri"/>
              </a:rPr>
              <a:t>te</a:t>
            </a:r>
            <a:r>
              <a:rPr b="0" lang="en-US" sz="4400" spc="-1" strike="noStrike">
                <a:solidFill>
                  <a:schemeClr val="dk1"/>
                </a:solidFill>
                <a:latin typeface="Calibri"/>
              </a:rPr>
              <a:t>r </a:t>
            </a:r>
            <a:r>
              <a:rPr b="0" lang="en-US" sz="4400" spc="-1" strike="noStrike">
                <a:solidFill>
                  <a:schemeClr val="dk1"/>
                </a:solidFill>
                <a:latin typeface="Calibri"/>
              </a:rPr>
              <a:t>tit</a:t>
            </a:r>
            <a:r>
              <a:rPr b="0" lang="en-US" sz="4400" spc="-1" strike="noStrike">
                <a:solidFill>
                  <a:schemeClr val="dk1"/>
                </a:solidFill>
                <a:latin typeface="Calibri"/>
              </a:rPr>
              <a:t>le </a:t>
            </a:r>
            <a:r>
              <a:rPr b="0" lang="en-US" sz="4400" spc="-1" strike="noStrike">
                <a:solidFill>
                  <a:schemeClr val="dk1"/>
                </a:solidFill>
                <a:latin typeface="Calibri"/>
              </a:rPr>
              <a:t>st</a:t>
            </a:r>
            <a:r>
              <a:rPr b="0" lang="en-US" sz="4400" spc="-1" strike="noStrike">
                <a:solidFill>
                  <a:schemeClr val="dk1"/>
                </a:solidFill>
                <a:latin typeface="Calibri"/>
              </a:rPr>
              <a: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21E8EA5-2A2E-4111-9652-8C2F4E0C3EC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a:t>
            </a:r>
            <a:r>
              <a:rPr b="0" lang="en-US" sz="4400" spc="-1" strike="noStrike">
                <a:solidFill>
                  <a:schemeClr val="dk1"/>
                </a:solidFill>
                <a:latin typeface="Calibri"/>
              </a:rPr>
              <a:t>l</a:t>
            </a:r>
            <a:r>
              <a:rPr b="0" lang="en-US" sz="4400" spc="-1" strike="noStrike">
                <a:solidFill>
                  <a:schemeClr val="dk1"/>
                </a:solidFill>
                <a:latin typeface="Calibri"/>
              </a:rPr>
              <a:t>i</a:t>
            </a:r>
            <a:r>
              <a:rPr b="0" lang="en-US" sz="4400" spc="-1" strike="noStrike">
                <a:solidFill>
                  <a:schemeClr val="dk1"/>
                </a:solidFill>
                <a:latin typeface="Calibri"/>
              </a:rPr>
              <a:t>c</a:t>
            </a:r>
            <a:r>
              <a:rPr b="0" lang="en-US" sz="4400" spc="-1" strike="noStrike">
                <a:solidFill>
                  <a:schemeClr val="dk1"/>
                </a:solidFill>
                <a:latin typeface="Calibri"/>
              </a:rPr>
              <a:t>k</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o</a:t>
            </a:r>
            <a:r>
              <a:rPr b="0" lang="en-US" sz="4400" spc="-1" strike="noStrike">
                <a:solidFill>
                  <a:schemeClr val="dk1"/>
                </a:solidFill>
                <a:latin typeface="Calibri"/>
              </a:rPr>
              <a:t> </a:t>
            </a:r>
            <a:r>
              <a:rPr b="0" lang="en-US" sz="4400" spc="-1" strike="noStrike">
                <a:solidFill>
                  <a:schemeClr val="dk1"/>
                </a:solidFill>
                <a:latin typeface="Calibri"/>
              </a:rPr>
              <a:t>e</a:t>
            </a:r>
            <a:r>
              <a:rPr b="0" lang="en-US" sz="4400" spc="-1" strike="noStrike">
                <a:solidFill>
                  <a:schemeClr val="dk1"/>
                </a:solidFill>
                <a:latin typeface="Calibri"/>
              </a:rPr>
              <a:t>d</a:t>
            </a:r>
            <a:r>
              <a:rPr b="0" lang="en-US" sz="4400" spc="-1" strike="noStrike">
                <a:solidFill>
                  <a:schemeClr val="dk1"/>
                </a:solidFill>
                <a:latin typeface="Calibri"/>
              </a:rPr>
              <a:t>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e</a:t>
            </a:r>
            <a:r>
              <a:rPr b="0" lang="en-US" sz="4400" spc="-1" strike="noStrike">
                <a:solidFill>
                  <a:schemeClr val="dk1"/>
                </a:solidFill>
                <a:latin typeface="Calibri"/>
              </a:rPr>
              <a:t>r </a:t>
            </a:r>
            <a:r>
              <a:rPr b="0" lang="en-US" sz="4400" spc="-1" strike="noStrike">
                <a:solidFill>
                  <a:schemeClr val="dk1"/>
                </a:solidFill>
                <a:latin typeface="Calibri"/>
              </a:rPr>
              <a:t>t</a:t>
            </a:r>
            <a:r>
              <a:rPr b="0" lang="en-US" sz="4400" spc="-1" strike="noStrike">
                <a:solidFill>
                  <a:schemeClr val="dk1"/>
                </a:solidFill>
                <a:latin typeface="Calibri"/>
              </a:rPr>
              <a:t>i</a:t>
            </a:r>
            <a:r>
              <a:rPr b="0" lang="en-US" sz="4400" spc="-1" strike="noStrike">
                <a:solidFill>
                  <a:schemeClr val="dk1"/>
                </a:solidFill>
                <a:latin typeface="Calibri"/>
              </a:rPr>
              <a:t>t</a:t>
            </a:r>
            <a:r>
              <a:rPr b="0" lang="en-US" sz="4400" spc="-1" strike="noStrike">
                <a:solidFill>
                  <a:schemeClr val="dk1"/>
                </a:solidFill>
                <a:latin typeface="Calibri"/>
              </a:rPr>
              <a:t>l</a:t>
            </a:r>
            <a:r>
              <a:rPr b="0" lang="en-US" sz="4400" spc="-1" strike="noStrike">
                <a:solidFill>
                  <a:schemeClr val="dk1"/>
                </a:solidFill>
                <a:latin typeface="Calibri"/>
              </a:rPr>
              <a:t>e</a:t>
            </a:r>
            <a:r>
              <a:rPr b="0" lang="en-US" sz="4400" spc="-1" strike="noStrike">
                <a:solidFill>
                  <a:schemeClr val="dk1"/>
                </a:solidFill>
                <a:latin typeface="Calibri"/>
              </a:rPr>
              <a:t> </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y</a:t>
            </a:r>
            <a:r>
              <a:rPr b="0" lang="en-US" sz="4400" spc="-1" strike="noStrike">
                <a:solidFill>
                  <a:schemeClr val="dk1"/>
                </a:solidFill>
                <a:latin typeface="Calibri"/>
              </a:rPr>
              <a:t>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8110A4C-5A7B-40D4-97CE-CCB23CBAB4F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a:t>
            </a:r>
            <a:r>
              <a:rPr b="0" lang="en-US" sz="4400" spc="-1" strike="noStrike">
                <a:solidFill>
                  <a:schemeClr val="dk1"/>
                </a:solidFill>
                <a:latin typeface="Calibri"/>
              </a:rPr>
              <a:t>ck </a:t>
            </a:r>
            <a:r>
              <a:rPr b="0" lang="en-US" sz="4400" spc="-1" strike="noStrike">
                <a:solidFill>
                  <a:schemeClr val="dk1"/>
                </a:solidFill>
                <a:latin typeface="Calibri"/>
              </a:rPr>
              <a:t>to </a:t>
            </a:r>
            <a:r>
              <a:rPr b="0" lang="en-US" sz="4400" spc="-1" strike="noStrike">
                <a:solidFill>
                  <a:schemeClr val="dk1"/>
                </a:solidFill>
                <a:latin typeface="Calibri"/>
              </a:rPr>
              <a:t>edi</a:t>
            </a:r>
            <a:r>
              <a:rPr b="0" lang="en-US" sz="4400" spc="-1" strike="noStrike">
                <a:solidFill>
                  <a:schemeClr val="dk1"/>
                </a:solidFill>
                <a:latin typeface="Calibri"/>
              </a:rPr>
              <a:t>t </a:t>
            </a:r>
            <a:r>
              <a:rPr b="0" lang="en-US" sz="4400" spc="-1" strike="noStrike">
                <a:solidFill>
                  <a:schemeClr val="dk1"/>
                </a:solidFill>
                <a:latin typeface="Calibri"/>
              </a:rPr>
              <a:t>Ma</a:t>
            </a:r>
            <a:r>
              <a:rPr b="0" lang="en-US" sz="4400" spc="-1" strike="noStrike">
                <a:solidFill>
                  <a:schemeClr val="dk1"/>
                </a:solidFill>
                <a:latin typeface="Calibri"/>
              </a:rPr>
              <a:t>ste</a:t>
            </a:r>
            <a:r>
              <a:rPr b="0" lang="en-US" sz="4400" spc="-1" strike="noStrike">
                <a:solidFill>
                  <a:schemeClr val="dk1"/>
                </a:solidFill>
                <a:latin typeface="Calibri"/>
              </a:rPr>
              <a:t>r </a:t>
            </a:r>
            <a:r>
              <a:rPr b="0" lang="en-US" sz="4400" spc="-1" strike="noStrike">
                <a:solidFill>
                  <a:schemeClr val="dk1"/>
                </a:solidFill>
                <a:latin typeface="Calibri"/>
              </a:rPr>
              <a:t>titl</a:t>
            </a:r>
            <a:r>
              <a:rPr b="0" lang="en-US" sz="4400" spc="-1" strike="noStrike">
                <a:solidFill>
                  <a:schemeClr val="dk1"/>
                </a:solidFill>
                <a:latin typeface="Calibri"/>
              </a:rPr>
              <a:t>e </a:t>
            </a:r>
            <a:r>
              <a:rPr b="0" lang="en-US" sz="4400" spc="-1" strike="noStrike">
                <a:solidFill>
                  <a:schemeClr val="dk1"/>
                </a:solidFill>
                <a:latin typeface="Calibri"/>
              </a:rPr>
              <a:t>styl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1FB40964-CE59-4B65-97D6-C3E6A608571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a:t>
            </a:r>
            <a:r>
              <a:rPr b="1" lang="en-US" sz="4000" spc="-1" strike="noStrike" cap="all">
                <a:solidFill>
                  <a:schemeClr val="dk1"/>
                </a:solidFill>
                <a:latin typeface="Calibri"/>
              </a:rPr>
              <a:t>ic</a:t>
            </a:r>
            <a:r>
              <a:rPr b="1" lang="en-US" sz="4000" spc="-1" strike="noStrike" cap="all">
                <a:solidFill>
                  <a:schemeClr val="dk1"/>
                </a:solidFill>
                <a:latin typeface="Calibri"/>
              </a:rPr>
              <a:t>k </a:t>
            </a:r>
            <a:r>
              <a:rPr b="1" lang="en-US" sz="4000" spc="-1" strike="noStrike" cap="all">
                <a:solidFill>
                  <a:schemeClr val="dk1"/>
                </a:solidFill>
                <a:latin typeface="Calibri"/>
              </a:rPr>
              <a:t>t</a:t>
            </a:r>
            <a:r>
              <a:rPr b="1" lang="en-US" sz="4000" spc="-1" strike="noStrike" cap="all">
                <a:solidFill>
                  <a:schemeClr val="dk1"/>
                </a:solidFill>
                <a:latin typeface="Calibri"/>
              </a:rPr>
              <a:t>o </a:t>
            </a:r>
            <a:r>
              <a:rPr b="1" lang="en-US" sz="4000" spc="-1" strike="noStrike" cap="all">
                <a:solidFill>
                  <a:schemeClr val="dk1"/>
                </a:solidFill>
                <a:latin typeface="Calibri"/>
              </a:rPr>
              <a:t>e</a:t>
            </a:r>
            <a:r>
              <a:rPr b="1" lang="en-US" sz="4000" spc="-1" strike="noStrike" cap="all">
                <a:solidFill>
                  <a:schemeClr val="dk1"/>
                </a:solidFill>
                <a:latin typeface="Calibri"/>
              </a:rPr>
              <a:t>di</a:t>
            </a:r>
            <a:r>
              <a:rPr b="1" lang="en-US" sz="4000" spc="-1" strike="noStrike" cap="all">
                <a:solidFill>
                  <a:schemeClr val="dk1"/>
                </a:solidFill>
                <a:latin typeface="Calibri"/>
              </a:rPr>
              <a:t>t </a:t>
            </a:r>
            <a:r>
              <a:rPr b="1" lang="en-US" sz="4000" spc="-1" strike="noStrike" cap="all">
                <a:solidFill>
                  <a:schemeClr val="dk1"/>
                </a:solidFill>
                <a:latin typeface="Calibri"/>
              </a:rPr>
              <a:t>M</a:t>
            </a:r>
            <a:r>
              <a:rPr b="1" lang="en-US" sz="4000" spc="-1" strike="noStrike" cap="all">
                <a:solidFill>
                  <a:schemeClr val="dk1"/>
                </a:solidFill>
                <a:latin typeface="Calibri"/>
              </a:rPr>
              <a:t>as</a:t>
            </a:r>
            <a:r>
              <a:rPr b="1" lang="en-US" sz="4000" spc="-1" strike="noStrike" cap="all">
                <a:solidFill>
                  <a:schemeClr val="dk1"/>
                </a:solidFill>
                <a:latin typeface="Calibri"/>
              </a:rPr>
              <a:t>te</a:t>
            </a:r>
            <a:r>
              <a:rPr b="1" lang="en-US" sz="4000" spc="-1" strike="noStrike" cap="all">
                <a:solidFill>
                  <a:schemeClr val="dk1"/>
                </a:solidFill>
                <a:latin typeface="Calibri"/>
              </a:rPr>
              <a:t>r </a:t>
            </a:r>
            <a:r>
              <a:rPr b="1" lang="en-US" sz="4000" spc="-1" strike="noStrike" cap="all">
                <a:solidFill>
                  <a:schemeClr val="dk1"/>
                </a:solidFill>
                <a:latin typeface="Calibri"/>
              </a:rPr>
              <a:t>ti</a:t>
            </a:r>
            <a:r>
              <a:rPr b="1" lang="en-US" sz="4000" spc="-1" strike="noStrike" cap="all">
                <a:solidFill>
                  <a:schemeClr val="dk1"/>
                </a:solidFill>
                <a:latin typeface="Calibri"/>
              </a:rPr>
              <a:t>tl</a:t>
            </a:r>
            <a:r>
              <a:rPr b="1" lang="en-US" sz="4000" spc="-1" strike="noStrike" cap="all">
                <a:solidFill>
                  <a:schemeClr val="dk1"/>
                </a:solidFill>
                <a:latin typeface="Calibri"/>
              </a:rPr>
              <a:t>e </a:t>
            </a:r>
            <a:r>
              <a:rPr b="1" lang="en-US" sz="4000" spc="-1" strike="noStrike" cap="all">
                <a:solidFill>
                  <a:schemeClr val="dk1"/>
                </a:solidFill>
                <a:latin typeface="Calibri"/>
              </a:rPr>
              <a:t>st</a:t>
            </a:r>
            <a:r>
              <a:rPr b="1" lang="en-US" sz="4000" spc="-1" strike="noStrike" cap="all">
                <a:solidFill>
                  <a:schemeClr val="dk1"/>
                </a:solidFill>
                <a:latin typeface="Calibri"/>
              </a:rPr>
              <a:t>yl</a:t>
            </a:r>
            <a:r>
              <a:rPr b="1" lang="en-US" sz="4000" spc="-1" strike="noStrike" cap="all">
                <a:solidFill>
                  <a:schemeClr val="dk1"/>
                </a:solidFill>
                <a:latin typeface="Calibri"/>
              </a:rPr>
              <a:t>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B1C4E6B-CE08-4105-893F-A23C8393967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a:t>
            </a:r>
            <a:r>
              <a:rPr b="0" lang="en-US" sz="4400" spc="-1" strike="noStrike">
                <a:solidFill>
                  <a:schemeClr val="dk1"/>
                </a:solidFill>
                <a:latin typeface="Calibri"/>
              </a:rPr>
              <a:t>ic</a:t>
            </a:r>
            <a:r>
              <a:rPr b="0" lang="en-US" sz="4400" spc="-1" strike="noStrike">
                <a:solidFill>
                  <a:schemeClr val="dk1"/>
                </a:solidFill>
                <a:latin typeface="Calibri"/>
              </a:rPr>
              <a:t>k </a:t>
            </a:r>
            <a:r>
              <a:rPr b="0" lang="en-US" sz="4400" spc="-1" strike="noStrike">
                <a:solidFill>
                  <a:schemeClr val="dk1"/>
                </a:solidFill>
                <a:latin typeface="Calibri"/>
              </a:rPr>
              <a:t>to </a:t>
            </a:r>
            <a:r>
              <a:rPr b="0" lang="en-US" sz="4400" spc="-1" strike="noStrike">
                <a:solidFill>
                  <a:schemeClr val="dk1"/>
                </a:solidFill>
                <a:latin typeface="Calibri"/>
              </a:rPr>
              <a:t>e</a:t>
            </a:r>
            <a:r>
              <a:rPr b="0" lang="en-US" sz="4400" spc="-1" strike="noStrike">
                <a:solidFill>
                  <a:schemeClr val="dk1"/>
                </a:solidFill>
                <a:latin typeface="Calibri"/>
              </a:rPr>
              <a:t>di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as</a:t>
            </a:r>
            <a:r>
              <a:rPr b="0" lang="en-US" sz="4400" spc="-1" strike="noStrike">
                <a:solidFill>
                  <a:schemeClr val="dk1"/>
                </a:solidFill>
                <a:latin typeface="Calibri"/>
              </a:rPr>
              <a:t>te</a:t>
            </a:r>
            <a:r>
              <a:rPr b="0" lang="en-US" sz="4400" spc="-1" strike="noStrike">
                <a:solidFill>
                  <a:schemeClr val="dk1"/>
                </a:solidFill>
                <a:latin typeface="Calibri"/>
              </a:rPr>
              <a:t>r </a:t>
            </a:r>
            <a:r>
              <a:rPr b="0" lang="en-US" sz="4400" spc="-1" strike="noStrike">
                <a:solidFill>
                  <a:schemeClr val="dk1"/>
                </a:solidFill>
                <a:latin typeface="Calibri"/>
              </a:rPr>
              <a:t>tit</a:t>
            </a:r>
            <a:r>
              <a:rPr b="0" lang="en-US" sz="4400" spc="-1" strike="noStrike">
                <a:solidFill>
                  <a:schemeClr val="dk1"/>
                </a:solidFill>
                <a:latin typeface="Calibri"/>
              </a:rPr>
              <a:t>le </a:t>
            </a:r>
            <a:r>
              <a:rPr b="0" lang="en-US" sz="4400" spc="-1" strike="noStrike">
                <a:solidFill>
                  <a:schemeClr val="dk1"/>
                </a:solidFill>
                <a:latin typeface="Calibri"/>
              </a:rPr>
              <a:t>st</a:t>
            </a:r>
            <a:r>
              <a:rPr b="0" lang="en-US" sz="4400" spc="-1" strike="noStrike">
                <a:solidFill>
                  <a:schemeClr val="dk1"/>
                </a:solidFill>
                <a:latin typeface="Calibri"/>
              </a:rPr>
              <a: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8D83006-A3FD-411A-AA26-1E6785946B1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a:t>
            </a:r>
            <a:r>
              <a:rPr b="0" lang="en-US" sz="4400" spc="-1" strike="noStrike">
                <a:solidFill>
                  <a:schemeClr val="dk1"/>
                </a:solidFill>
                <a:latin typeface="Calibri"/>
              </a:rPr>
              <a:t>ck </a:t>
            </a:r>
            <a:r>
              <a:rPr b="0" lang="en-US" sz="4400" spc="-1" strike="noStrike">
                <a:solidFill>
                  <a:schemeClr val="dk1"/>
                </a:solidFill>
                <a:latin typeface="Calibri"/>
              </a:rPr>
              <a:t>to </a:t>
            </a:r>
            <a:r>
              <a:rPr b="0" lang="en-US" sz="4400" spc="-1" strike="noStrike">
                <a:solidFill>
                  <a:schemeClr val="dk1"/>
                </a:solidFill>
                <a:latin typeface="Calibri"/>
              </a:rPr>
              <a:t>edi</a:t>
            </a:r>
            <a:r>
              <a:rPr b="0" lang="en-US" sz="4400" spc="-1" strike="noStrike">
                <a:solidFill>
                  <a:schemeClr val="dk1"/>
                </a:solidFill>
                <a:latin typeface="Calibri"/>
              </a:rPr>
              <a:t>t </a:t>
            </a:r>
            <a:r>
              <a:rPr b="0" lang="en-US" sz="4400" spc="-1" strike="noStrike">
                <a:solidFill>
                  <a:schemeClr val="dk1"/>
                </a:solidFill>
                <a:latin typeface="Calibri"/>
              </a:rPr>
              <a:t>Ma</a:t>
            </a:r>
            <a:r>
              <a:rPr b="0" lang="en-US" sz="4400" spc="-1" strike="noStrike">
                <a:solidFill>
                  <a:schemeClr val="dk1"/>
                </a:solidFill>
                <a:latin typeface="Calibri"/>
              </a:rPr>
              <a:t>ste</a:t>
            </a:r>
            <a:r>
              <a:rPr b="0" lang="en-US" sz="4400" spc="-1" strike="noStrike">
                <a:solidFill>
                  <a:schemeClr val="dk1"/>
                </a:solidFill>
                <a:latin typeface="Calibri"/>
              </a:rPr>
              <a:t>r </a:t>
            </a:r>
            <a:r>
              <a:rPr b="0" lang="en-US" sz="4400" spc="-1" strike="noStrike">
                <a:solidFill>
                  <a:schemeClr val="dk1"/>
                </a:solidFill>
                <a:latin typeface="Calibri"/>
              </a:rPr>
              <a:t>titl</a:t>
            </a:r>
            <a:r>
              <a:rPr b="0" lang="en-US" sz="4400" spc="-1" strike="noStrike">
                <a:solidFill>
                  <a:schemeClr val="dk1"/>
                </a:solidFill>
                <a:latin typeface="Calibri"/>
              </a:rPr>
              <a:t>e </a:t>
            </a:r>
            <a:r>
              <a:rPr b="0" lang="en-US" sz="4400" spc="-1" strike="noStrike">
                <a:solidFill>
                  <a:schemeClr val="dk1"/>
                </a:solidFill>
                <a:latin typeface="Calibri"/>
              </a:rPr>
              <a:t>styl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BD171CAB-D9C8-46D7-93E9-CCCA5A50EA5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a:t>
            </a:r>
            <a:r>
              <a:rPr b="0" lang="en-US" sz="4400" spc="-1" strike="noStrike">
                <a:solidFill>
                  <a:schemeClr val="dk1"/>
                </a:solidFill>
                <a:latin typeface="Calibri"/>
              </a:rPr>
              <a:t>ic</a:t>
            </a:r>
            <a:r>
              <a:rPr b="0" lang="en-US" sz="4400" spc="-1" strike="noStrike">
                <a:solidFill>
                  <a:schemeClr val="dk1"/>
                </a:solidFill>
                <a:latin typeface="Calibri"/>
              </a:rPr>
              <a:t>k </a:t>
            </a:r>
            <a:r>
              <a:rPr b="0" lang="en-US" sz="4400" spc="-1" strike="noStrike">
                <a:solidFill>
                  <a:schemeClr val="dk1"/>
                </a:solidFill>
                <a:latin typeface="Calibri"/>
              </a:rPr>
              <a:t>to </a:t>
            </a:r>
            <a:r>
              <a:rPr b="0" lang="en-US" sz="4400" spc="-1" strike="noStrike">
                <a:solidFill>
                  <a:schemeClr val="dk1"/>
                </a:solidFill>
                <a:latin typeface="Calibri"/>
              </a:rPr>
              <a:t>e</a:t>
            </a:r>
            <a:r>
              <a:rPr b="0" lang="en-US" sz="4400" spc="-1" strike="noStrike">
                <a:solidFill>
                  <a:schemeClr val="dk1"/>
                </a:solidFill>
                <a:latin typeface="Calibri"/>
              </a:rPr>
              <a:t>di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as</a:t>
            </a:r>
            <a:r>
              <a:rPr b="0" lang="en-US" sz="4400" spc="-1" strike="noStrike">
                <a:solidFill>
                  <a:schemeClr val="dk1"/>
                </a:solidFill>
                <a:latin typeface="Calibri"/>
              </a:rPr>
              <a:t>te</a:t>
            </a:r>
            <a:r>
              <a:rPr b="0" lang="en-US" sz="4400" spc="-1" strike="noStrike">
                <a:solidFill>
                  <a:schemeClr val="dk1"/>
                </a:solidFill>
                <a:latin typeface="Calibri"/>
              </a:rPr>
              <a:t>r </a:t>
            </a:r>
            <a:r>
              <a:rPr b="0" lang="en-US" sz="4400" spc="-1" strike="noStrike">
                <a:solidFill>
                  <a:schemeClr val="dk1"/>
                </a:solidFill>
                <a:latin typeface="Calibri"/>
              </a:rPr>
              <a:t>tit</a:t>
            </a:r>
            <a:r>
              <a:rPr b="0" lang="en-US" sz="4400" spc="-1" strike="noStrike">
                <a:solidFill>
                  <a:schemeClr val="dk1"/>
                </a:solidFill>
                <a:latin typeface="Calibri"/>
              </a:rPr>
              <a:t>le </a:t>
            </a:r>
            <a:r>
              <a:rPr b="0" lang="en-US" sz="4400" spc="-1" strike="noStrike">
                <a:solidFill>
                  <a:schemeClr val="dk1"/>
                </a:solidFill>
                <a:latin typeface="Calibri"/>
              </a:rPr>
              <a:t>st</a:t>
            </a:r>
            <a:r>
              <a:rPr b="0" lang="en-US" sz="4400" spc="-1" strike="noStrike">
                <a:solidFill>
                  <a:schemeClr val="dk1"/>
                </a:solidFill>
                <a:latin typeface="Calibri"/>
              </a:rPr>
              <a: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22F65A3-6B5C-4189-ADB8-5EAF5ECFE0C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0A79318-53EC-47A0-8113-935CF8A5141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a:t>
            </a:r>
            <a:r>
              <a:rPr b="0" lang="en-US" sz="1800" spc="-1" strike="noStrike">
                <a:solidFill>
                  <a:schemeClr val="dk1"/>
                </a:solidFill>
                <a:latin typeface="Calibri"/>
              </a:rPr>
              <a:t>to </a:t>
            </a:r>
            <a:r>
              <a:rPr b="0" lang="en-US" sz="1800" spc="-1" strike="noStrike">
                <a:solidFill>
                  <a:schemeClr val="dk1"/>
                </a:solidFill>
                <a:latin typeface="Calibri"/>
              </a:rPr>
              <a:t>edit </a:t>
            </a:r>
            <a:r>
              <a:rPr b="0" lang="en-US" sz="1800" spc="-1" strike="noStrike">
                <a:solidFill>
                  <a:schemeClr val="dk1"/>
                </a:solidFill>
                <a:latin typeface="Calibri"/>
              </a:rPr>
              <a:t>the </a:t>
            </a:r>
            <a:r>
              <a:rPr b="0" lang="en-US" sz="1800" spc="-1" strike="noStrike">
                <a:solidFill>
                  <a:schemeClr val="dk1"/>
                </a:solidFill>
                <a:latin typeface="Calibri"/>
              </a:rPr>
              <a:t>title </a:t>
            </a:r>
            <a:r>
              <a:rPr b="0" lang="en-US" sz="1800" spc="-1" strike="noStrike">
                <a:solidFill>
                  <a:schemeClr val="dk1"/>
                </a:solidFill>
                <a:latin typeface="Calibri"/>
              </a:rPr>
              <a:t>text </a:t>
            </a:r>
            <a:r>
              <a:rPr b="0" lang="en-US" sz="1800" spc="-1" strike="noStrike">
                <a:solidFill>
                  <a:schemeClr val="dk1"/>
                </a:solidFill>
                <a:latin typeface="Calibri"/>
              </a:rPr>
              <a:t>form</a:t>
            </a:r>
            <a:r>
              <a:rPr b="0" lang="en-US" sz="1800" spc="-1" strike="noStrike">
                <a:solidFill>
                  <a:schemeClr val="dk1"/>
                </a:solidFill>
                <a:latin typeface="Calibri"/>
              </a:rPr>
              <a:t>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a:t>
            </a:r>
            <a:r>
              <a:rPr b="1" lang="en-US" sz="2000" spc="-1" strike="noStrike">
                <a:solidFill>
                  <a:schemeClr val="dk1"/>
                </a:solidFill>
                <a:latin typeface="Calibri"/>
              </a:rPr>
              <a:t>to </a:t>
            </a:r>
            <a:r>
              <a:rPr b="1" lang="en-US" sz="2000" spc="-1" strike="noStrike">
                <a:solidFill>
                  <a:schemeClr val="dk1"/>
                </a:solidFill>
                <a:latin typeface="Calibri"/>
              </a:rPr>
              <a:t>edit </a:t>
            </a:r>
            <a:r>
              <a:rPr b="1" lang="en-US" sz="2000" spc="-1" strike="noStrike">
                <a:solidFill>
                  <a:schemeClr val="dk1"/>
                </a:solidFill>
                <a:latin typeface="Calibri"/>
              </a:rPr>
              <a:t>Mas</a:t>
            </a:r>
            <a:r>
              <a:rPr b="1" lang="en-US" sz="2000" spc="-1" strike="noStrike">
                <a:solidFill>
                  <a:schemeClr val="dk1"/>
                </a:solidFill>
                <a:latin typeface="Calibri"/>
              </a:rPr>
              <a:t>ter </a:t>
            </a:r>
            <a:r>
              <a:rPr b="1" lang="en-US" sz="2000" spc="-1" strike="noStrike">
                <a:solidFill>
                  <a:schemeClr val="dk1"/>
                </a:solidFill>
                <a:latin typeface="Calibri"/>
              </a:rPr>
              <a:t>title </a:t>
            </a:r>
            <a:r>
              <a:rPr b="1" lang="en-US" sz="2000" spc="-1" strike="noStrike">
                <a:solidFill>
                  <a:schemeClr val="dk1"/>
                </a:solidFill>
                <a:latin typeface="Calibri"/>
              </a:rPr>
              <a:t>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2F8B0D51-DBA7-4F2F-8528-CF14756BCCE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a:t>
            </a:r>
            <a:r>
              <a:rPr b="1" lang="en-US" sz="2000" spc="-1" strike="noStrike">
                <a:solidFill>
                  <a:schemeClr val="dk1"/>
                </a:solidFill>
                <a:latin typeface="Calibri"/>
              </a:rPr>
              <a:t>to </a:t>
            </a:r>
            <a:r>
              <a:rPr b="1" lang="en-US" sz="2000" spc="-1" strike="noStrike">
                <a:solidFill>
                  <a:schemeClr val="dk1"/>
                </a:solidFill>
                <a:latin typeface="Calibri"/>
              </a:rPr>
              <a:t>edit </a:t>
            </a:r>
            <a:r>
              <a:rPr b="1" lang="en-US" sz="2000" spc="-1" strike="noStrike">
                <a:solidFill>
                  <a:schemeClr val="dk1"/>
                </a:solidFill>
                <a:latin typeface="Calibri"/>
              </a:rPr>
              <a:t>Mas</a:t>
            </a:r>
            <a:r>
              <a:rPr b="1" lang="en-US" sz="2000" spc="-1" strike="noStrike">
                <a:solidFill>
                  <a:schemeClr val="dk1"/>
                </a:solidFill>
                <a:latin typeface="Calibri"/>
              </a:rPr>
              <a:t>ter </a:t>
            </a:r>
            <a:r>
              <a:rPr b="1" lang="en-US" sz="2000" spc="-1" strike="noStrike">
                <a:solidFill>
                  <a:schemeClr val="dk1"/>
                </a:solidFill>
                <a:latin typeface="Calibri"/>
              </a:rPr>
              <a:t>title </a:t>
            </a:r>
            <a:r>
              <a:rPr b="1" lang="en-US" sz="2000" spc="-1" strike="noStrike">
                <a:solidFill>
                  <a:schemeClr val="dk1"/>
                </a:solidFill>
                <a:latin typeface="Calibri"/>
              </a:rPr>
              <a:t>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8AFAA52-4AA1-4906-8282-0059699677C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chart" Target="../charts/chart7.xml"/><Relationship Id="rId7"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chart" Target="../charts/chart8.xml"/><Relationship Id="rId2" Type="http://schemas.openxmlformats.org/officeDocument/2006/relationships/chart" Target="../charts/chart9.xml"/><Relationship Id="rId3"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chart" Target="../charts/chart10.xml"/><Relationship Id="rId2"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chart" Target="../charts/chart1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67"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2a78d6"/>
                </a:solidFill>
                <a:latin typeface="Calibri"/>
              </a:rPr>
              <a:t>01 · Executive summary</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68"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900" spc="-1" strike="noStrike">
                <a:solidFill>
                  <a:srgbClr val="0b0b0b"/>
                </a:solidFill>
                <a:latin typeface="Calibri"/>
              </a:rPr>
              <a:t>508 paid FTE per month to meet service level</a:t>
            </a:r>
            <a:endParaRPr b="0" lang="en-US" sz="1900" spc="-1" strike="noStrike">
              <a:solidFill>
                <a:srgbClr val="000000"/>
              </a:solidFill>
              <a:latin typeface="Arial"/>
            </a:endParaRPr>
          </a:p>
        </p:txBody>
      </p:sp>
      <p:cxnSp>
        <p:nvCxnSpPr>
          <p:cNvPr id="69" name="Connector 3"/>
          <p:cNvCxnSpPr/>
          <p:nvPr/>
        </p:nvCxnSpPr>
        <p:spPr>
          <a:xfrm>
            <a:off x="502920" y="822960"/>
            <a:ext cx="11185920" cy="360"/>
          </a:xfrm>
          <a:prstGeom prst="straightConnector1">
            <a:avLst/>
          </a:prstGeom>
          <a:ln w="9525">
            <a:solidFill>
              <a:srgbClr val="e1e0d9"/>
            </a:solidFill>
            <a:round/>
          </a:ln>
        </p:spPr>
      </p:cxnSp>
      <p:sp>
        <p:nvSpPr>
          <p:cNvPr id="70" name="TextBox 4"/>
          <p:cNvSpPr/>
          <p:nvPr/>
        </p:nvSpPr>
        <p:spPr>
          <a:xfrm>
            <a:off x="502920" y="960120"/>
            <a:ext cx="32238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THE ANSWER — JULY TO SEPTEMBER</a:t>
            </a:r>
            <a:endParaRPr b="0" lang="en-US" sz="820" spc="-1" strike="noStrike">
              <a:solidFill>
                <a:srgbClr val="000000"/>
              </a:solidFill>
              <a:latin typeface="Arial"/>
            </a:endParaRPr>
          </a:p>
        </p:txBody>
      </p:sp>
      <p:sp>
        <p:nvSpPr>
          <p:cNvPr id="71" name="TextBox 5"/>
          <p:cNvSpPr/>
          <p:nvPr/>
        </p:nvSpPr>
        <p:spPr>
          <a:xfrm>
            <a:off x="502920" y="1170360"/>
            <a:ext cx="3223800" cy="11361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4800" spc="-1" strike="noStrike">
                <a:solidFill>
                  <a:srgbClr val="0b0b0b"/>
                </a:solidFill>
                <a:latin typeface="Calibri"/>
              </a:rPr>
              <a:t>508</a:t>
            </a:r>
            <a:r>
              <a:rPr b="0" lang="en-US" sz="900" spc="-1" strike="noStrike">
                <a:solidFill>
                  <a:schemeClr val="dk1"/>
                </a:solidFill>
                <a:latin typeface="Calibri"/>
              </a:rPr>
              <a:t>   </a:t>
            </a:r>
            <a:r>
              <a:rPr b="1" lang="en-US" sz="950" spc="-1" strike="noStrike">
                <a:solidFill>
                  <a:srgbClr val="52514e"/>
                </a:solidFill>
                <a:latin typeface="Calibri"/>
              </a:rPr>
              <a:t>paid FTE </a:t>
            </a:r>
            <a:r>
              <a:rPr b="1" lang="en-US" sz="950" spc="-1" strike="noStrike">
                <a:solidFill>
                  <a:srgbClr val="52514e"/>
                </a:solidFill>
                <a:latin typeface="Calibri"/>
              </a:rPr>
              <a:t>per month</a:t>
            </a:r>
            <a:endParaRPr b="0" lang="en-US" sz="950" spc="-1" strike="noStrike">
              <a:solidFill>
                <a:srgbClr val="000000"/>
              </a:solidFill>
              <a:latin typeface="Arial"/>
            </a:endParaRPr>
          </a:p>
        </p:txBody>
      </p:sp>
      <p:sp>
        <p:nvSpPr>
          <p:cNvPr id="72" name="TextBox 6"/>
          <p:cNvSpPr/>
          <p:nvPr/>
        </p:nvSpPr>
        <p:spPr>
          <a:xfrm>
            <a:off x="502920" y="2407680"/>
            <a:ext cx="3223800" cy="313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950" spc="-1" strike="noStrike">
                <a:solidFill>
                  <a:srgbClr val="52514e"/>
                </a:solidFill>
                <a:latin typeface="Calibri"/>
              </a:rPr>
              <a:t>To hold </a:t>
            </a:r>
            <a:r>
              <a:rPr b="1" lang="en-US" sz="950" spc="-1" strike="noStrike">
                <a:solidFill>
                  <a:srgbClr val="52514e"/>
                </a:solidFill>
                <a:latin typeface="Calibri"/>
              </a:rPr>
              <a:t>80% / 20s</a:t>
            </a:r>
            <a:r>
              <a:rPr b="0" lang="en-US" sz="950" spc="-1" strike="noStrike">
                <a:solidFill>
                  <a:srgbClr val="52514e"/>
                </a:solidFill>
                <a:latin typeface="Calibri"/>
              </a:rPr>
              <a:t> phone and </a:t>
            </a:r>
            <a:r>
              <a:rPr b="1" lang="en-US" sz="950" spc="-1" strike="noStrike">
                <a:solidFill>
                  <a:srgbClr val="52514e"/>
                </a:solidFill>
                <a:latin typeface="Calibri"/>
              </a:rPr>
              <a:t>80% / 60s</a:t>
            </a:r>
            <a:r>
              <a:rPr b="0" lang="en-US" sz="950" spc="-1" strike="noStrike">
                <a:solidFill>
                  <a:srgbClr val="52514e"/>
                </a:solidFill>
                <a:latin typeface="Calibri"/>
              </a:rPr>
              <a:t> chat at the June run-rate </a:t>
            </a:r>
            <a:r>
              <a:rPr b="1" lang="en-US" sz="950" spc="-1" strike="noStrike">
                <a:solidFill>
                  <a:srgbClr val="52514e"/>
                </a:solidFill>
                <a:latin typeface="Calibri"/>
              </a:rPr>
              <a:t>+10%</a:t>
            </a:r>
            <a:r>
              <a:rPr b="0" lang="en-US" sz="950" spc="-1" strike="noStrike">
                <a:solidFill>
                  <a:srgbClr val="52514e"/>
                </a:solidFill>
                <a:latin typeface="Calibri"/>
              </a:rPr>
              <a:t> seasonal uplift.</a:t>
            </a:r>
            <a:endParaRPr b="0" lang="en-US" sz="950" spc="-1" strike="noStrike">
              <a:solidFill>
                <a:srgbClr val="000000"/>
              </a:solidFill>
              <a:latin typeface="Arial"/>
            </a:endParaRPr>
          </a:p>
        </p:txBody>
      </p:sp>
      <p:cxnSp>
        <p:nvCxnSpPr>
          <p:cNvPr id="73" name="Connector 7"/>
          <p:cNvCxnSpPr/>
          <p:nvPr/>
        </p:nvCxnSpPr>
        <p:spPr>
          <a:xfrm>
            <a:off x="502920" y="2766960"/>
            <a:ext cx="1557360" cy="360"/>
          </a:xfrm>
          <a:prstGeom prst="straightConnector1">
            <a:avLst/>
          </a:prstGeom>
          <a:ln w="9525">
            <a:solidFill>
              <a:srgbClr val="e1e0d9"/>
            </a:solidFill>
            <a:round/>
          </a:ln>
        </p:spPr>
      </p:cxnSp>
      <p:sp>
        <p:nvSpPr>
          <p:cNvPr id="74" name="TextBox 8"/>
          <p:cNvSpPr/>
          <p:nvPr/>
        </p:nvSpPr>
        <p:spPr>
          <a:xfrm>
            <a:off x="502920" y="2812680"/>
            <a:ext cx="1556640" cy="4111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660" spc="-1" strike="noStrike">
                <a:solidFill>
                  <a:srgbClr val="898781"/>
                </a:solidFill>
                <a:latin typeface="Calibri"/>
              </a:rPr>
              <a:t>PRODUCTIVE HOURS</a:t>
            </a:r>
            <a:endParaRPr b="0" lang="en-US" sz="660" spc="-1" strike="noStrike">
              <a:solidFill>
                <a:srgbClr val="000000"/>
              </a:solidFill>
              <a:latin typeface="Arial"/>
            </a:endParaRPr>
          </a:p>
          <a:p>
            <a:pPr defTabSz="457200">
              <a:lnSpc>
                <a:spcPct val="100000"/>
              </a:lnSpc>
              <a:spcBef>
                <a:spcPts val="201"/>
              </a:spcBef>
            </a:pPr>
            <a:r>
              <a:rPr b="1" lang="en-US" sz="1500" spc="-1" strike="noStrike">
                <a:solidFill>
                  <a:srgbClr val="0b0b0b"/>
                </a:solidFill>
                <a:latin typeface="Calibri"/>
              </a:rPr>
              <a:t>68,827</a:t>
            </a:r>
            <a:endParaRPr b="0" lang="en-US" sz="1500" spc="-1" strike="noStrike">
              <a:solidFill>
                <a:srgbClr val="000000"/>
              </a:solidFill>
              <a:latin typeface="Arial"/>
            </a:endParaRPr>
          </a:p>
          <a:p>
            <a:pPr defTabSz="457200">
              <a:lnSpc>
                <a:spcPct val="100000"/>
              </a:lnSpc>
              <a:spcBef>
                <a:spcPts val="99"/>
              </a:spcBef>
            </a:pPr>
            <a:r>
              <a:rPr b="0" lang="en-US" sz="700" spc="-1" strike="noStrike">
                <a:solidFill>
                  <a:srgbClr val="898781"/>
                </a:solidFill>
                <a:latin typeface="Calibri"/>
              </a:rPr>
              <a:t>per month — the BPO bill</a:t>
            </a:r>
            <a:endParaRPr b="0" lang="en-US" sz="700" spc="-1" strike="noStrike">
              <a:solidFill>
                <a:srgbClr val="000000"/>
              </a:solidFill>
              <a:latin typeface="Arial"/>
            </a:endParaRPr>
          </a:p>
        </p:txBody>
      </p:sp>
      <p:cxnSp>
        <p:nvCxnSpPr>
          <p:cNvPr id="75" name="Connector 9"/>
          <p:cNvCxnSpPr/>
          <p:nvPr/>
        </p:nvCxnSpPr>
        <p:spPr>
          <a:xfrm>
            <a:off x="2169720" y="2766960"/>
            <a:ext cx="1557360" cy="360"/>
          </a:xfrm>
          <a:prstGeom prst="straightConnector1">
            <a:avLst/>
          </a:prstGeom>
          <a:ln w="9525">
            <a:solidFill>
              <a:srgbClr val="e1e0d9"/>
            </a:solidFill>
            <a:round/>
          </a:ln>
        </p:spPr>
      </p:cxnSp>
      <p:sp>
        <p:nvSpPr>
          <p:cNvPr id="76" name="TextBox 10"/>
          <p:cNvSpPr/>
          <p:nvPr/>
        </p:nvSpPr>
        <p:spPr>
          <a:xfrm>
            <a:off x="2169720" y="2812680"/>
            <a:ext cx="1556640" cy="4111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660" spc="-1" strike="noStrike">
                <a:solidFill>
                  <a:srgbClr val="898781"/>
                </a:solidFill>
                <a:latin typeface="Calibri"/>
              </a:rPr>
              <a:t>CONTACTS</a:t>
            </a:r>
            <a:endParaRPr b="0" lang="en-US" sz="660" spc="-1" strike="noStrike">
              <a:solidFill>
                <a:srgbClr val="000000"/>
              </a:solidFill>
              <a:latin typeface="Arial"/>
            </a:endParaRPr>
          </a:p>
          <a:p>
            <a:pPr defTabSz="457200">
              <a:lnSpc>
                <a:spcPct val="100000"/>
              </a:lnSpc>
              <a:spcBef>
                <a:spcPts val="201"/>
              </a:spcBef>
            </a:pPr>
            <a:r>
              <a:rPr b="1" lang="en-US" sz="1500" spc="-1" strike="noStrike">
                <a:solidFill>
                  <a:srgbClr val="0b0b0b"/>
                </a:solidFill>
                <a:latin typeface="Calibri"/>
              </a:rPr>
              <a:t>294k</a:t>
            </a:r>
            <a:endParaRPr b="0" lang="en-US" sz="1500" spc="-1" strike="noStrike">
              <a:solidFill>
                <a:srgbClr val="000000"/>
              </a:solidFill>
              <a:latin typeface="Arial"/>
            </a:endParaRPr>
          </a:p>
          <a:p>
            <a:pPr defTabSz="457200">
              <a:lnSpc>
                <a:spcPct val="100000"/>
              </a:lnSpc>
              <a:spcBef>
                <a:spcPts val="99"/>
              </a:spcBef>
            </a:pPr>
            <a:r>
              <a:rPr b="0" lang="en-US" sz="700" spc="-1" strike="noStrike">
                <a:solidFill>
                  <a:srgbClr val="898781"/>
                </a:solidFill>
                <a:latin typeface="Calibri"/>
              </a:rPr>
              <a:t>all languages, all channels</a:t>
            </a:r>
            <a:endParaRPr b="0" lang="en-US" sz="700" spc="-1" strike="noStrike">
              <a:solidFill>
                <a:srgbClr val="000000"/>
              </a:solidFill>
              <a:latin typeface="Arial"/>
            </a:endParaRPr>
          </a:p>
        </p:txBody>
      </p:sp>
      <p:cxnSp>
        <p:nvCxnSpPr>
          <p:cNvPr id="77" name="Connector 11"/>
          <p:cNvCxnSpPr/>
          <p:nvPr/>
        </p:nvCxnSpPr>
        <p:spPr>
          <a:xfrm>
            <a:off x="502920" y="3342960"/>
            <a:ext cx="360" cy="1423440"/>
          </a:xfrm>
          <a:prstGeom prst="straightConnector1">
            <a:avLst/>
          </a:prstGeom>
          <a:ln w="28575">
            <a:solidFill>
              <a:srgbClr val="d03b3b"/>
            </a:solidFill>
            <a:round/>
          </a:ln>
        </p:spPr>
      </p:cxnSp>
      <p:sp>
        <p:nvSpPr>
          <p:cNvPr id="78" name="TextBox 12"/>
          <p:cNvSpPr/>
          <p:nvPr/>
        </p:nvSpPr>
        <p:spPr>
          <a:xfrm>
            <a:off x="621720" y="3370680"/>
            <a:ext cx="3105000" cy="1731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050" spc="-1" strike="noStrike">
                <a:solidFill>
                  <a:srgbClr val="0b0b0b"/>
                </a:solidFill>
                <a:latin typeface="Calibri"/>
              </a:rPr>
              <a:t>One number needs an owner </a:t>
            </a:r>
            <a:r>
              <a:rPr b="1" lang="en-US" sz="1050" spc="-1" strike="noStrike">
                <a:solidFill>
                  <a:srgbClr val="d03b3b"/>
                </a:solidFill>
                <a:latin typeface="Calibri"/>
              </a:rPr>
              <a:t>±78 FTE</a:t>
            </a:r>
            <a:endParaRPr b="0" lang="en-US" sz="1050" spc="-1" strike="noStrike">
              <a:solidFill>
                <a:srgbClr val="000000"/>
              </a:solidFill>
              <a:latin typeface="Arial"/>
            </a:endParaRPr>
          </a:p>
        </p:txBody>
      </p:sp>
      <p:sp>
        <p:nvSpPr>
          <p:cNvPr id="79" name="TextBox 13"/>
          <p:cNvSpPr/>
          <p:nvPr/>
        </p:nvSpPr>
        <p:spPr>
          <a:xfrm>
            <a:off x="621720" y="3571200"/>
            <a:ext cx="3105000" cy="1148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70" spc="-1" strike="noStrike">
                <a:solidFill>
                  <a:srgbClr val="52514e"/>
                </a:solidFill>
                <a:latin typeface="Calibri"/>
              </a:rPr>
              <a:t>The workbook gives two English handle times: </a:t>
            </a:r>
            <a:r>
              <a:rPr b="1" lang="en-US" sz="870" spc="-1" strike="noStrike">
                <a:solidFill>
                  <a:srgbClr val="52514e"/>
                </a:solidFill>
                <a:latin typeface="Calibri"/>
              </a:rPr>
              <a:t>710s</a:t>
            </a:r>
            <a:r>
              <a:rPr b="0" lang="en-US" sz="870" spc="-1" strike="noStrike">
                <a:solidFill>
                  <a:srgbClr val="52514e"/>
                </a:solidFill>
                <a:latin typeface="Calibri"/>
              </a:rPr>
              <a:t> including outbound calls, </a:t>
            </a:r>
            <a:r>
              <a:rPr b="1" lang="en-US" sz="870" spc="-1" strike="noStrike">
                <a:solidFill>
                  <a:srgbClr val="52514e"/>
                </a:solidFill>
                <a:latin typeface="Calibri"/>
              </a:rPr>
              <a:t>909s</a:t>
            </a:r>
            <a:r>
              <a:rPr b="0" lang="en-US" sz="870" spc="-1" strike="noStrike">
                <a:solidFill>
                  <a:srgbClr val="52514e"/>
                </a:solidFill>
                <a:latin typeface="Calibri"/>
              </a:rPr>
              <a:t> without. That looks like drift — </a:t>
            </a:r>
            <a:r>
              <a:rPr b="1" lang="en-US" sz="870" spc="-1" strike="noStrike">
                <a:solidFill>
                  <a:srgbClr val="52514e"/>
                </a:solidFill>
                <a:latin typeface="Calibri"/>
              </a:rPr>
              <a:t>it isn’t:</a:t>
            </a:r>
            <a:r>
              <a:rPr b="0" lang="en-US" sz="870" spc="-1" strike="noStrike">
                <a:solidFill>
                  <a:srgbClr val="52514e"/>
                </a:solidFill>
                <a:latin typeface="Calibri"/>
              </a:rPr>
              <a:t> compared channel-for-channel they agree within 1%. The real question is whether outbound volume is even real — it’s nearly identical to inbound in 29 of 30 months, the signature of a copied column, not a measured one. Real or not swings the plan </a:t>
            </a:r>
            <a:r>
              <a:rPr b="1" lang="en-US" sz="870" spc="-1" strike="noStrike">
                <a:solidFill>
                  <a:srgbClr val="52514e"/>
                </a:solidFill>
                <a:latin typeface="Calibri"/>
              </a:rPr>
              <a:t>508 vs 585 FTE</a:t>
            </a:r>
            <a:r>
              <a:rPr b="0" lang="en-US" sz="870" spc="-1" strike="noStrike">
                <a:solidFill>
                  <a:srgbClr val="52514e"/>
                </a:solidFill>
                <a:latin typeface="Calibri"/>
              </a:rPr>
              <a:t>, a call for whoever owns outbound.</a:t>
            </a:r>
            <a:endParaRPr b="0" lang="en-US" sz="870" spc="-1" strike="noStrike">
              <a:solidFill>
                <a:srgbClr val="000000"/>
              </a:solidFill>
              <a:latin typeface="Arial"/>
            </a:endParaRPr>
          </a:p>
        </p:txBody>
      </p:sp>
      <p:sp>
        <p:nvSpPr>
          <p:cNvPr id="80" name="TextBox 15"/>
          <p:cNvSpPr/>
          <p:nvPr/>
        </p:nvSpPr>
        <p:spPr>
          <a:xfrm>
            <a:off x="3946320" y="960120"/>
            <a:ext cx="42984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A QUARTER OF THE REQUIREMENT IS SERVICE LEVEL, NOT WORKLOAD</a:t>
            </a:r>
            <a:endParaRPr b="0" lang="en-US" sz="820" spc="-1" strike="noStrike">
              <a:solidFill>
                <a:srgbClr val="000000"/>
              </a:solidFill>
              <a:latin typeface="Arial"/>
            </a:endParaRPr>
          </a:p>
        </p:txBody>
      </p:sp>
      <p:graphicFrame>
        <p:nvGraphicFramePr>
          <p:cNvPr id="81" name="Chart 16"/>
          <p:cNvGraphicFramePr/>
          <p:nvPr/>
        </p:nvGraphicFramePr>
        <p:xfrm>
          <a:off x="3946320" y="1225440"/>
          <a:ext cx="4298400" cy="2148480"/>
        </p:xfrm>
        <a:graphic>
          <a:graphicData uri="http://schemas.openxmlformats.org/drawingml/2006/chart">
            <c:chart xmlns:c="http://schemas.openxmlformats.org/drawingml/2006/chart" xmlns:r="http://schemas.openxmlformats.org/officeDocument/2006/relationships" r:id="rId1"/>
          </a:graphicData>
        </a:graphic>
      </p:graphicFrame>
      <p:sp>
        <p:nvSpPr>
          <p:cNvPr id="82" name="TextBox 17"/>
          <p:cNvSpPr/>
          <p:nvPr/>
        </p:nvSpPr>
        <p:spPr>
          <a:xfrm>
            <a:off x="3946320" y="3474720"/>
            <a:ext cx="4298400" cy="4701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950" spc="-1" strike="noStrike">
                <a:solidFill>
                  <a:srgbClr val="52514e"/>
                </a:solidFill>
                <a:latin typeface="Calibri"/>
              </a:rPr>
              <a:t>A workload model returns </a:t>
            </a:r>
            <a:r>
              <a:rPr b="1" lang="en-US" sz="950" spc="-1" strike="noStrike">
                <a:solidFill>
                  <a:srgbClr val="52514e"/>
                </a:solidFill>
                <a:latin typeface="Calibri"/>
              </a:rPr>
              <a:t>360 FTE</a:t>
            </a:r>
            <a:r>
              <a:rPr b="0" lang="en-US" sz="950" spc="-1" strike="noStrike">
                <a:solidFill>
                  <a:srgbClr val="52514e"/>
                </a:solidFill>
                <a:latin typeface="Calibri"/>
              </a:rPr>
              <a:t> and </a:t>
            </a:r>
            <a:r>
              <a:rPr b="1" lang="en-US" sz="950" spc="-1" strike="noStrike">
                <a:solidFill>
                  <a:srgbClr val="52514e"/>
                </a:solidFill>
                <a:latin typeface="Calibri"/>
              </a:rPr>
              <a:t>misses SLA</a:t>
            </a:r>
            <a:r>
              <a:rPr b="0" lang="en-US" sz="950" spc="-1" strike="noStrike">
                <a:solidFill>
                  <a:srgbClr val="52514e"/>
                </a:solidFill>
                <a:latin typeface="Calibri"/>
              </a:rPr>
              <a:t> — it implicitly assumes 100% occupancy. Erlang C says English inbound runs at </a:t>
            </a:r>
            <a:r>
              <a:rPr b="1" lang="en-US" sz="950" spc="-1" strike="noStrike">
                <a:solidFill>
                  <a:srgbClr val="52514e"/>
                </a:solidFill>
                <a:latin typeface="Calibri"/>
              </a:rPr>
              <a:t>70%</a:t>
            </a:r>
            <a:r>
              <a:rPr b="0" lang="en-US" sz="950" spc="-1" strike="noStrike">
                <a:solidFill>
                  <a:srgbClr val="52514e"/>
                </a:solidFill>
                <a:latin typeface="Calibri"/>
              </a:rPr>
              <a:t>; the idle 30% </a:t>
            </a:r>
            <a:r>
              <a:rPr b="0" i="1" lang="en-US" sz="950" spc="-1" strike="noStrike">
                <a:solidFill>
                  <a:srgbClr val="52514e"/>
                </a:solidFill>
                <a:latin typeface="Calibri"/>
              </a:rPr>
              <a:t>is</a:t>
            </a:r>
            <a:r>
              <a:rPr b="0" lang="en-US" sz="950" spc="-1" strike="noStrike">
                <a:solidFill>
                  <a:srgbClr val="52514e"/>
                </a:solidFill>
                <a:latin typeface="Calibri"/>
              </a:rPr>
              <a:t> the 20-second answer time.</a:t>
            </a:r>
            <a:endParaRPr b="0" lang="en-US" sz="950" spc="-1" strike="noStrike">
              <a:solidFill>
                <a:srgbClr val="000000"/>
              </a:solidFill>
              <a:latin typeface="Arial"/>
            </a:endParaRPr>
          </a:p>
        </p:txBody>
      </p:sp>
      <p:sp>
        <p:nvSpPr>
          <p:cNvPr id="83" name="TextBox 18"/>
          <p:cNvSpPr/>
          <p:nvPr/>
        </p:nvSpPr>
        <p:spPr>
          <a:xfrm>
            <a:off x="8464680" y="960120"/>
            <a:ext cx="32238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MODEL ARCHITECTURE — ONE CHAIN, TWO PATHS IN</a:t>
            </a:r>
            <a:endParaRPr b="0" lang="en-US" sz="820" spc="-1" strike="noStrike">
              <a:solidFill>
                <a:srgbClr val="000000"/>
              </a:solidFill>
              <a:latin typeface="Arial"/>
            </a:endParaRPr>
          </a:p>
        </p:txBody>
      </p:sp>
      <p:sp>
        <p:nvSpPr>
          <p:cNvPr id="84" name="Rounded Rectangle 19"/>
          <p:cNvSpPr/>
          <p:nvPr/>
        </p:nvSpPr>
        <p:spPr>
          <a:xfrm>
            <a:off x="8464680" y="1207080"/>
            <a:ext cx="1584360" cy="273960"/>
          </a:xfrm>
          <a:prstGeom prst="roundRect">
            <a:avLst>
              <a:gd name="adj" fmla="val 10000"/>
            </a:avLst>
          </a:prstGeom>
          <a:solidFill>
            <a:srgbClr val="f2f2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750" spc="-1" strike="noStrike">
                <a:solidFill>
                  <a:srgbClr val="898781"/>
                </a:solidFill>
                <a:latin typeface="Calibri"/>
              </a:rPr>
              <a:t>Email + Outbound</a:t>
            </a:r>
            <a:endParaRPr b="0" lang="en-US" sz="750" spc="-1" strike="noStrike">
              <a:solidFill>
                <a:srgbClr val="000000"/>
              </a:solidFill>
              <a:latin typeface="Arial"/>
            </a:endParaRPr>
          </a:p>
          <a:p>
            <a:pPr algn="ctr" defTabSz="457200">
              <a:lnSpc>
                <a:spcPct val="100000"/>
              </a:lnSpc>
            </a:pPr>
            <a:r>
              <a:rPr b="1" lang="en-US" sz="600" spc="-1" strike="noStrike">
                <a:solidFill>
                  <a:srgbClr val="898781"/>
                </a:solidFill>
                <a:latin typeface="Calibri"/>
              </a:rPr>
              <a:t>DEFERRED</a:t>
            </a:r>
            <a:endParaRPr b="0" lang="en-US" sz="600" spc="-1" strike="noStrike">
              <a:solidFill>
                <a:srgbClr val="000000"/>
              </a:solidFill>
              <a:latin typeface="Arial"/>
            </a:endParaRPr>
          </a:p>
        </p:txBody>
      </p:sp>
      <p:sp>
        <p:nvSpPr>
          <p:cNvPr id="85" name="Rounded Rectangle 20"/>
          <p:cNvSpPr/>
          <p:nvPr/>
        </p:nvSpPr>
        <p:spPr>
          <a:xfrm>
            <a:off x="10104120" y="1207080"/>
            <a:ext cx="1584360" cy="273960"/>
          </a:xfrm>
          <a:prstGeom prst="roundRect">
            <a:avLst>
              <a:gd name="adj" fmla="val 10000"/>
            </a:avLst>
          </a:prstGeom>
          <a:solidFill>
            <a:srgbClr val="f2f2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750" spc="-1" strike="noStrike">
                <a:solidFill>
                  <a:srgbClr val="2a78d6"/>
                </a:solidFill>
                <a:latin typeface="Calibri"/>
              </a:rPr>
              <a:t>Inbound + Chat</a:t>
            </a:r>
            <a:endParaRPr b="0" lang="en-US" sz="750" spc="-1" strike="noStrike">
              <a:solidFill>
                <a:srgbClr val="000000"/>
              </a:solidFill>
              <a:latin typeface="Arial"/>
            </a:endParaRPr>
          </a:p>
          <a:p>
            <a:pPr algn="ctr" defTabSz="457200">
              <a:lnSpc>
                <a:spcPct val="100000"/>
              </a:lnSpc>
            </a:pPr>
            <a:r>
              <a:rPr b="1" lang="en-US" sz="600" spc="-1" strike="noStrike">
                <a:solidFill>
                  <a:srgbClr val="2a78d6"/>
                </a:solidFill>
                <a:latin typeface="Calibri"/>
              </a:rPr>
              <a:t>REAL-TIME</a:t>
            </a:r>
            <a:endParaRPr b="0" lang="en-US" sz="600" spc="-1" strike="noStrike">
              <a:solidFill>
                <a:srgbClr val="000000"/>
              </a:solidFill>
              <a:latin typeface="Arial"/>
            </a:endParaRPr>
          </a:p>
        </p:txBody>
      </p:sp>
      <p:cxnSp>
        <p:nvCxnSpPr>
          <p:cNvPr id="86" name="Connector 21"/>
          <p:cNvCxnSpPr/>
          <p:nvPr/>
        </p:nvCxnSpPr>
        <p:spPr>
          <a:xfrm>
            <a:off x="9256680" y="1481040"/>
            <a:ext cx="360" cy="73800"/>
          </a:xfrm>
          <a:prstGeom prst="straightConnector1">
            <a:avLst/>
          </a:prstGeom>
          <a:ln w="12700">
            <a:solidFill>
              <a:srgbClr val="c3c2b7"/>
            </a:solidFill>
            <a:round/>
          </a:ln>
        </p:spPr>
      </p:cxnSp>
      <p:cxnSp>
        <p:nvCxnSpPr>
          <p:cNvPr id="87" name="Connector 22"/>
          <p:cNvCxnSpPr/>
          <p:nvPr/>
        </p:nvCxnSpPr>
        <p:spPr>
          <a:xfrm>
            <a:off x="10896120" y="1481040"/>
            <a:ext cx="360" cy="73800"/>
          </a:xfrm>
          <a:prstGeom prst="straightConnector1">
            <a:avLst/>
          </a:prstGeom>
          <a:ln w="12700">
            <a:solidFill>
              <a:srgbClr val="c3c2b7"/>
            </a:solidFill>
            <a:round/>
          </a:ln>
        </p:spPr>
      </p:cxnSp>
      <p:sp>
        <p:nvSpPr>
          <p:cNvPr id="88" name="Rounded Rectangle 23"/>
          <p:cNvSpPr/>
          <p:nvPr/>
        </p:nvSpPr>
        <p:spPr>
          <a:xfrm>
            <a:off x="8464680" y="1554480"/>
            <a:ext cx="1584360" cy="310680"/>
          </a:xfrm>
          <a:prstGeom prst="roundRect">
            <a:avLst>
              <a:gd name="adj" fmla="val 10000"/>
            </a:avLst>
          </a:prstGeom>
          <a:solidFill>
            <a:srgbClr val="d9d8d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700" spc="-1" strike="noStrike">
                <a:solidFill>
                  <a:srgbClr val="0b0b0b"/>
                </a:solidFill>
                <a:latin typeface="Calibri"/>
              </a:rPr>
              <a:t>÷ occupancy (85%)</a:t>
            </a:r>
            <a:endParaRPr b="0" lang="en-US" sz="700" spc="-1" strike="noStrike">
              <a:solidFill>
                <a:srgbClr val="000000"/>
              </a:solidFill>
              <a:latin typeface="Arial"/>
            </a:endParaRPr>
          </a:p>
          <a:p>
            <a:pPr algn="ctr" defTabSz="457200">
              <a:lnSpc>
                <a:spcPct val="100000"/>
              </a:lnSpc>
            </a:pPr>
            <a:r>
              <a:rPr b="1" lang="en-US" sz="550" spc="-1" strike="noStrike">
                <a:solidFill>
                  <a:srgbClr val="898781"/>
                </a:solidFill>
                <a:latin typeface="Calibri"/>
              </a:rPr>
              <a:t>seat-equiv. hours</a:t>
            </a:r>
            <a:endParaRPr b="0" lang="en-US" sz="550" spc="-1" strike="noStrike">
              <a:solidFill>
                <a:srgbClr val="000000"/>
              </a:solidFill>
              <a:latin typeface="Arial"/>
            </a:endParaRPr>
          </a:p>
        </p:txBody>
      </p:sp>
      <p:sp>
        <p:nvSpPr>
          <p:cNvPr id="89" name="Rounded Rectangle 24"/>
          <p:cNvSpPr/>
          <p:nvPr/>
        </p:nvSpPr>
        <p:spPr>
          <a:xfrm>
            <a:off x="10104120" y="1554480"/>
            <a:ext cx="1584360" cy="310680"/>
          </a:xfrm>
          <a:prstGeom prst="roundRect">
            <a:avLst>
              <a:gd name="adj" fmla="val 10000"/>
            </a:avLst>
          </a:prstGeom>
          <a:solidFill>
            <a:srgbClr val="cde2f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680" spc="-1" strike="noStrike">
                <a:solidFill>
                  <a:srgbClr val="0b0b0b"/>
                </a:solidFill>
                <a:latin typeface="Calibri"/>
              </a:rPr>
              <a:t>Erlang C — 80/20s, 80/60s</a:t>
            </a:r>
            <a:endParaRPr b="0" lang="en-US" sz="680" spc="-1" strike="noStrike">
              <a:solidFill>
                <a:srgbClr val="000000"/>
              </a:solidFill>
              <a:latin typeface="Arial"/>
            </a:endParaRPr>
          </a:p>
          <a:p>
            <a:pPr algn="ctr" defTabSz="457200">
              <a:lnSpc>
                <a:spcPct val="100000"/>
              </a:lnSpc>
            </a:pPr>
            <a:r>
              <a:rPr b="1" lang="en-US" sz="530" spc="-1" strike="noStrike">
                <a:solidFill>
                  <a:srgbClr val="898781"/>
                </a:solidFill>
                <a:latin typeface="Calibri"/>
              </a:rPr>
              <a:t>→ </a:t>
            </a:r>
            <a:r>
              <a:rPr b="1" lang="en-US" sz="530" spc="-1" strike="noStrike">
                <a:solidFill>
                  <a:srgbClr val="898781"/>
                </a:solidFill>
                <a:latin typeface="Calibri"/>
              </a:rPr>
              <a:t>seats × 730h/mo</a:t>
            </a:r>
            <a:endParaRPr b="0" lang="en-US" sz="530" spc="-1" strike="noStrike">
              <a:solidFill>
                <a:srgbClr val="000000"/>
              </a:solidFill>
              <a:latin typeface="Arial"/>
            </a:endParaRPr>
          </a:p>
        </p:txBody>
      </p:sp>
      <p:cxnSp>
        <p:nvCxnSpPr>
          <p:cNvPr id="90" name="Connector 25"/>
          <p:cNvCxnSpPr/>
          <p:nvPr/>
        </p:nvCxnSpPr>
        <p:spPr>
          <a:xfrm>
            <a:off x="9256680" y="1865160"/>
            <a:ext cx="820080" cy="128520"/>
          </a:xfrm>
          <a:prstGeom prst="straightConnector1">
            <a:avLst/>
          </a:prstGeom>
          <a:ln w="12700">
            <a:solidFill>
              <a:srgbClr val="c3c2b7"/>
            </a:solidFill>
            <a:round/>
          </a:ln>
        </p:spPr>
      </p:cxnSp>
      <p:cxnSp>
        <p:nvCxnSpPr>
          <p:cNvPr id="91" name="Connector 26"/>
          <p:cNvCxnSpPr/>
          <p:nvPr/>
        </p:nvCxnSpPr>
        <p:spPr>
          <a:xfrm flipH="1">
            <a:off x="10076400" y="1865160"/>
            <a:ext cx="820080" cy="128520"/>
          </a:xfrm>
          <a:prstGeom prst="straightConnector1">
            <a:avLst/>
          </a:prstGeom>
          <a:ln w="12700">
            <a:solidFill>
              <a:srgbClr val="c3c2b7"/>
            </a:solidFill>
            <a:round/>
          </a:ln>
        </p:spPr>
      </p:cxnSp>
      <p:sp>
        <p:nvSpPr>
          <p:cNvPr id="92" name="Rounded Rectangle 27"/>
          <p:cNvSpPr/>
          <p:nvPr/>
        </p:nvSpPr>
        <p:spPr>
          <a:xfrm>
            <a:off x="8464680" y="1993320"/>
            <a:ext cx="3223800" cy="255600"/>
          </a:xfrm>
          <a:prstGeom prst="roundRect">
            <a:avLst>
              <a:gd name="adj" fmla="val 10000"/>
            </a:avLst>
          </a:prstGeom>
          <a:solidFill>
            <a:srgbClr val="d9d8d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800" spc="-1" strike="noStrike">
                <a:solidFill>
                  <a:srgbClr val="0b0b0b"/>
                </a:solidFill>
                <a:latin typeface="Calibri"/>
              </a:rPr>
              <a:t>÷ shrinkage (18%)</a:t>
            </a:r>
            <a:endParaRPr b="0" lang="en-US" sz="800" spc="-1" strike="noStrike">
              <a:solidFill>
                <a:srgbClr val="000000"/>
              </a:solidFill>
              <a:latin typeface="Arial"/>
            </a:endParaRPr>
          </a:p>
        </p:txBody>
      </p:sp>
      <p:cxnSp>
        <p:nvCxnSpPr>
          <p:cNvPr id="93" name="Connector 28"/>
          <p:cNvCxnSpPr/>
          <p:nvPr/>
        </p:nvCxnSpPr>
        <p:spPr>
          <a:xfrm>
            <a:off x="10076400" y="2249280"/>
            <a:ext cx="360" cy="73440"/>
          </a:xfrm>
          <a:prstGeom prst="straightConnector1">
            <a:avLst/>
          </a:prstGeom>
          <a:ln w="12700">
            <a:solidFill>
              <a:srgbClr val="c3c2b7"/>
            </a:solidFill>
            <a:round/>
          </a:ln>
        </p:spPr>
      </p:cxnSp>
      <p:sp>
        <p:nvSpPr>
          <p:cNvPr id="94" name="Rounded Rectangle 29"/>
          <p:cNvSpPr/>
          <p:nvPr/>
        </p:nvSpPr>
        <p:spPr>
          <a:xfrm>
            <a:off x="8464680" y="2322720"/>
            <a:ext cx="3223800" cy="310680"/>
          </a:xfrm>
          <a:prstGeom prst="roundRect">
            <a:avLst>
              <a:gd name="adj" fmla="val 10000"/>
            </a:avLst>
          </a:prstGeom>
          <a:solidFill>
            <a:srgbClr val="d9d8d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750" spc="-1" strike="noStrike">
                <a:solidFill>
                  <a:srgbClr val="2a78d6"/>
                </a:solidFill>
                <a:latin typeface="Calibri"/>
              </a:rPr>
              <a:t>÷ 173.33 h per FTE</a:t>
            </a:r>
            <a:endParaRPr b="0" lang="en-US" sz="750" spc="-1" strike="noStrike">
              <a:solidFill>
                <a:srgbClr val="000000"/>
              </a:solidFill>
              <a:latin typeface="Arial"/>
            </a:endParaRPr>
          </a:p>
          <a:p>
            <a:pPr algn="ctr" defTabSz="457200">
              <a:lnSpc>
                <a:spcPct val="100000"/>
              </a:lnSpc>
            </a:pPr>
            <a:r>
              <a:rPr b="1" lang="en-US" sz="600" spc="-1" strike="noStrike">
                <a:solidFill>
                  <a:srgbClr val="2a78d6"/>
                </a:solidFill>
                <a:latin typeface="Calibri"/>
              </a:rPr>
              <a:t>→ </a:t>
            </a:r>
            <a:r>
              <a:rPr b="1" lang="en-US" sz="600" spc="-1" strike="noStrike">
                <a:solidFill>
                  <a:srgbClr val="2a78d6"/>
                </a:solidFill>
                <a:latin typeface="Calibri"/>
              </a:rPr>
              <a:t>484 FTE, SLA-met</a:t>
            </a:r>
            <a:endParaRPr b="0" lang="en-US" sz="600" spc="-1" strike="noStrike">
              <a:solidFill>
                <a:srgbClr val="000000"/>
              </a:solidFill>
              <a:latin typeface="Arial"/>
            </a:endParaRPr>
          </a:p>
        </p:txBody>
      </p:sp>
      <p:cxnSp>
        <p:nvCxnSpPr>
          <p:cNvPr id="95" name="Connector 30"/>
          <p:cNvCxnSpPr/>
          <p:nvPr/>
        </p:nvCxnSpPr>
        <p:spPr>
          <a:xfrm>
            <a:off x="10076400" y="2633400"/>
            <a:ext cx="360" cy="73440"/>
          </a:xfrm>
          <a:prstGeom prst="straightConnector1">
            <a:avLst/>
          </a:prstGeom>
          <a:ln w="12700">
            <a:solidFill>
              <a:srgbClr val="c3c2b7"/>
            </a:solidFill>
            <a:round/>
          </a:ln>
        </p:spPr>
      </p:cxnSp>
      <p:sp>
        <p:nvSpPr>
          <p:cNvPr id="96" name="Rounded Rectangle 31"/>
          <p:cNvSpPr/>
          <p:nvPr/>
        </p:nvSpPr>
        <p:spPr>
          <a:xfrm>
            <a:off x="8464680" y="2706480"/>
            <a:ext cx="3223800" cy="273960"/>
          </a:xfrm>
          <a:prstGeom prst="roundRect">
            <a:avLst>
              <a:gd name="adj" fmla="val 10000"/>
            </a:avLst>
          </a:prstGeom>
          <a:solidFill>
            <a:srgbClr val="d9d8d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730" spc="-1" strike="noStrike">
                <a:solidFill>
                  <a:srgbClr val="0b0b0b"/>
                </a:solidFill>
                <a:latin typeface="Calibri"/>
              </a:rPr>
              <a:t>÷ tenure-blend + training class</a:t>
            </a:r>
            <a:endParaRPr b="0" lang="en-US" sz="730" spc="-1" strike="noStrike">
              <a:solidFill>
                <a:srgbClr val="000000"/>
              </a:solidFill>
              <a:latin typeface="Arial"/>
            </a:endParaRPr>
          </a:p>
        </p:txBody>
      </p:sp>
      <p:cxnSp>
        <p:nvCxnSpPr>
          <p:cNvPr id="97" name="Connector 32"/>
          <p:cNvCxnSpPr/>
          <p:nvPr/>
        </p:nvCxnSpPr>
        <p:spPr>
          <a:xfrm>
            <a:off x="10076400" y="2980800"/>
            <a:ext cx="360" cy="73440"/>
          </a:xfrm>
          <a:prstGeom prst="straightConnector1">
            <a:avLst/>
          </a:prstGeom>
          <a:ln w="12700">
            <a:solidFill>
              <a:srgbClr val="c3c2b7"/>
            </a:solidFill>
            <a:round/>
          </a:ln>
        </p:spPr>
      </p:cxnSp>
      <p:sp>
        <p:nvSpPr>
          <p:cNvPr id="98" name="Rounded Rectangle 33"/>
          <p:cNvSpPr/>
          <p:nvPr/>
        </p:nvSpPr>
        <p:spPr>
          <a:xfrm>
            <a:off x="8464680" y="3054240"/>
            <a:ext cx="3223800" cy="484200"/>
          </a:xfrm>
          <a:prstGeom prst="roundRect">
            <a:avLst>
              <a:gd name="adj" fmla="val 10000"/>
            </a:avLst>
          </a:prstGeom>
          <a:solidFill>
            <a:srgbClr val="2a78d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8160" rIns="38160" tIns="25560" bIns="25560" anchor="ctr">
            <a:noAutofit/>
          </a:bodyPr>
          <a:p>
            <a:pPr algn="ctr" defTabSz="457200">
              <a:lnSpc>
                <a:spcPct val="100000"/>
              </a:lnSpc>
            </a:pPr>
            <a:r>
              <a:rPr b="1" lang="en-US" sz="800" spc="-1" strike="noStrike">
                <a:solidFill>
                  <a:srgbClr val="fcfcfb"/>
                </a:solidFill>
                <a:latin typeface="Calibri"/>
              </a:rPr>
              <a:t>PAID FTE — THE BILL</a:t>
            </a:r>
            <a:endParaRPr b="0" lang="en-US" sz="800" spc="-1" strike="noStrike">
              <a:solidFill>
                <a:srgbClr val="ffffff"/>
              </a:solidFill>
              <a:latin typeface="Arial"/>
            </a:endParaRPr>
          </a:p>
          <a:p>
            <a:pPr algn="ctr" defTabSz="457200">
              <a:lnSpc>
                <a:spcPct val="100000"/>
              </a:lnSpc>
            </a:pPr>
            <a:r>
              <a:rPr b="1" lang="en-US" sz="650" spc="-1" strike="noStrike">
                <a:solidFill>
                  <a:srgbClr val="fcfcfb"/>
                </a:solidFill>
                <a:latin typeface="Calibri"/>
              </a:rPr>
              <a:t>508</a:t>
            </a:r>
            <a:endParaRPr b="0" lang="en-US" sz="650" spc="-1" strike="noStrike">
              <a:solidFill>
                <a:srgbClr val="ffffff"/>
              </a:solidFill>
              <a:latin typeface="Arial"/>
            </a:endParaRPr>
          </a:p>
        </p:txBody>
      </p:sp>
      <p:sp>
        <p:nvSpPr>
          <p:cNvPr id="99" name="TextBox 34"/>
          <p:cNvSpPr/>
          <p:nvPr/>
        </p:nvSpPr>
        <p:spPr>
          <a:xfrm>
            <a:off x="8464680" y="3639240"/>
            <a:ext cx="322380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898781"/>
                </a:solidFill>
                <a:latin typeface="Calibri"/>
              </a:rPr>
              <a:t>Two paths — deferred (workload) and real-time (Erlang C) — merge before shrinkage. Same chain, every language. Full formula and constants on slide 03.</a:t>
            </a:r>
            <a:endParaRPr b="0" lang="en-US" sz="760" spc="-1" strike="noStrike">
              <a:solidFill>
                <a:srgbClr val="000000"/>
              </a:solidFill>
              <a:latin typeface="Arial"/>
            </a:endParaRPr>
          </a:p>
        </p:txBody>
      </p:sp>
      <p:cxnSp>
        <p:nvCxnSpPr>
          <p:cNvPr id="100" name="Connector 35"/>
          <p:cNvCxnSpPr/>
          <p:nvPr/>
        </p:nvCxnSpPr>
        <p:spPr>
          <a:xfrm>
            <a:off x="502920" y="6400800"/>
            <a:ext cx="11185920" cy="360"/>
          </a:xfrm>
          <a:prstGeom prst="straightConnector1">
            <a:avLst/>
          </a:prstGeom>
          <a:ln w="9525">
            <a:solidFill>
              <a:srgbClr val="e1e0d9"/>
            </a:solidFill>
            <a:round/>
          </a:ln>
        </p:spPr>
      </p:cxnSp>
      <p:sp>
        <p:nvSpPr>
          <p:cNvPr id="101" name="TextBox 36"/>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submission · </a:t>
            </a:r>
            <a:endParaRPr b="0" lang="en-US" sz="750" spc="-1" strike="noStrike">
              <a:solidFill>
                <a:srgbClr val="000000"/>
              </a:solidFill>
              <a:latin typeface="Arial"/>
            </a:endParaRPr>
          </a:p>
        </p:txBody>
      </p:sp>
      <p:sp>
        <p:nvSpPr>
          <p:cNvPr id="102" name="TextBox 37"/>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1 / 5</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03"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2a78d6"/>
                </a:solidFill>
                <a:latin typeface="Calibri"/>
              </a:rPr>
              <a:t>02 · Task 1a — Capacity forecast</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104"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900" spc="-1" strike="noStrike">
                <a:solidFill>
                  <a:srgbClr val="0b0b0b"/>
                </a:solidFill>
                <a:latin typeface="Calibri"/>
              </a:rPr>
              <a:t>Forecast, capacity and the range around it</a:t>
            </a:r>
            <a:endParaRPr b="0" lang="en-US" sz="1900" spc="-1" strike="noStrike">
              <a:solidFill>
                <a:srgbClr val="000000"/>
              </a:solidFill>
              <a:latin typeface="Arial"/>
            </a:endParaRPr>
          </a:p>
        </p:txBody>
      </p:sp>
      <p:cxnSp>
        <p:nvCxnSpPr>
          <p:cNvPr id="105" name="Connector 3"/>
          <p:cNvCxnSpPr/>
          <p:nvPr/>
        </p:nvCxnSpPr>
        <p:spPr>
          <a:xfrm>
            <a:off x="502920" y="822960"/>
            <a:ext cx="11185920" cy="360"/>
          </a:xfrm>
          <a:prstGeom prst="straightConnector1">
            <a:avLst/>
          </a:prstGeom>
          <a:ln w="9525">
            <a:solidFill>
              <a:srgbClr val="e1e0d9"/>
            </a:solidFill>
            <a:round/>
          </a:ln>
        </p:spPr>
      </p:cxnSp>
      <p:sp>
        <p:nvSpPr>
          <p:cNvPr id="106" name="TextBox 4"/>
          <p:cNvSpPr/>
          <p:nvPr/>
        </p:nvSpPr>
        <p:spPr>
          <a:xfrm>
            <a:off x="502920" y="960120"/>
            <a:ext cx="49431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VOLUME — SIX MONTHS OF ACTUALS, THREE OF FORECAST</a:t>
            </a:r>
            <a:endParaRPr b="0" lang="en-US" sz="820" spc="-1" strike="noStrike">
              <a:solidFill>
                <a:srgbClr val="000000"/>
              </a:solidFill>
              <a:latin typeface="Arial"/>
            </a:endParaRPr>
          </a:p>
        </p:txBody>
      </p:sp>
      <p:graphicFrame>
        <p:nvGraphicFramePr>
          <p:cNvPr id="107" name="Chart 5"/>
          <p:cNvGraphicFramePr/>
          <p:nvPr/>
        </p:nvGraphicFramePr>
        <p:xfrm>
          <a:off x="502920" y="1207080"/>
          <a:ext cx="4943160" cy="1416960"/>
        </p:xfrm>
        <a:graphic>
          <a:graphicData uri="http://schemas.openxmlformats.org/drawingml/2006/chart">
            <c:chart xmlns:c="http://schemas.openxmlformats.org/drawingml/2006/chart" xmlns:r="http://schemas.openxmlformats.org/officeDocument/2006/relationships" r:id="rId1"/>
          </a:graphicData>
        </a:graphic>
      </p:graphicFrame>
      <p:sp>
        <p:nvSpPr>
          <p:cNvPr id="108" name="TextBox 6"/>
          <p:cNvSpPr/>
          <p:nvPr/>
        </p:nvSpPr>
        <p:spPr>
          <a:xfrm>
            <a:off x="502920" y="2715840"/>
            <a:ext cx="4943160" cy="2836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60" spc="-1" strike="noStrike">
                <a:solidFill>
                  <a:srgbClr val="52514e"/>
                </a:solidFill>
                <a:latin typeface="Calibri"/>
              </a:rPr>
              <a:t>March is a </a:t>
            </a:r>
            <a:r>
              <a:rPr b="0" lang="en-US" sz="860" spc="-1" strike="noStrike">
                <a:solidFill>
                  <a:srgbClr val="d03b3b"/>
                </a:solidFill>
                <a:latin typeface="Calibri"/>
              </a:rPr>
              <a:t>structural break</a:t>
            </a:r>
            <a:r>
              <a:rPr b="0" lang="en-US" sz="860" spc="-1" strike="noStrike">
                <a:solidFill>
                  <a:srgbClr val="52514e"/>
                </a:solidFill>
                <a:latin typeface="Calibri"/>
              </a:rPr>
              <a:t>, not seasonality — anchor the baseline on June, post-break. </a:t>
            </a:r>
            <a:r>
              <a:rPr b="1" lang="en-US" sz="860" spc="-1" strike="noStrike">
                <a:solidFill>
                  <a:srgbClr val="52514e"/>
                </a:solidFill>
                <a:latin typeface="Calibri"/>
              </a:rPr>
              <a:t>BASE</a:t>
            </a:r>
            <a:r>
              <a:rPr b="0" lang="en-US" sz="860" spc="-1" strike="noStrike">
                <a:solidFill>
                  <a:srgbClr val="52514e"/>
                </a:solidFill>
                <a:latin typeface="Calibri"/>
              </a:rPr>
              <a:t> holds Jul–Sep flat; </a:t>
            </a:r>
            <a:r>
              <a:rPr b="1" lang="en-US" sz="860" spc="-1" strike="noStrike">
                <a:solidFill>
                  <a:srgbClr val="52514e"/>
                </a:solidFill>
                <a:latin typeface="Calibri"/>
              </a:rPr>
              <a:t>HIGH</a:t>
            </a:r>
            <a:r>
              <a:rPr b="0" lang="en-US" sz="860" spc="-1" strike="noStrike">
                <a:solidFill>
                  <a:srgbClr val="52514e"/>
                </a:solidFill>
                <a:latin typeface="Calibri"/>
              </a:rPr>
              <a:t> carries English’s own 3-month trend forward.</a:t>
            </a:r>
            <a:endParaRPr b="0" lang="en-US" sz="860" spc="-1" strike="noStrike">
              <a:solidFill>
                <a:srgbClr val="000000"/>
              </a:solidFill>
              <a:latin typeface="Arial"/>
            </a:endParaRPr>
          </a:p>
        </p:txBody>
      </p:sp>
      <p:sp>
        <p:nvSpPr>
          <p:cNvPr id="109" name="TextBox 7"/>
          <p:cNvSpPr/>
          <p:nvPr/>
        </p:nvSpPr>
        <p:spPr>
          <a:xfrm>
            <a:off x="502920" y="3054600"/>
            <a:ext cx="49431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ONLY ENGLISH IS GROWING</a:t>
            </a:r>
            <a:endParaRPr b="0" lang="en-US" sz="820" spc="-1" strike="noStrike">
              <a:solidFill>
                <a:srgbClr val="000000"/>
              </a:solidFill>
              <a:latin typeface="Arial"/>
            </a:endParaRPr>
          </a:p>
        </p:txBody>
      </p:sp>
      <p:sp>
        <p:nvSpPr>
          <p:cNvPr id="110" name="TextBox 8"/>
          <p:cNvSpPr/>
          <p:nvPr/>
        </p:nvSpPr>
        <p:spPr>
          <a:xfrm>
            <a:off x="502920" y="3283200"/>
            <a:ext cx="90072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0b0b0b"/>
                </a:solidFill>
                <a:latin typeface="Calibri"/>
              </a:rPr>
              <a:t>English</a:t>
            </a:r>
            <a:endParaRPr b="0" lang="en-US" sz="800" spc="-1" strike="noStrike">
              <a:solidFill>
                <a:srgbClr val="000000"/>
              </a:solidFill>
              <a:latin typeface="Arial"/>
            </a:endParaRPr>
          </a:p>
        </p:txBody>
      </p:sp>
      <p:sp>
        <p:nvSpPr>
          <p:cNvPr id="111" name="TextBox 9"/>
          <p:cNvSpPr/>
          <p:nvPr/>
        </p:nvSpPr>
        <p:spPr>
          <a:xfrm>
            <a:off x="502920" y="3420360"/>
            <a:ext cx="90072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2a78d6"/>
                </a:solidFill>
                <a:latin typeface="Calibri"/>
              </a:rPr>
              <a:t>+16,870/mo</a:t>
            </a:r>
            <a:endParaRPr b="0" lang="en-US" sz="700" spc="-1" strike="noStrike">
              <a:solidFill>
                <a:srgbClr val="000000"/>
              </a:solidFill>
              <a:latin typeface="Arial"/>
            </a:endParaRPr>
          </a:p>
        </p:txBody>
      </p:sp>
      <p:graphicFrame>
        <p:nvGraphicFramePr>
          <p:cNvPr id="112" name="Chart 10"/>
          <p:cNvGraphicFramePr/>
          <p:nvPr/>
        </p:nvGraphicFramePr>
        <p:xfrm>
          <a:off x="502920" y="3557520"/>
          <a:ext cx="900720" cy="502560"/>
        </p:xfrm>
        <a:graphic>
          <a:graphicData uri="http://schemas.openxmlformats.org/drawingml/2006/chart">
            <c:chart xmlns:c="http://schemas.openxmlformats.org/drawingml/2006/chart" xmlns:r="http://schemas.openxmlformats.org/officeDocument/2006/relationships" r:id="rId2"/>
          </a:graphicData>
        </a:graphic>
      </p:graphicFrame>
      <p:sp>
        <p:nvSpPr>
          <p:cNvPr id="113" name="TextBox 11"/>
          <p:cNvSpPr/>
          <p:nvPr/>
        </p:nvSpPr>
        <p:spPr>
          <a:xfrm>
            <a:off x="1513440" y="3283200"/>
            <a:ext cx="90072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German</a:t>
            </a:r>
            <a:endParaRPr b="0" lang="en-US" sz="800" spc="-1" strike="noStrike">
              <a:solidFill>
                <a:srgbClr val="000000"/>
              </a:solidFill>
              <a:latin typeface="Arial"/>
            </a:endParaRPr>
          </a:p>
        </p:txBody>
      </p:sp>
      <p:sp>
        <p:nvSpPr>
          <p:cNvPr id="114" name="TextBox 12"/>
          <p:cNvSpPr/>
          <p:nvPr/>
        </p:nvSpPr>
        <p:spPr>
          <a:xfrm>
            <a:off x="1513440" y="3420360"/>
            <a:ext cx="90072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a:t>
            </a:r>
            <a:r>
              <a:rPr b="1" lang="en-US" sz="700" spc="-1" strike="noStrike">
                <a:solidFill>
                  <a:srgbClr val="52514e"/>
                </a:solidFill>
                <a:latin typeface="Calibri"/>
              </a:rPr>
              <a:t>1,904/mo</a:t>
            </a:r>
            <a:endParaRPr b="0" lang="en-US" sz="700" spc="-1" strike="noStrike">
              <a:solidFill>
                <a:srgbClr val="000000"/>
              </a:solidFill>
              <a:latin typeface="Arial"/>
            </a:endParaRPr>
          </a:p>
        </p:txBody>
      </p:sp>
      <p:graphicFrame>
        <p:nvGraphicFramePr>
          <p:cNvPr id="115" name="Chart 13"/>
          <p:cNvGraphicFramePr/>
          <p:nvPr/>
        </p:nvGraphicFramePr>
        <p:xfrm>
          <a:off x="1513440" y="3557520"/>
          <a:ext cx="900720" cy="502560"/>
        </p:xfrm>
        <a:graphic>
          <a:graphicData uri="http://schemas.openxmlformats.org/drawingml/2006/chart">
            <c:chart xmlns:c="http://schemas.openxmlformats.org/drawingml/2006/chart" xmlns:r="http://schemas.openxmlformats.org/officeDocument/2006/relationships" r:id="rId3"/>
          </a:graphicData>
        </a:graphic>
      </p:graphicFrame>
      <p:sp>
        <p:nvSpPr>
          <p:cNvPr id="116" name="TextBox 14"/>
          <p:cNvSpPr/>
          <p:nvPr/>
        </p:nvSpPr>
        <p:spPr>
          <a:xfrm>
            <a:off x="2524320" y="3283200"/>
            <a:ext cx="90072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Spanish</a:t>
            </a:r>
            <a:endParaRPr b="0" lang="en-US" sz="800" spc="-1" strike="noStrike">
              <a:solidFill>
                <a:srgbClr val="000000"/>
              </a:solidFill>
              <a:latin typeface="Arial"/>
            </a:endParaRPr>
          </a:p>
        </p:txBody>
      </p:sp>
      <p:sp>
        <p:nvSpPr>
          <p:cNvPr id="117" name="TextBox 15"/>
          <p:cNvSpPr/>
          <p:nvPr/>
        </p:nvSpPr>
        <p:spPr>
          <a:xfrm>
            <a:off x="2524320" y="3420360"/>
            <a:ext cx="90072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+282/mo</a:t>
            </a:r>
            <a:endParaRPr b="0" lang="en-US" sz="700" spc="-1" strike="noStrike">
              <a:solidFill>
                <a:srgbClr val="000000"/>
              </a:solidFill>
              <a:latin typeface="Arial"/>
            </a:endParaRPr>
          </a:p>
        </p:txBody>
      </p:sp>
      <p:graphicFrame>
        <p:nvGraphicFramePr>
          <p:cNvPr id="118" name="Chart 16"/>
          <p:cNvGraphicFramePr/>
          <p:nvPr/>
        </p:nvGraphicFramePr>
        <p:xfrm>
          <a:off x="2524320" y="3557520"/>
          <a:ext cx="900720" cy="502560"/>
        </p:xfrm>
        <a:graphic>
          <a:graphicData uri="http://schemas.openxmlformats.org/drawingml/2006/chart">
            <c:chart xmlns:c="http://schemas.openxmlformats.org/drawingml/2006/chart" xmlns:r="http://schemas.openxmlformats.org/officeDocument/2006/relationships" r:id="rId4"/>
          </a:graphicData>
        </a:graphic>
      </p:graphicFrame>
      <p:sp>
        <p:nvSpPr>
          <p:cNvPr id="119" name="TextBox 17"/>
          <p:cNvSpPr/>
          <p:nvPr/>
        </p:nvSpPr>
        <p:spPr>
          <a:xfrm>
            <a:off x="3534840" y="3283200"/>
            <a:ext cx="90072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French</a:t>
            </a:r>
            <a:endParaRPr b="0" lang="en-US" sz="800" spc="-1" strike="noStrike">
              <a:solidFill>
                <a:srgbClr val="000000"/>
              </a:solidFill>
              <a:latin typeface="Arial"/>
            </a:endParaRPr>
          </a:p>
        </p:txBody>
      </p:sp>
      <p:sp>
        <p:nvSpPr>
          <p:cNvPr id="120" name="TextBox 18"/>
          <p:cNvSpPr/>
          <p:nvPr/>
        </p:nvSpPr>
        <p:spPr>
          <a:xfrm>
            <a:off x="3534840" y="3420360"/>
            <a:ext cx="90072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a:t>
            </a:r>
            <a:r>
              <a:rPr b="1" lang="en-US" sz="700" spc="-1" strike="noStrike">
                <a:solidFill>
                  <a:srgbClr val="52514e"/>
                </a:solidFill>
                <a:latin typeface="Calibri"/>
              </a:rPr>
              <a:t>363/mo</a:t>
            </a:r>
            <a:endParaRPr b="0" lang="en-US" sz="700" spc="-1" strike="noStrike">
              <a:solidFill>
                <a:srgbClr val="000000"/>
              </a:solidFill>
              <a:latin typeface="Arial"/>
            </a:endParaRPr>
          </a:p>
        </p:txBody>
      </p:sp>
      <p:graphicFrame>
        <p:nvGraphicFramePr>
          <p:cNvPr id="121" name="Chart 19"/>
          <p:cNvGraphicFramePr/>
          <p:nvPr/>
        </p:nvGraphicFramePr>
        <p:xfrm>
          <a:off x="3534840" y="3557520"/>
          <a:ext cx="900720" cy="502560"/>
        </p:xfrm>
        <a:graphic>
          <a:graphicData uri="http://schemas.openxmlformats.org/drawingml/2006/chart">
            <c:chart xmlns:c="http://schemas.openxmlformats.org/drawingml/2006/chart" xmlns:r="http://schemas.openxmlformats.org/officeDocument/2006/relationships" r:id="rId5"/>
          </a:graphicData>
        </a:graphic>
      </p:graphicFrame>
      <p:sp>
        <p:nvSpPr>
          <p:cNvPr id="122" name="TextBox 20"/>
          <p:cNvSpPr/>
          <p:nvPr/>
        </p:nvSpPr>
        <p:spPr>
          <a:xfrm>
            <a:off x="4545720" y="3283200"/>
            <a:ext cx="90072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Italian</a:t>
            </a:r>
            <a:endParaRPr b="0" lang="en-US" sz="800" spc="-1" strike="noStrike">
              <a:solidFill>
                <a:srgbClr val="000000"/>
              </a:solidFill>
              <a:latin typeface="Arial"/>
            </a:endParaRPr>
          </a:p>
        </p:txBody>
      </p:sp>
      <p:sp>
        <p:nvSpPr>
          <p:cNvPr id="123" name="TextBox 21"/>
          <p:cNvSpPr/>
          <p:nvPr/>
        </p:nvSpPr>
        <p:spPr>
          <a:xfrm>
            <a:off x="4545720" y="3420360"/>
            <a:ext cx="90072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a:t>
            </a:r>
            <a:r>
              <a:rPr b="1" lang="en-US" sz="700" spc="-1" strike="noStrike">
                <a:solidFill>
                  <a:srgbClr val="52514e"/>
                </a:solidFill>
                <a:latin typeface="Calibri"/>
              </a:rPr>
              <a:t>474/mo</a:t>
            </a:r>
            <a:endParaRPr b="0" lang="en-US" sz="700" spc="-1" strike="noStrike">
              <a:solidFill>
                <a:srgbClr val="000000"/>
              </a:solidFill>
              <a:latin typeface="Arial"/>
            </a:endParaRPr>
          </a:p>
        </p:txBody>
      </p:sp>
      <p:graphicFrame>
        <p:nvGraphicFramePr>
          <p:cNvPr id="124" name="Chart 22"/>
          <p:cNvGraphicFramePr/>
          <p:nvPr/>
        </p:nvGraphicFramePr>
        <p:xfrm>
          <a:off x="4545720" y="3557520"/>
          <a:ext cx="900720" cy="502560"/>
        </p:xfrm>
        <a:graphic>
          <a:graphicData uri="http://schemas.openxmlformats.org/drawingml/2006/chart">
            <c:chart xmlns:c="http://schemas.openxmlformats.org/drawingml/2006/chart" xmlns:r="http://schemas.openxmlformats.org/officeDocument/2006/relationships" r:id="rId6"/>
          </a:graphicData>
        </a:graphic>
      </p:graphicFrame>
      <p:sp>
        <p:nvSpPr>
          <p:cNvPr id="125" name="TextBox 23"/>
          <p:cNvSpPr/>
          <p:nvPr/>
        </p:nvSpPr>
        <p:spPr>
          <a:xfrm>
            <a:off x="5666040" y="96012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CAPACITY BY LANGUAGE — BASE, PER MONTH</a:t>
            </a:r>
            <a:endParaRPr b="0" lang="en-US" sz="820" spc="-1" strike="noStrike">
              <a:solidFill>
                <a:srgbClr val="000000"/>
              </a:solidFill>
              <a:latin typeface="Arial"/>
            </a:endParaRPr>
          </a:p>
        </p:txBody>
      </p:sp>
      <p:graphicFrame>
        <p:nvGraphicFramePr>
          <p:cNvPr id="126" name="Table 24"/>
          <p:cNvGraphicFramePr/>
          <p:nvPr/>
        </p:nvGraphicFramePr>
        <p:xfrm>
          <a:off x="5666040" y="1197720"/>
          <a:ext cx="2901240" cy="1314000"/>
        </p:xfrm>
        <a:graphic>
          <a:graphicData uri="http://schemas.openxmlformats.org/drawingml/2006/table">
            <a:tbl>
              <a:tblPr/>
              <a:tblGrid>
                <a:gridCol w="644760"/>
                <a:gridCol w="537120"/>
                <a:gridCol w="456480"/>
                <a:gridCol w="456480"/>
                <a:gridCol w="402840"/>
                <a:gridCol w="402840"/>
              </a:tblGrid>
              <a:tr h="271080">
                <a:tc>
                  <a:txBody>
                    <a:bodyPr lIns="31680" rIns="31680" tIns="12600" bIns="12600" anchor="b">
                      <a:noAutofit/>
                    </a:bodyPr>
                    <a:p>
                      <a:pPr defTabSz="457200">
                        <a:lnSpc>
                          <a:spcPct val="100000"/>
                        </a:lnSpc>
                      </a:pPr>
                      <a:r>
                        <a:rPr b="1" lang="en-US" sz="680" spc="-1" strike="noStrike">
                          <a:solidFill>
                            <a:srgbClr val="898781"/>
                          </a:solidFill>
                          <a:latin typeface="Calibri"/>
                        </a:rPr>
                        <a:t>LANGUAGE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CONTACTS</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PROD H</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r>
                        <a:rPr b="1" lang="en-US" sz="680" spc="-1" strike="noStrike">
                          <a:solidFill>
                            <a:srgbClr val="898781"/>
                          </a:solidFill>
                          <a:latin typeface="Calibri"/>
                        </a:rPr>
                        <a:t>WKLD</a:t>
                      </a:r>
                      <a:endParaRPr b="0" lang="en-US" sz="680" spc="-1" strike="noStrike">
                        <a:solidFill>
                          <a:srgbClr val="000000"/>
                        </a:solidFill>
                        <a:latin typeface="Arial"/>
                      </a:endParaRPr>
                    </a:p>
                    <a:p>
                      <a:pPr algn="r" defTabSz="457200">
                        <a:lnSpc>
                          <a:spcPct val="100000"/>
                        </a:lnSpc>
                      </a:pPr>
                      <a:r>
                        <a:rPr b="1" lang="en-US" sz="680" spc="-1" strike="noStrike">
                          <a:solidFill>
                            <a:srgbClr val="898781"/>
                          </a:solidFill>
                          <a:latin typeface="Calibri"/>
                        </a:rPr>
                        <a:t>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r>
                        <a:rPr b="1" lang="en-US" sz="680" spc="-1" strike="noStrike">
                          <a:solidFill>
                            <a:srgbClr val="898781"/>
                          </a:solidFill>
                          <a:latin typeface="Calibri"/>
                        </a:rPr>
                        <a:t>SLA</a:t>
                      </a:r>
                      <a:endParaRPr b="0" lang="en-US" sz="680" spc="-1" strike="noStrike">
                        <a:solidFill>
                          <a:srgbClr val="000000"/>
                        </a:solidFill>
                        <a:latin typeface="Arial"/>
                      </a:endParaRPr>
                    </a:p>
                    <a:p>
                      <a:pPr algn="r" defTabSz="457200">
                        <a:lnSpc>
                          <a:spcPct val="100000"/>
                        </a:lnSpc>
                      </a:pPr>
                      <a:r>
                        <a:rPr b="1" lang="en-US" sz="680" spc="-1" strike="noStrike">
                          <a:solidFill>
                            <a:srgbClr val="898781"/>
                          </a:solidFill>
                          <a:latin typeface="Calibri"/>
                        </a:rPr>
                        <a:t>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r>
                        <a:rPr b="1" lang="en-US" sz="680" spc="-1" strike="noStrike">
                          <a:solidFill>
                            <a:srgbClr val="898781"/>
                          </a:solidFill>
                          <a:latin typeface="Calibri"/>
                        </a:rPr>
                        <a:t>PAID</a:t>
                      </a:r>
                      <a:endParaRPr b="0" lang="en-US" sz="680" spc="-1" strike="noStrike">
                        <a:solidFill>
                          <a:srgbClr val="000000"/>
                        </a:solidFill>
                        <a:latin typeface="Arial"/>
                      </a:endParaRPr>
                    </a:p>
                    <a:p>
                      <a:pPr algn="r" defTabSz="457200">
                        <a:lnSpc>
                          <a:spcPct val="100000"/>
                        </a:lnSpc>
                      </a:pPr>
                      <a:r>
                        <a:rPr b="1" lang="en-US" sz="680" spc="-1" strike="noStrike">
                          <a:solidFill>
                            <a:srgbClr val="898781"/>
                          </a:solidFill>
                          <a:latin typeface="Calibri"/>
                        </a:rPr>
                        <a:t>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1" lang="en-US" sz="760" spc="-1" strike="noStrike">
                          <a:solidFill>
                            <a:srgbClr val="52514e"/>
                          </a:solidFill>
                          <a:latin typeface="Calibri"/>
                        </a:rPr>
                        <a:t>English</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174,128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40,298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242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284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52514e"/>
                          </a:solidFill>
                          <a:latin typeface="Calibri"/>
                        </a:rPr>
                        <a:t>297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1" lang="en-US" sz="760" spc="-1" strike="noStrike">
                          <a:solidFill>
                            <a:srgbClr val="52514e"/>
                          </a:solidFill>
                          <a:latin typeface="Calibri"/>
                        </a:rPr>
                        <a:t>German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36,135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8,220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58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52514e"/>
                          </a:solidFill>
                          <a:latin typeface="Calibri"/>
                        </a:rPr>
                        <a:t>61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1" lang="en-US" sz="760" spc="-1" strike="noStrike">
                          <a:solidFill>
                            <a:srgbClr val="52514e"/>
                          </a:solidFill>
                          <a:latin typeface="Calibri"/>
                        </a:rPr>
                        <a:t>Spanish</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32,879</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7,133</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50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52514e"/>
                          </a:solidFill>
                          <a:latin typeface="Calibri"/>
                        </a:rPr>
                        <a:t>53</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1" lang="en-US" sz="760" spc="-1" strike="noStrike">
                          <a:solidFill>
                            <a:srgbClr val="52514e"/>
                          </a:solidFill>
                          <a:latin typeface="Calibri"/>
                        </a:rPr>
                        <a:t>French</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26,662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6,773</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48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52514e"/>
                          </a:solidFill>
                          <a:latin typeface="Calibri"/>
                        </a:rPr>
                        <a:t>50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1" lang="en-US" sz="760" spc="-1" strike="noStrike">
                          <a:solidFill>
                            <a:srgbClr val="52514e"/>
                          </a:solidFill>
                          <a:latin typeface="Calibri"/>
                        </a:rPr>
                        <a:t>Italian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24,066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6,402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45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52514e"/>
                          </a:solidFill>
                          <a:latin typeface="Calibri"/>
                        </a:rPr>
                        <a:t>47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1" lang="en-US" sz="760" spc="-1" strike="noStrike">
                          <a:solidFill>
                            <a:srgbClr val="0b0b0b"/>
                          </a:solidFill>
                          <a:latin typeface="Calibri"/>
                        </a:rPr>
                        <a:t>Total</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0b0b0b"/>
                          </a:solidFill>
                          <a:latin typeface="Calibri"/>
                        </a:rPr>
                        <a:t>293,869</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0b0b0b"/>
                          </a:solidFill>
                          <a:latin typeface="Calibri"/>
                        </a:rPr>
                        <a:t>68,827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0b0b0b"/>
                          </a:solidFill>
                          <a:latin typeface="Calibri"/>
                        </a:rPr>
                        <a:t>360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0b0b0b"/>
                          </a:solidFill>
                          <a:latin typeface="Calibri"/>
                        </a:rPr>
                        <a:t>484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0b0b0b"/>
                          </a:solidFill>
                          <a:latin typeface="Calibri"/>
                        </a:rPr>
                        <a:t>508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27" name="TextBox 25"/>
          <p:cNvSpPr/>
          <p:nvPr/>
        </p:nvSpPr>
        <p:spPr>
          <a:xfrm>
            <a:off x="5666040" y="2576160"/>
            <a:ext cx="2901240" cy="2242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680" spc="-1" strike="noStrike">
                <a:solidFill>
                  <a:srgbClr val="898781"/>
                </a:solidFill>
                <a:latin typeface="Calibri"/>
              </a:rPr>
              <a:t>SLA → Paid adds the same learning-curve and attrition-backfill steps as the slide 1 waterfall, applied per language.</a:t>
            </a:r>
            <a:endParaRPr b="0" lang="en-US" sz="680" spc="-1" strike="noStrike">
              <a:solidFill>
                <a:srgbClr val="000000"/>
              </a:solidFill>
              <a:latin typeface="Arial"/>
            </a:endParaRPr>
          </a:p>
        </p:txBody>
      </p:sp>
      <p:sp>
        <p:nvSpPr>
          <p:cNvPr id="128" name="TextBox 26"/>
          <p:cNvSpPr/>
          <p:nvPr/>
        </p:nvSpPr>
        <p:spPr>
          <a:xfrm>
            <a:off x="5666040" y="289224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BY BPO — VENDOR SPLIT</a:t>
            </a:r>
            <a:endParaRPr b="0" lang="en-US" sz="820" spc="-1" strike="noStrike">
              <a:solidFill>
                <a:srgbClr val="000000"/>
              </a:solidFill>
              <a:latin typeface="Arial"/>
            </a:endParaRPr>
          </a:p>
        </p:txBody>
      </p:sp>
      <p:graphicFrame>
        <p:nvGraphicFramePr>
          <p:cNvPr id="129" name="Table 27"/>
          <p:cNvGraphicFramePr/>
          <p:nvPr/>
        </p:nvGraphicFramePr>
        <p:xfrm>
          <a:off x="5666040" y="3129840"/>
          <a:ext cx="2901240" cy="714240"/>
        </p:xfrm>
        <a:graphic>
          <a:graphicData uri="http://schemas.openxmlformats.org/drawingml/2006/table">
            <a:tbl>
              <a:tblPr/>
              <a:tblGrid>
                <a:gridCol w="686880"/>
                <a:gridCol w="992520"/>
                <a:gridCol w="534240"/>
                <a:gridCol w="687240"/>
              </a:tblGrid>
              <a:tr h="173520">
                <a:tc>
                  <a:txBody>
                    <a:bodyPr lIns="31680" rIns="31680" tIns="12600" bIns="12600" anchor="b">
                      <a:noAutofit/>
                    </a:bodyPr>
                    <a:p>
                      <a:pPr defTabSz="457200">
                        <a:lnSpc>
                          <a:spcPct val="100000"/>
                        </a:lnSpc>
                      </a:pPr>
                      <a:r>
                        <a:rPr b="1" lang="en-US" sz="680" spc="-1" strike="noStrike">
                          <a:solidFill>
                            <a:srgbClr val="898781"/>
                          </a:solidFill>
                          <a:latin typeface="Calibri"/>
                        </a:rPr>
                        <a:t>BPO</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LANGUAGES</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PROD H</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0000">
                <a:tc>
                  <a:txBody>
                    <a:bodyPr lIns="31680" rIns="31680" tIns="12600" bIns="12600" anchor="ctr">
                      <a:noAutofit/>
                    </a:bodyPr>
                    <a:p>
                      <a:pPr defTabSz="457200">
                        <a:lnSpc>
                          <a:spcPct val="100000"/>
                        </a:lnSpc>
                      </a:pPr>
                      <a:r>
                        <a:rPr b="1" lang="en-US" sz="800" spc="-1" strike="noStrike">
                          <a:solidFill>
                            <a:srgbClr val="52514e"/>
                          </a:solidFill>
                          <a:latin typeface="Calibri"/>
                        </a:rPr>
                        <a:t>BPO 3</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00" spc="-1" strike="noStrike">
                          <a:solidFill>
                            <a:srgbClr val="898781"/>
                          </a:solidFill>
                          <a:latin typeface="Calibri"/>
                        </a:rPr>
                        <a:t>DE IT ES FR</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800" spc="-1" strike="noStrike">
                          <a:solidFill>
                            <a:srgbClr val="52514e"/>
                          </a:solidFill>
                          <a:latin typeface="Calibri"/>
                        </a:rPr>
                        <a:t>201</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800" spc="-1" strike="noStrike">
                          <a:solidFill>
                            <a:srgbClr val="52514e"/>
                          </a:solidFill>
                          <a:latin typeface="Calibri"/>
                        </a:rPr>
                        <a:t>28,529</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0000">
                <a:tc>
                  <a:txBody>
                    <a:bodyPr lIns="31680" rIns="31680" tIns="12600" bIns="12600" anchor="ctr">
                      <a:noAutofit/>
                    </a:bodyPr>
                    <a:p>
                      <a:pPr defTabSz="457200">
                        <a:lnSpc>
                          <a:spcPct val="100000"/>
                        </a:lnSpc>
                      </a:pPr>
                      <a:r>
                        <a:rPr b="1" lang="en-US" sz="800" spc="-1" strike="noStrike">
                          <a:solidFill>
                            <a:srgbClr val="52514e"/>
                          </a:solidFill>
                          <a:latin typeface="Calibri"/>
                        </a:rPr>
                        <a:t>BPO 1</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00" spc="-1" strike="noStrike">
                          <a:solidFill>
                            <a:srgbClr val="898781"/>
                          </a:solidFill>
                          <a:latin typeface="Calibri"/>
                        </a:rPr>
                        <a:t>English 50%</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800" spc="-1" strike="noStrike">
                          <a:solidFill>
                            <a:srgbClr val="52514e"/>
                          </a:solidFill>
                          <a:latin typeface="Calibri"/>
                        </a:rPr>
                        <a:t>142</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800" spc="-1" strike="noStrike">
                          <a:solidFill>
                            <a:srgbClr val="52514e"/>
                          </a:solidFill>
                          <a:latin typeface="Calibri"/>
                        </a:rPr>
                        <a:t>20,149</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0000">
                <a:tc>
                  <a:txBody>
                    <a:bodyPr lIns="31680" rIns="31680" tIns="12600" bIns="12600" anchor="ctr">
                      <a:noAutofit/>
                    </a:bodyPr>
                    <a:p>
                      <a:pPr defTabSz="457200">
                        <a:lnSpc>
                          <a:spcPct val="100000"/>
                        </a:lnSpc>
                      </a:pPr>
                      <a:r>
                        <a:rPr b="1" lang="en-US" sz="800" spc="-1" strike="noStrike">
                          <a:solidFill>
                            <a:srgbClr val="52514e"/>
                          </a:solidFill>
                          <a:latin typeface="Calibri"/>
                        </a:rPr>
                        <a:t>BPO 2</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00" spc="-1" strike="noStrike">
                          <a:solidFill>
                            <a:srgbClr val="898781"/>
                          </a:solidFill>
                          <a:latin typeface="Calibri"/>
                        </a:rPr>
                        <a:t>English 50%</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800" spc="-1" strike="noStrike">
                          <a:solidFill>
                            <a:srgbClr val="52514e"/>
                          </a:solidFill>
                          <a:latin typeface="Calibri"/>
                        </a:rPr>
                        <a:t>142</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800" spc="-1" strike="noStrike">
                          <a:solidFill>
                            <a:srgbClr val="52514e"/>
                          </a:solidFill>
                          <a:latin typeface="Calibri"/>
                        </a:rPr>
                        <a:t>20,149</a:t>
                      </a:r>
                      <a:endParaRPr b="0" lang="en-US" sz="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30" name="TextBox 28"/>
          <p:cNvSpPr/>
          <p:nvPr/>
        </p:nvSpPr>
        <p:spPr>
          <a:xfrm>
            <a:off x="5666040" y="3926880"/>
            <a:ext cx="2901240" cy="33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680" spc="-1" strike="noStrike">
                <a:solidFill>
                  <a:srgbClr val="52514e"/>
                </a:solidFill>
                <a:latin typeface="Calibri"/>
              </a:rPr>
              <a:t>The 50/50 English split is </a:t>
            </a:r>
            <a:r>
              <a:rPr b="0" lang="en-US" sz="680" spc="-1" strike="noStrike">
                <a:solidFill>
                  <a:srgbClr val="d03b3b"/>
                </a:solidFill>
                <a:latin typeface="Calibri"/>
              </a:rPr>
              <a:t>assumed, not in the brief</a:t>
            </a:r>
            <a:r>
              <a:rPr b="0" lang="en-US" sz="680" spc="-1" strike="noStrike">
                <a:solidFill>
                  <a:srgbClr val="52514e"/>
                </a:solidFill>
                <a:latin typeface="Calibri"/>
              </a:rPr>
              <a:t> — English AHT is the BPO1/BPO2 blend either way, so total capacity is split-agnostic, but the per-vendor bill above isn’t.</a:t>
            </a:r>
            <a:endParaRPr b="0" lang="en-US" sz="680" spc="-1" strike="noStrike">
              <a:solidFill>
                <a:srgbClr val="000000"/>
              </a:solidFill>
              <a:latin typeface="Arial"/>
            </a:endParaRPr>
          </a:p>
        </p:txBody>
      </p:sp>
      <p:sp>
        <p:nvSpPr>
          <p:cNvPr id="131" name="TextBox 29"/>
          <p:cNvSpPr/>
          <p:nvPr/>
        </p:nvSpPr>
        <p:spPr>
          <a:xfrm>
            <a:off x="8787240" y="96012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SCENARIOS — PAID FTE</a:t>
            </a:r>
            <a:endParaRPr b="0" lang="en-US" sz="820" spc="-1" strike="noStrike">
              <a:solidFill>
                <a:srgbClr val="000000"/>
              </a:solidFill>
              <a:latin typeface="Arial"/>
            </a:endParaRPr>
          </a:p>
        </p:txBody>
      </p:sp>
      <p:graphicFrame>
        <p:nvGraphicFramePr>
          <p:cNvPr id="132" name="Table 30"/>
          <p:cNvGraphicFramePr/>
          <p:nvPr/>
        </p:nvGraphicFramePr>
        <p:xfrm>
          <a:off x="8787240" y="1197720"/>
          <a:ext cx="2901240" cy="882000"/>
        </p:xfrm>
        <a:graphic>
          <a:graphicData uri="http://schemas.openxmlformats.org/drawingml/2006/table">
            <a:tbl>
              <a:tblPr/>
              <a:tblGrid>
                <a:gridCol w="507600"/>
                <a:gridCol w="398880"/>
                <a:gridCol w="398880"/>
                <a:gridCol w="398880"/>
                <a:gridCol w="1196640"/>
              </a:tblGrid>
              <a:tr h="274320">
                <a:tc>
                  <a:txBody>
                    <a:bodyPr lIns="31680" rIns="31680" tIns="12600" bIns="12600" anchor="b">
                      <a:noAutofit/>
                    </a:bodyPr>
                    <a:p>
                      <a:pPr defTabSz="457200">
                        <a:lnSpc>
                          <a:spcPct val="100000"/>
                        </a:lnSpc>
                      </a:pPr>
                      <a:r>
                        <a:rPr b="1" lang="en-US" sz="680" spc="-1" strike="noStrike">
                          <a:solidFill>
                            <a:srgbClr val="898781"/>
                          </a:solidFill>
                          <a:latin typeface="Calibri"/>
                        </a:rPr>
                        <a:t>CASE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JUL</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AUG</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SEP</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BASIS</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03840">
                <a:tc>
                  <a:txBody>
                    <a:bodyPr lIns="31680" rIns="31680" tIns="12600" bIns="12600" anchor="ctr">
                      <a:noAutofit/>
                    </a:bodyPr>
                    <a:p>
                      <a:pPr defTabSz="457200">
                        <a:lnSpc>
                          <a:spcPct val="100000"/>
                        </a:lnSpc>
                      </a:pPr>
                      <a:r>
                        <a:rPr b="1" lang="en-US" sz="780" spc="-1" strike="noStrike">
                          <a:solidFill>
                            <a:srgbClr val="52514e"/>
                          </a:solidFill>
                          <a:latin typeface="Calibri"/>
                        </a:rPr>
                        <a:t>BASE</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508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508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508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898781"/>
                          </a:solidFill>
                          <a:latin typeface="Calibri"/>
                        </a:rPr>
                        <a:t>June × 1.10, held flat</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03840">
                <a:tc>
                  <a:txBody>
                    <a:bodyPr lIns="31680" rIns="31680" tIns="12600" bIns="12600" anchor="ctr">
                      <a:noAutofit/>
                    </a:bodyPr>
                    <a:p>
                      <a:pPr defTabSz="457200">
                        <a:lnSpc>
                          <a:spcPct val="100000"/>
                        </a:lnSpc>
                      </a:pPr>
                      <a:r>
                        <a:rPr b="1" lang="en-US" sz="780" spc="-1" strike="noStrike">
                          <a:solidFill>
                            <a:srgbClr val="52514e"/>
                          </a:solidFill>
                          <a:latin typeface="Calibri"/>
                        </a:rPr>
                        <a:t>HIGH</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518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551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579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898781"/>
                          </a:solidFill>
                          <a:latin typeface="Calibri"/>
                        </a:rPr>
                        <a:t>English 3-mo trend ×1.10; rest ×1.10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33" name="TextBox 31"/>
          <p:cNvSpPr/>
          <p:nvPr/>
        </p:nvSpPr>
        <p:spPr>
          <a:xfrm>
            <a:off x="8787240" y="221724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PAID FTE — 80% CONFIDENCE BAND</a:t>
            </a:r>
            <a:endParaRPr b="0" lang="en-US" sz="820" spc="-1" strike="noStrike">
              <a:solidFill>
                <a:srgbClr val="000000"/>
              </a:solidFill>
              <a:latin typeface="Arial"/>
            </a:endParaRPr>
          </a:p>
        </p:txBody>
      </p:sp>
      <p:sp>
        <p:nvSpPr>
          <p:cNvPr id="134" name="Rounded Rectangle 32"/>
          <p:cNvSpPr/>
          <p:nvPr/>
        </p:nvSpPr>
        <p:spPr>
          <a:xfrm>
            <a:off x="8787240" y="2644200"/>
            <a:ext cx="2901240" cy="124200"/>
          </a:xfrm>
          <a:prstGeom prst="roundRect">
            <a:avLst>
              <a:gd name="adj" fmla="val 16667"/>
            </a:avLst>
          </a:prstGeom>
          <a:solidFill>
            <a:srgbClr val="cde2f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 name="Rounded Rectangle 33"/>
          <p:cNvSpPr/>
          <p:nvPr/>
        </p:nvSpPr>
        <p:spPr>
          <a:xfrm>
            <a:off x="9270720" y="2644200"/>
            <a:ext cx="1944720" cy="124200"/>
          </a:xfrm>
          <a:prstGeom prst="roundRect">
            <a:avLst>
              <a:gd name="adj" fmla="val 16667"/>
            </a:avLst>
          </a:prstGeom>
          <a:solidFill>
            <a:srgbClr val="9fc2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6" name="Rounded Rectangle 34"/>
          <p:cNvSpPr/>
          <p:nvPr/>
        </p:nvSpPr>
        <p:spPr>
          <a:xfrm>
            <a:off x="10139760" y="2598480"/>
            <a:ext cx="45360" cy="215640"/>
          </a:xfrm>
          <a:prstGeom prst="roundRect">
            <a:avLst>
              <a:gd name="adj" fmla="val 16667"/>
            </a:avLst>
          </a:prstGeom>
          <a:solidFill>
            <a:srgbClr val="2a78d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7" name="TextBox 35"/>
          <p:cNvSpPr/>
          <p:nvPr/>
        </p:nvSpPr>
        <p:spPr>
          <a:xfrm>
            <a:off x="9797040" y="2388240"/>
            <a:ext cx="731160" cy="145800"/>
          </a:xfrm>
          <a:prstGeom prst="rect">
            <a:avLst/>
          </a:prstGeom>
          <a:noFill/>
          <a:ln w="0">
            <a:noFill/>
          </a:ln>
        </p:spPr>
        <p:style>
          <a:lnRef idx="0"/>
          <a:fillRef idx="0"/>
          <a:effectRef idx="0"/>
          <a:fontRef idx="minor"/>
        </p:style>
        <p:txBody>
          <a:bodyPr lIns="0" rIns="0" tIns="0" bIns="0" anchor="t">
            <a:noAutofit/>
          </a:bodyPr>
          <a:p>
            <a:pPr algn="ctr" defTabSz="457200">
              <a:lnSpc>
                <a:spcPct val="100000"/>
              </a:lnSpc>
            </a:pPr>
            <a:r>
              <a:rPr b="1" lang="en-US" sz="1100" spc="-1" strike="noStrike">
                <a:solidFill>
                  <a:srgbClr val="0b0b0b"/>
                </a:solidFill>
                <a:latin typeface="Calibri"/>
              </a:rPr>
              <a:t>508</a:t>
            </a:r>
            <a:endParaRPr b="0" lang="en-US" sz="1100" spc="-1" strike="noStrike">
              <a:solidFill>
                <a:srgbClr val="000000"/>
              </a:solidFill>
              <a:latin typeface="Arial"/>
            </a:endParaRPr>
          </a:p>
        </p:txBody>
      </p:sp>
      <p:sp>
        <p:nvSpPr>
          <p:cNvPr id="138" name="TextBox 36"/>
          <p:cNvSpPr/>
          <p:nvPr/>
        </p:nvSpPr>
        <p:spPr>
          <a:xfrm>
            <a:off x="8904960" y="2823840"/>
            <a:ext cx="731160" cy="145800"/>
          </a:xfrm>
          <a:prstGeom prst="rect">
            <a:avLst/>
          </a:prstGeom>
          <a:noFill/>
          <a:ln w="0">
            <a:noFill/>
          </a:ln>
        </p:spPr>
        <p:style>
          <a:lnRef idx="0"/>
          <a:fillRef idx="0"/>
          <a:effectRef idx="0"/>
          <a:fontRef idx="minor"/>
        </p:style>
        <p:txBody>
          <a:bodyPr lIns="0" rIns="0" tIns="0" bIns="0" anchor="t">
            <a:noAutofit/>
          </a:bodyPr>
          <a:p>
            <a:r>
              <a:rPr b="1" lang="en-US" sz="700" spc="-1" strike="noStrike">
                <a:solidFill>
                  <a:srgbClr val="898781"/>
                </a:solidFill>
                <a:latin typeface="Calibri"/>
              </a:rPr>
              <a:t>P10</a:t>
            </a:r>
            <a:endParaRPr b="0" lang="en-US" sz="700" spc="-1" strike="noStrike">
              <a:solidFill>
                <a:srgbClr val="000000"/>
              </a:solidFill>
              <a:latin typeface="Arial"/>
            </a:endParaRPr>
          </a:p>
          <a:p>
            <a:pPr algn="ctr" defTabSz="457200">
              <a:lnSpc>
                <a:spcPct val="100000"/>
              </a:lnSpc>
            </a:pPr>
            <a:r>
              <a:rPr b="1" lang="en-US" sz="700" spc="-1" strike="noStrike">
                <a:solidFill>
                  <a:srgbClr val="898781"/>
                </a:solidFill>
                <a:latin typeface="Calibri"/>
              </a:rPr>
              <a:t>425</a:t>
            </a:r>
            <a:endParaRPr b="0" lang="en-US" sz="700" spc="-1" strike="noStrike">
              <a:solidFill>
                <a:srgbClr val="000000"/>
              </a:solidFill>
              <a:latin typeface="Arial"/>
            </a:endParaRPr>
          </a:p>
        </p:txBody>
      </p:sp>
      <p:sp>
        <p:nvSpPr>
          <p:cNvPr id="139" name="TextBox 37"/>
          <p:cNvSpPr/>
          <p:nvPr/>
        </p:nvSpPr>
        <p:spPr>
          <a:xfrm>
            <a:off x="10850040" y="2823840"/>
            <a:ext cx="731160" cy="145800"/>
          </a:xfrm>
          <a:prstGeom prst="rect">
            <a:avLst/>
          </a:prstGeom>
          <a:noFill/>
          <a:ln w="0">
            <a:noFill/>
          </a:ln>
        </p:spPr>
        <p:style>
          <a:lnRef idx="0"/>
          <a:fillRef idx="0"/>
          <a:effectRef idx="0"/>
          <a:fontRef idx="minor"/>
        </p:style>
        <p:txBody>
          <a:bodyPr lIns="0" rIns="0" tIns="0" bIns="0" anchor="t">
            <a:noAutofit/>
          </a:bodyPr>
          <a:p>
            <a:r>
              <a:rPr b="1" lang="en-US" sz="700" spc="-1" strike="noStrike">
                <a:solidFill>
                  <a:srgbClr val="898781"/>
                </a:solidFill>
                <a:latin typeface="Calibri"/>
              </a:rPr>
              <a:t>P90</a:t>
            </a:r>
            <a:endParaRPr b="0" lang="en-US" sz="700" spc="-1" strike="noStrike">
              <a:solidFill>
                <a:srgbClr val="000000"/>
              </a:solidFill>
              <a:latin typeface="Arial"/>
            </a:endParaRPr>
          </a:p>
          <a:p>
            <a:pPr algn="ctr" defTabSz="457200">
              <a:lnSpc>
                <a:spcPct val="100000"/>
              </a:lnSpc>
            </a:pPr>
            <a:r>
              <a:rPr b="1" lang="en-US" sz="700" spc="-1" strike="noStrike">
                <a:solidFill>
                  <a:srgbClr val="898781"/>
                </a:solidFill>
                <a:latin typeface="Calibri"/>
              </a:rPr>
              <a:t>606</a:t>
            </a:r>
            <a:endParaRPr b="0" lang="en-US" sz="700" spc="-1" strike="noStrike">
              <a:solidFill>
                <a:srgbClr val="000000"/>
              </a:solidFill>
              <a:latin typeface="Arial"/>
            </a:endParaRPr>
          </a:p>
        </p:txBody>
      </p:sp>
      <p:cxnSp>
        <p:nvCxnSpPr>
          <p:cNvPr id="140" name="Connector 38"/>
          <p:cNvCxnSpPr/>
          <p:nvPr/>
        </p:nvCxnSpPr>
        <p:spPr>
          <a:xfrm>
            <a:off x="8786880" y="3085560"/>
            <a:ext cx="360" cy="615240"/>
          </a:xfrm>
          <a:prstGeom prst="straightConnector1">
            <a:avLst/>
          </a:prstGeom>
          <a:ln w="28575">
            <a:solidFill>
              <a:srgbClr val="2a78d6"/>
            </a:solidFill>
            <a:round/>
          </a:ln>
        </p:spPr>
      </p:cxnSp>
      <p:sp>
        <p:nvSpPr>
          <p:cNvPr id="141" name="TextBox 39"/>
          <p:cNvSpPr/>
          <p:nvPr/>
        </p:nvSpPr>
        <p:spPr>
          <a:xfrm>
            <a:off x="8906040" y="3113280"/>
            <a:ext cx="2782440" cy="5410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1" strike="noStrike">
                <a:solidFill>
                  <a:srgbClr val="52514e"/>
                </a:solidFill>
                <a:latin typeface="Calibri"/>
              </a:rPr>
              <a:t>Do not hire to a point estimate.</a:t>
            </a:r>
            <a:r>
              <a:rPr b="0" lang="en-US" sz="820" spc="-1" strike="noStrike">
                <a:solidFill>
                  <a:srgbClr val="52514e"/>
                </a:solidFill>
                <a:latin typeface="Calibri"/>
              </a:rPr>
              <a:t> Contract a </a:t>
            </a:r>
            <a:r>
              <a:rPr b="1" lang="en-US" sz="820" spc="-1" strike="noStrike">
                <a:solidFill>
                  <a:srgbClr val="52514e"/>
                </a:solidFill>
                <a:latin typeface="Calibri"/>
              </a:rPr>
              <a:t>~490 FTE core</a:t>
            </a:r>
            <a:r>
              <a:rPr b="0" lang="en-US" sz="820" spc="-1" strike="noStrike">
                <a:solidFill>
                  <a:srgbClr val="52514e"/>
                </a:solidFill>
                <a:latin typeface="Calibri"/>
              </a:rPr>
              <a:t> and hold a cross-trained flex pool of </a:t>
            </a:r>
            <a:r>
              <a:rPr b="1" lang="en-US" sz="820" spc="-1" strike="noStrike">
                <a:solidFill>
                  <a:srgbClr val="52514e"/>
                </a:solidFill>
                <a:latin typeface="Calibri"/>
              </a:rPr>
              <a:t>60–100</a:t>
            </a:r>
            <a:r>
              <a:rPr b="0" lang="en-US" sz="820" spc="-1" strike="noStrike">
                <a:solidFill>
                  <a:srgbClr val="52514e"/>
                </a:solidFill>
                <a:latin typeface="Calibri"/>
              </a:rPr>
              <a:t> against the P90, released monthly on the re-forecast trigger.</a:t>
            </a:r>
            <a:endParaRPr b="0" lang="en-US" sz="820" spc="-1" strike="noStrike">
              <a:solidFill>
                <a:srgbClr val="000000"/>
              </a:solidFill>
              <a:latin typeface="Arial"/>
            </a:endParaRPr>
          </a:p>
        </p:txBody>
      </p:sp>
      <p:sp>
        <p:nvSpPr>
          <p:cNvPr id="142" name="TextBox 40"/>
          <p:cNvSpPr/>
          <p:nvPr/>
        </p:nvSpPr>
        <p:spPr>
          <a:xfrm>
            <a:off x="8787240" y="3800880"/>
            <a:ext cx="2901240" cy="3463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00" spc="-1" strike="noStrike">
                <a:solidFill>
                  <a:srgbClr val="898781"/>
                </a:solidFill>
                <a:latin typeface="Calibri"/>
              </a:rPr>
              <a:t>Backfill alone runs at </a:t>
            </a:r>
            <a:r>
              <a:rPr b="1" lang="en-US" sz="700" spc="-1" strike="noStrike">
                <a:solidFill>
                  <a:srgbClr val="898781"/>
                </a:solidFill>
                <a:latin typeface="Calibri"/>
              </a:rPr>
              <a:t>19 hires/month</a:t>
            </a:r>
            <a:r>
              <a:rPr b="0" lang="en-US" sz="700" spc="-1" strike="noStrike">
                <a:solidFill>
                  <a:srgbClr val="898781"/>
                </a:solidFill>
                <a:latin typeface="Calibri"/>
              </a:rPr>
              <a:t> at 36% annual attrition — with a 4-week class and a 3-month ramp, recruitment must lead the forecast by a full quarter.</a:t>
            </a:r>
            <a:endParaRPr b="0" lang="en-US" sz="700" spc="-1" strike="noStrike">
              <a:solidFill>
                <a:srgbClr val="000000"/>
              </a:solidFill>
              <a:latin typeface="Arial"/>
            </a:endParaRPr>
          </a:p>
        </p:txBody>
      </p:sp>
      <p:cxnSp>
        <p:nvCxnSpPr>
          <p:cNvPr id="143" name="Connector 41"/>
          <p:cNvCxnSpPr/>
          <p:nvPr/>
        </p:nvCxnSpPr>
        <p:spPr>
          <a:xfrm>
            <a:off x="502920" y="6400800"/>
            <a:ext cx="11185920" cy="360"/>
          </a:xfrm>
          <a:prstGeom prst="straightConnector1">
            <a:avLst/>
          </a:prstGeom>
          <a:ln w="9525">
            <a:solidFill>
              <a:srgbClr val="e1e0d9"/>
            </a:solidFill>
            <a:round/>
          </a:ln>
        </p:spPr>
      </p:cxnSp>
      <p:sp>
        <p:nvSpPr>
          <p:cNvPr id="144" name="TextBox 42"/>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submission · </a:t>
            </a:r>
            <a:endParaRPr b="0" lang="en-US" sz="750" spc="-1" strike="noStrike">
              <a:solidFill>
                <a:srgbClr val="000000"/>
              </a:solidFill>
              <a:latin typeface="Arial"/>
            </a:endParaRPr>
          </a:p>
        </p:txBody>
      </p:sp>
      <p:sp>
        <p:nvSpPr>
          <p:cNvPr id="145" name="TextBox 43"/>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2 / 5</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46"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2a78d6"/>
                </a:solidFill>
                <a:latin typeface="Calibri"/>
              </a:rPr>
              <a:t>03 · Method</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147"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900" spc="-1" strike="noStrike">
                <a:solidFill>
                  <a:srgbClr val="0b0b0b"/>
                </a:solidFill>
                <a:latin typeface="Calibri"/>
              </a:rPr>
              <a:t>How the number is built — and what the data would not tell us</a:t>
            </a:r>
            <a:endParaRPr b="0" lang="en-US" sz="1900" spc="-1" strike="noStrike">
              <a:solidFill>
                <a:srgbClr val="000000"/>
              </a:solidFill>
              <a:latin typeface="Arial"/>
            </a:endParaRPr>
          </a:p>
        </p:txBody>
      </p:sp>
      <p:cxnSp>
        <p:nvCxnSpPr>
          <p:cNvPr id="148" name="Connector 3"/>
          <p:cNvCxnSpPr/>
          <p:nvPr/>
        </p:nvCxnSpPr>
        <p:spPr>
          <a:xfrm>
            <a:off x="502920" y="822960"/>
            <a:ext cx="11185920" cy="360"/>
          </a:xfrm>
          <a:prstGeom prst="straightConnector1">
            <a:avLst/>
          </a:prstGeom>
          <a:ln w="9525">
            <a:solidFill>
              <a:srgbClr val="e1e0d9"/>
            </a:solidFill>
            <a:round/>
          </a:ln>
        </p:spPr>
      </p:cxnSp>
      <p:sp>
        <p:nvSpPr>
          <p:cNvPr id="149" name="TextBox 4"/>
          <p:cNvSpPr/>
          <p:nvPr/>
        </p:nvSpPr>
        <p:spPr>
          <a:xfrm>
            <a:off x="502920" y="960120"/>
            <a:ext cx="35460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ASSUMPTIONS — WHAT WE HAD TO DECIDE</a:t>
            </a:r>
            <a:endParaRPr b="0" lang="en-US" sz="820" spc="-1" strike="noStrike">
              <a:solidFill>
                <a:srgbClr val="000000"/>
              </a:solidFill>
              <a:latin typeface="Arial"/>
            </a:endParaRPr>
          </a:p>
        </p:txBody>
      </p:sp>
      <p:graphicFrame>
        <p:nvGraphicFramePr>
          <p:cNvPr id="150" name="Table 5"/>
          <p:cNvGraphicFramePr/>
          <p:nvPr/>
        </p:nvGraphicFramePr>
        <p:xfrm>
          <a:off x="502920" y="1197720"/>
          <a:ext cx="3546000" cy="2119320"/>
        </p:xfrm>
        <a:graphic>
          <a:graphicData uri="http://schemas.openxmlformats.org/drawingml/2006/table">
            <a:tbl>
              <a:tblPr/>
              <a:tblGrid>
                <a:gridCol w="1300320"/>
                <a:gridCol w="2246040"/>
              </a:tblGrid>
              <a:tr h="214560">
                <a:tc>
                  <a:txBody>
                    <a:bodyPr lIns="31680" rIns="31680" tIns="12600" bIns="12600" anchor="b">
                      <a:noAutofit/>
                    </a:bodyPr>
                    <a:p>
                      <a:endParaRPr b="0" lang="en-US" sz="180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endParaRPr b="0" lang="en-US" sz="180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26520">
                <a:tc>
                  <a:txBody>
                    <a:bodyPr lIns="31680" rIns="31680" tIns="12600" bIns="12600" anchor="ctr">
                      <a:noAutofit/>
                    </a:bodyPr>
                    <a:p>
                      <a:pPr defTabSz="457200">
                        <a:lnSpc>
                          <a:spcPct val="100000"/>
                        </a:lnSpc>
                      </a:pPr>
                      <a:r>
                        <a:rPr b="1" lang="en-US" sz="850" spc="-1" strike="noStrike">
                          <a:solidFill>
                            <a:srgbClr val="52514e"/>
                          </a:solidFill>
                          <a:latin typeface="Calibri"/>
                        </a:rPr>
                        <a:t>Deferred occupancy</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898781"/>
                          </a:solidFill>
                          <a:latin typeface="Calibri"/>
                        </a:rPr>
                        <a:t>85% — not in the data, industry-typical</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26520">
                <a:tc>
                  <a:txBody>
                    <a:bodyPr lIns="31680" rIns="31680" tIns="12600" bIns="12600" anchor="ctr">
                      <a:noAutofit/>
                    </a:bodyPr>
                    <a:p>
                      <a:pPr defTabSz="457200">
                        <a:lnSpc>
                          <a:spcPct val="100000"/>
                        </a:lnSpc>
                      </a:pPr>
                      <a:r>
                        <a:rPr b="1" lang="en-US" sz="850" spc="-1" strike="noStrike">
                          <a:solidFill>
                            <a:srgbClr val="52514e"/>
                          </a:solidFill>
                          <a:latin typeface="Calibri"/>
                        </a:rPr>
                        <a:t>Shrinkage</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898781"/>
                          </a:solidFill>
                          <a:latin typeface="Calibri"/>
                        </a:rPr>
                        <a:t>18% flat — matches the workbook exactly</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4560">
                <a:tc>
                  <a:txBody>
                    <a:bodyPr lIns="31680" rIns="31680" tIns="12600" bIns="12600" anchor="ctr">
                      <a:noAutofit/>
                    </a:bodyPr>
                    <a:p>
                      <a:pPr defTabSz="457200">
                        <a:lnSpc>
                          <a:spcPct val="100000"/>
                        </a:lnSpc>
                      </a:pPr>
                      <a:r>
                        <a:rPr b="1" lang="en-US" sz="850" spc="-1" strike="noStrike">
                          <a:solidFill>
                            <a:srgbClr val="52514e"/>
                          </a:solidFill>
                          <a:latin typeface="Calibri"/>
                        </a:rPr>
                        <a:t>Attrition</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898781"/>
                          </a:solidFill>
                          <a:latin typeface="Calibri"/>
                        </a:rPr>
                        <a:t>36%/yr → 3.65%/mo, compounded</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4560">
                <a:tc>
                  <a:txBody>
                    <a:bodyPr lIns="31680" rIns="31680" tIns="12600" bIns="12600" anchor="ctr">
                      <a:noAutofit/>
                    </a:bodyPr>
                    <a:p>
                      <a:pPr defTabSz="457200">
                        <a:lnSpc>
                          <a:spcPct val="100000"/>
                        </a:lnSpc>
                      </a:pPr>
                      <a:r>
                        <a:rPr b="1" lang="en-US" sz="850" spc="-1" strike="noStrike">
                          <a:solidFill>
                            <a:srgbClr val="52514e"/>
                          </a:solidFill>
                          <a:latin typeface="Calibri"/>
                        </a:rPr>
                        <a:t>Seasonal uplift</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898781"/>
                          </a:solidFill>
                          <a:latin typeface="Calibri"/>
                        </a:rPr>
                        <a:t>+10% — mandated by the brief</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4560">
                <a:tc>
                  <a:txBody>
                    <a:bodyPr lIns="31680" rIns="31680" tIns="12600" bIns="12600" anchor="ctr">
                      <a:noAutofit/>
                    </a:bodyPr>
                    <a:p>
                      <a:pPr defTabSz="457200">
                        <a:lnSpc>
                          <a:spcPct val="100000"/>
                        </a:lnSpc>
                      </a:pPr>
                      <a:r>
                        <a:rPr b="1" lang="en-US" sz="850" spc="-1" strike="noStrike">
                          <a:solidFill>
                            <a:srgbClr val="52514e"/>
                          </a:solidFill>
                          <a:latin typeface="Calibri"/>
                        </a:rPr>
                        <a:t>Routing</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898781"/>
                          </a:solidFill>
                          <a:latin typeface="Calibri"/>
                        </a:rPr>
                        <a:t>BPO 1&amp;2 English; BPO 3 DE/IT/ES/FR</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4560">
                <a:tc>
                  <a:txBody>
                    <a:bodyPr lIns="31680" rIns="31680" tIns="12600" bIns="12600" anchor="ctr">
                      <a:noAutofit/>
                    </a:bodyPr>
                    <a:p>
                      <a:pPr defTabSz="457200">
                        <a:lnSpc>
                          <a:spcPct val="100000"/>
                        </a:lnSpc>
                      </a:pPr>
                      <a:r>
                        <a:rPr b="1" lang="en-US" sz="850" spc="-1" strike="noStrike">
                          <a:solidFill>
                            <a:srgbClr val="52514e"/>
                          </a:solidFill>
                          <a:latin typeface="Calibri"/>
                        </a:rPr>
                        <a:t>Chat concurrency</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d03b3b"/>
                          </a:solidFill>
                          <a:latin typeface="Calibri"/>
                        </a:rPr>
                        <a:t>1.2 as given — open, see Q2</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26520">
                <a:tc>
                  <a:txBody>
                    <a:bodyPr lIns="31680" rIns="31680" tIns="12600" bIns="12600" anchor="ctr">
                      <a:noAutofit/>
                    </a:bodyPr>
                    <a:p>
                      <a:pPr defTabSz="457200">
                        <a:lnSpc>
                          <a:spcPct val="100000"/>
                        </a:lnSpc>
                      </a:pPr>
                      <a:r>
                        <a:rPr b="1" lang="en-US" sz="850" spc="-1" strike="noStrike">
                          <a:solidFill>
                            <a:srgbClr val="52514e"/>
                          </a:solidFill>
                          <a:latin typeface="Calibri"/>
                        </a:rPr>
                        <a:t>English AHT engine</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850" spc="-1" strike="noStrike">
                          <a:solidFill>
                            <a:srgbClr val="d03b3b"/>
                          </a:solidFill>
                          <a:latin typeface="Calibri"/>
                        </a:rPr>
                        <a:t>channel-level, incl. outbound — open, see Q1</a:t>
                      </a:r>
                      <a:endParaRPr b="0" lang="en-US" sz="85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51" name="TextBox 6"/>
          <p:cNvSpPr/>
          <p:nvPr/>
        </p:nvSpPr>
        <p:spPr>
          <a:xfrm>
            <a:off x="502920" y="3389400"/>
            <a:ext cx="3546000" cy="3960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898781"/>
                </a:solidFill>
                <a:latin typeface="Calibri"/>
              </a:rPr>
              <a:t>Erlang C runs on a flat 24/7 average arrival rate — a </a:t>
            </a:r>
            <a:r>
              <a:rPr b="0" i="1" lang="en-US" sz="800" spc="-1" strike="noStrike">
                <a:solidFill>
                  <a:srgbClr val="898781"/>
                </a:solidFill>
                <a:latin typeface="Calibri"/>
              </a:rPr>
              <a:t>floor</a:t>
            </a:r>
            <a:r>
              <a:rPr b="0" lang="en-US" sz="800" spc="-1" strike="noStrike">
                <a:solidFill>
                  <a:srgbClr val="898781"/>
                </a:solidFill>
                <a:latin typeface="Calibri"/>
              </a:rPr>
              <a:t>. Real intraday peaks and overnight minimum-staffing push interval-level staffing up, never down.</a:t>
            </a:r>
            <a:endParaRPr b="0" lang="en-US" sz="800" spc="-1" strike="noStrike">
              <a:solidFill>
                <a:srgbClr val="000000"/>
              </a:solidFill>
              <a:latin typeface="Arial"/>
            </a:endParaRPr>
          </a:p>
        </p:txBody>
      </p:sp>
      <p:sp>
        <p:nvSpPr>
          <p:cNvPr id="152" name="TextBox 7"/>
          <p:cNvSpPr/>
          <p:nvPr/>
        </p:nvSpPr>
        <p:spPr>
          <a:xfrm>
            <a:off x="4268880" y="960120"/>
            <a:ext cx="42984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DATA QUALITY — 12 CHECKS, FULL LOG IN APPENDIX</a:t>
            </a:r>
            <a:endParaRPr b="0" lang="en-US" sz="820" spc="-1" strike="noStrike">
              <a:solidFill>
                <a:srgbClr val="000000"/>
              </a:solidFill>
              <a:latin typeface="Arial"/>
            </a:endParaRPr>
          </a:p>
        </p:txBody>
      </p:sp>
      <p:graphicFrame>
        <p:nvGraphicFramePr>
          <p:cNvPr id="153" name="Table 8"/>
          <p:cNvGraphicFramePr/>
          <p:nvPr/>
        </p:nvGraphicFramePr>
        <p:xfrm>
          <a:off x="4268880" y="1197720"/>
          <a:ext cx="4298400" cy="2065680"/>
        </p:xfrm>
        <a:graphic>
          <a:graphicData uri="http://schemas.openxmlformats.org/drawingml/2006/table">
            <a:tbl>
              <a:tblPr/>
              <a:tblGrid>
                <a:gridCol w="429840"/>
                <a:gridCol w="1977120"/>
                <a:gridCol w="1891440"/>
              </a:tblGrid>
              <a:tr h="246600">
                <a:tc>
                  <a:txBody>
                    <a:bodyPr lIns="31680" rIns="31680" tIns="12600" bIns="12600" anchor="b">
                      <a:noAutofit/>
                    </a:bodyPr>
                    <a:p>
                      <a:endParaRPr b="0" lang="en-US" sz="180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endParaRPr b="0" lang="en-US" sz="180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endParaRPr b="0" lang="en-US" sz="180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7360">
                <a:tc>
                  <a:txBody>
                    <a:bodyPr lIns="31680" rIns="31680" tIns="12600" bIns="12600" anchor="ctr">
                      <a:noAutofit/>
                    </a:bodyPr>
                    <a:p>
                      <a:pPr defTabSz="457200">
                        <a:lnSpc>
                          <a:spcPct val="100000"/>
                        </a:lnSpc>
                      </a:pPr>
                      <a:r>
                        <a:rPr b="1" lang="en-US" sz="760" spc="-1" strike="noStrike">
                          <a:solidFill>
                            <a:srgbClr val="0a6b0a"/>
                          </a:solidFill>
                          <a:latin typeface="Calibri"/>
                        </a:rPr>
                        <a:t>PASS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English reason tickets tie to Contact Volume, all 6 months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ratio exactly 1.000000 — safe to join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7360">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Channel rows vs their own language total</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off by ≤2 contacts in 17/30 months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7360">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Blank reason label, 3,729 tickets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relabelled “UNMAPPED”, volume kept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7360">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1 AHT outlier vs its reason median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replaced with the reason's own median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7360">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Inbound = Outbound, Email = Chat, most months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synthetic mirror — kept conservatively, flagged</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7360">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SLA attainment reported at 110% in February</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impossible — excluded from the trend</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54" name="TextBox 9"/>
          <p:cNvSpPr/>
          <p:nvPr/>
        </p:nvSpPr>
        <p:spPr>
          <a:xfrm>
            <a:off x="4268880" y="3329640"/>
            <a:ext cx="4298400" cy="3960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The validation that passed matters most:</a:t>
            </a:r>
            <a:r>
              <a:rPr b="0" lang="en-US" sz="800" spc="-1" strike="noStrike">
                <a:solidFill>
                  <a:srgbClr val="52514e"/>
                </a:solidFill>
                <a:latin typeface="Calibri"/>
              </a:rPr>
              <a:t> the per-reason ticket counts tie to the English contact volume in all six months at a ratio of </a:t>
            </a:r>
            <a:r>
              <a:rPr b="1" lang="en-US" sz="800" spc="-1" strike="noStrike">
                <a:solidFill>
                  <a:srgbClr val="52514e"/>
                </a:solidFill>
                <a:latin typeface="Calibri"/>
              </a:rPr>
              <a:t>exactly 1.000000</a:t>
            </a:r>
            <a:r>
              <a:rPr b="0" lang="en-US" sz="800" spc="-1" strike="noStrike">
                <a:solidFill>
                  <a:srgbClr val="52514e"/>
                </a:solidFill>
                <a:latin typeface="Calibri"/>
              </a:rPr>
              <a:t> — so the two sheets describe the same population and the reason-mix join is safe.</a:t>
            </a:r>
            <a:endParaRPr b="0" lang="en-US" sz="800" spc="-1" strike="noStrike">
              <a:solidFill>
                <a:srgbClr val="000000"/>
              </a:solidFill>
              <a:latin typeface="Arial"/>
            </a:endParaRPr>
          </a:p>
        </p:txBody>
      </p:sp>
      <p:cxnSp>
        <p:nvCxnSpPr>
          <p:cNvPr id="155" name="Connector 10"/>
          <p:cNvCxnSpPr/>
          <p:nvPr/>
        </p:nvCxnSpPr>
        <p:spPr>
          <a:xfrm>
            <a:off x="4268520" y="3780720"/>
            <a:ext cx="360" cy="469440"/>
          </a:xfrm>
          <a:prstGeom prst="straightConnector1">
            <a:avLst/>
          </a:prstGeom>
          <a:ln w="28575">
            <a:solidFill>
              <a:srgbClr val="d03b3b"/>
            </a:solidFill>
            <a:round/>
          </a:ln>
        </p:spPr>
      </p:cxnSp>
      <p:sp>
        <p:nvSpPr>
          <p:cNvPr id="156" name="TextBox 11"/>
          <p:cNvSpPr/>
          <p:nvPr/>
        </p:nvSpPr>
        <p:spPr>
          <a:xfrm>
            <a:off x="4387680" y="3808080"/>
            <a:ext cx="4179600" cy="3960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SLA attainment has fallen 95% → 92% while volume doubled</a:t>
            </a:r>
            <a:r>
              <a:rPr b="0" lang="en-US" sz="800" spc="-1" strike="noStrike">
                <a:solidFill>
                  <a:srgbClr val="52514e"/>
                </a:solidFill>
                <a:latin typeface="Calibri"/>
              </a:rPr>
              <a:t> (February reports 110%, which is impossible). That is the business case for this transformation, sitting unused in the source data.</a:t>
            </a:r>
            <a:endParaRPr b="0" lang="en-US" sz="800" spc="-1" strike="noStrike">
              <a:solidFill>
                <a:srgbClr val="000000"/>
              </a:solidFill>
              <a:latin typeface="Arial"/>
            </a:endParaRPr>
          </a:p>
        </p:txBody>
      </p:sp>
      <p:sp>
        <p:nvSpPr>
          <p:cNvPr id="157" name="TextBox 12"/>
          <p:cNvSpPr/>
          <p:nvPr/>
        </p:nvSpPr>
        <p:spPr>
          <a:xfrm>
            <a:off x="8787240" y="96012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TWO OPEN QUESTIONS, PRICED</a:t>
            </a:r>
            <a:endParaRPr b="0" lang="en-US" sz="820" spc="-1" strike="noStrike">
              <a:solidFill>
                <a:srgbClr val="000000"/>
              </a:solidFill>
              <a:latin typeface="Arial"/>
            </a:endParaRPr>
          </a:p>
        </p:txBody>
      </p:sp>
      <p:sp>
        <p:nvSpPr>
          <p:cNvPr id="158" name="TextBox 13"/>
          <p:cNvSpPr/>
          <p:nvPr/>
        </p:nvSpPr>
        <p:spPr>
          <a:xfrm>
            <a:off x="8787240" y="1207080"/>
            <a:ext cx="2901240" cy="15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50" spc="-1" strike="noStrike">
                <a:solidFill>
                  <a:srgbClr val="0b0b0b"/>
                </a:solidFill>
                <a:latin typeface="Calibri"/>
              </a:rPr>
              <a:t>1 · Is outbound English volume real?</a:t>
            </a:r>
            <a:endParaRPr b="0" lang="en-US" sz="950" spc="-1" strike="noStrike">
              <a:solidFill>
                <a:srgbClr val="000000"/>
              </a:solidFill>
              <a:latin typeface="Arial"/>
            </a:endParaRPr>
          </a:p>
        </p:txBody>
      </p:sp>
      <p:sp>
        <p:nvSpPr>
          <p:cNvPr id="159" name="TextBox 14"/>
          <p:cNvSpPr/>
          <p:nvPr/>
        </p:nvSpPr>
        <p:spPr>
          <a:xfrm>
            <a:off x="8787240" y="1437120"/>
            <a:ext cx="2901240" cy="659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52514e"/>
                </a:solidFill>
                <a:latin typeface="Calibri"/>
              </a:rPr>
              <a:t>AHT assumption (709.8s) and Apr–Jun actuals (908.8s) agree within 1% once outbound is excluded from both — not AHT drift. Outbound mirrors inbound in 29/30 months, the signature of a synthetic column. </a:t>
            </a:r>
            <a:r>
              <a:rPr b="0" lang="en-US" sz="800" spc="-1" strike="noStrike">
                <a:solidFill>
                  <a:srgbClr val="d03b3b"/>
                </a:solidFill>
                <a:latin typeface="Calibri"/>
              </a:rPr>
              <a:t>Worth 78 FTE (15%) either way.</a:t>
            </a:r>
            <a:endParaRPr b="0" lang="en-US" sz="800" spc="-1" strike="noStrike">
              <a:solidFill>
                <a:srgbClr val="000000"/>
              </a:solidFill>
              <a:latin typeface="Arial"/>
            </a:endParaRPr>
          </a:p>
        </p:txBody>
      </p:sp>
      <p:sp>
        <p:nvSpPr>
          <p:cNvPr id="160" name="TextBox 15"/>
          <p:cNvSpPr/>
          <p:nvPr/>
        </p:nvSpPr>
        <p:spPr>
          <a:xfrm>
            <a:off x="8787240" y="2170440"/>
            <a:ext cx="2901240" cy="15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50" spc="-1" strike="noStrike">
                <a:solidFill>
                  <a:srgbClr val="0b0b0b"/>
                </a:solidFill>
                <a:latin typeface="Calibri"/>
              </a:rPr>
              <a:t>2 · Is chat concurrency measured or assumed?</a:t>
            </a:r>
            <a:endParaRPr b="0" lang="en-US" sz="950" spc="-1" strike="noStrike">
              <a:solidFill>
                <a:srgbClr val="000000"/>
              </a:solidFill>
              <a:latin typeface="Arial"/>
            </a:endParaRPr>
          </a:p>
        </p:txBody>
      </p:sp>
      <p:sp>
        <p:nvSpPr>
          <p:cNvPr id="161" name="TextBox 16"/>
          <p:cNvSpPr/>
          <p:nvPr/>
        </p:nvSpPr>
        <p:spPr>
          <a:xfrm>
            <a:off x="8787240" y="2400480"/>
            <a:ext cx="2901240" cy="263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52514e"/>
                </a:solidFill>
                <a:latin typeface="Calibri"/>
              </a:rPr>
              <a:t>1.2 on every BPO and every language, under a header that says “English”. </a:t>
            </a:r>
            <a:r>
              <a:rPr b="0" lang="en-US" sz="800" spc="-1" strike="noStrike">
                <a:solidFill>
                  <a:srgbClr val="d03b3b"/>
                </a:solidFill>
                <a:latin typeface="Calibri"/>
              </a:rPr>
              <a:t>Worth 75 FTE.</a:t>
            </a:r>
            <a:endParaRPr b="0" lang="en-US" sz="800" spc="-1" strike="noStrike">
              <a:solidFill>
                <a:srgbClr val="000000"/>
              </a:solidFill>
              <a:latin typeface="Arial"/>
            </a:endParaRPr>
          </a:p>
        </p:txBody>
      </p:sp>
      <p:sp>
        <p:nvSpPr>
          <p:cNvPr id="162" name="TextBox 17"/>
          <p:cNvSpPr/>
          <p:nvPr/>
        </p:nvSpPr>
        <p:spPr>
          <a:xfrm>
            <a:off x="8787240" y="275616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ALSO REQUESTED</a:t>
            </a:r>
            <a:endParaRPr b="0" lang="en-US" sz="820" spc="-1" strike="noStrike">
              <a:solidFill>
                <a:srgbClr val="000000"/>
              </a:solidFill>
              <a:latin typeface="Arial"/>
            </a:endParaRPr>
          </a:p>
        </p:txBody>
      </p:sp>
      <p:sp>
        <p:nvSpPr>
          <p:cNvPr id="163" name="TextBox 18"/>
          <p:cNvSpPr/>
          <p:nvPr/>
        </p:nvSpPr>
        <p:spPr>
          <a:xfrm>
            <a:off x="8787240" y="2993760"/>
            <a:ext cx="2901240" cy="862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52514e"/>
                </a:solidFill>
                <a:latin typeface="Calibri"/>
              </a:rPr>
              <a:t>•  </a:t>
            </a:r>
            <a:r>
              <a:rPr b="0" lang="en-US" sz="760" spc="-1" strike="noStrike">
                <a:solidFill>
                  <a:srgbClr val="52514e"/>
                </a:solidFill>
                <a:latin typeface="Calibri"/>
              </a:rPr>
              <a:t>24+ months of history — 6 cannot support a seasonal model</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0" lang="en-US" sz="760" spc="-1" strike="noStrike">
                <a:solidFill>
                  <a:srgbClr val="52514e"/>
                </a:solidFill>
                <a:latin typeface="Calibri"/>
              </a:rPr>
              <a:t>15/30-minute arrival data — monthly Erlang is a floor</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0" lang="en-US" sz="760" spc="-1" strike="noStrike">
                <a:solidFill>
                  <a:srgbClr val="52514e"/>
                </a:solidFill>
                <a:latin typeface="Calibri"/>
              </a:rPr>
              <a:t>What changed in March — system, market, or demand?</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0" lang="en-US" sz="760" spc="-1" strike="noStrike">
                <a:solidFill>
                  <a:srgbClr val="52514e"/>
                </a:solidFill>
                <a:latin typeface="Calibri"/>
              </a:rPr>
              <a:t>Cost per productive hour by BPO — to rank levers in €</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0" lang="en-US" sz="760" spc="-1" strike="noStrike">
                <a:solidFill>
                  <a:srgbClr val="52514e"/>
                </a:solidFill>
                <a:latin typeface="Calibri"/>
              </a:rPr>
              <a:t>True outbound volumes — the mirrored columns cannot be real</a:t>
            </a:r>
            <a:endParaRPr b="0" lang="en-US" sz="760" spc="-1" strike="noStrike">
              <a:solidFill>
                <a:srgbClr val="000000"/>
              </a:solidFill>
              <a:latin typeface="Arial"/>
            </a:endParaRPr>
          </a:p>
        </p:txBody>
      </p:sp>
      <p:cxnSp>
        <p:nvCxnSpPr>
          <p:cNvPr id="164" name="Connector 19"/>
          <p:cNvCxnSpPr/>
          <p:nvPr/>
        </p:nvCxnSpPr>
        <p:spPr>
          <a:xfrm>
            <a:off x="8786880" y="3947760"/>
            <a:ext cx="360" cy="555480"/>
          </a:xfrm>
          <a:prstGeom prst="straightConnector1">
            <a:avLst/>
          </a:prstGeom>
          <a:ln w="28575">
            <a:solidFill>
              <a:srgbClr val="c3c2b7"/>
            </a:solidFill>
            <a:round/>
          </a:ln>
        </p:spPr>
      </p:cxnSp>
      <p:sp>
        <p:nvSpPr>
          <p:cNvPr id="165" name="TextBox 20"/>
          <p:cNvSpPr/>
          <p:nvPr/>
        </p:nvSpPr>
        <p:spPr>
          <a:xfrm>
            <a:off x="8906040" y="3975480"/>
            <a:ext cx="2782440" cy="4816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30" spc="-1" strike="noStrike">
                <a:solidFill>
                  <a:srgbClr val="52514e"/>
                </a:solidFill>
                <a:latin typeface="Calibri"/>
              </a:rPr>
              <a:t>Structural finding:</a:t>
            </a:r>
            <a:r>
              <a:rPr b="0" lang="en-US" sz="730" spc="-1" strike="noStrike">
                <a:solidFill>
                  <a:srgbClr val="52514e"/>
                </a:solidFill>
                <a:latin typeface="Calibri"/>
              </a:rPr>
              <a:t> 45 reason codes collapse to </a:t>
            </a:r>
            <a:r>
              <a:rPr b="1" lang="en-US" sz="730" spc="-1" strike="noStrike">
                <a:solidFill>
                  <a:srgbClr val="52514e"/>
                </a:solidFill>
                <a:latin typeface="Calibri"/>
              </a:rPr>
              <a:t>25</a:t>
            </a:r>
            <a:r>
              <a:rPr b="0" lang="en-US" sz="730" spc="-1" strike="noStrike">
                <a:solidFill>
                  <a:srgbClr val="52514e"/>
                </a:solidFill>
                <a:latin typeface="Calibri"/>
              </a:rPr>
              <a:t> distinct AHT profiles, and </a:t>
            </a:r>
            <a:r>
              <a:rPr b="1" lang="en-US" sz="730" spc="-1" strike="noStrike">
                <a:solidFill>
                  <a:srgbClr val="52514e"/>
                </a:solidFill>
                <a:latin typeface="Calibri"/>
              </a:rPr>
              <a:t>6</a:t>
            </a:r>
            <a:r>
              <a:rPr b="0" lang="en-US" sz="730" spc="-1" strike="noStrike">
                <a:solidFill>
                  <a:srgbClr val="52514e"/>
                </a:solidFill>
                <a:latin typeface="Calibri"/>
              </a:rPr>
              <a:t> of those clusters cross reason families — AHT is measured on a different taxonomy than the reason codes, and neither nests inside the other.</a:t>
            </a:r>
            <a:endParaRPr b="0" lang="en-US" sz="730" spc="-1" strike="noStrike">
              <a:solidFill>
                <a:srgbClr val="000000"/>
              </a:solidFill>
              <a:latin typeface="Arial"/>
            </a:endParaRPr>
          </a:p>
        </p:txBody>
      </p:sp>
      <p:cxnSp>
        <p:nvCxnSpPr>
          <p:cNvPr id="166" name="Connector 21"/>
          <p:cNvCxnSpPr/>
          <p:nvPr/>
        </p:nvCxnSpPr>
        <p:spPr>
          <a:xfrm>
            <a:off x="502920" y="6400800"/>
            <a:ext cx="11185920" cy="360"/>
          </a:xfrm>
          <a:prstGeom prst="straightConnector1">
            <a:avLst/>
          </a:prstGeom>
          <a:ln w="9525">
            <a:solidFill>
              <a:srgbClr val="e1e0d9"/>
            </a:solidFill>
            <a:round/>
          </a:ln>
        </p:spPr>
      </p:cxnSp>
      <p:sp>
        <p:nvSpPr>
          <p:cNvPr id="167" name="TextBox 22"/>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submission · </a:t>
            </a:r>
            <a:endParaRPr b="0" lang="en-US" sz="750" spc="-1" strike="noStrike">
              <a:solidFill>
                <a:srgbClr val="000000"/>
              </a:solidFill>
              <a:latin typeface="Arial"/>
            </a:endParaRPr>
          </a:p>
        </p:txBody>
      </p:sp>
      <p:sp>
        <p:nvSpPr>
          <p:cNvPr id="168" name="TextBox 23"/>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3 / 5</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69"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2a78d6"/>
                </a:solidFill>
                <a:latin typeface="Calibri"/>
              </a:rPr>
              <a:t>04 · Task 1b — Optimisation</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170"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900" spc="-1" strike="noStrike">
                <a:solidFill>
                  <a:srgbClr val="0b0b0b"/>
                </a:solidFill>
                <a:latin typeface="Calibri"/>
              </a:rPr>
              <a:t>Two strategies the arithmetic supports — and one it kills</a:t>
            </a:r>
            <a:endParaRPr b="0" lang="en-US" sz="1900" spc="-1" strike="noStrike">
              <a:solidFill>
                <a:srgbClr val="000000"/>
              </a:solidFill>
              <a:latin typeface="Arial"/>
            </a:endParaRPr>
          </a:p>
        </p:txBody>
      </p:sp>
      <p:cxnSp>
        <p:nvCxnSpPr>
          <p:cNvPr id="171" name="Connector 3"/>
          <p:cNvCxnSpPr/>
          <p:nvPr/>
        </p:nvCxnSpPr>
        <p:spPr>
          <a:xfrm>
            <a:off x="502920" y="822960"/>
            <a:ext cx="11185920" cy="360"/>
          </a:xfrm>
          <a:prstGeom prst="straightConnector1">
            <a:avLst/>
          </a:prstGeom>
          <a:ln w="9525">
            <a:solidFill>
              <a:srgbClr val="e1e0d9"/>
            </a:solidFill>
            <a:round/>
          </a:ln>
        </p:spPr>
      </p:cxnSp>
      <p:sp>
        <p:nvSpPr>
          <p:cNvPr id="172" name="TextBox 4"/>
          <p:cNvSpPr/>
          <p:nvPr/>
        </p:nvSpPr>
        <p:spPr>
          <a:xfrm>
            <a:off x="502920" y="960120"/>
            <a:ext cx="42984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STRATEGY 1 · POOL THE FOUR NON-ENGLISH QUEUES −51.4 FTE NOW (10%)</a:t>
            </a:r>
            <a:endParaRPr b="0" lang="en-US" sz="820" spc="-1" strike="noStrike">
              <a:solidFill>
                <a:srgbClr val="000000"/>
              </a:solidFill>
              <a:latin typeface="Arial"/>
            </a:endParaRPr>
          </a:p>
        </p:txBody>
      </p:sp>
      <p:graphicFrame>
        <p:nvGraphicFramePr>
          <p:cNvPr id="173" name="Chart 5"/>
          <p:cNvGraphicFramePr/>
          <p:nvPr/>
        </p:nvGraphicFramePr>
        <p:xfrm>
          <a:off x="502920" y="1207080"/>
          <a:ext cx="4298400" cy="1234080"/>
        </p:xfrm>
        <a:graphic>
          <a:graphicData uri="http://schemas.openxmlformats.org/drawingml/2006/chart">
            <c:chart xmlns:c="http://schemas.openxmlformats.org/drawingml/2006/chart" xmlns:r="http://schemas.openxmlformats.org/officeDocument/2006/relationships" r:id="rId1"/>
          </a:graphicData>
        </a:graphic>
      </p:graphicFrame>
      <p:sp>
        <p:nvSpPr>
          <p:cNvPr id="174" name="TextBox 6"/>
          <p:cNvSpPr/>
          <p:nvPr/>
        </p:nvSpPr>
        <p:spPr>
          <a:xfrm>
            <a:off x="502920" y="2541960"/>
            <a:ext cx="4298400" cy="410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30" spc="-1" strike="noStrike">
                <a:solidFill>
                  <a:srgbClr val="52514e"/>
                </a:solidFill>
                <a:latin typeface="Calibri"/>
              </a:rPr>
              <a:t>The occupancy column is the finding.</a:t>
            </a:r>
            <a:r>
              <a:rPr b="0" lang="en-US" sz="830" spc="-1" strike="noStrike">
                <a:solidFill>
                  <a:srgbClr val="52514e"/>
                </a:solidFill>
                <a:latin typeface="Calibri"/>
              </a:rPr>
              <a:t> Those queues are not idle by choice — 80/20 on a queue of 0.84 erlangs, staffed 24/7, needs 3 seats no matter how few calls arrive. </a:t>
            </a:r>
            <a:r>
              <a:rPr b="1" lang="en-US" sz="830" spc="-1" strike="noStrike">
                <a:solidFill>
                  <a:srgbClr val="52514e"/>
                </a:solidFill>
                <a:latin typeface="Calibri"/>
              </a:rPr>
              <a:t>Four small queues pay that floor four times.</a:t>
            </a:r>
            <a:endParaRPr b="0" lang="en-US" sz="830" spc="-1" strike="noStrike">
              <a:solidFill>
                <a:srgbClr val="000000"/>
              </a:solidFill>
              <a:latin typeface="Arial"/>
            </a:endParaRPr>
          </a:p>
        </p:txBody>
      </p:sp>
      <p:graphicFrame>
        <p:nvGraphicFramePr>
          <p:cNvPr id="175" name="Table 7"/>
          <p:cNvGraphicFramePr/>
          <p:nvPr/>
        </p:nvGraphicFramePr>
        <p:xfrm>
          <a:off x="502920" y="2998800"/>
          <a:ext cx="4298400" cy="907200"/>
        </p:xfrm>
        <a:graphic>
          <a:graphicData uri="http://schemas.openxmlformats.org/drawingml/2006/table">
            <a:tbl>
              <a:tblPr/>
              <a:tblGrid>
                <a:gridCol w="1499400"/>
                <a:gridCol w="799560"/>
                <a:gridCol w="699480"/>
                <a:gridCol w="599760"/>
                <a:gridCol w="699480"/>
              </a:tblGrid>
              <a:tr h="200880">
                <a:tc>
                  <a:txBody>
                    <a:bodyPr lIns="31680" rIns="31680" tIns="12600" bIns="12600" anchor="b">
                      <a:noAutofit/>
                    </a:bodyPr>
                    <a:p>
                      <a:pPr defTabSz="457200">
                        <a:lnSpc>
                          <a:spcPct val="100000"/>
                        </a:lnSpc>
                      </a:pPr>
                      <a:r>
                        <a:rPr b="1" lang="en-US" sz="680" spc="-1" strike="noStrike">
                          <a:solidFill>
                            <a:srgbClr val="898781"/>
                          </a:solidFill>
                          <a:latin typeface="Calibri"/>
                        </a:rPr>
                        <a:t>QUEUE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SILOED</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POOLED</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SL</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SAVED</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Inbound DE/IT/ES/FR</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12 seats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52514e"/>
                          </a:solidFill>
                          <a:latin typeface="Calibri"/>
                        </a:rPr>
                        <a:t>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0ca30c"/>
                          </a:solidFill>
                          <a:latin typeface="Calibri"/>
                        </a:rPr>
                        <a:t>86%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52514e"/>
                          </a:solidFill>
                          <a:latin typeface="Calibri"/>
                        </a:rPr>
                        <a:t>25.7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Chat DE/IT/ES/FR</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20 seats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52514e"/>
                          </a:solidFill>
                          <a:latin typeface="Calibri"/>
                        </a:rPr>
                        <a:t>14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0ca30c"/>
                          </a:solidFill>
                          <a:latin typeface="Calibri"/>
                        </a:rPr>
                        <a:t>86%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52514e"/>
                          </a:solidFill>
                          <a:latin typeface="Calibri"/>
                        </a:rPr>
                        <a:t>25.7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03840">
                <a:tc>
                  <a:txBody>
                    <a:bodyPr lIns="31680" rIns="31680" tIns="12600" bIns="12600" anchor="ctr">
                      <a:noAutofit/>
                    </a:bodyPr>
                    <a:p>
                      <a:pPr defTabSz="457200">
                        <a:lnSpc>
                          <a:spcPct val="100000"/>
                        </a:lnSpc>
                      </a:pPr>
                      <a:r>
                        <a:rPr b="1" lang="en-US" sz="780" spc="-1" strike="noStrike">
                          <a:solidFill>
                            <a:srgbClr val="0b0b0b"/>
                          </a:solidFill>
                          <a:latin typeface="Calibri"/>
                        </a:rPr>
                        <a:t>Total</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80" spc="-1" strike="noStrike">
                          <a:solidFill>
                            <a:srgbClr val="898781"/>
                          </a:solidFill>
                          <a:latin typeface="Calibri"/>
                        </a:rPr>
                        <a:t>≈ </a:t>
                      </a:r>
                      <a:r>
                        <a:rPr b="1" lang="en-US" sz="780" spc="-1" strike="noStrike">
                          <a:solidFill>
                            <a:srgbClr val="898781"/>
                          </a:solidFill>
                          <a:latin typeface="Calibri"/>
                        </a:rPr>
                        <a:t>8,900 h off BPO 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b0b0b"/>
                          </a:solidFill>
                          <a:latin typeface="Calibri"/>
                        </a:rPr>
                        <a:t>51.4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76" name="TextBox 8"/>
          <p:cNvSpPr/>
          <p:nvPr/>
        </p:nvSpPr>
        <p:spPr>
          <a:xfrm>
            <a:off x="621720" y="4079880"/>
            <a:ext cx="4179600" cy="15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50" spc="-1" strike="noStrike">
                <a:solidFill>
                  <a:srgbClr val="0b0b0b"/>
                </a:solidFill>
                <a:latin typeface="Calibri"/>
              </a:rPr>
              <a:t>Phase 2 · Pool English in too </a:t>
            </a:r>
            <a:r>
              <a:rPr b="1" lang="en-US" sz="950" spc="-1" strike="noStrike">
                <a:solidFill>
                  <a:srgbClr val="2a78d6"/>
                </a:solidFill>
                <a:latin typeface="Calibri"/>
              </a:rPr>
              <a:t>+27.4 FTE more</a:t>
            </a:r>
            <a:endParaRPr b="0" lang="en-US" sz="950" spc="-1" strike="noStrike">
              <a:solidFill>
                <a:srgbClr val="000000"/>
              </a:solidFill>
              <a:latin typeface="Arial"/>
            </a:endParaRPr>
          </a:p>
        </p:txBody>
      </p:sp>
      <p:sp>
        <p:nvSpPr>
          <p:cNvPr id="177" name="TextBox 9"/>
          <p:cNvSpPr/>
          <p:nvPr/>
        </p:nvSpPr>
        <p:spPr>
          <a:xfrm>
            <a:off x="621720" y="4309920"/>
            <a:ext cx="4179600" cy="659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52514e"/>
                </a:solidFill>
                <a:latin typeface="Calibri"/>
              </a:rPr>
              <a:t>Same mechanism, wider pool, re-solved the same way: </a:t>
            </a:r>
            <a:r>
              <a:rPr b="1" lang="en-US" sz="800" spc="-1" strike="noStrike">
                <a:solidFill>
                  <a:srgbClr val="52514e"/>
                </a:solidFill>
                <a:latin typeface="Calibri"/>
              </a:rPr>
              <a:t>Inbound</a:t>
            </a:r>
            <a:r>
              <a:rPr b="0" lang="en-US" sz="800" spc="-1" strike="noStrike">
                <a:solidFill>
                  <a:srgbClr val="52514e"/>
                </a:solidFill>
                <a:latin typeface="Calibri"/>
              </a:rPr>
              <a:t> 23→16 seats (+10.3 FTE), </a:t>
            </a:r>
            <a:r>
              <a:rPr b="1" lang="en-US" sz="800" spc="-1" strike="noStrike">
                <a:solidFill>
                  <a:srgbClr val="52514e"/>
                </a:solidFill>
                <a:latin typeface="Calibri"/>
              </a:rPr>
              <a:t>Chat</a:t>
            </a:r>
            <a:r>
              <a:rPr b="0" lang="en-US" sz="800" spc="-1" strike="noStrike">
                <a:solidFill>
                  <a:srgbClr val="52514e"/>
                </a:solidFill>
                <a:latin typeface="Calibri"/>
              </a:rPr>
              <a:t> 37→28 seats (+17.1 FTE) — both still clear 80%. The catch: English sits in BPO 1/2, the other four in BPO 3, so this is </a:t>
            </a:r>
            <a:r>
              <a:rPr b="1" lang="en-US" sz="800" spc="-1" strike="noStrike">
                <a:solidFill>
                  <a:srgbClr val="52514e"/>
                </a:solidFill>
                <a:latin typeface="Calibri"/>
              </a:rPr>
              <a:t>vendor consolidation</a:t>
            </a:r>
            <a:r>
              <a:rPr b="0" lang="en-US" sz="800" spc="-1" strike="noStrike">
                <a:solidFill>
                  <a:srgbClr val="52514e"/>
                </a:solidFill>
                <a:latin typeface="Calibri"/>
              </a:rPr>
              <a:t>, not a routing change — a bigger lift than phase 1, worth </a:t>
            </a:r>
            <a:r>
              <a:rPr b="1" lang="en-US" sz="800" spc="-1" strike="noStrike">
                <a:solidFill>
                  <a:srgbClr val="52514e"/>
                </a:solidFill>
                <a:latin typeface="Calibri"/>
              </a:rPr>
              <a:t>−78.8 FTE (15.5%)</a:t>
            </a:r>
            <a:r>
              <a:rPr b="0" lang="en-US" sz="800" spc="-1" strike="noStrike">
                <a:solidFill>
                  <a:srgbClr val="52514e"/>
                </a:solidFill>
                <a:latin typeface="Calibri"/>
              </a:rPr>
              <a:t> total if it clears that bar.</a:t>
            </a:r>
            <a:endParaRPr b="0" lang="en-US" sz="800" spc="-1" strike="noStrike">
              <a:solidFill>
                <a:srgbClr val="000000"/>
              </a:solidFill>
              <a:latin typeface="Arial"/>
            </a:endParaRPr>
          </a:p>
        </p:txBody>
      </p:sp>
      <p:cxnSp>
        <p:nvCxnSpPr>
          <p:cNvPr id="178" name="Connector 10"/>
          <p:cNvCxnSpPr/>
          <p:nvPr/>
        </p:nvCxnSpPr>
        <p:spPr>
          <a:xfrm>
            <a:off x="502920" y="4024800"/>
            <a:ext cx="360" cy="945720"/>
          </a:xfrm>
          <a:prstGeom prst="straightConnector1">
            <a:avLst/>
          </a:prstGeom>
          <a:ln w="28575">
            <a:solidFill>
              <a:srgbClr val="2a78d6"/>
            </a:solidFill>
            <a:round/>
          </a:ln>
        </p:spPr>
      </p:cxnSp>
      <p:sp>
        <p:nvSpPr>
          <p:cNvPr id="179" name="TextBox 11"/>
          <p:cNvSpPr/>
          <p:nvPr/>
        </p:nvSpPr>
        <p:spPr>
          <a:xfrm>
            <a:off x="5021280" y="960120"/>
            <a:ext cx="35460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WHY IT WORKS, AND WHAT IT COSTS</a:t>
            </a:r>
            <a:endParaRPr b="0" lang="en-US" sz="820" spc="-1" strike="noStrike">
              <a:solidFill>
                <a:srgbClr val="000000"/>
              </a:solidFill>
              <a:latin typeface="Arial"/>
            </a:endParaRPr>
          </a:p>
        </p:txBody>
      </p:sp>
      <p:sp>
        <p:nvSpPr>
          <p:cNvPr id="180" name="TextBox 12"/>
          <p:cNvSpPr/>
          <p:nvPr/>
        </p:nvSpPr>
        <p:spPr>
          <a:xfrm>
            <a:off x="5021280" y="1197720"/>
            <a:ext cx="3546000" cy="7095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60" spc="-1" strike="noStrike">
                <a:solidFill>
                  <a:srgbClr val="52514e"/>
                </a:solidFill>
                <a:latin typeface="Calibri"/>
              </a:rPr>
              <a:t>All four languages already sit in BPO 3, so this is a routing and skilling change, not a vendor change. Both pooled queues were </a:t>
            </a:r>
            <a:r>
              <a:rPr b="1" lang="en-US" sz="860" spc="-1" strike="noStrike">
                <a:solidFill>
                  <a:srgbClr val="52514e"/>
                </a:solidFill>
                <a:latin typeface="Calibri"/>
              </a:rPr>
              <a:t>re-solved through the same Erlang engine</a:t>
            </a:r>
            <a:r>
              <a:rPr b="0" lang="en-US" sz="860" spc="-1" strike="noStrike">
                <a:solidFill>
                  <a:srgbClr val="52514e"/>
                </a:solidFill>
                <a:latin typeface="Calibri"/>
              </a:rPr>
              <a:t> — the service level goes up, not down. Phase it: start with the overnight window, where the floors bite hardest.</a:t>
            </a:r>
            <a:endParaRPr b="0" lang="en-US" sz="860" spc="-1" strike="noStrike">
              <a:solidFill>
                <a:srgbClr val="000000"/>
              </a:solidFill>
              <a:latin typeface="Arial"/>
            </a:endParaRPr>
          </a:p>
        </p:txBody>
      </p:sp>
      <p:sp>
        <p:nvSpPr>
          <p:cNvPr id="181" name="TextBox 13"/>
          <p:cNvSpPr/>
          <p:nvPr/>
        </p:nvSpPr>
        <p:spPr>
          <a:xfrm>
            <a:off x="5140080" y="2081520"/>
            <a:ext cx="3427200" cy="1612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80" spc="-1" strike="noStrike">
                <a:solidFill>
                  <a:srgbClr val="0b0b0b"/>
                </a:solidFill>
                <a:latin typeface="Calibri"/>
              </a:rPr>
              <a:t>Tested and rejected: deflect phone → chat</a:t>
            </a:r>
            <a:endParaRPr b="0" lang="en-US" sz="980" spc="-1" strike="noStrike">
              <a:solidFill>
                <a:srgbClr val="000000"/>
              </a:solidFill>
              <a:latin typeface="Arial"/>
            </a:endParaRPr>
          </a:p>
        </p:txBody>
      </p:sp>
      <p:sp>
        <p:nvSpPr>
          <p:cNvPr id="182" name="TextBox 14"/>
          <p:cNvSpPr/>
          <p:nvPr/>
        </p:nvSpPr>
        <p:spPr>
          <a:xfrm>
            <a:off x="5140080" y="2316600"/>
            <a:ext cx="3427200" cy="3960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52514e"/>
                </a:solidFill>
                <a:latin typeface="Calibri"/>
              </a:rPr>
              <a:t>The intuitive lever. Modelled end-to-end it </a:t>
            </a:r>
            <a:r>
              <a:rPr b="1" lang="en-US" sz="800" spc="-1" strike="noStrike">
                <a:solidFill>
                  <a:srgbClr val="52514e"/>
                </a:solidFill>
                <a:latin typeface="Calibri"/>
              </a:rPr>
              <a:t>costs</a:t>
            </a:r>
            <a:r>
              <a:rPr b="0" lang="en-US" sz="800" spc="-1" strike="noStrike">
                <a:solidFill>
                  <a:srgbClr val="52514e"/>
                </a:solidFill>
                <a:latin typeface="Calibri"/>
              </a:rPr>
              <a:t> FTE, because English chat consumes </a:t>
            </a:r>
            <a:r>
              <a:rPr b="1" lang="en-US" sz="800" spc="-1" strike="noStrike">
                <a:solidFill>
                  <a:srgbClr val="52514e"/>
                </a:solidFill>
                <a:latin typeface="Calibri"/>
              </a:rPr>
              <a:t>958 agent-seconds</a:t>
            </a:r>
            <a:r>
              <a:rPr b="0" lang="en-US" sz="800" spc="-1" strike="noStrike">
                <a:solidFill>
                  <a:srgbClr val="52514e"/>
                </a:solidFill>
                <a:latin typeface="Calibri"/>
              </a:rPr>
              <a:t> per contact against phone’s </a:t>
            </a:r>
            <a:r>
              <a:rPr b="1" lang="en-US" sz="800" spc="-1" strike="noStrike">
                <a:solidFill>
                  <a:srgbClr val="52514e"/>
                </a:solidFill>
                <a:latin typeface="Calibri"/>
              </a:rPr>
              <a:t>458</a:t>
            </a:r>
            <a:r>
              <a:rPr b="0" lang="en-US" sz="800" spc="-1" strike="noStrike">
                <a:solidFill>
                  <a:srgbClr val="52514e"/>
                </a:solidFill>
                <a:latin typeface="Calibri"/>
              </a:rPr>
              <a:t>.</a:t>
            </a:r>
            <a:endParaRPr b="0" lang="en-US" sz="800" spc="-1" strike="noStrike">
              <a:solidFill>
                <a:srgbClr val="000000"/>
              </a:solidFill>
              <a:latin typeface="Arial"/>
            </a:endParaRPr>
          </a:p>
        </p:txBody>
      </p:sp>
      <p:graphicFrame>
        <p:nvGraphicFramePr>
          <p:cNvPr id="183" name="Table 15"/>
          <p:cNvGraphicFramePr/>
          <p:nvPr/>
        </p:nvGraphicFramePr>
        <p:xfrm>
          <a:off x="5140080" y="2767680"/>
          <a:ext cx="3427200" cy="868680"/>
        </p:xfrm>
        <a:graphic>
          <a:graphicData uri="http://schemas.openxmlformats.org/drawingml/2006/table">
            <a:tbl>
              <a:tblPr/>
              <a:tblGrid>
                <a:gridCol w="617760"/>
                <a:gridCol w="674280"/>
                <a:gridCol w="674280"/>
                <a:gridCol w="730440"/>
                <a:gridCol w="730440"/>
              </a:tblGrid>
              <a:tr h="173520">
                <a:tc>
                  <a:txBody>
                    <a:bodyPr lIns="31680" rIns="31680" tIns="12600" bIns="12600" anchor="b">
                      <a:noAutofit/>
                    </a:bodyPr>
                    <a:p>
                      <a:pPr defTabSz="457200">
                        <a:lnSpc>
                          <a:spcPct val="100000"/>
                        </a:lnSpc>
                      </a:pPr>
                      <a:r>
                        <a:rPr b="1" lang="en-US" sz="680" spc="-1" strike="noStrike">
                          <a:solidFill>
                            <a:srgbClr val="898781"/>
                          </a:solidFill>
                          <a:latin typeface="Calibri"/>
                        </a:rPr>
                        <a:t>SHIFT</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PHONE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CHAT</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Δ</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159.2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898781"/>
                          </a:solidFill>
                          <a:latin typeface="Calibri"/>
                        </a:rPr>
                        <a:t>0.0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10%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162.6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d03b3b"/>
                          </a:solidFill>
                          <a:latin typeface="Calibri"/>
                        </a:rPr>
                        <a:t>+3.4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20%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9</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166.1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d03b3b"/>
                          </a:solidFill>
                          <a:latin typeface="Calibri"/>
                        </a:rPr>
                        <a:t>+6.8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30%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9</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174.6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d03b3b"/>
                          </a:solidFill>
                          <a:latin typeface="Calibri"/>
                        </a:rPr>
                        <a:t>+15.4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cxnSp>
        <p:nvCxnSpPr>
          <p:cNvPr id="184" name="Connector 16"/>
          <p:cNvCxnSpPr/>
          <p:nvPr/>
        </p:nvCxnSpPr>
        <p:spPr>
          <a:xfrm>
            <a:off x="5020920" y="2026440"/>
            <a:ext cx="360" cy="1656000"/>
          </a:xfrm>
          <a:prstGeom prst="straightConnector1">
            <a:avLst/>
          </a:prstGeom>
          <a:ln w="28575">
            <a:solidFill>
              <a:srgbClr val="d03b3b"/>
            </a:solidFill>
            <a:round/>
          </a:ln>
        </p:spPr>
      </p:cxnSp>
      <p:sp>
        <p:nvSpPr>
          <p:cNvPr id="185" name="TextBox 17"/>
          <p:cNvSpPr/>
          <p:nvPr/>
        </p:nvSpPr>
        <p:spPr>
          <a:xfrm>
            <a:off x="8787240" y="960120"/>
            <a:ext cx="29012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STRATEGY 2 · CHAT CONCURRENCY −75.3 FTE (15%)</a:t>
            </a:r>
            <a:endParaRPr b="0" lang="en-US" sz="820" spc="-1" strike="noStrike">
              <a:solidFill>
                <a:srgbClr val="000000"/>
              </a:solidFill>
              <a:latin typeface="Arial"/>
            </a:endParaRPr>
          </a:p>
        </p:txBody>
      </p:sp>
      <p:graphicFrame>
        <p:nvGraphicFramePr>
          <p:cNvPr id="186" name="Chart 18"/>
          <p:cNvGraphicFramePr/>
          <p:nvPr/>
        </p:nvGraphicFramePr>
        <p:xfrm>
          <a:off x="8787240" y="1188720"/>
          <a:ext cx="2901240" cy="1234080"/>
        </p:xfrm>
        <a:graphic>
          <a:graphicData uri="http://schemas.openxmlformats.org/drawingml/2006/chart">
            <c:chart xmlns:c="http://schemas.openxmlformats.org/drawingml/2006/chart" xmlns:r="http://schemas.openxmlformats.org/officeDocument/2006/relationships" r:id="rId2"/>
          </a:graphicData>
        </a:graphic>
      </p:graphicFrame>
      <p:sp>
        <p:nvSpPr>
          <p:cNvPr id="187" name="TextBox 19"/>
          <p:cNvSpPr/>
          <p:nvPr/>
        </p:nvSpPr>
        <p:spPr>
          <a:xfrm>
            <a:off x="8787240" y="2505600"/>
            <a:ext cx="2901240" cy="514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80" spc="-1" strike="noStrike">
                <a:solidFill>
                  <a:srgbClr val="52514e"/>
                </a:solidFill>
                <a:latin typeface="Calibri"/>
              </a:rPr>
              <a:t>Chat is </a:t>
            </a:r>
            <a:r>
              <a:rPr b="1" lang="en-US" sz="780" spc="-1" strike="noStrike">
                <a:solidFill>
                  <a:srgbClr val="52514e"/>
                </a:solidFill>
                <a:latin typeface="Calibri"/>
              </a:rPr>
              <a:t>188 FTE — 39% of the entire operation</a:t>
            </a:r>
            <a:r>
              <a:rPr b="0" lang="en-US" sz="780" spc="-1" strike="noStrike">
                <a:solidFill>
                  <a:srgbClr val="52514e"/>
                </a:solidFill>
                <a:latin typeface="Calibri"/>
              </a:rPr>
              <a:t>, the largest single line in the plan. The given 1.2 sits under a column headed “Chat concurrency </a:t>
            </a:r>
            <a:r>
              <a:rPr b="0" i="1" lang="en-US" sz="780" spc="-1" strike="noStrike">
                <a:solidFill>
                  <a:srgbClr val="52514e"/>
                </a:solidFill>
                <a:latin typeface="Calibri"/>
              </a:rPr>
              <a:t>English</a:t>
            </a:r>
            <a:r>
              <a:rPr b="0" lang="en-US" sz="780" spc="-1" strike="noStrike">
                <a:solidFill>
                  <a:srgbClr val="52514e"/>
                </a:solidFill>
                <a:latin typeface="Calibri"/>
              </a:rPr>
              <a:t>” yet repeats on every BPO and every language.</a:t>
            </a:r>
            <a:endParaRPr b="0" lang="en-US" sz="780" spc="-1" strike="noStrike">
              <a:solidFill>
                <a:srgbClr val="000000"/>
              </a:solidFill>
              <a:latin typeface="Arial"/>
            </a:endParaRPr>
          </a:p>
        </p:txBody>
      </p:sp>
      <p:sp>
        <p:nvSpPr>
          <p:cNvPr id="188" name="TextBox 20"/>
          <p:cNvSpPr/>
          <p:nvPr/>
        </p:nvSpPr>
        <p:spPr>
          <a:xfrm>
            <a:off x="8787240" y="3066120"/>
            <a:ext cx="2901240" cy="514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80" spc="-1" strike="noStrike">
                <a:solidFill>
                  <a:srgbClr val="52514e"/>
                </a:solidFill>
                <a:latin typeface="Calibri"/>
              </a:rPr>
              <a:t>Ask whether it was measured.</a:t>
            </a:r>
            <a:r>
              <a:rPr b="0" lang="en-US" sz="780" spc="-1" strike="noStrike">
                <a:solidFill>
                  <a:srgbClr val="52514e"/>
                </a:solidFill>
                <a:latin typeface="Calibri"/>
              </a:rPr>
              <a:t> If it was, the tooling or the routing rules are the constraint and there is a clear case to fix them. If it is a placeholder, the plan carries a 75 FTE error. Either answer is worth having.</a:t>
            </a:r>
            <a:endParaRPr b="0" lang="en-US" sz="780" spc="-1" strike="noStrike">
              <a:solidFill>
                <a:srgbClr val="000000"/>
              </a:solidFill>
              <a:latin typeface="Arial"/>
            </a:endParaRPr>
          </a:p>
        </p:txBody>
      </p:sp>
      <p:cxnSp>
        <p:nvCxnSpPr>
          <p:cNvPr id="189" name="Connector 21"/>
          <p:cNvCxnSpPr/>
          <p:nvPr/>
        </p:nvCxnSpPr>
        <p:spPr>
          <a:xfrm>
            <a:off x="8786880" y="3654360"/>
            <a:ext cx="360" cy="786600"/>
          </a:xfrm>
          <a:prstGeom prst="straightConnector1">
            <a:avLst/>
          </a:prstGeom>
          <a:ln w="28575">
            <a:solidFill>
              <a:srgbClr val="c3c2b7"/>
            </a:solidFill>
            <a:round/>
          </a:ln>
        </p:spPr>
      </p:cxnSp>
      <p:sp>
        <p:nvSpPr>
          <p:cNvPr id="190" name="TextBox 22"/>
          <p:cNvSpPr/>
          <p:nvPr/>
        </p:nvSpPr>
        <p:spPr>
          <a:xfrm>
            <a:off x="8906040" y="3682080"/>
            <a:ext cx="2782440" cy="712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20" spc="-1" strike="noStrike">
                <a:solidFill>
                  <a:srgbClr val="52514e"/>
                </a:solidFill>
                <a:latin typeface="Calibri"/>
              </a:rPr>
              <a:t>Where the real prize is.</a:t>
            </a:r>
            <a:r>
              <a:rPr b="0" lang="en-US" sz="720" spc="-1" strike="noStrike">
                <a:solidFill>
                  <a:srgbClr val="52514e"/>
                </a:solidFill>
                <a:latin typeface="Calibri"/>
              </a:rPr>
              <a:t> The top three handling-hour drivers — </a:t>
            </a:r>
            <a:r>
              <a:rPr b="1" lang="en-US" sz="720" spc="-1" strike="noStrike">
                <a:solidFill>
                  <a:srgbClr val="52514e"/>
                </a:solidFill>
                <a:latin typeface="Calibri"/>
              </a:rPr>
              <a:t>1.1 Availability</a:t>
            </a:r>
            <a:r>
              <a:rPr b="0" lang="en-US" sz="720" spc="-1" strike="noStrike">
                <a:solidFill>
                  <a:srgbClr val="52514e"/>
                </a:solidFill>
                <a:latin typeface="Calibri"/>
              </a:rPr>
              <a:t> (5,026 h), </a:t>
            </a:r>
            <a:r>
              <a:rPr b="1" lang="en-US" sz="720" spc="-1" strike="noStrike">
                <a:solidFill>
                  <a:srgbClr val="52514e"/>
                </a:solidFill>
                <a:latin typeface="Calibri"/>
              </a:rPr>
              <a:t>3.3 Meeting point</a:t>
            </a:r>
            <a:r>
              <a:rPr b="0" lang="en-US" sz="720" spc="-1" strike="noStrike">
                <a:solidFill>
                  <a:srgbClr val="52514e"/>
                </a:solidFill>
                <a:latin typeface="Calibri"/>
              </a:rPr>
              <a:t> (4,712 h) and </a:t>
            </a:r>
            <a:r>
              <a:rPr b="1" lang="en-US" sz="720" spc="-1" strike="noStrike">
                <a:solidFill>
                  <a:srgbClr val="52514e"/>
                </a:solidFill>
                <a:latin typeface="Calibri"/>
              </a:rPr>
              <a:t>3.1 Voucher not received</a:t>
            </a:r>
            <a:r>
              <a:rPr b="0" lang="en-US" sz="720" spc="-1" strike="noStrike">
                <a:solidFill>
                  <a:srgbClr val="52514e"/>
                </a:solidFill>
                <a:latin typeface="Calibri"/>
              </a:rPr>
              <a:t> (3,844 h, CSAT 65%) — are high-volume, low-CSAT and automatable. That is a product ask, not a scheduling change, so it sits beside these two rather than among them.</a:t>
            </a:r>
            <a:endParaRPr b="0" lang="en-US" sz="720" spc="-1" strike="noStrike">
              <a:solidFill>
                <a:srgbClr val="000000"/>
              </a:solidFill>
              <a:latin typeface="Arial"/>
            </a:endParaRPr>
          </a:p>
        </p:txBody>
      </p:sp>
      <p:cxnSp>
        <p:nvCxnSpPr>
          <p:cNvPr id="191" name="Connector 23"/>
          <p:cNvCxnSpPr/>
          <p:nvPr/>
        </p:nvCxnSpPr>
        <p:spPr>
          <a:xfrm>
            <a:off x="502920" y="6400800"/>
            <a:ext cx="11185920" cy="360"/>
          </a:xfrm>
          <a:prstGeom prst="straightConnector1">
            <a:avLst/>
          </a:prstGeom>
          <a:ln w="9525">
            <a:solidFill>
              <a:srgbClr val="e1e0d9"/>
            </a:solidFill>
            <a:round/>
          </a:ln>
        </p:spPr>
      </p:cxnSp>
      <p:sp>
        <p:nvSpPr>
          <p:cNvPr id="192" name="TextBox 24"/>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submission · </a:t>
            </a:r>
            <a:endParaRPr b="0" lang="en-US" sz="750" spc="-1" strike="noStrike">
              <a:solidFill>
                <a:srgbClr val="000000"/>
              </a:solidFill>
              <a:latin typeface="Arial"/>
            </a:endParaRPr>
          </a:p>
        </p:txBody>
      </p:sp>
      <p:sp>
        <p:nvSpPr>
          <p:cNvPr id="193" name="TextBox 25"/>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4 / 5</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94"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2a78d6"/>
                </a:solidFill>
                <a:latin typeface="Calibri"/>
              </a:rPr>
              <a:t>05 · Section 2 + Task 1c</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195"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900" spc="-1" strike="noStrike">
                <a:solidFill>
                  <a:srgbClr val="0b0b0b"/>
                </a:solidFill>
                <a:latin typeface="Calibri"/>
              </a:rPr>
              <a:t>Leading the transformation — and how AI was actually used</a:t>
            </a:r>
            <a:endParaRPr b="0" lang="en-US" sz="1900" spc="-1" strike="noStrike">
              <a:solidFill>
                <a:srgbClr val="000000"/>
              </a:solidFill>
              <a:latin typeface="Arial"/>
            </a:endParaRPr>
          </a:p>
        </p:txBody>
      </p:sp>
      <p:cxnSp>
        <p:nvCxnSpPr>
          <p:cNvPr id="196" name="Connector 3"/>
          <p:cNvCxnSpPr/>
          <p:nvPr/>
        </p:nvCxnSpPr>
        <p:spPr>
          <a:xfrm>
            <a:off x="502920" y="822960"/>
            <a:ext cx="11185920" cy="360"/>
          </a:xfrm>
          <a:prstGeom prst="straightConnector1">
            <a:avLst/>
          </a:prstGeom>
          <a:ln w="9525">
            <a:solidFill>
              <a:srgbClr val="e1e0d9"/>
            </a:solidFill>
            <a:round/>
          </a:ln>
        </p:spPr>
      </p:cxnSp>
      <p:sp>
        <p:nvSpPr>
          <p:cNvPr id="197" name="TextBox 4"/>
          <p:cNvSpPr/>
          <p:nvPr/>
        </p:nvSpPr>
        <p:spPr>
          <a:xfrm>
            <a:off x="502920" y="960120"/>
            <a:ext cx="408348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2A · 30 / 60 / 90</a:t>
            </a:r>
            <a:endParaRPr b="0" lang="en-US" sz="820" spc="-1" strike="noStrike">
              <a:solidFill>
                <a:srgbClr val="000000"/>
              </a:solidFill>
              <a:latin typeface="Arial"/>
            </a:endParaRPr>
          </a:p>
        </p:txBody>
      </p:sp>
      <p:sp>
        <p:nvSpPr>
          <p:cNvPr id="198" name="TextBox 5"/>
          <p:cNvSpPr/>
          <p:nvPr/>
        </p:nvSpPr>
        <p:spPr>
          <a:xfrm>
            <a:off x="502920" y="1207080"/>
            <a:ext cx="4083480" cy="15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50" spc="-1" strike="noStrike">
                <a:solidFill>
                  <a:srgbClr val="0b0b0b"/>
                </a:solidFill>
                <a:latin typeface="Calibri"/>
              </a:rPr>
              <a:t>0–30 · Decide, then build</a:t>
            </a:r>
            <a:endParaRPr b="0" lang="en-US" sz="950" spc="-1" strike="noStrike">
              <a:solidFill>
                <a:srgbClr val="000000"/>
              </a:solidFill>
              <a:latin typeface="Arial"/>
            </a:endParaRPr>
          </a:p>
        </p:txBody>
      </p:sp>
      <p:sp>
        <p:nvSpPr>
          <p:cNvPr id="199" name="TextBox 6"/>
          <p:cNvSpPr/>
          <p:nvPr/>
        </p:nvSpPr>
        <p:spPr>
          <a:xfrm>
            <a:off x="502920" y="1437120"/>
            <a:ext cx="4083480" cy="514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80" spc="-1" strike="noStrike">
                <a:solidFill>
                  <a:srgbClr val="52514e"/>
                </a:solidFill>
                <a:latin typeface="Calibri"/>
              </a:rPr>
              <a:t>Four decisions gate everything downstream — none are technical: </a:t>
            </a:r>
            <a:r>
              <a:rPr b="1" lang="en-US" sz="780" spc="-1" strike="noStrike">
                <a:solidFill>
                  <a:srgbClr val="52514e"/>
                </a:solidFill>
                <a:latin typeface="Calibri"/>
              </a:rPr>
              <a:t>who owns the AHT definition</a:t>
            </a:r>
            <a:r>
              <a:rPr b="0" lang="en-US" sz="780" spc="-1" strike="noStrike">
                <a:solidFill>
                  <a:srgbClr val="52514e"/>
                </a:solidFill>
                <a:latin typeface="Calibri"/>
              </a:rPr>
              <a:t> (the ±78 FTE question is unresolvable without an owner); </a:t>
            </a:r>
            <a:r>
              <a:rPr b="1" lang="en-US" sz="780" spc="-1" strike="noStrike">
                <a:solidFill>
                  <a:srgbClr val="52514e"/>
                </a:solidFill>
                <a:latin typeface="Calibri"/>
              </a:rPr>
              <a:t>forecast granularity</a:t>
            </a:r>
            <a:r>
              <a:rPr b="0" lang="en-US" sz="780" spc="-1" strike="noStrike">
                <a:solidFill>
                  <a:srgbClr val="52514e"/>
                </a:solidFill>
                <a:latin typeface="Calibri"/>
              </a:rPr>
              <a:t> (language × channel × interval); </a:t>
            </a:r>
            <a:r>
              <a:rPr b="1" lang="en-US" sz="780" spc="-1" strike="noStrike">
                <a:solidFill>
                  <a:srgbClr val="52514e"/>
                </a:solidFill>
                <a:latin typeface="Calibri"/>
              </a:rPr>
              <a:t>who signs off assumptions</a:t>
            </a:r>
            <a:r>
              <a:rPr b="0" lang="en-US" sz="780" spc="-1" strike="noStrike">
                <a:solidFill>
                  <a:srgbClr val="52514e"/>
                </a:solidFill>
                <a:latin typeface="Calibri"/>
              </a:rPr>
              <a:t>; </a:t>
            </a:r>
            <a:r>
              <a:rPr b="1" lang="en-US" sz="780" spc="-1" strike="noStrike">
                <a:solidFill>
                  <a:srgbClr val="52514e"/>
                </a:solidFill>
                <a:latin typeface="Calibri"/>
              </a:rPr>
              <a:t>where the model lives</a:t>
            </a:r>
            <a:r>
              <a:rPr b="0" lang="en-US" sz="780" spc="-1" strike="noStrike">
                <a:solidFill>
                  <a:srgbClr val="52514e"/>
                </a:solidFill>
                <a:latin typeface="Calibri"/>
              </a:rPr>
              <a:t>. Baseline the manual model's accuracy in week 1.</a:t>
            </a:r>
            <a:endParaRPr b="0" lang="en-US" sz="780" spc="-1" strike="noStrike">
              <a:solidFill>
                <a:srgbClr val="000000"/>
              </a:solidFill>
              <a:latin typeface="Arial"/>
            </a:endParaRPr>
          </a:p>
        </p:txBody>
      </p:sp>
      <p:sp>
        <p:nvSpPr>
          <p:cNvPr id="200" name="TextBox 7"/>
          <p:cNvSpPr/>
          <p:nvPr/>
        </p:nvSpPr>
        <p:spPr>
          <a:xfrm>
            <a:off x="502920" y="2007000"/>
            <a:ext cx="4083480" cy="15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50" spc="-1" strike="noStrike">
                <a:solidFill>
                  <a:srgbClr val="0b0b0b"/>
                </a:solidFill>
                <a:latin typeface="Calibri"/>
              </a:rPr>
              <a:t>31–60 · Shadow, don't switch</a:t>
            </a:r>
            <a:endParaRPr b="0" lang="en-US" sz="950" spc="-1" strike="noStrike">
              <a:solidFill>
                <a:srgbClr val="000000"/>
              </a:solidFill>
              <a:latin typeface="Arial"/>
            </a:endParaRPr>
          </a:p>
        </p:txBody>
      </p:sp>
      <p:sp>
        <p:nvSpPr>
          <p:cNvPr id="201" name="TextBox 8"/>
          <p:cNvSpPr/>
          <p:nvPr/>
        </p:nvSpPr>
        <p:spPr>
          <a:xfrm>
            <a:off x="502920" y="2237040"/>
            <a:ext cx="4083480" cy="3859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80" spc="-1" strike="noStrike">
                <a:solidFill>
                  <a:srgbClr val="52514e"/>
                </a:solidFill>
                <a:latin typeface="Calibri"/>
              </a:rPr>
              <a:t>New model runs in parallel on English — 59% of volume, all of the growth, all of the forecast risk (σ 19.5% vs under 9% elsewhere). Weekly reconciliation against the manual plan. The manual plan stays </a:t>
            </a:r>
            <a:r>
              <a:rPr b="0" i="1" lang="en-US" sz="780" spc="-1" strike="noStrike">
                <a:solidFill>
                  <a:srgbClr val="52514e"/>
                </a:solidFill>
                <a:latin typeface="Calibri"/>
              </a:rPr>
              <a:t>the</a:t>
            </a:r>
            <a:r>
              <a:rPr b="0" lang="en-US" sz="780" spc="-1" strike="noStrike">
                <a:solidFill>
                  <a:srgbClr val="52514e"/>
                </a:solidFill>
                <a:latin typeface="Calibri"/>
              </a:rPr>
              <a:t> plan.</a:t>
            </a:r>
            <a:endParaRPr b="0" lang="en-US" sz="780" spc="-1" strike="noStrike">
              <a:solidFill>
                <a:srgbClr val="000000"/>
              </a:solidFill>
              <a:latin typeface="Arial"/>
            </a:endParaRPr>
          </a:p>
        </p:txBody>
      </p:sp>
      <p:sp>
        <p:nvSpPr>
          <p:cNvPr id="202" name="TextBox 9"/>
          <p:cNvSpPr/>
          <p:nvPr/>
        </p:nvSpPr>
        <p:spPr>
          <a:xfrm>
            <a:off x="502920" y="2678040"/>
            <a:ext cx="4083480" cy="1566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950" spc="-1" strike="noStrike">
                <a:solidFill>
                  <a:srgbClr val="0b0b0b"/>
                </a:solidFill>
                <a:latin typeface="Calibri"/>
              </a:rPr>
              <a:t>61–90 · Cut over, then extend</a:t>
            </a:r>
            <a:endParaRPr b="0" lang="en-US" sz="950" spc="-1" strike="noStrike">
              <a:solidFill>
                <a:srgbClr val="000000"/>
              </a:solidFill>
              <a:latin typeface="Arial"/>
            </a:endParaRPr>
          </a:p>
        </p:txBody>
      </p:sp>
      <p:sp>
        <p:nvSpPr>
          <p:cNvPr id="203" name="TextBox 10"/>
          <p:cNvSpPr/>
          <p:nvPr/>
        </p:nvSpPr>
        <p:spPr>
          <a:xfrm>
            <a:off x="502920" y="2908080"/>
            <a:ext cx="4083480" cy="2570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80" spc="-1" strike="noStrike">
                <a:solidFill>
                  <a:srgbClr val="52514e"/>
                </a:solidFill>
                <a:latin typeface="Calibri"/>
              </a:rPr>
              <a:t>English cuts over once it has beaten the baseline for six consecutive weeks. DE/IT/ES/FR follow. Escalation and override rules written down before, not after.</a:t>
            </a:r>
            <a:endParaRPr b="0" lang="en-US" sz="780" spc="-1" strike="noStrike">
              <a:solidFill>
                <a:srgbClr val="000000"/>
              </a:solidFill>
              <a:latin typeface="Arial"/>
            </a:endParaRPr>
          </a:p>
        </p:txBody>
      </p:sp>
      <p:cxnSp>
        <p:nvCxnSpPr>
          <p:cNvPr id="204" name="Connector 11"/>
          <p:cNvCxnSpPr/>
          <p:nvPr/>
        </p:nvCxnSpPr>
        <p:spPr>
          <a:xfrm>
            <a:off x="502920" y="3238560"/>
            <a:ext cx="360" cy="450000"/>
          </a:xfrm>
          <a:prstGeom prst="straightConnector1">
            <a:avLst/>
          </a:prstGeom>
          <a:ln w="28575">
            <a:solidFill>
              <a:srgbClr val="2a78d6"/>
            </a:solidFill>
            <a:round/>
          </a:ln>
        </p:spPr>
      </p:cxnSp>
      <p:sp>
        <p:nvSpPr>
          <p:cNvPr id="205" name="TextBox 12"/>
          <p:cNvSpPr/>
          <p:nvPr/>
        </p:nvSpPr>
        <p:spPr>
          <a:xfrm>
            <a:off x="621720" y="3266280"/>
            <a:ext cx="396468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60" spc="-1" strike="noStrike">
                <a:solidFill>
                  <a:srgbClr val="52514e"/>
                </a:solidFill>
                <a:latin typeface="Calibri"/>
              </a:rPr>
              <a:t>"Done" at 90 days:</a:t>
            </a:r>
            <a:r>
              <a:rPr b="0" lang="en-US" sz="760" spc="-1" strike="noStrike">
                <a:solidFill>
                  <a:srgbClr val="52514e"/>
                </a:solidFill>
                <a:latin typeface="Calibri"/>
              </a:rPr>
              <a:t> the model produces the weekly plan unaided, beats the manual baseline on MAPE for six straight weeks, the three specialists run it without me, and every assumption is versioned and dated.</a:t>
            </a:r>
            <a:endParaRPr b="0" lang="en-US" sz="760" spc="-1" strike="noStrike">
              <a:solidFill>
                <a:srgbClr val="000000"/>
              </a:solidFill>
              <a:latin typeface="Arial"/>
            </a:endParaRPr>
          </a:p>
        </p:txBody>
      </p:sp>
      <p:sp>
        <p:nvSpPr>
          <p:cNvPr id="206" name="TextBox 13"/>
          <p:cNvSpPr/>
          <p:nvPr/>
        </p:nvSpPr>
        <p:spPr>
          <a:xfrm>
            <a:off x="4806360" y="960120"/>
            <a:ext cx="25790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2B · BRINGING THREE SPECIALISTS ALONG</a:t>
            </a:r>
            <a:endParaRPr b="0" lang="en-US" sz="820" spc="-1" strike="noStrike">
              <a:solidFill>
                <a:srgbClr val="000000"/>
              </a:solidFill>
              <a:latin typeface="Arial"/>
            </a:endParaRPr>
          </a:p>
        </p:txBody>
      </p:sp>
      <p:sp>
        <p:nvSpPr>
          <p:cNvPr id="207" name="TextBox 14"/>
          <p:cNvSpPr/>
          <p:nvPr/>
        </p:nvSpPr>
        <p:spPr>
          <a:xfrm>
            <a:off x="4806360" y="1197720"/>
            <a:ext cx="257904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60" spc="-1" strike="noStrike">
                <a:solidFill>
                  <a:srgbClr val="52514e"/>
                </a:solidFill>
                <a:latin typeface="Calibri"/>
              </a:rPr>
              <a:t>Assess with an artefact, not an opinion.</a:t>
            </a:r>
            <a:r>
              <a:rPr b="0" lang="en-US" sz="760" spc="-1" strike="noStrike">
                <a:solidFill>
                  <a:srgbClr val="52514e"/>
                </a:solidFill>
                <a:latin typeface="Calibri"/>
              </a:rPr>
              <a:t> Give all three the same task on this dataset — clean it, forecast one language, document the assumptions.</a:t>
            </a:r>
            <a:endParaRPr b="0" lang="en-US" sz="760" spc="-1" strike="noStrike">
              <a:solidFill>
                <a:srgbClr val="000000"/>
              </a:solidFill>
              <a:latin typeface="Arial"/>
            </a:endParaRPr>
          </a:p>
        </p:txBody>
      </p:sp>
      <p:sp>
        <p:nvSpPr>
          <p:cNvPr id="208" name="TextBox 15"/>
          <p:cNvSpPr/>
          <p:nvPr/>
        </p:nvSpPr>
        <p:spPr>
          <a:xfrm>
            <a:off x="4806360" y="1620000"/>
            <a:ext cx="257904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60" spc="-1" strike="noStrike">
                <a:solidFill>
                  <a:srgbClr val="52514e"/>
                </a:solidFill>
                <a:latin typeface="Calibri"/>
              </a:rPr>
              <a:t>Set the expectation explicitly:</a:t>
            </a:r>
            <a:r>
              <a:rPr b="0" lang="en-US" sz="760" spc="-1" strike="noStrike">
                <a:solidFill>
                  <a:srgbClr val="52514e"/>
                </a:solidFill>
                <a:latin typeface="Calibri"/>
              </a:rPr>
              <a:t> AI is the tool, they own the judgement. The two things AI got wrong were both plausible-sounding domain defaults.</a:t>
            </a:r>
            <a:endParaRPr b="0" lang="en-US" sz="760" spc="-1" strike="noStrike">
              <a:solidFill>
                <a:srgbClr val="000000"/>
              </a:solidFill>
              <a:latin typeface="Arial"/>
            </a:endParaRPr>
          </a:p>
        </p:txBody>
      </p:sp>
      <p:sp>
        <p:nvSpPr>
          <p:cNvPr id="209" name="TextBox 16"/>
          <p:cNvSpPr/>
          <p:nvPr/>
        </p:nvSpPr>
        <p:spPr>
          <a:xfrm>
            <a:off x="4806360" y="2042280"/>
            <a:ext cx="2579040" cy="2505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60" spc="-1" strike="noStrike">
                <a:solidFill>
                  <a:srgbClr val="52514e"/>
                </a:solidFill>
                <a:latin typeface="Calibri"/>
              </a:rPr>
              <a:t>Protect BAU:</a:t>
            </a:r>
            <a:r>
              <a:rPr b="0" lang="en-US" sz="760" spc="-1" strike="noStrike">
                <a:solidFill>
                  <a:srgbClr val="52514e"/>
                </a:solidFill>
                <a:latin typeface="Calibri"/>
              </a:rPr>
              <a:t> six weeks of shadow running, paired shadowing, and a written prompt playbook.</a:t>
            </a:r>
            <a:endParaRPr b="0" lang="en-US" sz="760" spc="-1" strike="noStrike">
              <a:solidFill>
                <a:srgbClr val="000000"/>
              </a:solidFill>
              <a:latin typeface="Arial"/>
            </a:endParaRPr>
          </a:p>
        </p:txBody>
      </p:sp>
      <p:sp>
        <p:nvSpPr>
          <p:cNvPr id="210" name="TextBox 17"/>
          <p:cNvSpPr/>
          <p:nvPr/>
        </p:nvSpPr>
        <p:spPr>
          <a:xfrm>
            <a:off x="4806360" y="2384640"/>
            <a:ext cx="25790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2C · WHAT I WOULD MEASURE</a:t>
            </a:r>
            <a:endParaRPr b="0" lang="en-US" sz="820" spc="-1" strike="noStrike">
              <a:solidFill>
                <a:srgbClr val="000000"/>
              </a:solidFill>
              <a:latin typeface="Arial"/>
            </a:endParaRPr>
          </a:p>
        </p:txBody>
      </p:sp>
      <p:sp>
        <p:nvSpPr>
          <p:cNvPr id="211" name="TextBox 18"/>
          <p:cNvSpPr/>
          <p:nvPr/>
        </p:nvSpPr>
        <p:spPr>
          <a:xfrm>
            <a:off x="4806360" y="2622240"/>
            <a:ext cx="2579040" cy="3610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30" spc="-1" strike="noStrike">
                <a:solidFill>
                  <a:srgbClr val="52514e"/>
                </a:solidFill>
                <a:latin typeface="Calibri"/>
              </a:rPr>
              <a:t>Leading</a:t>
            </a:r>
            <a:r>
              <a:rPr b="0" lang="en-US" sz="730" spc="-1" strike="noStrike">
                <a:solidFill>
                  <a:srgbClr val="52514e"/>
                </a:solidFill>
                <a:latin typeface="Calibri"/>
              </a:rPr>
              <a:t> — inputs with a named owner · time to produce a plan · open data-quality items (</a:t>
            </a:r>
            <a:r>
              <a:rPr b="1" lang="en-US" sz="730" spc="-1" strike="noStrike">
                <a:solidFill>
                  <a:srgbClr val="52514e"/>
                </a:solidFill>
                <a:latin typeface="Calibri"/>
              </a:rPr>
              <a:t>starts at 12</a:t>
            </a:r>
            <a:r>
              <a:rPr b="0" lang="en-US" sz="730" spc="-1" strike="noStrike">
                <a:solidFill>
                  <a:srgbClr val="52514e"/>
                </a:solidFill>
                <a:latin typeface="Calibri"/>
              </a:rPr>
              <a:t>) · specialists running it solo (0→3).</a:t>
            </a:r>
            <a:endParaRPr b="0" lang="en-US" sz="730" spc="-1" strike="noStrike">
              <a:solidFill>
                <a:srgbClr val="000000"/>
              </a:solidFill>
              <a:latin typeface="Arial"/>
            </a:endParaRPr>
          </a:p>
        </p:txBody>
      </p:sp>
      <p:sp>
        <p:nvSpPr>
          <p:cNvPr id="212" name="TextBox 19"/>
          <p:cNvSpPr/>
          <p:nvPr/>
        </p:nvSpPr>
        <p:spPr>
          <a:xfrm>
            <a:off x="4806360" y="3020400"/>
            <a:ext cx="2579040" cy="3610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30" spc="-1" strike="noStrike">
                <a:solidFill>
                  <a:srgbClr val="52514e"/>
                </a:solidFill>
                <a:latin typeface="Calibri"/>
              </a:rPr>
              <a:t>Lagging</a:t>
            </a:r>
            <a:r>
              <a:rPr b="0" lang="en-US" sz="730" spc="-1" strike="noStrike">
                <a:solidFill>
                  <a:srgbClr val="52514e"/>
                </a:solidFill>
                <a:latin typeface="Calibri"/>
              </a:rPr>
              <a:t> — forecast MAPE </a:t>
            </a:r>
            <a:r>
              <a:rPr b="0" i="1" lang="en-US" sz="730" spc="-1" strike="noStrike">
                <a:solidFill>
                  <a:srgbClr val="52514e"/>
                </a:solidFill>
                <a:latin typeface="Calibri"/>
              </a:rPr>
              <a:t>and BIAS</a:t>
            </a:r>
            <a:r>
              <a:rPr b="0" lang="en-US" sz="730" spc="-1" strike="noStrike">
                <a:solidFill>
                  <a:srgbClr val="52514e"/>
                </a:solidFill>
                <a:latin typeface="Calibri"/>
              </a:rPr>
              <a:t> · SLA attainment (baseline </a:t>
            </a:r>
            <a:r>
              <a:rPr b="1" lang="en-US" sz="730" spc="-1" strike="noStrike">
                <a:solidFill>
                  <a:srgbClr val="52514e"/>
                </a:solidFill>
                <a:latin typeface="Calibri"/>
              </a:rPr>
              <a:t>92%, falling</a:t>
            </a:r>
            <a:r>
              <a:rPr b="0" lang="en-US" sz="730" spc="-1" strike="noStrike">
                <a:solidFill>
                  <a:srgbClr val="52514e"/>
                </a:solidFill>
                <a:latin typeface="Calibri"/>
              </a:rPr>
              <a:t>) · FTE plan-vs-actual · cost per contact.</a:t>
            </a:r>
            <a:endParaRPr b="0" lang="en-US" sz="730" spc="-1" strike="noStrike">
              <a:solidFill>
                <a:srgbClr val="000000"/>
              </a:solidFill>
              <a:latin typeface="Arial"/>
            </a:endParaRPr>
          </a:p>
        </p:txBody>
      </p:sp>
      <p:cxnSp>
        <p:nvCxnSpPr>
          <p:cNvPr id="213" name="Connector 20"/>
          <p:cNvCxnSpPr/>
          <p:nvPr/>
        </p:nvCxnSpPr>
        <p:spPr>
          <a:xfrm>
            <a:off x="4806000" y="3454920"/>
            <a:ext cx="360" cy="430200"/>
          </a:xfrm>
          <a:prstGeom prst="straightConnector1">
            <a:avLst/>
          </a:prstGeom>
          <a:ln w="28575">
            <a:solidFill>
              <a:srgbClr val="2a78d6"/>
            </a:solidFill>
            <a:round/>
          </a:ln>
        </p:spPr>
      </p:cxnSp>
      <p:sp>
        <p:nvSpPr>
          <p:cNvPr id="214" name="TextBox 21"/>
          <p:cNvSpPr/>
          <p:nvPr/>
        </p:nvSpPr>
        <p:spPr>
          <a:xfrm>
            <a:off x="4925160" y="3482640"/>
            <a:ext cx="2459880" cy="3564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20" spc="-1" strike="noStrike">
                <a:solidFill>
                  <a:srgbClr val="52514e"/>
                </a:solidFill>
                <a:latin typeface="Calibri"/>
              </a:rPr>
              <a:t>Lead with bias, not accuracy.</a:t>
            </a:r>
            <a:r>
              <a:rPr b="0" lang="en-US" sz="720" spc="-1" strike="noStrike">
                <a:solidFill>
                  <a:srgbClr val="52514e"/>
                </a:solidFill>
                <a:latin typeface="Calibri"/>
              </a:rPr>
              <a:t> Accuracy hides direction — a workload-only model is short by 34%, every single month.</a:t>
            </a:r>
            <a:endParaRPr b="0" lang="en-US" sz="720" spc="-1" strike="noStrike">
              <a:solidFill>
                <a:srgbClr val="000000"/>
              </a:solidFill>
              <a:latin typeface="Arial"/>
            </a:endParaRPr>
          </a:p>
        </p:txBody>
      </p:sp>
      <p:sp>
        <p:nvSpPr>
          <p:cNvPr id="215" name="TextBox 22"/>
          <p:cNvSpPr/>
          <p:nvPr/>
        </p:nvSpPr>
        <p:spPr>
          <a:xfrm>
            <a:off x="7605000" y="960120"/>
            <a:ext cx="408348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1C · HOW AI WAS USED — AND WHERE IT WAS WRONG</a:t>
            </a:r>
            <a:endParaRPr b="0" lang="en-US" sz="820" spc="-1" strike="noStrike">
              <a:solidFill>
                <a:srgbClr val="000000"/>
              </a:solidFill>
              <a:latin typeface="Arial"/>
            </a:endParaRPr>
          </a:p>
        </p:txBody>
      </p:sp>
      <p:graphicFrame>
        <p:nvGraphicFramePr>
          <p:cNvPr id="216" name="Table 23"/>
          <p:cNvGraphicFramePr/>
          <p:nvPr/>
        </p:nvGraphicFramePr>
        <p:xfrm>
          <a:off x="7605000" y="1197720"/>
          <a:ext cx="4083480" cy="1969200"/>
        </p:xfrm>
        <a:graphic>
          <a:graphicData uri="http://schemas.openxmlformats.org/drawingml/2006/table">
            <a:tbl>
              <a:tblPr/>
              <a:tblGrid>
                <a:gridCol w="1389960"/>
                <a:gridCol w="738360"/>
                <a:gridCol w="1954800"/>
              </a:tblGrid>
              <a:tr h="223920">
                <a:tc>
                  <a:txBody>
                    <a:bodyPr lIns="31680" rIns="31680" tIns="12600" bIns="12600" anchor="b">
                      <a:noAutofit/>
                    </a:bodyPr>
                    <a:p>
                      <a:pPr defTabSz="457200">
                        <a:lnSpc>
                          <a:spcPct val="100000"/>
                        </a:lnSpc>
                      </a:pPr>
                      <a:r>
                        <a:rPr b="1" lang="en-US" sz="680" spc="-1" strike="noStrike">
                          <a:solidFill>
                            <a:srgbClr val="898781"/>
                          </a:solidFill>
                          <a:latin typeface="Calibri"/>
                        </a:rPr>
                        <a:t>WHERE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VERDICT</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WHAT HAPPENED</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Sheet parsing, anomaly sweep</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40" spc="-1" strike="noStrike">
                          <a:solidFill>
                            <a:srgbClr val="0a6b0a"/>
                          </a:solidFill>
                          <a:latin typeface="Calibri"/>
                        </a:rPr>
                        <a:t>ACCEPTED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Deterministic Python, verified independently.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Erlang C implementation</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40" spc="-1" strike="noStrike">
                          <a:solidFill>
                            <a:srgbClr val="0a6b0a"/>
                          </a:solidFill>
                          <a:latin typeface="Calibri"/>
                        </a:rPr>
                        <a:t>ACCEPTED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Checked by hand and against a simulation.</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First-pass model structure</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40" spc="-1" strike="noStrike">
                          <a:solidFill>
                            <a:srgbClr val="9c4a18"/>
                          </a:solidFill>
                          <a:latin typeface="Calibri"/>
                        </a:rPr>
                        <a:t>REJECTED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Workload and Erlang tables that never met.</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a:t>
                      </a:r>
                      <a:r>
                        <a:rPr b="1" lang="en-US" sz="740" spc="-1" strike="noStrike">
                          <a:solidFill>
                            <a:srgbClr val="52514e"/>
                          </a:solidFill>
                          <a:latin typeface="Calibri"/>
                        </a:rPr>
                        <a:t>Deflect phone→chat”</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40" spc="-1" strike="noStrike">
                          <a:solidFill>
                            <a:srgbClr val="9c4a18"/>
                          </a:solidFill>
                          <a:latin typeface="Calibri"/>
                        </a:rPr>
                        <a:t>REJECTED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Generic WFM instinct, contradicted by the data.</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Reason-taxonomy clustering</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40" spc="-1" strike="noStrike">
                          <a:solidFill>
                            <a:srgbClr val="1c5cab"/>
                          </a:solidFill>
                          <a:latin typeface="Calibri"/>
                        </a:rPr>
                        <a:t>CHANGED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Clusters cross families in 6 of 11 groups.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Narrative drafting</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40" spc="-1" strike="noStrike">
                          <a:solidFill>
                            <a:srgbClr val="1c5cab"/>
                          </a:solidFill>
                          <a:latin typeface="Calibri"/>
                        </a:rPr>
                        <a:t>CHANGED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Defaulted to hedging; needed a recommendation.</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cxnSp>
        <p:nvCxnSpPr>
          <p:cNvPr id="217" name="Connector 24"/>
          <p:cNvCxnSpPr/>
          <p:nvPr/>
        </p:nvCxnSpPr>
        <p:spPr>
          <a:xfrm>
            <a:off x="7604640" y="3285720"/>
            <a:ext cx="360" cy="450000"/>
          </a:xfrm>
          <a:prstGeom prst="straightConnector1">
            <a:avLst/>
          </a:prstGeom>
          <a:ln w="28575">
            <a:solidFill>
              <a:srgbClr val="d03b3b"/>
            </a:solidFill>
            <a:round/>
          </a:ln>
        </p:spPr>
      </p:cxnSp>
      <p:sp>
        <p:nvSpPr>
          <p:cNvPr id="218" name="TextBox 25"/>
          <p:cNvSpPr/>
          <p:nvPr/>
        </p:nvSpPr>
        <p:spPr>
          <a:xfrm>
            <a:off x="7723800" y="3313440"/>
            <a:ext cx="396468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60" spc="-1" strike="noStrike">
                <a:solidFill>
                  <a:srgbClr val="52514e"/>
                </a:solidFill>
                <a:latin typeface="Calibri"/>
              </a:rPr>
              <a:t>What I would do differently.</a:t>
            </a:r>
            <a:r>
              <a:rPr b="0" lang="en-US" sz="760" spc="-1" strike="noStrike">
                <a:solidFill>
                  <a:srgbClr val="52514e"/>
                </a:solidFill>
                <a:latin typeface="Calibri"/>
              </a:rPr>
              <a:t> State the acceptance test </a:t>
            </a:r>
            <a:r>
              <a:rPr b="0" i="1" lang="en-US" sz="760" spc="-1" strike="noStrike">
                <a:solidFill>
                  <a:srgbClr val="52514e"/>
                </a:solidFill>
                <a:latin typeface="Calibri"/>
              </a:rPr>
              <a:t>before</a:t>
            </a:r>
            <a:r>
              <a:rPr b="0" lang="en-US" sz="760" spc="-1" strike="noStrike">
                <a:solidFill>
                  <a:srgbClr val="52514e"/>
                </a:solidFill>
                <a:latin typeface="Calibri"/>
              </a:rPr>
              <a:t> generating — rather than reviewing after. AI is reliable at parsing, arithmetic and structure, and unreliable at knowing </a:t>
            </a:r>
            <a:r>
              <a:rPr b="1" lang="en-US" sz="760" spc="-1" strike="noStrike">
                <a:solidFill>
                  <a:srgbClr val="52514e"/>
                </a:solidFill>
                <a:latin typeface="Calibri"/>
              </a:rPr>
              <a:t>which of two conflicting numbers in a workbook is the real one</a:t>
            </a:r>
            <a:r>
              <a:rPr b="0" lang="en-US" sz="760" spc="-1" strike="noStrike">
                <a:solidFill>
                  <a:srgbClr val="52514e"/>
                </a:solidFill>
                <a:latin typeface="Calibri"/>
              </a:rPr>
              <a:t>.</a:t>
            </a:r>
            <a:endParaRPr b="0" lang="en-US" sz="760" spc="-1" strike="noStrike">
              <a:solidFill>
                <a:srgbClr val="000000"/>
              </a:solidFill>
              <a:latin typeface="Arial"/>
            </a:endParaRPr>
          </a:p>
        </p:txBody>
      </p:sp>
      <p:sp>
        <p:nvSpPr>
          <p:cNvPr id="219" name="TextBox 26"/>
          <p:cNvSpPr/>
          <p:nvPr/>
        </p:nvSpPr>
        <p:spPr>
          <a:xfrm>
            <a:off x="7605000" y="3836160"/>
            <a:ext cx="4083480" cy="2242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680" spc="-1" strike="noStrike">
                <a:solidFill>
                  <a:srgbClr val="898781"/>
                </a:solidFill>
                <a:latin typeface="Calibri"/>
              </a:rPr>
              <a:t>Tools: Claude (Opus 5) in Claude Code for the analysis, the Python model and this deck. The verification suite found </a:t>
            </a:r>
            <a:r>
              <a:rPr b="1" lang="en-US" sz="680" spc="-1" strike="noStrike">
                <a:solidFill>
                  <a:srgbClr val="898781"/>
                </a:solidFill>
                <a:latin typeface="Calibri"/>
              </a:rPr>
              <a:t>three real defects in my own model</a:t>
            </a:r>
            <a:r>
              <a:rPr b="0" lang="en-US" sz="680" spc="-1" strike="noStrike">
                <a:solidFill>
                  <a:srgbClr val="898781"/>
                </a:solidFill>
                <a:latin typeface="Calibri"/>
              </a:rPr>
              <a:t> — all fixed at source.</a:t>
            </a:r>
            <a:endParaRPr b="0" lang="en-US" sz="680" spc="-1" strike="noStrike">
              <a:solidFill>
                <a:srgbClr val="000000"/>
              </a:solidFill>
              <a:latin typeface="Arial"/>
            </a:endParaRPr>
          </a:p>
        </p:txBody>
      </p:sp>
      <p:cxnSp>
        <p:nvCxnSpPr>
          <p:cNvPr id="220" name="Connector 27"/>
          <p:cNvCxnSpPr/>
          <p:nvPr/>
        </p:nvCxnSpPr>
        <p:spPr>
          <a:xfrm>
            <a:off x="502920" y="6400800"/>
            <a:ext cx="11185920" cy="360"/>
          </a:xfrm>
          <a:prstGeom prst="straightConnector1">
            <a:avLst/>
          </a:prstGeom>
          <a:ln w="9525">
            <a:solidFill>
              <a:srgbClr val="e1e0d9"/>
            </a:solidFill>
            <a:round/>
          </a:ln>
        </p:spPr>
      </p:cxnSp>
      <p:sp>
        <p:nvSpPr>
          <p:cNvPr id="221" name="TextBox 28"/>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submission · </a:t>
            </a:r>
            <a:endParaRPr b="0" lang="en-US" sz="750" spc="-1" strike="noStrike">
              <a:solidFill>
                <a:srgbClr val="000000"/>
              </a:solidFill>
              <a:latin typeface="Arial"/>
            </a:endParaRPr>
          </a:p>
        </p:txBody>
      </p:sp>
      <p:sp>
        <p:nvSpPr>
          <p:cNvPr id="222" name="TextBox 29"/>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5 / 5</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23"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898781"/>
                </a:solidFill>
                <a:latin typeface="Calibri"/>
              </a:rPr>
              <a:t>Appendix A1</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224"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700" spc="-1" strike="noStrike">
                <a:solidFill>
                  <a:srgbClr val="0b0b0b"/>
                </a:solidFill>
                <a:latin typeface="Calibri"/>
              </a:rPr>
              <a:t>Every queue, end to end — BASE, July</a:t>
            </a:r>
            <a:endParaRPr b="0" lang="en-US" sz="1700" spc="-1" strike="noStrike">
              <a:solidFill>
                <a:srgbClr val="000000"/>
              </a:solidFill>
              <a:latin typeface="Arial"/>
            </a:endParaRPr>
          </a:p>
        </p:txBody>
      </p:sp>
      <p:sp>
        <p:nvSpPr>
          <p:cNvPr id="225" name="TextBox 3"/>
          <p:cNvSpPr/>
          <p:nvPr/>
        </p:nvSpPr>
        <p:spPr>
          <a:xfrm>
            <a:off x="502920" y="822960"/>
            <a:ext cx="11185560" cy="2372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1050" spc="-1" strike="noStrike">
                <a:solidFill>
                  <a:srgbClr val="52514e"/>
                </a:solidFill>
                <a:latin typeface="Calibri"/>
              </a:rPr>
              <a:t>The full working behind slide 2. Occupancy below 100% on the Erlang rows is the cost of the service level.</a:t>
            </a:r>
            <a:endParaRPr b="0" lang="en-US" sz="1050" spc="-1" strike="noStrike">
              <a:solidFill>
                <a:srgbClr val="000000"/>
              </a:solidFill>
              <a:latin typeface="Arial"/>
            </a:endParaRPr>
          </a:p>
        </p:txBody>
      </p:sp>
      <p:cxnSp>
        <p:nvCxnSpPr>
          <p:cNvPr id="226" name="Connector 4"/>
          <p:cNvCxnSpPr/>
          <p:nvPr/>
        </p:nvCxnSpPr>
        <p:spPr>
          <a:xfrm>
            <a:off x="502920" y="1078920"/>
            <a:ext cx="11185920" cy="360"/>
          </a:xfrm>
          <a:prstGeom prst="straightConnector1">
            <a:avLst/>
          </a:prstGeom>
          <a:ln w="9525">
            <a:solidFill>
              <a:srgbClr val="e1e0d9"/>
            </a:solidFill>
            <a:round/>
          </a:ln>
        </p:spPr>
      </p:cxnSp>
      <p:graphicFrame>
        <p:nvGraphicFramePr>
          <p:cNvPr id="227" name="Table 5"/>
          <p:cNvGraphicFramePr/>
          <p:nvPr/>
        </p:nvGraphicFramePr>
        <p:xfrm>
          <a:off x="502920" y="1261800"/>
          <a:ext cx="7456680" cy="3478680"/>
        </p:xfrm>
        <a:graphic>
          <a:graphicData uri="http://schemas.openxmlformats.org/drawingml/2006/table">
            <a:tbl>
              <a:tblPr/>
              <a:tblGrid>
                <a:gridCol w="690120"/>
                <a:gridCol w="644400"/>
                <a:gridCol w="690120"/>
                <a:gridCol w="506160"/>
                <a:gridCol w="598320"/>
                <a:gridCol w="460080"/>
                <a:gridCol w="460080"/>
                <a:gridCol w="460080"/>
                <a:gridCol w="506160"/>
                <a:gridCol w="598320"/>
                <a:gridCol w="598320"/>
                <a:gridCol w="644400"/>
                <a:gridCol w="598320"/>
              </a:tblGrid>
              <a:tr h="144360">
                <a:tc>
                  <a:txBody>
                    <a:bodyPr lIns="31680" rIns="31680" tIns="12600" bIns="12600" anchor="b">
                      <a:noAutofit/>
                    </a:bodyPr>
                    <a:p>
                      <a:pPr defTabSz="457200">
                        <a:lnSpc>
                          <a:spcPct val="100000"/>
                        </a:lnSpc>
                      </a:pPr>
                      <a:r>
                        <a:rPr b="1" lang="en-US" sz="580" spc="-1" strike="noStrike">
                          <a:solidFill>
                            <a:srgbClr val="898781"/>
                          </a:solidFill>
                          <a:latin typeface="Calibri"/>
                        </a:rPr>
                        <a:t>LANG</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580" spc="-1" strike="noStrike">
                          <a:solidFill>
                            <a:srgbClr val="898781"/>
                          </a:solidFill>
                          <a:latin typeface="Calibri"/>
                        </a:rPr>
                        <a:t>CHAN</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CONTACTS</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AHT</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580" spc="-1" strike="noStrike">
                          <a:solidFill>
                            <a:srgbClr val="898781"/>
                          </a:solidFill>
                          <a:latin typeface="Calibri"/>
                        </a:rPr>
                        <a:t>MODEL</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ERL</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SEATS</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OCC</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SL</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WKLD H</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PROD H</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WKLD FTE</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580" spc="-1" strike="noStrike">
                          <a:solidFill>
                            <a:srgbClr val="898781"/>
                          </a:solidFill>
                          <a:latin typeface="Calibri"/>
                        </a:rPr>
                        <a:t>SLA FTE</a:t>
                      </a:r>
                      <a:endParaRPr b="0" lang="en-US" sz="5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English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Chat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42,882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18.77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78%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86.2%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13,699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14,600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96.4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102.7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English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Email</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42,882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13,699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16,116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96.4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113.4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English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Inbound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44,182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458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7.69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70%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82.6%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5,615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8,030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39.5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56.5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English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Outbound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44,182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108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1,319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1,552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10.9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French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Chat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6,566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2.25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92.5%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1,641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3,042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21.4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French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Email</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6,566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1,094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1,287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7.7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9.1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French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Inbound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6,765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360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0.93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93.3%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677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2,190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15.4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French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Outbound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6,765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216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254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German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Chat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8,899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3.05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91.3%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2,225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3,650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15.7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25.7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German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Email</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8,899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700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1,730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2,036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12.2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14.3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German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Inbound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9,168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360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1.26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917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2,190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15.4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German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Outbound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9,168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293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345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2.4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Italian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Chat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5,927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2.03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84.1%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1,482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2,433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10.4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17.1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Italian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Email</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5,927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1,317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1,549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10.9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Italian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Inbound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6,106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360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0.84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94.8%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611</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2,190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4.3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15.4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Italian</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Outbound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6,106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195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229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Spanish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Chat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8,097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2.77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2,024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3,042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21.4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Spanish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Email</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8,097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600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1,350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1,588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9.5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11.2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Spanish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Inbound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8,342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360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Erlang C</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38%</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88.7%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834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2,190</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5.9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15.4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52514e"/>
                          </a:solidFill>
                          <a:latin typeface="Calibri"/>
                        </a:rPr>
                        <a:t>Spanish</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52514e"/>
                          </a:solidFill>
                          <a:latin typeface="Calibri"/>
                        </a:rPr>
                        <a:t>Outbound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8,342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115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630" spc="-1" strike="noStrike">
                          <a:solidFill>
                            <a:srgbClr val="898781"/>
                          </a:solidFill>
                          <a:latin typeface="Calibri"/>
                        </a:rPr>
                        <a:t>deferred</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85%</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266</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314</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630" spc="-1" strike="noStrike">
                          <a:solidFill>
                            <a:srgbClr val="52514e"/>
                          </a:solidFill>
                          <a:latin typeface="Calibri"/>
                        </a:rPr>
                        <a:t>1.9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52514e"/>
                          </a:solidFill>
                          <a:latin typeface="Calibri"/>
                        </a:rPr>
                        <a:t>2.2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52640">
                <a:tc>
                  <a:txBody>
                    <a:bodyPr lIns="31680" rIns="31680" tIns="12600" bIns="12600" anchor="ctr">
                      <a:noAutofit/>
                    </a:bodyPr>
                    <a:p>
                      <a:pPr defTabSz="457200">
                        <a:lnSpc>
                          <a:spcPct val="100000"/>
                        </a:lnSpc>
                      </a:pPr>
                      <a:r>
                        <a:rPr b="1" lang="en-US" sz="630" spc="-1" strike="noStrike">
                          <a:solidFill>
                            <a:srgbClr val="0b0b0b"/>
                          </a:solidFill>
                          <a:latin typeface="Calibri"/>
                        </a:rPr>
                        <a:t>Total</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0b0b0b"/>
                          </a:solidFill>
                          <a:latin typeface="Calibri"/>
                        </a:rPr>
                        <a:t>293,869</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endParaRPr b="0" lang="en-US" sz="180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0b0b0b"/>
                          </a:solidFill>
                          <a:latin typeface="Calibri"/>
                        </a:rPr>
                        <a:t>51,203</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0b0b0b"/>
                          </a:solidFill>
                          <a:latin typeface="Calibri"/>
                        </a:rPr>
                        <a:t>68,827</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0b0b0b"/>
                          </a:solidFill>
                          <a:latin typeface="Calibri"/>
                        </a:rPr>
                        <a:t>360.2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630" spc="-1" strike="noStrike">
                          <a:solidFill>
                            <a:srgbClr val="0b0b0b"/>
                          </a:solidFill>
                          <a:latin typeface="Calibri"/>
                        </a:rPr>
                        <a:t>484.2</a:t>
                      </a:r>
                      <a:endParaRPr b="0" lang="en-US" sz="63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228" name="TextBox 6"/>
          <p:cNvSpPr/>
          <p:nvPr/>
        </p:nvSpPr>
        <p:spPr>
          <a:xfrm>
            <a:off x="8179560" y="1216080"/>
            <a:ext cx="350892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WHERE THE 484 FTE SITS</a:t>
            </a:r>
            <a:endParaRPr b="0" lang="en-US" sz="820" spc="-1" strike="noStrike">
              <a:solidFill>
                <a:srgbClr val="000000"/>
              </a:solidFill>
              <a:latin typeface="Arial"/>
            </a:endParaRPr>
          </a:p>
        </p:txBody>
      </p:sp>
      <p:graphicFrame>
        <p:nvGraphicFramePr>
          <p:cNvPr id="229" name="Chart 7"/>
          <p:cNvGraphicFramePr/>
          <p:nvPr/>
        </p:nvGraphicFramePr>
        <p:xfrm>
          <a:off x="8179560" y="1463040"/>
          <a:ext cx="3508920" cy="502560"/>
        </p:xfrm>
        <a:graphic>
          <a:graphicData uri="http://schemas.openxmlformats.org/drawingml/2006/chart">
            <c:chart xmlns:c="http://schemas.openxmlformats.org/drawingml/2006/chart" xmlns:r="http://schemas.openxmlformats.org/officeDocument/2006/relationships" r:id="rId1"/>
          </a:graphicData>
        </a:graphic>
      </p:graphicFrame>
      <p:sp>
        <p:nvSpPr>
          <p:cNvPr id="230" name="TextBox 8"/>
          <p:cNvSpPr/>
          <p:nvPr/>
        </p:nvSpPr>
        <p:spPr>
          <a:xfrm>
            <a:off x="8179560" y="2084760"/>
            <a:ext cx="3508920" cy="263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Chat is the single largest line at 39%</a:t>
            </a:r>
            <a:r>
              <a:rPr b="0" lang="en-US" sz="800" spc="-1" strike="noStrike">
                <a:solidFill>
                  <a:srgbClr val="52514e"/>
                </a:solidFill>
                <a:latin typeface="Calibri"/>
              </a:rPr>
              <a:t>, which is why concurrency is the biggest available lever.</a:t>
            </a:r>
            <a:endParaRPr b="0" lang="en-US" sz="800" spc="-1" strike="noStrike">
              <a:solidFill>
                <a:srgbClr val="000000"/>
              </a:solidFill>
              <a:latin typeface="Arial"/>
            </a:endParaRPr>
          </a:p>
        </p:txBody>
      </p:sp>
      <p:sp>
        <p:nvSpPr>
          <p:cNvPr id="231" name="TextBox 9"/>
          <p:cNvSpPr/>
          <p:nvPr/>
        </p:nvSpPr>
        <p:spPr>
          <a:xfrm>
            <a:off x="8179560" y="2394720"/>
            <a:ext cx="3508920" cy="263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Outbound is 4%</a:t>
            </a:r>
            <a:r>
              <a:rPr b="0" lang="en-US" sz="800" spc="-1" strike="noStrike">
                <a:solidFill>
                  <a:srgbClr val="52514e"/>
                </a:solidFill>
                <a:latin typeface="Calibri"/>
              </a:rPr>
              <a:t> despite carrying a quarter of all contacts — its AHT is 107s against email's 1,150s.</a:t>
            </a:r>
            <a:endParaRPr b="0" lang="en-US" sz="800" spc="-1" strike="noStrike">
              <a:solidFill>
                <a:srgbClr val="000000"/>
              </a:solidFill>
              <a:latin typeface="Arial"/>
            </a:endParaRPr>
          </a:p>
        </p:txBody>
      </p:sp>
      <p:sp>
        <p:nvSpPr>
          <p:cNvPr id="232" name="TextBox 10"/>
          <p:cNvSpPr/>
          <p:nvPr/>
        </p:nvSpPr>
        <p:spPr>
          <a:xfrm>
            <a:off x="8179560" y="2704680"/>
            <a:ext cx="3508920" cy="263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Email at 159 FTE is modelled as deferred work</a:t>
            </a:r>
            <a:r>
              <a:rPr b="0" lang="en-US" sz="800" spc="-1" strike="noStrike">
                <a:solidFill>
                  <a:srgbClr val="52514e"/>
                </a:solidFill>
                <a:latin typeface="Calibri"/>
              </a:rPr>
              <a:t> at 85% planned occupancy — an explicit assumption, not from the workbook.</a:t>
            </a:r>
            <a:endParaRPr b="0" lang="en-US" sz="800" spc="-1" strike="noStrike">
              <a:solidFill>
                <a:srgbClr val="000000"/>
              </a:solidFill>
              <a:latin typeface="Arial"/>
            </a:endParaRPr>
          </a:p>
        </p:txBody>
      </p:sp>
      <p:cxnSp>
        <p:nvCxnSpPr>
          <p:cNvPr id="233" name="Connector 11"/>
          <p:cNvCxnSpPr/>
          <p:nvPr/>
        </p:nvCxnSpPr>
        <p:spPr>
          <a:xfrm>
            <a:off x="8179200" y="3041640"/>
            <a:ext cx="360" cy="435240"/>
          </a:xfrm>
          <a:prstGeom prst="straightConnector1">
            <a:avLst/>
          </a:prstGeom>
          <a:ln w="28575">
            <a:solidFill>
              <a:srgbClr val="c3c2b7"/>
            </a:solidFill>
            <a:round/>
          </a:ln>
        </p:spPr>
      </p:cxnSp>
      <p:sp>
        <p:nvSpPr>
          <p:cNvPr id="234" name="TextBox 12"/>
          <p:cNvSpPr/>
          <p:nvPr/>
        </p:nvSpPr>
        <p:spPr>
          <a:xfrm>
            <a:off x="8298360" y="3069360"/>
            <a:ext cx="3390120" cy="3610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30" spc="-1" strike="noStrike">
                <a:solidFill>
                  <a:srgbClr val="52514e"/>
                </a:solidFill>
                <a:latin typeface="Calibri"/>
              </a:rPr>
              <a:t>The </a:t>
            </a:r>
            <a:r>
              <a:rPr b="1" lang="en-US" sz="730" spc="-1" strike="noStrike">
                <a:solidFill>
                  <a:srgbClr val="52514e"/>
                </a:solidFill>
                <a:latin typeface="Calibri"/>
              </a:rPr>
              <a:t>deferred</a:t>
            </a:r>
            <a:r>
              <a:rPr b="0" lang="en-US" sz="730" spc="-1" strike="noStrike">
                <a:solidFill>
                  <a:srgbClr val="52514e"/>
                </a:solidFill>
                <a:latin typeface="Calibri"/>
              </a:rPr>
              <a:t> rows carry no Erlang figures by design: a 120-minute target is a backlog commitment, not a queue discipline, so seats are derived from hours and planned occupancy instead.</a:t>
            </a:r>
            <a:endParaRPr b="0" lang="en-US" sz="730" spc="-1" strike="noStrike">
              <a:solidFill>
                <a:srgbClr val="000000"/>
              </a:solidFill>
              <a:latin typeface="Arial"/>
            </a:endParaRPr>
          </a:p>
        </p:txBody>
      </p:sp>
      <p:cxnSp>
        <p:nvCxnSpPr>
          <p:cNvPr id="235" name="Connector 13"/>
          <p:cNvCxnSpPr/>
          <p:nvPr/>
        </p:nvCxnSpPr>
        <p:spPr>
          <a:xfrm>
            <a:off x="502920" y="6400800"/>
            <a:ext cx="11185920" cy="360"/>
          </a:xfrm>
          <a:prstGeom prst="straightConnector1">
            <a:avLst/>
          </a:prstGeom>
          <a:ln w="9525">
            <a:solidFill>
              <a:srgbClr val="e1e0d9"/>
            </a:solidFill>
            <a:round/>
          </a:ln>
        </p:spPr>
      </p:cxnSp>
      <p:sp>
        <p:nvSpPr>
          <p:cNvPr id="236" name="TextBox 14"/>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 all figures reproduced by run_model.py, verified by crosscheck.py (72/72)</a:t>
            </a:r>
            <a:endParaRPr b="0" lang="en-US" sz="750" spc="-1" strike="noStrike">
              <a:solidFill>
                <a:srgbClr val="000000"/>
              </a:solidFill>
              <a:latin typeface="Arial"/>
            </a:endParaRPr>
          </a:p>
        </p:txBody>
      </p:sp>
      <p:sp>
        <p:nvSpPr>
          <p:cNvPr id="237" name="TextBox 15"/>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A1 / 6</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38"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898781"/>
                </a:solidFill>
                <a:latin typeface="Calibri"/>
              </a:rPr>
              <a:t>Appendix A2</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239"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700" spc="-1" strike="noStrike">
                <a:solidFill>
                  <a:srgbClr val="0b0b0b"/>
                </a:solidFill>
                <a:latin typeface="Calibri"/>
              </a:rPr>
              <a:t>Data-quality log — all 12 checks</a:t>
            </a:r>
            <a:endParaRPr b="0" lang="en-US" sz="1700" spc="-1" strike="noStrike">
              <a:solidFill>
                <a:srgbClr val="000000"/>
              </a:solidFill>
              <a:latin typeface="Arial"/>
            </a:endParaRPr>
          </a:p>
        </p:txBody>
      </p:sp>
      <p:sp>
        <p:nvSpPr>
          <p:cNvPr id="240" name="TextBox 3"/>
          <p:cNvSpPr/>
          <p:nvPr/>
        </p:nvSpPr>
        <p:spPr>
          <a:xfrm>
            <a:off x="502920" y="822960"/>
            <a:ext cx="11185560" cy="2372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1050" spc="-1" strike="noStrike">
                <a:solidFill>
                  <a:srgbClr val="52514e"/>
                </a:solidFill>
                <a:latin typeface="Calibri"/>
              </a:rPr>
              <a:t>Condensed to five rows on slide 3. This is the full log, including the checks that passed.</a:t>
            </a:r>
            <a:endParaRPr b="0" lang="en-US" sz="1050" spc="-1" strike="noStrike">
              <a:solidFill>
                <a:srgbClr val="000000"/>
              </a:solidFill>
              <a:latin typeface="Arial"/>
            </a:endParaRPr>
          </a:p>
        </p:txBody>
      </p:sp>
      <p:cxnSp>
        <p:nvCxnSpPr>
          <p:cNvPr id="241" name="Connector 4"/>
          <p:cNvCxnSpPr/>
          <p:nvPr/>
        </p:nvCxnSpPr>
        <p:spPr>
          <a:xfrm>
            <a:off x="502920" y="1078920"/>
            <a:ext cx="11185920" cy="360"/>
          </a:xfrm>
          <a:prstGeom prst="straightConnector1">
            <a:avLst/>
          </a:prstGeom>
          <a:ln w="9525">
            <a:solidFill>
              <a:srgbClr val="e1e0d9"/>
            </a:solidFill>
            <a:round/>
          </a:ln>
        </p:spPr>
      </p:cxnSp>
      <p:graphicFrame>
        <p:nvGraphicFramePr>
          <p:cNvPr id="242" name="Table 5"/>
          <p:cNvGraphicFramePr/>
          <p:nvPr/>
        </p:nvGraphicFramePr>
        <p:xfrm>
          <a:off x="502920" y="1261800"/>
          <a:ext cx="11185560" cy="3447000"/>
        </p:xfrm>
        <a:graphic>
          <a:graphicData uri="http://schemas.openxmlformats.org/drawingml/2006/table">
            <a:tbl>
              <a:tblPr/>
              <a:tblGrid>
                <a:gridCol w="331920"/>
                <a:gridCol w="775080"/>
                <a:gridCol w="2879280"/>
                <a:gridCol w="3654720"/>
                <a:gridCol w="3543840"/>
              </a:tblGrid>
              <a:tr h="264960">
                <a:tc>
                  <a:txBody>
                    <a:bodyPr lIns="31680" rIns="31680" tIns="12600" bIns="12600" anchor="b">
                      <a:noAutofit/>
                    </a:bodyPr>
                    <a:p>
                      <a:pPr algn="r" defTabSz="457200">
                        <a:lnSpc>
                          <a:spcPct val="100000"/>
                        </a:lnSpc>
                      </a:pPr>
                      <a:r>
                        <a:rPr b="1" lang="en-US" sz="650" spc="-1" strike="noStrike">
                          <a:solidFill>
                            <a:srgbClr val="898781"/>
                          </a:solidFill>
                          <a:latin typeface="Calibri"/>
                        </a:rPr>
                        <a:t>#</a:t>
                      </a:r>
                      <a:endParaRPr b="0" lang="en-US" sz="65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50" spc="-1" strike="noStrike">
                          <a:solidFill>
                            <a:srgbClr val="898781"/>
                          </a:solidFill>
                          <a:latin typeface="Calibri"/>
                        </a:rPr>
                        <a:t>STATUS</a:t>
                      </a:r>
                      <a:endParaRPr b="0" lang="en-US" sz="65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50" spc="-1" strike="noStrike">
                          <a:solidFill>
                            <a:srgbClr val="898781"/>
                          </a:solidFill>
                          <a:latin typeface="Calibri"/>
                        </a:rPr>
                        <a:t>CHECK</a:t>
                      </a:r>
                      <a:endParaRPr b="0" lang="en-US" sz="65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50" spc="-1" strike="noStrike">
                          <a:solidFill>
                            <a:srgbClr val="898781"/>
                          </a:solidFill>
                          <a:latin typeface="Calibri"/>
                        </a:rPr>
                        <a:t>FINDING</a:t>
                      </a:r>
                      <a:endParaRPr b="0" lang="en-US" sz="65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50" spc="-1" strike="noStrike">
                          <a:solidFill>
                            <a:srgbClr val="898781"/>
                          </a:solidFill>
                          <a:latin typeface="Calibri"/>
                        </a:rPr>
                        <a:t>DECISION</a:t>
                      </a:r>
                      <a:endParaRPr b="0" lang="en-US" sz="65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channel rows sum to language total</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17/30 language-months disagree; max 2 contacts (0.012%)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rounding residue; channel rows are the source of truth</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0a6b0a"/>
                          </a:solidFill>
                          <a:latin typeface="Calibri"/>
                        </a:rPr>
                        <a:t>PASS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EN CSAT reason tickets tie to Contact Volume</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max |ratio-1| = 0.00e+00 across 6 months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the two sheets describe the same population — safe to join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3</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CSAT reported against zero tickets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3 reason-months carry a CSAT score with 0 tickets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null the CSAT; keep the row</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reason label missing</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blank label carrying 3,729 tickets (0.63% of EN volume)</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relabel 'UNMAPPED' and keep the volume</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AHT outliers vs reason median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1 reason-month outside 0.5x–2.0x its median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replace with the reason's own median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channel pair Inbound == Outbound</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identical in 29/30 language-months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synthetic mirror — kept conservatively, flagged</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channel pair Email == Chat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identical in 23/30 language-months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synthetic mirror — kept conservatively, flagged</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BPO x language routing constraint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9 of 15 rows violate the routing brief</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drop unroutable rows before any AHT lookup</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9</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0a6b0a"/>
                          </a:solidFill>
                          <a:latin typeface="Calibri"/>
                        </a:rPr>
                        <a:t>PASS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shrinkage components sum to Tot Shrink</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max diff = 0.00e+00 over 15 pairs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use Tot Shrink = 18%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10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structural break in the volume series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March +87% MoM; all 5 languages move together</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treat as a level shift, anchor post-break</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11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1c5cab"/>
                          </a:solidFill>
                          <a:latin typeface="Calibri"/>
                        </a:rPr>
                        <a:t>FIX</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SLA attainment series within [0,1]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February reports 110% attainment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exclude the impossible month</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64960">
                <a:tc>
                  <a:txBody>
                    <a:bodyPr lIns="31680" rIns="31680" tIns="12600" bIns="12600" anchor="ctr">
                      <a:noAutofit/>
                    </a:bodyPr>
                    <a:p>
                      <a:pPr algn="r" defTabSz="457200">
                        <a:lnSpc>
                          <a:spcPct val="100000"/>
                        </a:lnSpc>
                      </a:pPr>
                      <a:r>
                        <a:rPr b="0" lang="en-US" sz="760" spc="-1" strike="noStrike">
                          <a:solidFill>
                            <a:srgbClr val="898781"/>
                          </a:solidFill>
                          <a:latin typeface="Calibri"/>
                        </a:rPr>
                        <a:t>12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9c4a18"/>
                          </a:solidFill>
                          <a:latin typeface="Calibri"/>
                        </a:rPr>
                        <a:t>WARN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1" lang="en-US" sz="760" spc="-1" strike="noStrike">
                          <a:solidFill>
                            <a:srgbClr val="52514e"/>
                          </a:solidFill>
                          <a:latin typeface="Calibri"/>
                        </a:rPr>
                        <a:t>SLA attainment trend</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95%→92% while volume grows</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use as the business case for the transformation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243" name="TextBox 6"/>
          <p:cNvSpPr/>
          <p:nvPr/>
        </p:nvSpPr>
        <p:spPr>
          <a:xfrm>
            <a:off x="502920" y="4827960"/>
            <a:ext cx="1118556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30" spc="-1" strike="noStrike">
                <a:solidFill>
                  <a:srgbClr val="52514e"/>
                </a:solidFill>
                <a:latin typeface="Calibri"/>
              </a:rPr>
              <a:t>Grading matters.</a:t>
            </a:r>
            <a:r>
              <a:rPr b="0" lang="en-US" sz="830" spc="-1" strike="noStrike">
                <a:solidFill>
                  <a:srgbClr val="52514e"/>
                </a:solidFill>
                <a:latin typeface="Calibri"/>
              </a:rPr>
              <a:t> A ±2-contact rounding residue and a 110% SLA reading are both “wrong”, but only one changes a decision. Every row above carries its own materiality.</a:t>
            </a:r>
            <a:endParaRPr b="0" lang="en-US" sz="830" spc="-1" strike="noStrike">
              <a:solidFill>
                <a:srgbClr val="000000"/>
              </a:solidFill>
              <a:latin typeface="Arial"/>
            </a:endParaRPr>
          </a:p>
        </p:txBody>
      </p:sp>
      <p:cxnSp>
        <p:nvCxnSpPr>
          <p:cNvPr id="244" name="Connector 7"/>
          <p:cNvCxnSpPr/>
          <p:nvPr/>
        </p:nvCxnSpPr>
        <p:spPr>
          <a:xfrm>
            <a:off x="502920" y="6400800"/>
            <a:ext cx="11185920" cy="360"/>
          </a:xfrm>
          <a:prstGeom prst="straightConnector1">
            <a:avLst/>
          </a:prstGeom>
          <a:ln w="9525">
            <a:solidFill>
              <a:srgbClr val="e1e0d9"/>
            </a:solidFill>
            <a:round/>
          </a:ln>
        </p:spPr>
      </p:cxnSp>
      <p:sp>
        <p:nvSpPr>
          <p:cNvPr id="245" name="TextBox 8"/>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 all figures reproduced by run_model.py, verified by crosscheck.py (72/72)</a:t>
            </a:r>
            <a:endParaRPr b="0" lang="en-US" sz="750" spc="-1" strike="noStrike">
              <a:solidFill>
                <a:srgbClr val="000000"/>
              </a:solidFill>
              <a:latin typeface="Arial"/>
            </a:endParaRPr>
          </a:p>
        </p:txBody>
      </p:sp>
      <p:sp>
        <p:nvSpPr>
          <p:cNvPr id="246" name="TextBox 9"/>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A2 / 6</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47"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898781"/>
                </a:solidFill>
                <a:latin typeface="Calibri"/>
              </a:rPr>
              <a:t>Appendix A3</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248"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700" spc="-1" strike="noStrike">
                <a:solidFill>
                  <a:srgbClr val="0b0b0b"/>
                </a:solidFill>
                <a:latin typeface="Calibri"/>
              </a:rPr>
              <a:t>Forecast detail — why only English gets a trend</a:t>
            </a:r>
            <a:endParaRPr b="0" lang="en-US" sz="1700" spc="-1" strike="noStrike">
              <a:solidFill>
                <a:srgbClr val="000000"/>
              </a:solidFill>
              <a:latin typeface="Arial"/>
            </a:endParaRPr>
          </a:p>
        </p:txBody>
      </p:sp>
      <p:cxnSp>
        <p:nvCxnSpPr>
          <p:cNvPr id="249" name="Connector 3"/>
          <p:cNvCxnSpPr/>
          <p:nvPr/>
        </p:nvCxnSpPr>
        <p:spPr>
          <a:xfrm>
            <a:off x="502920" y="822960"/>
            <a:ext cx="11185920" cy="360"/>
          </a:xfrm>
          <a:prstGeom prst="straightConnector1">
            <a:avLst/>
          </a:prstGeom>
          <a:ln w="9525">
            <a:solidFill>
              <a:srgbClr val="e1e0d9"/>
            </a:solidFill>
            <a:round/>
          </a:ln>
        </p:spPr>
      </p:cxnSp>
      <p:sp>
        <p:nvSpPr>
          <p:cNvPr id="250" name="TextBox 4"/>
          <p:cNvSpPr/>
          <p:nvPr/>
        </p:nvSpPr>
        <p:spPr>
          <a:xfrm>
            <a:off x="502920" y="960120"/>
            <a:ext cx="214920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0b0b0b"/>
                </a:solidFill>
                <a:latin typeface="Calibri"/>
              </a:rPr>
              <a:t>English</a:t>
            </a:r>
            <a:endParaRPr b="0" lang="en-US" sz="800" spc="-1" strike="noStrike">
              <a:solidFill>
                <a:srgbClr val="000000"/>
              </a:solidFill>
              <a:latin typeface="Arial"/>
            </a:endParaRPr>
          </a:p>
        </p:txBody>
      </p:sp>
      <p:sp>
        <p:nvSpPr>
          <p:cNvPr id="251" name="TextBox 5"/>
          <p:cNvSpPr/>
          <p:nvPr/>
        </p:nvSpPr>
        <p:spPr>
          <a:xfrm>
            <a:off x="502920" y="1097280"/>
            <a:ext cx="214920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2a78d6"/>
                </a:solidFill>
                <a:latin typeface="Calibri"/>
              </a:rPr>
              <a:t>+16,870/mo</a:t>
            </a:r>
            <a:endParaRPr b="0" lang="en-US" sz="700" spc="-1" strike="noStrike">
              <a:solidFill>
                <a:srgbClr val="000000"/>
              </a:solidFill>
              <a:latin typeface="Arial"/>
            </a:endParaRPr>
          </a:p>
        </p:txBody>
      </p:sp>
      <p:graphicFrame>
        <p:nvGraphicFramePr>
          <p:cNvPr id="252" name="Chart 6"/>
          <p:cNvGraphicFramePr/>
          <p:nvPr/>
        </p:nvGraphicFramePr>
        <p:xfrm>
          <a:off x="502920" y="1234440"/>
          <a:ext cx="2149200" cy="594000"/>
        </p:xfrm>
        <a:graphic>
          <a:graphicData uri="http://schemas.openxmlformats.org/drawingml/2006/chart">
            <c:chart xmlns:c="http://schemas.openxmlformats.org/drawingml/2006/chart" xmlns:r="http://schemas.openxmlformats.org/officeDocument/2006/relationships" r:id="rId1"/>
          </a:graphicData>
        </a:graphic>
      </p:graphicFrame>
      <p:sp>
        <p:nvSpPr>
          <p:cNvPr id="253" name="TextBox 7"/>
          <p:cNvSpPr/>
          <p:nvPr/>
        </p:nvSpPr>
        <p:spPr>
          <a:xfrm>
            <a:off x="2761920" y="960120"/>
            <a:ext cx="214920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German</a:t>
            </a:r>
            <a:endParaRPr b="0" lang="en-US" sz="800" spc="-1" strike="noStrike">
              <a:solidFill>
                <a:srgbClr val="000000"/>
              </a:solidFill>
              <a:latin typeface="Arial"/>
            </a:endParaRPr>
          </a:p>
        </p:txBody>
      </p:sp>
      <p:sp>
        <p:nvSpPr>
          <p:cNvPr id="254" name="TextBox 8"/>
          <p:cNvSpPr/>
          <p:nvPr/>
        </p:nvSpPr>
        <p:spPr>
          <a:xfrm>
            <a:off x="2761920" y="1097280"/>
            <a:ext cx="214920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a:t>
            </a:r>
            <a:r>
              <a:rPr b="1" lang="en-US" sz="700" spc="-1" strike="noStrike">
                <a:solidFill>
                  <a:srgbClr val="52514e"/>
                </a:solidFill>
                <a:latin typeface="Calibri"/>
              </a:rPr>
              <a:t>1,904/mo</a:t>
            </a:r>
            <a:endParaRPr b="0" lang="en-US" sz="700" spc="-1" strike="noStrike">
              <a:solidFill>
                <a:srgbClr val="000000"/>
              </a:solidFill>
              <a:latin typeface="Arial"/>
            </a:endParaRPr>
          </a:p>
        </p:txBody>
      </p:sp>
      <p:graphicFrame>
        <p:nvGraphicFramePr>
          <p:cNvPr id="255" name="Chart 9"/>
          <p:cNvGraphicFramePr/>
          <p:nvPr/>
        </p:nvGraphicFramePr>
        <p:xfrm>
          <a:off x="2761920" y="1234440"/>
          <a:ext cx="2149200" cy="594000"/>
        </p:xfrm>
        <a:graphic>
          <a:graphicData uri="http://schemas.openxmlformats.org/drawingml/2006/chart">
            <c:chart xmlns:c="http://schemas.openxmlformats.org/drawingml/2006/chart" xmlns:r="http://schemas.openxmlformats.org/officeDocument/2006/relationships" r:id="rId2"/>
          </a:graphicData>
        </a:graphic>
      </p:graphicFrame>
      <p:sp>
        <p:nvSpPr>
          <p:cNvPr id="256" name="TextBox 10"/>
          <p:cNvSpPr/>
          <p:nvPr/>
        </p:nvSpPr>
        <p:spPr>
          <a:xfrm>
            <a:off x="5021280" y="960120"/>
            <a:ext cx="214920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Spanish</a:t>
            </a:r>
            <a:endParaRPr b="0" lang="en-US" sz="800" spc="-1" strike="noStrike">
              <a:solidFill>
                <a:srgbClr val="000000"/>
              </a:solidFill>
              <a:latin typeface="Arial"/>
            </a:endParaRPr>
          </a:p>
        </p:txBody>
      </p:sp>
      <p:sp>
        <p:nvSpPr>
          <p:cNvPr id="257" name="TextBox 11"/>
          <p:cNvSpPr/>
          <p:nvPr/>
        </p:nvSpPr>
        <p:spPr>
          <a:xfrm>
            <a:off x="5021280" y="1097280"/>
            <a:ext cx="214920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+282/mo</a:t>
            </a:r>
            <a:endParaRPr b="0" lang="en-US" sz="700" spc="-1" strike="noStrike">
              <a:solidFill>
                <a:srgbClr val="000000"/>
              </a:solidFill>
              <a:latin typeface="Arial"/>
            </a:endParaRPr>
          </a:p>
        </p:txBody>
      </p:sp>
      <p:graphicFrame>
        <p:nvGraphicFramePr>
          <p:cNvPr id="258" name="Chart 12"/>
          <p:cNvGraphicFramePr/>
          <p:nvPr/>
        </p:nvGraphicFramePr>
        <p:xfrm>
          <a:off x="5021280" y="1234440"/>
          <a:ext cx="2149200" cy="594000"/>
        </p:xfrm>
        <a:graphic>
          <a:graphicData uri="http://schemas.openxmlformats.org/drawingml/2006/chart">
            <c:chart xmlns:c="http://schemas.openxmlformats.org/drawingml/2006/chart" xmlns:r="http://schemas.openxmlformats.org/officeDocument/2006/relationships" r:id="rId3"/>
          </a:graphicData>
        </a:graphic>
      </p:graphicFrame>
      <p:sp>
        <p:nvSpPr>
          <p:cNvPr id="259" name="TextBox 13"/>
          <p:cNvSpPr/>
          <p:nvPr/>
        </p:nvSpPr>
        <p:spPr>
          <a:xfrm>
            <a:off x="7280280" y="960120"/>
            <a:ext cx="214920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French</a:t>
            </a:r>
            <a:endParaRPr b="0" lang="en-US" sz="800" spc="-1" strike="noStrike">
              <a:solidFill>
                <a:srgbClr val="000000"/>
              </a:solidFill>
              <a:latin typeface="Arial"/>
            </a:endParaRPr>
          </a:p>
        </p:txBody>
      </p:sp>
      <p:sp>
        <p:nvSpPr>
          <p:cNvPr id="260" name="TextBox 14"/>
          <p:cNvSpPr/>
          <p:nvPr/>
        </p:nvSpPr>
        <p:spPr>
          <a:xfrm>
            <a:off x="7280280" y="1097280"/>
            <a:ext cx="214920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a:t>
            </a:r>
            <a:r>
              <a:rPr b="1" lang="en-US" sz="700" spc="-1" strike="noStrike">
                <a:solidFill>
                  <a:srgbClr val="52514e"/>
                </a:solidFill>
                <a:latin typeface="Calibri"/>
              </a:rPr>
              <a:t>363/mo</a:t>
            </a:r>
            <a:endParaRPr b="0" lang="en-US" sz="700" spc="-1" strike="noStrike">
              <a:solidFill>
                <a:srgbClr val="000000"/>
              </a:solidFill>
              <a:latin typeface="Arial"/>
            </a:endParaRPr>
          </a:p>
        </p:txBody>
      </p:sp>
      <p:graphicFrame>
        <p:nvGraphicFramePr>
          <p:cNvPr id="261" name="Chart 15"/>
          <p:cNvGraphicFramePr/>
          <p:nvPr/>
        </p:nvGraphicFramePr>
        <p:xfrm>
          <a:off x="7280280" y="1234440"/>
          <a:ext cx="2149200" cy="594000"/>
        </p:xfrm>
        <a:graphic>
          <a:graphicData uri="http://schemas.openxmlformats.org/drawingml/2006/chart">
            <c:chart xmlns:c="http://schemas.openxmlformats.org/drawingml/2006/chart" xmlns:r="http://schemas.openxmlformats.org/officeDocument/2006/relationships" r:id="rId4"/>
          </a:graphicData>
        </a:graphic>
      </p:graphicFrame>
      <p:sp>
        <p:nvSpPr>
          <p:cNvPr id="262" name="TextBox 16"/>
          <p:cNvSpPr/>
          <p:nvPr/>
        </p:nvSpPr>
        <p:spPr>
          <a:xfrm>
            <a:off x="9539280" y="960120"/>
            <a:ext cx="2149200" cy="136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Italian</a:t>
            </a:r>
            <a:endParaRPr b="0" lang="en-US" sz="800" spc="-1" strike="noStrike">
              <a:solidFill>
                <a:srgbClr val="000000"/>
              </a:solidFill>
              <a:latin typeface="Arial"/>
            </a:endParaRPr>
          </a:p>
        </p:txBody>
      </p:sp>
      <p:sp>
        <p:nvSpPr>
          <p:cNvPr id="263" name="TextBox 17"/>
          <p:cNvSpPr/>
          <p:nvPr/>
        </p:nvSpPr>
        <p:spPr>
          <a:xfrm>
            <a:off x="9539280" y="1097280"/>
            <a:ext cx="2149200" cy="1184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00" spc="-1" strike="noStrike">
                <a:solidFill>
                  <a:srgbClr val="52514e"/>
                </a:solidFill>
                <a:latin typeface="Calibri"/>
              </a:rPr>
              <a:t>−</a:t>
            </a:r>
            <a:r>
              <a:rPr b="1" lang="en-US" sz="700" spc="-1" strike="noStrike">
                <a:solidFill>
                  <a:srgbClr val="52514e"/>
                </a:solidFill>
                <a:latin typeface="Calibri"/>
              </a:rPr>
              <a:t>474/mo</a:t>
            </a:r>
            <a:endParaRPr b="0" lang="en-US" sz="700" spc="-1" strike="noStrike">
              <a:solidFill>
                <a:srgbClr val="000000"/>
              </a:solidFill>
              <a:latin typeface="Arial"/>
            </a:endParaRPr>
          </a:p>
        </p:txBody>
      </p:sp>
      <p:graphicFrame>
        <p:nvGraphicFramePr>
          <p:cNvPr id="264" name="Chart 18"/>
          <p:cNvGraphicFramePr/>
          <p:nvPr/>
        </p:nvGraphicFramePr>
        <p:xfrm>
          <a:off x="9539280" y="1234440"/>
          <a:ext cx="2149200" cy="594000"/>
        </p:xfrm>
        <a:graphic>
          <a:graphicData uri="http://schemas.openxmlformats.org/drawingml/2006/chart">
            <c:chart xmlns:c="http://schemas.openxmlformats.org/drawingml/2006/chart" xmlns:r="http://schemas.openxmlformats.org/officeDocument/2006/relationships" r:id="rId5"/>
          </a:graphicData>
        </a:graphic>
      </p:graphicFrame>
      <p:sp>
        <p:nvSpPr>
          <p:cNvPr id="265" name="TextBox 19"/>
          <p:cNvSpPr/>
          <p:nvPr/>
        </p:nvSpPr>
        <p:spPr>
          <a:xfrm>
            <a:off x="502920" y="1920240"/>
            <a:ext cx="49431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PER-LANGUAGE GROWTH TEST — POST-BREAK WINDOW</a:t>
            </a:r>
            <a:endParaRPr b="0" lang="en-US" sz="820" spc="-1" strike="noStrike">
              <a:solidFill>
                <a:srgbClr val="000000"/>
              </a:solidFill>
              <a:latin typeface="Arial"/>
            </a:endParaRPr>
          </a:p>
        </p:txBody>
      </p:sp>
      <p:graphicFrame>
        <p:nvGraphicFramePr>
          <p:cNvPr id="266" name="Table 20"/>
          <p:cNvGraphicFramePr/>
          <p:nvPr/>
        </p:nvGraphicFramePr>
        <p:xfrm>
          <a:off x="502920" y="2157840"/>
          <a:ext cx="4943160" cy="1206720"/>
        </p:xfrm>
        <a:graphic>
          <a:graphicData uri="http://schemas.openxmlformats.org/drawingml/2006/table">
            <a:tbl>
              <a:tblPr/>
              <a:tblGrid>
                <a:gridCol w="872280"/>
                <a:gridCol w="823680"/>
                <a:gridCol w="726840"/>
                <a:gridCol w="726840"/>
                <a:gridCol w="484560"/>
                <a:gridCol w="581400"/>
                <a:gridCol w="726840"/>
              </a:tblGrid>
              <a:tr h="200880">
                <a:tc>
                  <a:txBody>
                    <a:bodyPr lIns="31680" rIns="31680" tIns="12600" bIns="12600" anchor="b">
                      <a:noAutofit/>
                    </a:bodyPr>
                    <a:p>
                      <a:pPr defTabSz="457200">
                        <a:lnSpc>
                          <a:spcPct val="100000"/>
                        </a:lnSpc>
                      </a:pPr>
                      <a:r>
                        <a:rPr b="1" lang="en-US" sz="680" spc="-1" strike="noStrike">
                          <a:solidFill>
                            <a:srgbClr val="898781"/>
                          </a:solidFill>
                          <a:latin typeface="Calibri"/>
                        </a:rPr>
                        <a:t>LANGUAGE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JUNE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MAR→JUN</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OLS/MO</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R²</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Σ</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GROWING?</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English</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158,298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+59.3%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+16,870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0.74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19.5%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52514e"/>
                          </a:solidFill>
                          <a:latin typeface="Calibri"/>
                        </a:rPr>
                        <a:t>yes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German</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32,850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-15.7%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-1,904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0.68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6.9%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898781"/>
                          </a:solidFill>
                          <a:latin typeface="Calibri"/>
                        </a:rPr>
                        <a:t>no</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Spanish</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29,890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+282</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0.15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8.3%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898781"/>
                          </a:solidFill>
                          <a:latin typeface="Calibri"/>
                        </a:rPr>
                        <a:t>no</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French</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24,238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-3.2%</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-363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0.19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898781"/>
                          </a:solidFill>
                          <a:latin typeface="Calibri"/>
                        </a:rPr>
                        <a:t>no</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0880">
                <a:tc>
                  <a:txBody>
                    <a:bodyPr lIns="31680" rIns="31680" tIns="12600" bIns="12600" anchor="ctr">
                      <a:noAutofit/>
                    </a:bodyPr>
                    <a:p>
                      <a:pPr defTabSz="457200">
                        <a:lnSpc>
                          <a:spcPct val="100000"/>
                        </a:lnSpc>
                      </a:pPr>
                      <a:r>
                        <a:rPr b="1" lang="en-US" sz="780" spc="-1" strike="noStrike">
                          <a:solidFill>
                            <a:srgbClr val="52514e"/>
                          </a:solidFill>
                          <a:latin typeface="Calibri"/>
                        </a:rPr>
                        <a:t>Italian</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21,878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-474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0.03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27.1%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80" spc="-1" strike="noStrike">
                          <a:solidFill>
                            <a:srgbClr val="898781"/>
                          </a:solidFill>
                          <a:latin typeface="Calibri"/>
                        </a:rPr>
                        <a:t>no</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267" name="TextBox 21"/>
          <p:cNvSpPr/>
          <p:nvPr/>
        </p:nvSpPr>
        <p:spPr>
          <a:xfrm>
            <a:off x="502920" y="3465720"/>
            <a:ext cx="4943160" cy="263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52514e"/>
                </a:solidFill>
                <a:latin typeface="Calibri"/>
              </a:rPr>
              <a:t>A language earns the trend extrapolation in HIGH only if its slope is </a:t>
            </a:r>
            <a:r>
              <a:rPr b="1" lang="en-US" sz="800" spc="-1" strike="noStrike">
                <a:solidFill>
                  <a:srgbClr val="52514e"/>
                </a:solidFill>
                <a:latin typeface="Calibri"/>
              </a:rPr>
              <a:t>positive</a:t>
            </a:r>
            <a:r>
              <a:rPr b="0" lang="en-US" sz="800" spc="-1" strike="noStrike">
                <a:solidFill>
                  <a:srgbClr val="52514e"/>
                </a:solidFill>
                <a:latin typeface="Calibri"/>
              </a:rPr>
              <a:t>, exceeds 3% of baseline, and fits at R² &gt; 0.4. Only English qualifies.</a:t>
            </a:r>
            <a:endParaRPr b="0" lang="en-US" sz="800" spc="-1" strike="noStrike">
              <a:solidFill>
                <a:srgbClr val="000000"/>
              </a:solidFill>
              <a:latin typeface="Arial"/>
            </a:endParaRPr>
          </a:p>
        </p:txBody>
      </p:sp>
      <p:sp>
        <p:nvSpPr>
          <p:cNvPr id="268" name="TextBox 22"/>
          <p:cNvSpPr/>
          <p:nvPr/>
        </p:nvSpPr>
        <p:spPr>
          <a:xfrm>
            <a:off x="5666040" y="1920240"/>
            <a:ext cx="27939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CONFIDENCE BAND — JULY</a:t>
            </a:r>
            <a:endParaRPr b="0" lang="en-US" sz="820" spc="-1" strike="noStrike">
              <a:solidFill>
                <a:srgbClr val="000000"/>
              </a:solidFill>
              <a:latin typeface="Arial"/>
            </a:endParaRPr>
          </a:p>
        </p:txBody>
      </p:sp>
      <p:graphicFrame>
        <p:nvGraphicFramePr>
          <p:cNvPr id="269" name="Table 23"/>
          <p:cNvGraphicFramePr/>
          <p:nvPr/>
        </p:nvGraphicFramePr>
        <p:xfrm>
          <a:off x="5666040" y="2157840"/>
          <a:ext cx="2793960" cy="1385640"/>
        </p:xfrm>
        <a:graphic>
          <a:graphicData uri="http://schemas.openxmlformats.org/drawingml/2006/table">
            <a:tbl>
              <a:tblPr/>
              <a:tblGrid>
                <a:gridCol w="598680"/>
                <a:gridCol w="598680"/>
                <a:gridCol w="848160"/>
                <a:gridCol w="748440"/>
              </a:tblGrid>
              <a:tr h="168840">
                <a:tc>
                  <a:txBody>
                    <a:bodyPr lIns="31680" rIns="31680" tIns="12600" bIns="12600" anchor="b">
                      <a:noAutofit/>
                    </a:bodyPr>
                    <a:p>
                      <a:pPr defTabSz="457200">
                        <a:lnSpc>
                          <a:spcPct val="100000"/>
                        </a:lnSpc>
                      </a:pPr>
                      <a:r>
                        <a:rPr b="1" lang="en-US" sz="680" spc="-1" strike="noStrike">
                          <a:solidFill>
                            <a:srgbClr val="898781"/>
                          </a:solidFill>
                          <a:latin typeface="Calibri"/>
                        </a:rPr>
                        <a:t>PCTILE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MULT</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CONTACTS</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PAID 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0.797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234,264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405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P10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0.838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246,292</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425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P25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0.911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267,784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463</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P50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1.000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293,869</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60" spc="-1" strike="noStrike">
                          <a:solidFill>
                            <a:srgbClr val="52514e"/>
                          </a:solidFill>
                          <a:latin typeface="Calibri"/>
                        </a:rPr>
                        <a:t>508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P75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1.097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322,496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557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P90</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1.193</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350,638</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606</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3520">
                <a:tc>
                  <a:txBody>
                    <a:bodyPr lIns="31680" rIns="31680" tIns="12600" bIns="12600" anchor="ctr">
                      <a:noAutofit/>
                    </a:bodyPr>
                    <a:p>
                      <a:pPr defTabSz="457200">
                        <a:lnSpc>
                          <a:spcPct val="100000"/>
                        </a:lnSpc>
                      </a:pPr>
                      <a:r>
                        <a:rPr b="0" lang="en-US" sz="760" spc="-1" strike="noStrike">
                          <a:solidFill>
                            <a:srgbClr val="52514e"/>
                          </a:solidFill>
                          <a:latin typeface="Calibri"/>
                        </a:rPr>
                        <a:t>P95</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1.254</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368,641</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60" spc="-1" strike="noStrike">
                          <a:solidFill>
                            <a:srgbClr val="52514e"/>
                          </a:solidFill>
                          <a:latin typeface="Calibri"/>
                        </a:rPr>
                        <a:t>637</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270" name="TextBox 24"/>
          <p:cNvSpPr/>
          <p:nvPr/>
        </p:nvSpPr>
        <p:spPr>
          <a:xfrm>
            <a:off x="5666040" y="3635280"/>
            <a:ext cx="2793960" cy="2242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680" spc="-1" strike="noStrike">
                <a:solidFill>
                  <a:srgbClr val="898781"/>
                </a:solidFill>
                <a:latin typeface="Calibri"/>
              </a:rPr>
              <a:t>Log-normal around the BASE median, σ = 13.8% from month-over-month log returns with the March break excluded.</a:t>
            </a:r>
            <a:endParaRPr b="0" lang="en-US" sz="680" spc="-1" strike="noStrike">
              <a:solidFill>
                <a:srgbClr val="000000"/>
              </a:solidFill>
              <a:latin typeface="Arial"/>
            </a:endParaRPr>
          </a:p>
        </p:txBody>
      </p:sp>
      <p:sp>
        <p:nvSpPr>
          <p:cNvPr id="271" name="TextBox 25"/>
          <p:cNvSpPr/>
          <p:nvPr/>
        </p:nvSpPr>
        <p:spPr>
          <a:xfrm>
            <a:off x="8679600" y="1920240"/>
            <a:ext cx="300888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MONTHLY RE-FORECAST TRIGGER</a:t>
            </a:r>
            <a:endParaRPr b="0" lang="en-US" sz="820" spc="-1" strike="noStrike">
              <a:solidFill>
                <a:srgbClr val="000000"/>
              </a:solidFill>
              <a:latin typeface="Arial"/>
            </a:endParaRPr>
          </a:p>
        </p:txBody>
      </p:sp>
      <p:graphicFrame>
        <p:nvGraphicFramePr>
          <p:cNvPr id="272" name="Table 26"/>
          <p:cNvGraphicFramePr/>
          <p:nvPr/>
        </p:nvGraphicFramePr>
        <p:xfrm>
          <a:off x="8679600" y="2157840"/>
          <a:ext cx="3008880" cy="1096920"/>
        </p:xfrm>
        <a:graphic>
          <a:graphicData uri="http://schemas.openxmlformats.org/drawingml/2006/table">
            <a:tbl>
              <a:tblPr/>
              <a:tblGrid>
                <a:gridCol w="838440"/>
                <a:gridCol w="838440"/>
                <a:gridCol w="1331640"/>
              </a:tblGrid>
              <a:tr h="219240">
                <a:tc>
                  <a:txBody>
                    <a:bodyPr lIns="31680" rIns="31680" tIns="12600" bIns="12600" anchor="b">
                      <a:noAutofit/>
                    </a:bodyPr>
                    <a:p>
                      <a:pPr defTabSz="457200">
                        <a:lnSpc>
                          <a:spcPct val="100000"/>
                        </a:lnSpc>
                      </a:pPr>
                      <a:r>
                        <a:rPr b="1" lang="en-US" sz="680" spc="-1" strike="noStrike">
                          <a:solidFill>
                            <a:srgbClr val="898781"/>
                          </a:solidFill>
                          <a:latin typeface="Calibri"/>
                        </a:rPr>
                        <a:t>SIGNAL</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THRESHOLD</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ACTION</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0" lang="en-US" sz="760" spc="-1" strike="noStrike">
                          <a:solidFill>
                            <a:srgbClr val="52514e"/>
                          </a:solidFill>
                          <a:latin typeface="Calibri"/>
                        </a:rPr>
                        <a:t>EN vs BASE</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&gt; +8%, 2wk</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Switch to HIGH</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0" lang="en-US" sz="760" spc="-1" strike="noStrike">
                          <a:solidFill>
                            <a:srgbClr val="52514e"/>
                          </a:solidFill>
                          <a:latin typeface="Calibri"/>
                        </a:rPr>
                        <a:t>EN vs BASE</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&lt; −8%, 2wk</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Switch to LOW</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0" lang="en-US" sz="760" spc="-1" strike="noStrike">
                          <a:solidFill>
                            <a:srgbClr val="52514e"/>
                          </a:solidFill>
                          <a:latin typeface="Calibri"/>
                        </a:rPr>
                        <a:t>SLA attain.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&lt; 90%, 2wk</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Immediate re-forecast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0" lang="en-US" sz="760" spc="-1" strike="noStrike">
                          <a:solidFill>
                            <a:srgbClr val="52514e"/>
                          </a:solidFill>
                          <a:latin typeface="Calibri"/>
                        </a:rPr>
                        <a:t>AHT drift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898781"/>
                          </a:solidFill>
                          <a:latin typeface="Calibri"/>
                        </a:rPr>
                        <a:t>±5% vs plan</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60" spc="-1" strike="noStrike">
                          <a:solidFill>
                            <a:srgbClr val="52514e"/>
                          </a:solidFill>
                          <a:latin typeface="Calibri"/>
                        </a:rPr>
                        <a:t>Re-baseline AHT</a:t>
                      </a:r>
                      <a:endParaRPr b="0" lang="en-US" sz="76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cxnSp>
        <p:nvCxnSpPr>
          <p:cNvPr id="273" name="Connector 27"/>
          <p:cNvCxnSpPr/>
          <p:nvPr/>
        </p:nvCxnSpPr>
        <p:spPr>
          <a:xfrm>
            <a:off x="8679600" y="3373920"/>
            <a:ext cx="360" cy="450000"/>
          </a:xfrm>
          <a:prstGeom prst="straightConnector1">
            <a:avLst/>
          </a:prstGeom>
          <a:ln w="28575">
            <a:solidFill>
              <a:srgbClr val="d03b3b"/>
            </a:solidFill>
            <a:round/>
          </a:ln>
        </p:spPr>
      </p:cxnSp>
      <p:sp>
        <p:nvSpPr>
          <p:cNvPr id="274" name="TextBox 28"/>
          <p:cNvSpPr/>
          <p:nvPr/>
        </p:nvSpPr>
        <p:spPr>
          <a:xfrm>
            <a:off x="8798400" y="3401640"/>
            <a:ext cx="289008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52514e"/>
                </a:solidFill>
                <a:latin typeface="Calibri"/>
              </a:rPr>
              <a:t>The SLA trigger already fired — </a:t>
            </a:r>
            <a:r>
              <a:rPr b="1" lang="en-US" sz="760" spc="-1" strike="noStrike">
                <a:solidFill>
                  <a:srgbClr val="52514e"/>
                </a:solidFill>
                <a:latin typeface="Calibri"/>
              </a:rPr>
              <a:t>May came in at 90%</a:t>
            </a:r>
            <a:r>
              <a:rPr b="0" lang="en-US" sz="760" spc="-1" strike="noStrike">
                <a:solidFill>
                  <a:srgbClr val="52514e"/>
                </a:solidFill>
                <a:latin typeface="Calibri"/>
              </a:rPr>
              <a:t>. A model that only produces a number, without the rule for when it’s wrong, is not operational.</a:t>
            </a:r>
            <a:endParaRPr b="0" lang="en-US" sz="760" spc="-1" strike="noStrike">
              <a:solidFill>
                <a:srgbClr val="000000"/>
              </a:solidFill>
              <a:latin typeface="Arial"/>
            </a:endParaRPr>
          </a:p>
        </p:txBody>
      </p:sp>
      <p:cxnSp>
        <p:nvCxnSpPr>
          <p:cNvPr id="275" name="Connector 29"/>
          <p:cNvCxnSpPr/>
          <p:nvPr/>
        </p:nvCxnSpPr>
        <p:spPr>
          <a:xfrm>
            <a:off x="502920" y="6400800"/>
            <a:ext cx="11185920" cy="360"/>
          </a:xfrm>
          <a:prstGeom prst="straightConnector1">
            <a:avLst/>
          </a:prstGeom>
          <a:ln w="9525">
            <a:solidFill>
              <a:srgbClr val="e1e0d9"/>
            </a:solidFill>
            <a:round/>
          </a:ln>
        </p:spPr>
      </p:cxnSp>
      <p:sp>
        <p:nvSpPr>
          <p:cNvPr id="276" name="TextBox 30"/>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 all figures reproduced by run_model.py, verified by crosscheck.py (72/72)</a:t>
            </a:r>
            <a:endParaRPr b="0" lang="en-US" sz="750" spc="-1" strike="noStrike">
              <a:solidFill>
                <a:srgbClr val="000000"/>
              </a:solidFill>
              <a:latin typeface="Arial"/>
            </a:endParaRPr>
          </a:p>
        </p:txBody>
      </p:sp>
      <p:sp>
        <p:nvSpPr>
          <p:cNvPr id="277" name="TextBox 31"/>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A3 / 6</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78"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898781"/>
                </a:solidFill>
                <a:latin typeface="Calibri"/>
              </a:rPr>
              <a:t>Appendix A4</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279"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700" spc="-1" strike="noStrike">
                <a:solidFill>
                  <a:srgbClr val="0b0b0b"/>
                </a:solidFill>
                <a:latin typeface="Calibri"/>
              </a:rPr>
              <a:t>Why service level costs 34% — the Erlang mechanics</a:t>
            </a:r>
            <a:endParaRPr b="0" lang="en-US" sz="1700" spc="-1" strike="noStrike">
              <a:solidFill>
                <a:srgbClr val="000000"/>
              </a:solidFill>
              <a:latin typeface="Arial"/>
            </a:endParaRPr>
          </a:p>
        </p:txBody>
      </p:sp>
      <p:cxnSp>
        <p:nvCxnSpPr>
          <p:cNvPr id="280" name="Connector 3"/>
          <p:cNvCxnSpPr/>
          <p:nvPr/>
        </p:nvCxnSpPr>
        <p:spPr>
          <a:xfrm>
            <a:off x="502920" y="822960"/>
            <a:ext cx="11185920" cy="360"/>
          </a:xfrm>
          <a:prstGeom prst="straightConnector1">
            <a:avLst/>
          </a:prstGeom>
          <a:ln w="9525">
            <a:solidFill>
              <a:srgbClr val="e1e0d9"/>
            </a:solidFill>
            <a:round/>
          </a:ln>
        </p:spPr>
      </p:cxnSp>
      <p:sp>
        <p:nvSpPr>
          <p:cNvPr id="281" name="TextBox 4"/>
          <p:cNvSpPr/>
          <p:nvPr/>
        </p:nvSpPr>
        <p:spPr>
          <a:xfrm>
            <a:off x="502920" y="960120"/>
            <a:ext cx="365364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THE MISTAKE WORTH UNDERSTANDING</a:t>
            </a:r>
            <a:endParaRPr b="0" lang="en-US" sz="820" spc="-1" strike="noStrike">
              <a:solidFill>
                <a:srgbClr val="000000"/>
              </a:solidFill>
              <a:latin typeface="Arial"/>
            </a:endParaRPr>
          </a:p>
        </p:txBody>
      </p:sp>
      <p:sp>
        <p:nvSpPr>
          <p:cNvPr id="282" name="TextBox 5"/>
          <p:cNvSpPr/>
          <p:nvPr/>
        </p:nvSpPr>
        <p:spPr>
          <a:xfrm>
            <a:off x="502920" y="1197720"/>
            <a:ext cx="3653640" cy="5410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20" spc="-1" strike="noStrike">
                <a:solidFill>
                  <a:srgbClr val="52514e"/>
                </a:solidFill>
                <a:latin typeface="Calibri"/>
              </a:rPr>
              <a:t>A workload model divides work by time and calls the result headcount. </a:t>
            </a:r>
            <a:r>
              <a:rPr b="1" lang="en-US" sz="820" spc="-1" strike="noStrike">
                <a:solidFill>
                  <a:srgbClr val="52514e"/>
                </a:solidFill>
                <a:latin typeface="Calibri"/>
              </a:rPr>
              <a:t>No queue with a service-level target can run that way</a:t>
            </a:r>
            <a:r>
              <a:rPr b="0" lang="en-US" sz="820" spc="-1" strike="noStrike">
                <a:solidFill>
                  <a:srgbClr val="52514e"/>
                </a:solidFill>
                <a:latin typeface="Calibri"/>
              </a:rPr>
              <a:t> — somebody has to be free when the call lands. The idle time is not waste; it is the product.</a:t>
            </a:r>
            <a:endParaRPr b="0" lang="en-US" sz="820" spc="-1" strike="noStrike">
              <a:solidFill>
                <a:srgbClr val="000000"/>
              </a:solidFill>
              <a:latin typeface="Arial"/>
            </a:endParaRPr>
          </a:p>
        </p:txBody>
      </p:sp>
      <p:graphicFrame>
        <p:nvGraphicFramePr>
          <p:cNvPr id="283" name="Table 6"/>
          <p:cNvGraphicFramePr/>
          <p:nvPr/>
        </p:nvGraphicFramePr>
        <p:xfrm>
          <a:off x="502920" y="1812600"/>
          <a:ext cx="3653640" cy="1872360"/>
        </p:xfrm>
        <a:graphic>
          <a:graphicData uri="http://schemas.openxmlformats.org/drawingml/2006/table">
            <a:tbl>
              <a:tblPr/>
              <a:tblGrid>
                <a:gridCol w="2619720"/>
                <a:gridCol w="1033920"/>
              </a:tblGrid>
              <a:tr h="168840">
                <a:tc>
                  <a:txBody>
                    <a:bodyPr lIns="31680" rIns="31680" tIns="12600" bIns="12600" anchor="b">
                      <a:noAutofit/>
                    </a:bodyPr>
                    <a:p>
                      <a:pPr defTabSz="457200">
                        <a:lnSpc>
                          <a:spcPct val="100000"/>
                        </a:lnSpc>
                      </a:pPr>
                      <a:r>
                        <a:rPr b="1" lang="en-US" sz="680" spc="-1" strike="noStrike">
                          <a:solidFill>
                            <a:srgbClr val="898781"/>
                          </a:solidFill>
                          <a:latin typeface="Calibri"/>
                        </a:rPr>
                        <a:t>ENGLISH INBOUND, BASE JULY</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endParaRPr b="0" lang="en-US" sz="180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Contacts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44,182</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AHT (BPO1/2 blend)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457.5 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Workload hours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5,615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Offered load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7.69 erlangs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Seats for 80/20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52514e"/>
                          </a:solidFill>
                          <a:latin typeface="Calibri"/>
                        </a:rPr>
                        <a:t>11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Achieved service level</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0ca30c"/>
                          </a:solidFill>
                          <a:latin typeface="Calibri"/>
                        </a:rPr>
                        <a:t>82.6%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Occupancy at 11 seats</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52514e"/>
                          </a:solidFill>
                          <a:latin typeface="Calibri"/>
                        </a:rPr>
                        <a:t>69.9%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898781"/>
                          </a:solidFill>
                          <a:latin typeface="Calibri"/>
                        </a:rPr>
                        <a:t>Workload FTE (÷ shrinkage only)</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898781"/>
                          </a:solidFill>
                          <a:latin typeface="Calibri"/>
                        </a:rPr>
                        <a:t>39.5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1" lang="en-US" sz="780" spc="-1" strike="noStrike">
                          <a:solidFill>
                            <a:srgbClr val="0b0b0b"/>
                          </a:solidFill>
                          <a:latin typeface="Calibri"/>
                        </a:rPr>
                        <a:t>FTE that actually meets SLA</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b0b0b"/>
                          </a:solidFill>
                          <a:latin typeface="Calibri"/>
                        </a:rPr>
                        <a:t>56.5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284" name="TextBox 7"/>
          <p:cNvSpPr/>
          <p:nvPr/>
        </p:nvSpPr>
        <p:spPr>
          <a:xfrm>
            <a:off x="502920" y="3675960"/>
            <a:ext cx="3653640" cy="263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52514e"/>
                </a:solidFill>
                <a:latin typeface="Calibri"/>
              </a:rPr>
              <a:t>+43% on one queue.</a:t>
            </a:r>
            <a:r>
              <a:rPr b="0" lang="en-US" sz="800" spc="-1" strike="noStrike">
                <a:solidFill>
                  <a:srgbClr val="52514e"/>
                </a:solidFill>
                <a:latin typeface="Calibri"/>
              </a:rPr>
              <a:t> Across all ten real-time queues it is +34% on the total.</a:t>
            </a:r>
            <a:endParaRPr b="0" lang="en-US" sz="800" spc="-1" strike="noStrike">
              <a:solidFill>
                <a:srgbClr val="000000"/>
              </a:solidFill>
              <a:latin typeface="Arial"/>
            </a:endParaRPr>
          </a:p>
        </p:txBody>
      </p:sp>
      <p:sp>
        <p:nvSpPr>
          <p:cNvPr id="285" name="TextBox 8"/>
          <p:cNvSpPr/>
          <p:nvPr/>
        </p:nvSpPr>
        <p:spPr>
          <a:xfrm>
            <a:off x="4376160" y="960120"/>
            <a:ext cx="35460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WHY SMALL QUEUES COST SO MUCH MORE</a:t>
            </a:r>
            <a:endParaRPr b="0" lang="en-US" sz="820" spc="-1" strike="noStrike">
              <a:solidFill>
                <a:srgbClr val="000000"/>
              </a:solidFill>
              <a:latin typeface="Arial"/>
            </a:endParaRPr>
          </a:p>
        </p:txBody>
      </p:sp>
      <p:sp>
        <p:nvSpPr>
          <p:cNvPr id="286" name="TextBox 9"/>
          <p:cNvSpPr/>
          <p:nvPr/>
        </p:nvSpPr>
        <p:spPr>
          <a:xfrm>
            <a:off x="4376160" y="1197720"/>
            <a:ext cx="3546000" cy="4057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20" spc="-1" strike="noStrike">
                <a:solidFill>
                  <a:srgbClr val="52514e"/>
                </a:solidFill>
                <a:latin typeface="Calibri"/>
              </a:rPr>
              <a:t>Occupancy is a property of </a:t>
            </a:r>
            <a:r>
              <a:rPr b="0" i="1" lang="en-US" sz="820" spc="-1" strike="noStrike">
                <a:solidFill>
                  <a:srgbClr val="52514e"/>
                </a:solidFill>
                <a:latin typeface="Calibri"/>
              </a:rPr>
              <a:t>queue size</a:t>
            </a:r>
            <a:r>
              <a:rPr b="0" lang="en-US" sz="820" spc="-1" strike="noStrike">
                <a:solidFill>
                  <a:srgbClr val="52514e"/>
                </a:solidFill>
                <a:latin typeface="Calibri"/>
              </a:rPr>
              <a:t>. A large queue smooths its own arrivals; a small one must hold spare seats against randomness a bigger pool would absorb.</a:t>
            </a:r>
            <a:endParaRPr b="0" lang="en-US" sz="820" spc="-1" strike="noStrike">
              <a:solidFill>
                <a:srgbClr val="000000"/>
              </a:solidFill>
              <a:latin typeface="Arial"/>
            </a:endParaRPr>
          </a:p>
        </p:txBody>
      </p:sp>
      <p:graphicFrame>
        <p:nvGraphicFramePr>
          <p:cNvPr id="287" name="Table 10"/>
          <p:cNvGraphicFramePr/>
          <p:nvPr/>
        </p:nvGraphicFramePr>
        <p:xfrm>
          <a:off x="4376160" y="1677240"/>
          <a:ext cx="3546000" cy="1280160"/>
        </p:xfrm>
        <a:graphic>
          <a:graphicData uri="http://schemas.openxmlformats.org/drawingml/2006/table">
            <a:tbl>
              <a:tblPr/>
              <a:tblGrid>
                <a:gridCol w="1336320"/>
                <a:gridCol w="719280"/>
                <a:gridCol w="616680"/>
                <a:gridCol w="873720"/>
              </a:tblGrid>
              <a:tr h="182880">
                <a:tc>
                  <a:txBody>
                    <a:bodyPr lIns="31680" rIns="31680" tIns="12600" bIns="12600" anchor="b">
                      <a:noAutofit/>
                    </a:bodyPr>
                    <a:p>
                      <a:pPr defTabSz="457200">
                        <a:lnSpc>
                          <a:spcPct val="100000"/>
                        </a:lnSpc>
                      </a:pPr>
                      <a:r>
                        <a:rPr b="1" lang="en-US" sz="680" spc="-1" strike="noStrike">
                          <a:solidFill>
                            <a:srgbClr val="898781"/>
                          </a:solidFill>
                          <a:latin typeface="Calibri"/>
                        </a:rPr>
                        <a:t>QUEUE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ERLANGS</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SEATS</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OCCUPANCY</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2880">
                <a:tc>
                  <a:txBody>
                    <a:bodyPr lIns="31680" rIns="31680" tIns="12600" bIns="12600" anchor="ctr">
                      <a:noAutofit/>
                    </a:bodyPr>
                    <a:p>
                      <a:pPr defTabSz="457200">
                        <a:lnSpc>
                          <a:spcPct val="100000"/>
                        </a:lnSpc>
                      </a:pPr>
                      <a:r>
                        <a:rPr b="0" lang="en-US" sz="780" spc="-1" strike="noStrike">
                          <a:solidFill>
                            <a:srgbClr val="52514e"/>
                          </a:solidFill>
                          <a:latin typeface="Calibri"/>
                        </a:rPr>
                        <a:t>Italian inbound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0.84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d03b3b"/>
                          </a:solidFill>
                          <a:latin typeface="Calibri"/>
                        </a:rPr>
                        <a:t>27.9%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2880">
                <a:tc>
                  <a:txBody>
                    <a:bodyPr lIns="31680" rIns="31680" tIns="12600" bIns="12600" anchor="ctr">
                      <a:noAutofit/>
                    </a:bodyPr>
                    <a:p>
                      <a:pPr defTabSz="457200">
                        <a:lnSpc>
                          <a:spcPct val="100000"/>
                        </a:lnSpc>
                      </a:pPr>
                      <a:r>
                        <a:rPr b="0" lang="en-US" sz="780" spc="-1" strike="noStrike">
                          <a:solidFill>
                            <a:srgbClr val="52514e"/>
                          </a:solidFill>
                          <a:latin typeface="Calibri"/>
                        </a:rPr>
                        <a:t>French inbound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0.93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d03b3b"/>
                          </a:solidFill>
                          <a:latin typeface="Calibri"/>
                        </a:rPr>
                        <a:t>30.9%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2880">
                <a:tc>
                  <a:txBody>
                    <a:bodyPr lIns="31680" rIns="31680" tIns="12600" bIns="12600" anchor="ctr">
                      <a:noAutofit/>
                    </a:bodyPr>
                    <a:p>
                      <a:pPr defTabSz="457200">
                        <a:lnSpc>
                          <a:spcPct val="100000"/>
                        </a:lnSpc>
                      </a:pPr>
                      <a:r>
                        <a:rPr b="0" lang="en-US" sz="780" spc="-1" strike="noStrike">
                          <a:solidFill>
                            <a:srgbClr val="52514e"/>
                          </a:solidFill>
                          <a:latin typeface="Calibri"/>
                        </a:rPr>
                        <a:t>Spanish inbound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1.14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38.1%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2880">
                <a:tc>
                  <a:txBody>
                    <a:bodyPr lIns="31680" rIns="31680" tIns="12600" bIns="12600" anchor="ctr">
                      <a:noAutofit/>
                    </a:bodyPr>
                    <a:p>
                      <a:pPr defTabSz="457200">
                        <a:lnSpc>
                          <a:spcPct val="100000"/>
                        </a:lnSpc>
                      </a:pPr>
                      <a:r>
                        <a:rPr b="0" lang="en-US" sz="780" spc="-1" strike="noStrike">
                          <a:solidFill>
                            <a:srgbClr val="52514e"/>
                          </a:solidFill>
                          <a:latin typeface="Calibri"/>
                        </a:rPr>
                        <a:t>German inbound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1.26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41.9%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2880">
                <a:tc>
                  <a:txBody>
                    <a:bodyPr lIns="31680" rIns="31680" tIns="12600" bIns="12600" anchor="ctr">
                      <a:noAutofit/>
                    </a:bodyPr>
                    <a:p>
                      <a:pPr defTabSz="457200">
                        <a:lnSpc>
                          <a:spcPct val="100000"/>
                        </a:lnSpc>
                      </a:pPr>
                      <a:r>
                        <a:rPr b="1" lang="en-US" sz="780" spc="-1" strike="noStrike">
                          <a:solidFill>
                            <a:srgbClr val="0b0b0b"/>
                          </a:solidFill>
                          <a:latin typeface="Calibri"/>
                        </a:rPr>
                        <a:t>All four, pooled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b0b0b"/>
                          </a:solidFill>
                          <a:latin typeface="Calibri"/>
                        </a:rPr>
                        <a:t>4.16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b0b0b"/>
                          </a:solidFill>
                          <a:latin typeface="Calibri"/>
                        </a:rPr>
                        <a:t>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ca30c"/>
                          </a:solidFill>
                          <a:latin typeface="Calibri"/>
                        </a:rPr>
                        <a:t>59.5%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82880">
                <a:tc>
                  <a:txBody>
                    <a:bodyPr lIns="31680" rIns="31680" tIns="12600" bIns="12600" anchor="ctr">
                      <a:noAutofit/>
                    </a:bodyPr>
                    <a:p>
                      <a:pPr defTabSz="457200">
                        <a:lnSpc>
                          <a:spcPct val="100000"/>
                        </a:lnSpc>
                      </a:pPr>
                      <a:r>
                        <a:rPr b="0" lang="en-US" sz="780" spc="-1" strike="noStrike">
                          <a:solidFill>
                            <a:srgbClr val="52514e"/>
                          </a:solidFill>
                          <a:latin typeface="Calibri"/>
                        </a:rPr>
                        <a:t>English inbound</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7.69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11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69.9%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cxnSp>
        <p:nvCxnSpPr>
          <p:cNvPr id="288" name="Connector 11"/>
          <p:cNvCxnSpPr/>
          <p:nvPr/>
        </p:nvCxnSpPr>
        <p:spPr>
          <a:xfrm>
            <a:off x="4376160" y="3075840"/>
            <a:ext cx="360" cy="324720"/>
          </a:xfrm>
          <a:prstGeom prst="straightConnector1">
            <a:avLst/>
          </a:prstGeom>
          <a:ln w="28575">
            <a:solidFill>
              <a:srgbClr val="2a78d6"/>
            </a:solidFill>
            <a:round/>
          </a:ln>
        </p:spPr>
      </p:cxnSp>
      <p:sp>
        <p:nvSpPr>
          <p:cNvPr id="289" name="TextBox 12"/>
          <p:cNvSpPr/>
          <p:nvPr/>
        </p:nvSpPr>
        <p:spPr>
          <a:xfrm>
            <a:off x="4495320" y="3103560"/>
            <a:ext cx="3427200" cy="2505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60" spc="-1" strike="noStrike">
                <a:solidFill>
                  <a:srgbClr val="52514e"/>
                </a:solidFill>
                <a:latin typeface="Calibri"/>
              </a:rPr>
              <a:t>Doubling volume does not double FTE.</a:t>
            </a:r>
            <a:r>
              <a:rPr b="0" lang="en-US" sz="760" spc="-1" strike="noStrike">
                <a:solidFill>
                  <a:srgbClr val="52514e"/>
                </a:solidFill>
                <a:latin typeface="Calibri"/>
              </a:rPr>
              <a:t> 2× the contacts needs </a:t>
            </a:r>
            <a:r>
              <a:rPr b="1" lang="en-US" sz="760" spc="-1" strike="noStrike">
                <a:solidFill>
                  <a:srgbClr val="52514e"/>
                </a:solidFill>
                <a:latin typeface="Calibri"/>
              </a:rPr>
              <a:t>1.81×</a:t>
            </a:r>
            <a:r>
              <a:rPr b="0" lang="en-US" sz="760" spc="-1" strike="noStrike">
                <a:solidFill>
                  <a:srgbClr val="52514e"/>
                </a:solidFill>
                <a:latin typeface="Calibri"/>
              </a:rPr>
              <a:t> the FTE — the real economy behind pooling.</a:t>
            </a:r>
            <a:endParaRPr b="0" lang="en-US" sz="760" spc="-1" strike="noStrike">
              <a:solidFill>
                <a:srgbClr val="000000"/>
              </a:solidFill>
              <a:latin typeface="Arial"/>
            </a:endParaRPr>
          </a:p>
        </p:txBody>
      </p:sp>
      <p:sp>
        <p:nvSpPr>
          <p:cNvPr id="290" name="TextBox 13"/>
          <p:cNvSpPr/>
          <p:nvPr/>
        </p:nvSpPr>
        <p:spPr>
          <a:xfrm>
            <a:off x="8142120" y="960120"/>
            <a:ext cx="35460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WHERE THIS MODEL IS DELIBERATELY CONSERVATIVE</a:t>
            </a:r>
            <a:endParaRPr b="0" lang="en-US" sz="820" spc="-1" strike="noStrike">
              <a:solidFill>
                <a:srgbClr val="000000"/>
              </a:solidFill>
              <a:latin typeface="Arial"/>
            </a:endParaRPr>
          </a:p>
        </p:txBody>
      </p:sp>
      <p:sp>
        <p:nvSpPr>
          <p:cNvPr id="291" name="TextBox 14"/>
          <p:cNvSpPr/>
          <p:nvPr/>
        </p:nvSpPr>
        <p:spPr>
          <a:xfrm>
            <a:off x="8142120" y="1197720"/>
            <a:ext cx="3546000" cy="709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52514e"/>
                </a:solidFill>
                <a:latin typeface="Calibri"/>
              </a:rPr>
              <a:t>•  </a:t>
            </a:r>
            <a:r>
              <a:rPr b="1" lang="en-US" sz="760" spc="-1" strike="noStrike">
                <a:solidFill>
                  <a:srgbClr val="52514e"/>
                </a:solidFill>
                <a:latin typeface="Calibri"/>
              </a:rPr>
              <a:t>Monthly-average arrival rates.</a:t>
            </a:r>
            <a:r>
              <a:rPr b="0" lang="en-US" sz="760" spc="-1" strike="noStrike">
                <a:solidFill>
                  <a:srgbClr val="52514e"/>
                </a:solidFill>
                <a:latin typeface="Calibri"/>
              </a:rPr>
              <a:t> Real intraday peaks push staffing </a:t>
            </a:r>
            <a:r>
              <a:rPr b="0" i="1" lang="en-US" sz="760" spc="-1" strike="noStrike">
                <a:solidFill>
                  <a:srgbClr val="52514e"/>
                </a:solidFill>
                <a:latin typeface="Calibri"/>
              </a:rPr>
              <a:t>higher</a:t>
            </a:r>
            <a:r>
              <a:rPr b="0" lang="en-US" sz="760" spc="-1" strike="noStrike">
                <a:solidFill>
                  <a:srgbClr val="52514e"/>
                </a:solidFill>
                <a:latin typeface="Calibri"/>
              </a:rPr>
              <a:t>, never lower. </a:t>
            </a:r>
            <a:r>
              <a:rPr b="1" lang="en-US" sz="760" spc="-1" strike="noStrike">
                <a:solidFill>
                  <a:srgbClr val="52514e"/>
                </a:solidFill>
                <a:latin typeface="Calibri"/>
              </a:rPr>
              <a:t>508 is a floor.</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Shrinkage held flat at 18%.</a:t>
            </a:r>
            <a:r>
              <a:rPr b="0" lang="en-US" sz="760" spc="-1" strike="noStrike">
                <a:solidFill>
                  <a:srgbClr val="52514e"/>
                </a:solidFill>
                <a:latin typeface="Calibri"/>
              </a:rPr>
              <a:t> A +1–2pt summer adjustment adds 6–12 FTE.</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Outbound kept at face value</a:t>
            </a:r>
            <a:r>
              <a:rPr b="0" lang="en-US" sz="760" spc="-1" strike="noStrike">
                <a:solidFill>
                  <a:srgbClr val="52514e"/>
                </a:solidFill>
                <a:latin typeface="Calibri"/>
              </a:rPr>
              <a:t> despite mirroring inbound exactly.</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Email at 85% planned occupancy</a:t>
            </a:r>
            <a:r>
              <a:rPr b="0" lang="en-US" sz="760" spc="-1" strike="noStrike">
                <a:solidFill>
                  <a:srgbClr val="52514e"/>
                </a:solidFill>
                <a:latin typeface="Calibri"/>
              </a:rPr>
              <a:t> — an assumption, not from the data.</a:t>
            </a:r>
            <a:endParaRPr b="0" lang="en-US" sz="760" spc="-1" strike="noStrike">
              <a:solidFill>
                <a:srgbClr val="000000"/>
              </a:solidFill>
              <a:latin typeface="Arial"/>
            </a:endParaRPr>
          </a:p>
        </p:txBody>
      </p:sp>
      <p:sp>
        <p:nvSpPr>
          <p:cNvPr id="292" name="TextBox 15"/>
          <p:cNvSpPr/>
          <p:nvPr/>
        </p:nvSpPr>
        <p:spPr>
          <a:xfrm>
            <a:off x="8142120" y="2017440"/>
            <a:ext cx="354600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SHRINKAGE SENSITIVITY</a:t>
            </a:r>
            <a:endParaRPr b="0" lang="en-US" sz="820" spc="-1" strike="noStrike">
              <a:solidFill>
                <a:srgbClr val="000000"/>
              </a:solidFill>
              <a:latin typeface="Arial"/>
            </a:endParaRPr>
          </a:p>
        </p:txBody>
      </p:sp>
      <p:graphicFrame>
        <p:nvGraphicFramePr>
          <p:cNvPr id="293" name="Table 16"/>
          <p:cNvGraphicFramePr/>
          <p:nvPr/>
        </p:nvGraphicFramePr>
        <p:xfrm>
          <a:off x="8142120" y="2255040"/>
          <a:ext cx="3546000" cy="1054080"/>
        </p:xfrm>
        <a:graphic>
          <a:graphicData uri="http://schemas.openxmlformats.org/drawingml/2006/table">
            <a:tbl>
              <a:tblPr/>
              <a:tblGrid>
                <a:gridCol w="1560240"/>
                <a:gridCol w="992880"/>
                <a:gridCol w="992880"/>
              </a:tblGrid>
              <a:tr h="168840">
                <a:tc>
                  <a:txBody>
                    <a:bodyPr lIns="31680" rIns="31680" tIns="12600" bIns="12600" anchor="b">
                      <a:noAutofit/>
                    </a:bodyPr>
                    <a:p>
                      <a:pPr defTabSz="457200">
                        <a:lnSpc>
                          <a:spcPct val="100000"/>
                        </a:lnSpc>
                      </a:pPr>
                      <a:r>
                        <a:rPr b="1" lang="en-US" sz="680" spc="-1" strike="noStrike">
                          <a:solidFill>
                            <a:srgbClr val="898781"/>
                          </a:solidFill>
                          <a:latin typeface="Calibri"/>
                        </a:rPr>
                        <a:t>SHRINKAGE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SLA FTE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Δ</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16%</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472.7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898781"/>
                          </a:solidFill>
                          <a:latin typeface="Calibri"/>
                        </a:rPr>
                        <a:t>−</a:t>
                      </a:r>
                      <a:r>
                        <a:rPr b="0" lang="en-US" sz="780" spc="-1" strike="noStrike">
                          <a:solidFill>
                            <a:srgbClr val="898781"/>
                          </a:solidFill>
                          <a:latin typeface="Calibri"/>
                        </a:rPr>
                        <a:t>11.5</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17%</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478.4</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898781"/>
                          </a:solidFill>
                          <a:latin typeface="Calibri"/>
                        </a:rPr>
                        <a:t>−</a:t>
                      </a:r>
                      <a:r>
                        <a:rPr b="0" lang="en-US" sz="780" spc="-1" strike="noStrike">
                          <a:solidFill>
                            <a:srgbClr val="898781"/>
                          </a:solidFill>
                          <a:latin typeface="Calibri"/>
                        </a:rPr>
                        <a:t>5.8</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1" lang="en-US" sz="780" spc="-1" strike="noStrike">
                          <a:solidFill>
                            <a:srgbClr val="0b0b0b"/>
                          </a:solidFill>
                          <a:latin typeface="Calibri"/>
                        </a:rPr>
                        <a:t>18% — as given</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b0b0b"/>
                          </a:solidFill>
                          <a:latin typeface="Calibri"/>
                        </a:rPr>
                        <a:t>484.2</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1" lang="en-US" sz="780" spc="-1" strike="noStrike">
                          <a:solidFill>
                            <a:srgbClr val="0b0b0b"/>
                          </a:solidFill>
                          <a:latin typeface="Calibri"/>
                        </a:rPr>
                        <a:t>—</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19%</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490.2</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d03b3b"/>
                          </a:solidFill>
                          <a:latin typeface="Calibri"/>
                        </a:rPr>
                        <a:t>+6.0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176760">
                <a:tc>
                  <a:txBody>
                    <a:bodyPr lIns="31680" rIns="31680" tIns="12600" bIns="12600" anchor="ctr">
                      <a:noAutofit/>
                    </a:bodyPr>
                    <a:p>
                      <a:pPr defTabSz="457200">
                        <a:lnSpc>
                          <a:spcPct val="100000"/>
                        </a:lnSpc>
                      </a:pPr>
                      <a:r>
                        <a:rPr b="0" lang="en-US" sz="780" spc="-1" strike="noStrike">
                          <a:solidFill>
                            <a:srgbClr val="52514e"/>
                          </a:solidFill>
                          <a:latin typeface="Calibri"/>
                        </a:rPr>
                        <a:t>20%</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52514e"/>
                          </a:solidFill>
                          <a:latin typeface="Calibri"/>
                        </a:rPr>
                        <a:t>496.3</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80" spc="-1" strike="noStrike">
                          <a:solidFill>
                            <a:srgbClr val="d03b3b"/>
                          </a:solidFill>
                          <a:latin typeface="Calibri"/>
                        </a:rPr>
                        <a:t>+12.1</a:t>
                      </a:r>
                      <a:endParaRPr b="0" lang="en-US" sz="78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cxnSp>
        <p:nvCxnSpPr>
          <p:cNvPr id="294" name="Connector 17"/>
          <p:cNvCxnSpPr/>
          <p:nvPr/>
        </p:nvCxnSpPr>
        <p:spPr>
          <a:xfrm>
            <a:off x="502920" y="6400800"/>
            <a:ext cx="11185920" cy="360"/>
          </a:xfrm>
          <a:prstGeom prst="straightConnector1">
            <a:avLst/>
          </a:prstGeom>
          <a:ln w="9525">
            <a:solidFill>
              <a:srgbClr val="e1e0d9"/>
            </a:solidFill>
            <a:round/>
          </a:ln>
        </p:spPr>
      </p:cxnSp>
      <p:sp>
        <p:nvSpPr>
          <p:cNvPr id="295" name="TextBox 18"/>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 all figures reproduced by run_model.py, verified by crosscheck.py (72/72)</a:t>
            </a:r>
            <a:endParaRPr b="0" lang="en-US" sz="750" spc="-1" strike="noStrike">
              <a:solidFill>
                <a:srgbClr val="000000"/>
              </a:solidFill>
              <a:latin typeface="Arial"/>
            </a:endParaRPr>
          </a:p>
        </p:txBody>
      </p:sp>
      <p:sp>
        <p:nvSpPr>
          <p:cNvPr id="296" name="TextBox 19"/>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A4 / 6</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97"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898781"/>
                </a:solidFill>
                <a:latin typeface="Calibri"/>
              </a:rPr>
              <a:t>Appendix A5</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298"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700" spc="-1" strike="noStrike">
                <a:solidFill>
                  <a:srgbClr val="0b0b0b"/>
                </a:solidFill>
                <a:latin typeface="Calibri"/>
              </a:rPr>
              <a:t>The model and how it was verified</a:t>
            </a:r>
            <a:endParaRPr b="0" lang="en-US" sz="1700" spc="-1" strike="noStrike">
              <a:solidFill>
                <a:srgbClr val="000000"/>
              </a:solidFill>
              <a:latin typeface="Arial"/>
            </a:endParaRPr>
          </a:p>
        </p:txBody>
      </p:sp>
      <p:cxnSp>
        <p:nvCxnSpPr>
          <p:cNvPr id="299" name="Connector 3"/>
          <p:cNvCxnSpPr/>
          <p:nvPr/>
        </p:nvCxnSpPr>
        <p:spPr>
          <a:xfrm>
            <a:off x="502920" y="822960"/>
            <a:ext cx="11185920" cy="360"/>
          </a:xfrm>
          <a:prstGeom prst="straightConnector1">
            <a:avLst/>
          </a:prstGeom>
          <a:ln w="9525">
            <a:solidFill>
              <a:srgbClr val="e1e0d9"/>
            </a:solidFill>
            <a:round/>
          </a:ln>
        </p:spPr>
      </p:cxnSp>
      <p:sp>
        <p:nvSpPr>
          <p:cNvPr id="300" name="TextBox 4"/>
          <p:cNvSpPr/>
          <p:nvPr/>
        </p:nvSpPr>
        <p:spPr>
          <a:xfrm>
            <a:off x="502920" y="960120"/>
            <a:ext cx="343872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THE MODEL</a:t>
            </a:r>
            <a:endParaRPr b="0" lang="en-US" sz="820" spc="-1" strike="noStrike">
              <a:solidFill>
                <a:srgbClr val="000000"/>
              </a:solidFill>
              <a:latin typeface="Arial"/>
            </a:endParaRPr>
          </a:p>
        </p:txBody>
      </p:sp>
      <p:graphicFrame>
        <p:nvGraphicFramePr>
          <p:cNvPr id="301" name="Table 5"/>
          <p:cNvGraphicFramePr/>
          <p:nvPr/>
        </p:nvGraphicFramePr>
        <p:xfrm>
          <a:off x="502920" y="1197720"/>
          <a:ext cx="3438720" cy="2117520"/>
        </p:xfrm>
        <a:graphic>
          <a:graphicData uri="http://schemas.openxmlformats.org/drawingml/2006/table">
            <a:tbl>
              <a:tblPr/>
              <a:tblGrid>
                <a:gridCol w="1109160"/>
                <a:gridCol w="2329560"/>
              </a:tblGrid>
              <a:tr h="219240">
                <a:tc>
                  <a:txBody>
                    <a:bodyPr lIns="31680" rIns="31680" tIns="12600" bIns="12600" anchor="b">
                      <a:noAutofit/>
                    </a:bodyPr>
                    <a:p>
                      <a:pPr defTabSz="457200">
                        <a:lnSpc>
                          <a:spcPct val="100000"/>
                        </a:lnSpc>
                      </a:pPr>
                      <a:r>
                        <a:rPr b="1" lang="en-US" sz="680" spc="-1" strike="noStrike">
                          <a:solidFill>
                            <a:srgbClr val="898781"/>
                          </a:solidFill>
                          <a:latin typeface="Calibri"/>
                        </a:rPr>
                        <a:t>MODULE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RESPONSIBILITY</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config.py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Every assumption in one frozen dataclass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erlang.py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Erlang B/C, service level, ASA, solver</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loader.py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Schema-driven reader; refuses the hidden sheet</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clean.py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12 data-quality checks → structured log</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forecast.py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Break detection, growth test, scenarios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capacity.py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Workload → Erlang → seats → FTE, by BPO</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optimise.py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Each lever re-solved through the same engine</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report.py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16-sheet Excel export</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302" name="TextBox 6"/>
          <p:cNvSpPr/>
          <p:nvPr/>
        </p:nvSpPr>
        <p:spPr>
          <a:xfrm>
            <a:off x="502920" y="3416400"/>
            <a:ext cx="3438720" cy="25704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80" spc="-1" strike="noStrike">
                <a:solidFill>
                  <a:srgbClr val="52514e"/>
                </a:solidFill>
                <a:latin typeface="Calibri"/>
              </a:rPr>
              <a:t>Automation was the point.</a:t>
            </a:r>
            <a:r>
              <a:rPr b="0" lang="en-US" sz="780" spc="-1" strike="noStrike">
                <a:solidFill>
                  <a:srgbClr val="52514e"/>
                </a:solidFill>
                <a:latin typeface="Calibri"/>
              </a:rPr>
              <a:t> Drop in next month's workbook and the plan regenerates — every assumption is a config value.</a:t>
            </a:r>
            <a:endParaRPr b="0" lang="en-US" sz="780" spc="-1" strike="noStrike">
              <a:solidFill>
                <a:srgbClr val="000000"/>
              </a:solidFill>
              <a:latin typeface="Arial"/>
            </a:endParaRPr>
          </a:p>
        </p:txBody>
      </p:sp>
      <p:cxnSp>
        <p:nvCxnSpPr>
          <p:cNvPr id="303" name="Connector 7"/>
          <p:cNvCxnSpPr/>
          <p:nvPr/>
        </p:nvCxnSpPr>
        <p:spPr>
          <a:xfrm>
            <a:off x="502920" y="3746880"/>
            <a:ext cx="360" cy="420120"/>
          </a:xfrm>
          <a:prstGeom prst="straightConnector1">
            <a:avLst/>
          </a:prstGeom>
          <a:ln w="28575">
            <a:solidFill>
              <a:srgbClr val="c3c2b7"/>
            </a:solidFill>
            <a:round/>
          </a:ln>
        </p:spPr>
      </p:cxnSp>
      <p:sp>
        <p:nvSpPr>
          <p:cNvPr id="304" name="TextBox 8"/>
          <p:cNvSpPr/>
          <p:nvPr/>
        </p:nvSpPr>
        <p:spPr>
          <a:xfrm>
            <a:off x="621720" y="3774600"/>
            <a:ext cx="3319920" cy="3463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00" spc="-1" strike="noStrike">
                <a:solidFill>
                  <a:srgbClr val="52514e"/>
                </a:solidFill>
                <a:latin typeface="Calibri"/>
              </a:rPr>
              <a:t>python run_model.py</a:t>
            </a:r>
            <a:br>
              <a:rPr sz="1800"/>
            </a:br>
            <a:r>
              <a:rPr b="0" lang="en-US" sz="700" spc="-1" strike="noStrike">
                <a:solidFill>
                  <a:srgbClr val="52514e"/>
                </a:solidFill>
                <a:latin typeface="Calibri"/>
              </a:rPr>
              <a:t>python run_model.py --aht-source reason</a:t>
            </a:r>
            <a:br>
              <a:rPr sz="1800"/>
            </a:br>
            <a:r>
              <a:rPr b="0" lang="en-US" sz="700" spc="-1" strike="noStrike">
                <a:solidFill>
                  <a:srgbClr val="52514e"/>
                </a:solidFill>
                <a:latin typeface="Calibri"/>
              </a:rPr>
              <a:t>python crosscheck.py</a:t>
            </a:r>
            <a:endParaRPr b="0" lang="en-US" sz="700" spc="-1" strike="noStrike">
              <a:solidFill>
                <a:srgbClr val="000000"/>
              </a:solidFill>
              <a:latin typeface="Arial"/>
            </a:endParaRPr>
          </a:p>
        </p:txBody>
      </p:sp>
      <p:sp>
        <p:nvSpPr>
          <p:cNvPr id="305" name="TextBox 9"/>
          <p:cNvSpPr/>
          <p:nvPr/>
        </p:nvSpPr>
        <p:spPr>
          <a:xfrm>
            <a:off x="4161240" y="960120"/>
            <a:ext cx="3868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VERIFICATION — 72 CHECKS, ALL PASSING</a:t>
            </a:r>
            <a:endParaRPr b="0" lang="en-US" sz="820" spc="-1" strike="noStrike">
              <a:solidFill>
                <a:srgbClr val="000000"/>
              </a:solidFill>
              <a:latin typeface="Arial"/>
            </a:endParaRPr>
          </a:p>
        </p:txBody>
      </p:sp>
      <p:graphicFrame>
        <p:nvGraphicFramePr>
          <p:cNvPr id="306" name="Table 10"/>
          <p:cNvGraphicFramePr/>
          <p:nvPr/>
        </p:nvGraphicFramePr>
        <p:xfrm>
          <a:off x="4161240" y="1197720"/>
          <a:ext cx="3868560" cy="2046240"/>
        </p:xfrm>
        <a:graphic>
          <a:graphicData uri="http://schemas.openxmlformats.org/drawingml/2006/table">
            <a:tbl>
              <a:tblPr/>
              <a:tblGrid>
                <a:gridCol w="853200"/>
                <a:gridCol w="3015360"/>
              </a:tblGrid>
              <a:tr h="219240">
                <a:tc>
                  <a:txBody>
                    <a:bodyPr lIns="31680" rIns="31680" tIns="12600" bIns="12600" anchor="b">
                      <a:noAutofit/>
                    </a:bodyPr>
                    <a:p>
                      <a:pPr defTabSz="457200">
                        <a:lnSpc>
                          <a:spcPct val="100000"/>
                        </a:lnSpc>
                      </a:pPr>
                      <a:r>
                        <a:rPr b="1" lang="en-US" sz="680" spc="-1" strike="noStrike">
                          <a:solidFill>
                            <a:srgbClr val="898781"/>
                          </a:solidFill>
                          <a:latin typeface="Calibri"/>
                        </a:rPr>
                        <a:t>LAYER</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WHAT IS ACTUALLY PROVED</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90880">
                <a:tc>
                  <a:txBody>
                    <a:bodyPr lIns="31680" rIns="31680" tIns="12600" bIns="12600" anchor="ctr">
                      <a:noAutofit/>
                    </a:bodyPr>
                    <a:p>
                      <a:pPr defTabSz="457200">
                        <a:lnSpc>
                          <a:spcPct val="100000"/>
                        </a:lnSpc>
                      </a:pPr>
                      <a:r>
                        <a:rPr b="1" lang="en-US" sz="740" spc="-1" strike="noStrike">
                          <a:solidFill>
                            <a:srgbClr val="52514e"/>
                          </a:solidFill>
                          <a:latin typeface="Calibri"/>
                        </a:rPr>
                        <a:t>Erlang B/C</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Recursion vs closed form (1.1e-16); vs stationary dist. (&lt;1e-12)</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Simulation</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vs discrete-event M/M/c — 3σ band on SL and ASA</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Solver</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Minimal feasible seats; SL monotone in seats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Queueing</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Little's Law holds exactly</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Raw cells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Full July chain re-derived from cells — matches 1e-6</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Invariants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Every queue ≥80%; roll-up sums exact; LOW≤BASE≤HIGH</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HR maths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Attrition compounds to 36.00%/yr</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19240">
                <a:tc>
                  <a:txBody>
                    <a:bodyPr lIns="31680" rIns="31680" tIns="12600" bIns="12600" anchor="ctr">
                      <a:noAutofit/>
                    </a:bodyPr>
                    <a:p>
                      <a:pPr defTabSz="457200">
                        <a:lnSpc>
                          <a:spcPct val="100000"/>
                        </a:lnSpc>
                      </a:pPr>
                      <a:r>
                        <a:rPr b="1" lang="en-US" sz="740" spc="-1" strike="noStrike">
                          <a:solidFill>
                            <a:srgbClr val="52514e"/>
                          </a:solidFill>
                          <a:latin typeface="Calibri"/>
                        </a:rPr>
                        <a:t>Levers</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40" spc="-1" strike="noStrike">
                          <a:solidFill>
                            <a:srgbClr val="898781"/>
                          </a:solidFill>
                          <a:latin typeface="Calibri"/>
                        </a:rPr>
                        <a:t>Each 1b strategy re-solved, not asserted</a:t>
                      </a:r>
                      <a:endParaRPr b="0" lang="en-US" sz="74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307" name="TextBox 11"/>
          <p:cNvSpPr/>
          <p:nvPr/>
        </p:nvSpPr>
        <p:spPr>
          <a:xfrm>
            <a:off x="8249760" y="960120"/>
            <a:ext cx="343872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WHAT VERIFICATION ACTUALLY CAUGHT</a:t>
            </a:r>
            <a:endParaRPr b="0" lang="en-US" sz="820" spc="-1" strike="noStrike">
              <a:solidFill>
                <a:srgbClr val="000000"/>
              </a:solidFill>
              <a:latin typeface="Arial"/>
            </a:endParaRPr>
          </a:p>
        </p:txBody>
      </p:sp>
      <p:sp>
        <p:nvSpPr>
          <p:cNvPr id="308" name="TextBox 12"/>
          <p:cNvSpPr/>
          <p:nvPr/>
        </p:nvSpPr>
        <p:spPr>
          <a:xfrm>
            <a:off x="8249760" y="1197720"/>
            <a:ext cx="3438720" cy="131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800" spc="-1" strike="noStrike">
                <a:solidFill>
                  <a:srgbClr val="52514e"/>
                </a:solidFill>
                <a:latin typeface="Calibri"/>
              </a:rPr>
              <a:t>Three real defects </a:t>
            </a:r>
            <a:r>
              <a:rPr b="1" lang="en-US" sz="800" spc="-1" strike="noStrike">
                <a:solidFill>
                  <a:srgbClr val="52514e"/>
                </a:solidFill>
                <a:latin typeface="Calibri"/>
              </a:rPr>
              <a:t>in my own model</a:t>
            </a:r>
            <a:r>
              <a:rPr b="0" lang="en-US" sz="800" spc="-1" strike="noStrike">
                <a:solidFill>
                  <a:srgbClr val="52514e"/>
                </a:solidFill>
                <a:latin typeface="Calibri"/>
              </a:rPr>
              <a:t>, all fixed at source:</a:t>
            </a:r>
            <a:endParaRPr b="0" lang="en-US" sz="800" spc="-1" strike="noStrike">
              <a:solidFill>
                <a:srgbClr val="000000"/>
              </a:solidFill>
              <a:latin typeface="Arial"/>
            </a:endParaRPr>
          </a:p>
        </p:txBody>
      </p:sp>
      <p:sp>
        <p:nvSpPr>
          <p:cNvPr id="309" name="TextBox 13"/>
          <p:cNvSpPr/>
          <p:nvPr/>
        </p:nvSpPr>
        <p:spPr>
          <a:xfrm>
            <a:off x="8249760" y="1375560"/>
            <a:ext cx="3438720" cy="8074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52514e"/>
                </a:solidFill>
                <a:latin typeface="Calibri"/>
              </a:rPr>
              <a:t>•  </a:t>
            </a:r>
            <a:r>
              <a:rPr b="0" lang="en-US" sz="760" spc="-1" strike="noStrike">
                <a:solidFill>
                  <a:srgbClr val="52514e"/>
                </a:solidFill>
                <a:latin typeface="Calibri"/>
              </a:rPr>
              <a:t>The growth test keyed off </a:t>
            </a:r>
            <a:r>
              <a:rPr b="1" lang="en-US" sz="760" spc="-1" strike="noStrike">
                <a:solidFill>
                  <a:srgbClr val="52514e"/>
                </a:solidFill>
                <a:latin typeface="Calibri"/>
              </a:rPr>
              <a:t>|slope|</a:t>
            </a:r>
            <a:r>
              <a:rPr b="0" lang="en-US" sz="760" spc="-1" strike="noStrike">
                <a:solidFill>
                  <a:srgbClr val="52514e"/>
                </a:solidFill>
                <a:latin typeface="Calibri"/>
              </a:rPr>
              <a:t>, so declining German qualified as “growing” — HIGH came out below BASE.</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0" lang="en-US" sz="760" spc="-1" strike="noStrike">
                <a:solidFill>
                  <a:srgbClr val="52514e"/>
                </a:solidFill>
                <a:latin typeface="Calibri"/>
              </a:rPr>
              <a:t>The reported trend was a one-step projection rather than the OLS slope (</a:t>
            </a:r>
            <a:r>
              <a:rPr b="1" lang="en-US" sz="760" spc="-1" strike="noStrike">
                <a:solidFill>
                  <a:srgbClr val="52514e"/>
                </a:solidFill>
                <a:latin typeface="Calibri"/>
              </a:rPr>
              <a:t>16,869/mo</a:t>
            </a:r>
            <a:r>
              <a:rPr b="0" lang="en-US" sz="760" spc="-1" strike="noStrike">
                <a:solidFill>
                  <a:srgbClr val="52514e"/>
                </a:solidFill>
                <a:latin typeface="Calibri"/>
              </a:rPr>
              <a:t>).</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0" lang="en-US" sz="760" spc="-1" strike="noStrike">
                <a:solidFill>
                  <a:srgbClr val="52514e"/>
                </a:solidFill>
                <a:latin typeface="Calibri"/>
              </a:rPr>
              <a:t>A fourth failure surfaced the ±2-contact residue — became DQ finding #1.</a:t>
            </a:r>
            <a:endParaRPr b="0" lang="en-US" sz="760" spc="-1" strike="noStrike">
              <a:solidFill>
                <a:srgbClr val="000000"/>
              </a:solidFill>
              <a:latin typeface="Arial"/>
            </a:endParaRPr>
          </a:p>
        </p:txBody>
      </p:sp>
      <p:cxnSp>
        <p:nvCxnSpPr>
          <p:cNvPr id="310" name="Connector 14"/>
          <p:cNvCxnSpPr/>
          <p:nvPr/>
        </p:nvCxnSpPr>
        <p:spPr>
          <a:xfrm>
            <a:off x="8249400" y="2265480"/>
            <a:ext cx="360" cy="317880"/>
          </a:xfrm>
          <a:prstGeom prst="straightConnector1">
            <a:avLst/>
          </a:prstGeom>
          <a:ln w="28575">
            <a:solidFill>
              <a:srgbClr val="2a78d6"/>
            </a:solidFill>
            <a:round/>
          </a:ln>
        </p:spPr>
      </p:cxnSp>
      <p:sp>
        <p:nvSpPr>
          <p:cNvPr id="311" name="TextBox 15"/>
          <p:cNvSpPr/>
          <p:nvPr/>
        </p:nvSpPr>
        <p:spPr>
          <a:xfrm>
            <a:off x="8368560" y="2293200"/>
            <a:ext cx="3319920" cy="2440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40" spc="-1" strike="noStrike">
                <a:solidFill>
                  <a:srgbClr val="52514e"/>
                </a:solidFill>
                <a:latin typeface="Calibri"/>
              </a:rPr>
              <a:t>One "failure" was wrong in the </a:t>
            </a:r>
            <a:r>
              <a:rPr b="0" i="1" lang="en-US" sz="740" spc="-1" strike="noStrike">
                <a:solidFill>
                  <a:srgbClr val="52514e"/>
                </a:solidFill>
                <a:latin typeface="Calibri"/>
              </a:rPr>
              <a:t>test</a:t>
            </a:r>
            <a:r>
              <a:rPr b="0" lang="en-US" sz="740" spc="-1" strike="noStrike">
                <a:solidFill>
                  <a:srgbClr val="52514e"/>
                </a:solidFill>
                <a:latin typeface="Calibri"/>
              </a:rPr>
              <a:t>, not the code — four independent derivations agreed to </a:t>
            </a:r>
            <a:r>
              <a:rPr b="1" lang="en-US" sz="740" spc="-1" strike="noStrike">
                <a:solidFill>
                  <a:srgbClr val="52514e"/>
                </a:solidFill>
                <a:latin typeface="Calibri"/>
              </a:rPr>
              <a:t>1e-12</a:t>
            </a:r>
            <a:r>
              <a:rPr b="0" lang="en-US" sz="740" spc="-1" strike="noStrike">
                <a:solidFill>
                  <a:srgbClr val="52514e"/>
                </a:solidFill>
                <a:latin typeface="Calibri"/>
              </a:rPr>
              <a:t>. The test was corrected, not the model.</a:t>
            </a:r>
            <a:endParaRPr b="0" lang="en-US" sz="740" spc="-1" strike="noStrike">
              <a:solidFill>
                <a:srgbClr val="000000"/>
              </a:solidFill>
              <a:latin typeface="Arial"/>
            </a:endParaRPr>
          </a:p>
        </p:txBody>
      </p:sp>
      <p:sp>
        <p:nvSpPr>
          <p:cNvPr id="312" name="TextBox 16"/>
          <p:cNvSpPr/>
          <p:nvPr/>
        </p:nvSpPr>
        <p:spPr>
          <a:xfrm>
            <a:off x="8249760" y="2702160"/>
            <a:ext cx="3438720" cy="3859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80" spc="-1" strike="noStrike">
                <a:solidFill>
                  <a:srgbClr val="52514e"/>
                </a:solidFill>
                <a:latin typeface="Calibri"/>
              </a:rPr>
              <a:t>Why this belongs in the submission.</a:t>
            </a:r>
            <a:r>
              <a:rPr b="0" lang="en-US" sz="780" spc="-1" strike="noStrike">
                <a:solidFill>
                  <a:srgbClr val="52514e"/>
                </a:solidFill>
                <a:latin typeface="Calibri"/>
              </a:rPr>
              <a:t> Every figure in this deck is generated by the model — the deck reads the model's own output, so the two cannot drift apart.</a:t>
            </a:r>
            <a:endParaRPr b="0" lang="en-US" sz="780" spc="-1" strike="noStrike">
              <a:solidFill>
                <a:srgbClr val="000000"/>
              </a:solidFill>
              <a:latin typeface="Arial"/>
            </a:endParaRPr>
          </a:p>
        </p:txBody>
      </p:sp>
      <p:cxnSp>
        <p:nvCxnSpPr>
          <p:cNvPr id="313" name="Connector 17"/>
          <p:cNvCxnSpPr/>
          <p:nvPr/>
        </p:nvCxnSpPr>
        <p:spPr>
          <a:xfrm>
            <a:off x="8249400" y="3152160"/>
            <a:ext cx="360" cy="439920"/>
          </a:xfrm>
          <a:prstGeom prst="straightConnector1">
            <a:avLst/>
          </a:prstGeom>
          <a:ln w="28575">
            <a:solidFill>
              <a:srgbClr val="2a78d6"/>
            </a:solidFill>
            <a:round/>
          </a:ln>
        </p:spPr>
      </p:cxnSp>
      <p:sp>
        <p:nvSpPr>
          <p:cNvPr id="314" name="TextBox 18"/>
          <p:cNvSpPr/>
          <p:nvPr/>
        </p:nvSpPr>
        <p:spPr>
          <a:xfrm>
            <a:off x="8368560" y="3179880"/>
            <a:ext cx="3319920" cy="36612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740" spc="-1" strike="noStrike">
                <a:solidFill>
                  <a:srgbClr val="52514e"/>
                </a:solidFill>
                <a:latin typeface="Calibri"/>
              </a:rPr>
              <a:t>The honest limit.</a:t>
            </a:r>
            <a:r>
              <a:rPr b="0" lang="en-US" sz="740" spc="-1" strike="noStrike">
                <a:solidFill>
                  <a:srgbClr val="52514e"/>
                </a:solidFill>
                <a:latin typeface="Calibri"/>
              </a:rPr>
              <a:t> Verification proves the model computes what it claims. It cannot prove the inputs are right — two are not yet settled, which is why they carry FTE price tags on slide 3.</a:t>
            </a:r>
            <a:endParaRPr b="0" lang="en-US" sz="740" spc="-1" strike="noStrike">
              <a:solidFill>
                <a:srgbClr val="000000"/>
              </a:solidFill>
              <a:latin typeface="Arial"/>
            </a:endParaRPr>
          </a:p>
        </p:txBody>
      </p:sp>
      <p:cxnSp>
        <p:nvCxnSpPr>
          <p:cNvPr id="315" name="Connector 19"/>
          <p:cNvCxnSpPr/>
          <p:nvPr/>
        </p:nvCxnSpPr>
        <p:spPr>
          <a:xfrm>
            <a:off x="502920" y="6400800"/>
            <a:ext cx="11185920" cy="360"/>
          </a:xfrm>
          <a:prstGeom prst="straightConnector1">
            <a:avLst/>
          </a:prstGeom>
          <a:ln w="9525">
            <a:solidFill>
              <a:srgbClr val="e1e0d9"/>
            </a:solidFill>
            <a:round/>
          </a:ln>
        </p:spPr>
      </p:cxnSp>
      <p:sp>
        <p:nvSpPr>
          <p:cNvPr id="316" name="TextBox 20"/>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 all figures reproduced by run_model.py, verified by crosscheck.py (72/72)</a:t>
            </a:r>
            <a:endParaRPr b="0" lang="en-US" sz="750" spc="-1" strike="noStrike">
              <a:solidFill>
                <a:srgbClr val="000000"/>
              </a:solidFill>
              <a:latin typeface="Arial"/>
            </a:endParaRPr>
          </a:p>
        </p:txBody>
      </p:sp>
      <p:sp>
        <p:nvSpPr>
          <p:cNvPr id="317" name="TextBox 21"/>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A5 / 6</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318" name="TextBox 1"/>
          <p:cNvSpPr/>
          <p:nvPr/>
        </p:nvSpPr>
        <p:spPr>
          <a:xfrm>
            <a:off x="502920" y="320040"/>
            <a:ext cx="1118556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00" spc="-1" strike="noStrike">
                <a:solidFill>
                  <a:srgbClr val="898781"/>
                </a:solidFill>
                <a:latin typeface="Calibri"/>
              </a:rPr>
              <a:t>Appendix A6</a:t>
            </a:r>
            <a:r>
              <a:rPr b="0" lang="en-US" sz="800" spc="-1" strike="noStrike">
                <a:solidFill>
                  <a:srgbClr val="898781"/>
                </a:solidFill>
                <a:latin typeface="Calibri"/>
              </a:rPr>
              <a:t>   Manager, Workforce Management · Care Experience &amp; Strategy</a:t>
            </a:r>
            <a:endParaRPr b="0" lang="en-US" sz="800" spc="-1" strike="noStrike">
              <a:solidFill>
                <a:srgbClr val="000000"/>
              </a:solidFill>
              <a:latin typeface="Arial"/>
            </a:endParaRPr>
          </a:p>
        </p:txBody>
      </p:sp>
      <p:sp>
        <p:nvSpPr>
          <p:cNvPr id="319" name="TextBox 2"/>
          <p:cNvSpPr/>
          <p:nvPr/>
        </p:nvSpPr>
        <p:spPr>
          <a:xfrm>
            <a:off x="502920" y="484560"/>
            <a:ext cx="11185560" cy="3837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700" spc="-1" strike="noStrike">
                <a:solidFill>
                  <a:srgbClr val="0b0b0b"/>
                </a:solidFill>
                <a:latin typeface="Calibri"/>
              </a:rPr>
              <a:t>Assumptions register and open requests</a:t>
            </a:r>
            <a:endParaRPr b="0" lang="en-US" sz="1700" spc="-1" strike="noStrike">
              <a:solidFill>
                <a:srgbClr val="000000"/>
              </a:solidFill>
              <a:latin typeface="Arial"/>
            </a:endParaRPr>
          </a:p>
        </p:txBody>
      </p:sp>
      <p:cxnSp>
        <p:nvCxnSpPr>
          <p:cNvPr id="320" name="Connector 3"/>
          <p:cNvCxnSpPr/>
          <p:nvPr/>
        </p:nvCxnSpPr>
        <p:spPr>
          <a:xfrm>
            <a:off x="502920" y="822960"/>
            <a:ext cx="11185920" cy="360"/>
          </a:xfrm>
          <a:prstGeom prst="straightConnector1">
            <a:avLst/>
          </a:prstGeom>
          <a:ln w="9525">
            <a:solidFill>
              <a:srgbClr val="e1e0d9"/>
            </a:solidFill>
            <a:round/>
          </a:ln>
        </p:spPr>
      </p:cxnSp>
      <p:sp>
        <p:nvSpPr>
          <p:cNvPr id="321" name="TextBox 4"/>
          <p:cNvSpPr/>
          <p:nvPr/>
        </p:nvSpPr>
        <p:spPr>
          <a:xfrm>
            <a:off x="502920" y="960120"/>
            <a:ext cx="603108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EVERY ASSUMPTION, AND WHERE IT COMES FROM</a:t>
            </a:r>
            <a:endParaRPr b="0" lang="en-US" sz="820" spc="-1" strike="noStrike">
              <a:solidFill>
                <a:srgbClr val="000000"/>
              </a:solidFill>
              <a:latin typeface="Arial"/>
            </a:endParaRPr>
          </a:p>
        </p:txBody>
      </p:sp>
      <p:graphicFrame>
        <p:nvGraphicFramePr>
          <p:cNvPr id="322" name="Table 5"/>
          <p:cNvGraphicFramePr/>
          <p:nvPr/>
        </p:nvGraphicFramePr>
        <p:xfrm>
          <a:off x="502920" y="1197720"/>
          <a:ext cx="6031080" cy="3369960"/>
        </p:xfrm>
        <a:graphic>
          <a:graphicData uri="http://schemas.openxmlformats.org/drawingml/2006/table">
            <a:tbl>
              <a:tblPr/>
              <a:tblGrid>
                <a:gridCol w="1830960"/>
                <a:gridCol w="1400040"/>
                <a:gridCol w="2800080"/>
              </a:tblGrid>
              <a:tr h="205560">
                <a:tc>
                  <a:txBody>
                    <a:bodyPr lIns="31680" rIns="31680" tIns="12600" bIns="12600" anchor="b">
                      <a:noAutofit/>
                    </a:bodyPr>
                    <a:p>
                      <a:pPr defTabSz="457200">
                        <a:lnSpc>
                          <a:spcPct val="100000"/>
                        </a:lnSpc>
                      </a:pPr>
                      <a:r>
                        <a:rPr b="1" lang="en-US" sz="680" spc="-1" strike="noStrike">
                          <a:solidFill>
                            <a:srgbClr val="898781"/>
                          </a:solidFill>
                          <a:latin typeface="Calibri"/>
                        </a:rPr>
                        <a:t>ASSUMPTION</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algn="r" defTabSz="457200">
                        <a:lnSpc>
                          <a:spcPct val="100000"/>
                        </a:lnSpc>
                      </a:pPr>
                      <a:r>
                        <a:rPr b="1" lang="en-US" sz="680" spc="-1" strike="noStrike">
                          <a:solidFill>
                            <a:srgbClr val="898781"/>
                          </a:solidFill>
                          <a:latin typeface="Calibri"/>
                        </a:rPr>
                        <a:t>VALUE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b">
                      <a:noAutofit/>
                    </a:bodyPr>
                    <a:p>
                      <a:pPr defTabSz="457200">
                        <a:lnSpc>
                          <a:spcPct val="100000"/>
                        </a:lnSpc>
                      </a:pPr>
                      <a:r>
                        <a:rPr b="1" lang="en-US" sz="680" spc="-1" strike="noStrike">
                          <a:solidFill>
                            <a:srgbClr val="898781"/>
                          </a:solidFill>
                          <a:latin typeface="Calibri"/>
                        </a:rPr>
                        <a:t>NOTE</a:t>
                      </a:r>
                      <a:endParaRPr b="0" lang="en-US" sz="680" spc="-1" strike="noStrike">
                        <a:solidFill>
                          <a:srgbClr val="000000"/>
                        </a:solidFill>
                        <a:latin typeface="Arial"/>
                      </a:endParaRPr>
                    </a:p>
                  </a:txBody>
                  <a:tcPr anchor="b"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Hours per FTE per month</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173.33</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=40 × 52 ÷ 12</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Total shrinkage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18%</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divisor 0.82</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Operating hours per month</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730</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24/7 → 8,760 ÷ 12</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Phone SLA</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80% ≤ 20 s</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Erlang C</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Chat SLA</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80% ≤ 60 s</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Erlang C, ÷ concurrency</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Email SLA</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80% ≤ 120 min</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deferred model</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Chat concurrency</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1.2</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d03b3b"/>
                          </a:solidFill>
                          <a:latin typeface="Calibri"/>
                        </a:rPr>
                        <a:t>open question — worth 75 FTE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Deferred occupancy</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85%</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d03b3b"/>
                          </a:solidFill>
                          <a:latin typeface="Calibri"/>
                        </a:rPr>
                        <a:t>modelling assumption — not in the data</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Seasonal uplift</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+10%</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applied to the June baseline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Annual attrition</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36%</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compounds to 3.65%/month</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Learning curve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120/110/105%</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AHT multiplier, months 1–3</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Training</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4 weeks</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non-producing, paid</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84040">
                <a:tc>
                  <a:txBody>
                    <a:bodyPr lIns="31680" rIns="31680" tIns="12600" bIns="12600" anchor="ctr">
                      <a:noAutofit/>
                    </a:bodyPr>
                    <a:p>
                      <a:pPr defTabSz="457200">
                        <a:lnSpc>
                          <a:spcPct val="100000"/>
                        </a:lnSpc>
                      </a:pPr>
                      <a:r>
                        <a:rPr b="1" lang="en-US" sz="720" spc="-1" strike="noStrike">
                          <a:solidFill>
                            <a:srgbClr val="52514e"/>
                          </a:solidFill>
                          <a:latin typeface="Calibri"/>
                        </a:rPr>
                        <a:t>Routing</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BPO 1&amp;2 EN; BPO 3 DE/IT/FR/ES</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898781"/>
                          </a:solidFill>
                          <a:latin typeface="Calibri"/>
                        </a:rPr>
                        <a:t>9 of 15 AHT rows unroutable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English BPO split</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50 / 50</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d03b3b"/>
                          </a:solidFill>
                          <a:latin typeface="Calibri"/>
                        </a:rPr>
                        <a:t>AHT blended — assumption</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205560">
                <a:tc>
                  <a:txBody>
                    <a:bodyPr lIns="31680" rIns="31680" tIns="12600" bIns="12600" anchor="ctr">
                      <a:noAutofit/>
                    </a:bodyPr>
                    <a:p>
                      <a:pPr defTabSz="457200">
                        <a:lnSpc>
                          <a:spcPct val="100000"/>
                        </a:lnSpc>
                      </a:pPr>
                      <a:r>
                        <a:rPr b="1" lang="en-US" sz="720" spc="-1" strike="noStrike">
                          <a:solidFill>
                            <a:srgbClr val="52514e"/>
                          </a:solidFill>
                          <a:latin typeface="Calibri"/>
                        </a:rPr>
                        <a:t>English AHT source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algn="r" defTabSz="457200">
                        <a:lnSpc>
                          <a:spcPct val="100000"/>
                        </a:lnSpc>
                      </a:pPr>
                      <a:r>
                        <a:rPr b="0" lang="en-US" sz="720" spc="-1" strike="noStrike">
                          <a:solidFill>
                            <a:srgbClr val="52514e"/>
                          </a:solidFill>
                          <a:latin typeface="Calibri"/>
                        </a:rPr>
                        <a:t>channel-level (709.8s)</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31680" rIns="31680" tIns="12600" bIns="12600" anchor="ctr">
                      <a:noAutofit/>
                    </a:bodyPr>
                    <a:p>
                      <a:pPr defTabSz="457200">
                        <a:lnSpc>
                          <a:spcPct val="100000"/>
                        </a:lnSpc>
                      </a:pPr>
                      <a:r>
                        <a:rPr b="0" lang="en-US" sz="720" spc="-1" strike="noStrike">
                          <a:solidFill>
                            <a:srgbClr val="d03b3b"/>
                          </a:solidFill>
                          <a:latin typeface="Calibri"/>
                        </a:rPr>
                        <a:t>vs reason-level 908.8s — worth 78 FTE</a:t>
                      </a:r>
                      <a:endParaRPr b="0" lang="en-US" sz="720" spc="-1" strike="noStrike">
                        <a:solidFill>
                          <a:srgbClr val="000000"/>
                        </a:solidFill>
                        <a:latin typeface="Arial"/>
                      </a:endParaRPr>
                    </a:p>
                  </a:txBody>
                  <a:tcPr anchor="ctr" marL="31680" marR="316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323" name="TextBox 6"/>
          <p:cNvSpPr/>
          <p:nvPr/>
        </p:nvSpPr>
        <p:spPr>
          <a:xfrm>
            <a:off x="6753960" y="960120"/>
            <a:ext cx="4934520" cy="1458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820" spc="58" strike="noStrike">
                <a:solidFill>
                  <a:srgbClr val="898781"/>
                </a:solidFill>
                <a:latin typeface="Calibri"/>
              </a:rPr>
              <a:t>WHAT I WOULD WANT BEFORE THE NEXT CYCLE</a:t>
            </a:r>
            <a:endParaRPr b="0" lang="en-US" sz="820" spc="-1" strike="noStrike">
              <a:solidFill>
                <a:srgbClr val="000000"/>
              </a:solidFill>
              <a:latin typeface="Arial"/>
            </a:endParaRPr>
          </a:p>
        </p:txBody>
      </p:sp>
      <p:sp>
        <p:nvSpPr>
          <p:cNvPr id="324" name="TextBox 7"/>
          <p:cNvSpPr/>
          <p:nvPr/>
        </p:nvSpPr>
        <p:spPr>
          <a:xfrm>
            <a:off x="6753960" y="1197720"/>
            <a:ext cx="4934520" cy="10425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52514e"/>
                </a:solidFill>
                <a:latin typeface="Calibri"/>
              </a:rPr>
              <a:t>•  </a:t>
            </a:r>
            <a:r>
              <a:rPr b="1" lang="en-US" sz="760" spc="-1" strike="noStrike">
                <a:solidFill>
                  <a:srgbClr val="52514e"/>
                </a:solidFill>
                <a:latin typeface="Calibri"/>
              </a:rPr>
              <a:t>Which English AHT is authoritative.</a:t>
            </a:r>
            <a:r>
              <a:rPr b="0" lang="en-US" sz="760" spc="-1" strike="noStrike">
                <a:solidFill>
                  <a:srgbClr val="52514e"/>
                </a:solidFill>
                <a:latin typeface="Calibri"/>
              </a:rPr>
              <a:t> Worth </a:t>
            </a:r>
            <a:r>
              <a:rPr b="0" lang="en-US" sz="760" spc="-1" strike="noStrike">
                <a:solidFill>
                  <a:srgbClr val="d03b3b"/>
                </a:solidFill>
                <a:latin typeface="Calibri"/>
              </a:rPr>
              <a:t>78 FTE</a:t>
            </a:r>
            <a:r>
              <a:rPr b="0" lang="en-US" sz="760" spc="-1" strike="noStrike">
                <a:solidFill>
                  <a:srgbClr val="52514e"/>
                </a:solidFill>
                <a:latin typeface="Calibri"/>
              </a:rPr>
              <a:t>. Needs an owner.</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Whether chat concurrency was measured.</a:t>
            </a:r>
            <a:r>
              <a:rPr b="0" lang="en-US" sz="760" spc="-1" strike="noStrike">
                <a:solidFill>
                  <a:srgbClr val="52514e"/>
                </a:solidFill>
                <a:latin typeface="Calibri"/>
              </a:rPr>
              <a:t> Worth </a:t>
            </a:r>
            <a:r>
              <a:rPr b="0" lang="en-US" sz="760" spc="-1" strike="noStrike">
                <a:solidFill>
                  <a:srgbClr val="d03b3b"/>
                </a:solidFill>
                <a:latin typeface="Calibri"/>
              </a:rPr>
              <a:t>75 FTE</a:t>
            </a:r>
            <a:r>
              <a:rPr b="0" lang="en-US" sz="760" spc="-1" strike="noStrike">
                <a:solidFill>
                  <a:srgbClr val="52514e"/>
                </a:solidFill>
                <a:latin typeface="Calibri"/>
              </a:rPr>
              <a:t>.</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24+ months of history.</a:t>
            </a:r>
            <a:r>
              <a:rPr b="0" lang="en-US" sz="760" spc="-1" strike="noStrike">
                <a:solidFill>
                  <a:srgbClr val="52514e"/>
                </a:solidFill>
                <a:latin typeface="Calibri"/>
              </a:rPr>
              <a:t> Six months with a structural break can't support a fitted seasonal model.</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15/30-minute arrival profiles.</a:t>
            </a:r>
            <a:r>
              <a:rPr b="0" lang="en-US" sz="760" spc="-1" strike="noStrike">
                <a:solidFill>
                  <a:srgbClr val="52514e"/>
                </a:solidFill>
                <a:latin typeface="Calibri"/>
              </a:rPr>
              <a:t> Monthly-average Erlang is a floor.</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What happened in March.</a:t>
            </a:r>
            <a:r>
              <a:rPr b="0" lang="en-US" sz="760" spc="-1" strike="noStrike">
                <a:solidFill>
                  <a:srgbClr val="52514e"/>
                </a:solidFill>
                <a:latin typeface="Calibri"/>
              </a:rPr>
              <a:t> A uniform step is a system change, not demand.</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Cost per productive hour by BPO.</a:t>
            </a:r>
            <a:r>
              <a:rPr b="0" lang="en-US" sz="760" spc="-1" strike="noStrike">
                <a:solidFill>
                  <a:srgbClr val="52514e"/>
                </a:solidFill>
                <a:latin typeface="Calibri"/>
              </a:rPr>
              <a:t> Needed to rank levers in €.</a:t>
            </a:r>
            <a:endParaRPr b="0" lang="en-US" sz="760" spc="-1" strike="noStrike">
              <a:solidFill>
                <a:srgbClr val="000000"/>
              </a:solidFill>
              <a:latin typeface="Arial"/>
            </a:endParaRPr>
          </a:p>
          <a:p>
            <a:pPr defTabSz="457200">
              <a:lnSpc>
                <a:spcPct val="100000"/>
              </a:lnSpc>
              <a:spcBef>
                <a:spcPts val="215"/>
              </a:spcBef>
            </a:pPr>
            <a:r>
              <a:rPr b="0" lang="en-US" sz="760" spc="-1" strike="noStrike">
                <a:solidFill>
                  <a:srgbClr val="52514e"/>
                </a:solidFill>
                <a:latin typeface="Calibri"/>
              </a:rPr>
              <a:t>•  </a:t>
            </a:r>
            <a:r>
              <a:rPr b="1" lang="en-US" sz="760" spc="-1" strike="noStrike">
                <a:solidFill>
                  <a:srgbClr val="52514e"/>
                </a:solidFill>
                <a:latin typeface="Calibri"/>
              </a:rPr>
              <a:t>True outbound volumes.</a:t>
            </a:r>
            <a:r>
              <a:rPr b="0" lang="en-US" sz="760" spc="-1" strike="noStrike">
                <a:solidFill>
                  <a:srgbClr val="52514e"/>
                </a:solidFill>
                <a:latin typeface="Calibri"/>
              </a:rPr>
              <a:t> The mirrored columns cannot be real.</a:t>
            </a:r>
            <a:endParaRPr b="0" lang="en-US" sz="760" spc="-1" strike="noStrike">
              <a:solidFill>
                <a:srgbClr val="000000"/>
              </a:solidFill>
              <a:latin typeface="Arial"/>
            </a:endParaRPr>
          </a:p>
        </p:txBody>
      </p:sp>
      <p:cxnSp>
        <p:nvCxnSpPr>
          <p:cNvPr id="325" name="Connector 8"/>
          <p:cNvCxnSpPr/>
          <p:nvPr/>
        </p:nvCxnSpPr>
        <p:spPr>
          <a:xfrm>
            <a:off x="6753600" y="2350440"/>
            <a:ext cx="360" cy="650520"/>
          </a:xfrm>
          <a:prstGeom prst="straightConnector1">
            <a:avLst/>
          </a:prstGeom>
          <a:ln w="28575">
            <a:solidFill>
              <a:srgbClr val="2a78d6"/>
            </a:solidFill>
            <a:round/>
          </a:ln>
        </p:spPr>
      </p:cxnSp>
      <p:sp>
        <p:nvSpPr>
          <p:cNvPr id="326" name="TextBox 9"/>
          <p:cNvSpPr/>
          <p:nvPr/>
        </p:nvSpPr>
        <p:spPr>
          <a:xfrm>
            <a:off x="6872760" y="2377800"/>
            <a:ext cx="4815720" cy="17316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1" lang="en-US" sz="1050" spc="-1" strike="noStrike">
                <a:solidFill>
                  <a:srgbClr val="0b0b0b"/>
                </a:solidFill>
                <a:latin typeface="Calibri"/>
              </a:rPr>
              <a:t>How I would use the team against this forecast</a:t>
            </a:r>
            <a:endParaRPr b="0" lang="en-US" sz="1050" spc="-1" strike="noStrike">
              <a:solidFill>
                <a:srgbClr val="000000"/>
              </a:solidFill>
              <a:latin typeface="Arial"/>
            </a:endParaRPr>
          </a:p>
        </p:txBody>
      </p:sp>
      <p:sp>
        <p:nvSpPr>
          <p:cNvPr id="327" name="TextBox 10"/>
          <p:cNvSpPr/>
          <p:nvPr/>
        </p:nvSpPr>
        <p:spPr>
          <a:xfrm>
            <a:off x="6872760" y="2578680"/>
            <a:ext cx="4815720" cy="37620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60" spc="-1" strike="noStrike">
                <a:solidFill>
                  <a:srgbClr val="52514e"/>
                </a:solidFill>
                <a:latin typeface="Calibri"/>
              </a:rPr>
              <a:t>One specialist owns English. One owns the pooled non-English queues. One owns the data contract and re-forecast trigger. I own the two open questions — they need a business decision, not more analysis.</a:t>
            </a:r>
            <a:endParaRPr b="0" lang="en-US" sz="760" spc="-1" strike="noStrike">
              <a:solidFill>
                <a:srgbClr val="000000"/>
              </a:solidFill>
              <a:latin typeface="Arial"/>
            </a:endParaRPr>
          </a:p>
        </p:txBody>
      </p:sp>
      <p:sp>
        <p:nvSpPr>
          <p:cNvPr id="328" name="TextBox 11"/>
          <p:cNvSpPr/>
          <p:nvPr/>
        </p:nvSpPr>
        <p:spPr>
          <a:xfrm>
            <a:off x="6753960" y="3128760"/>
            <a:ext cx="4934520" cy="2242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680" spc="-1" strike="noStrike">
                <a:solidFill>
                  <a:srgbClr val="898781"/>
                </a:solidFill>
                <a:latin typeface="Calibri"/>
              </a:rPr>
              <a:t>Deliverables: this deck · the source workbook with working shown · a 16-sheet model output workbook · the Python model and its 72-check verification suite.</a:t>
            </a:r>
            <a:endParaRPr b="0" lang="en-US" sz="680" spc="-1" strike="noStrike">
              <a:solidFill>
                <a:srgbClr val="000000"/>
              </a:solidFill>
              <a:latin typeface="Arial"/>
            </a:endParaRPr>
          </a:p>
        </p:txBody>
      </p:sp>
      <p:cxnSp>
        <p:nvCxnSpPr>
          <p:cNvPr id="329" name="Connector 12"/>
          <p:cNvCxnSpPr/>
          <p:nvPr/>
        </p:nvCxnSpPr>
        <p:spPr>
          <a:xfrm>
            <a:off x="502920" y="6400800"/>
            <a:ext cx="11185920" cy="360"/>
          </a:xfrm>
          <a:prstGeom prst="straightConnector1">
            <a:avLst/>
          </a:prstGeom>
          <a:ln w="9525">
            <a:solidFill>
              <a:srgbClr val="e1e0d9"/>
            </a:solidFill>
            <a:round/>
          </a:ln>
        </p:spPr>
      </p:cxnSp>
      <p:sp>
        <p:nvSpPr>
          <p:cNvPr id="330" name="TextBox 13"/>
          <p:cNvSpPr/>
          <p:nvPr/>
        </p:nvSpPr>
        <p:spPr>
          <a:xfrm>
            <a:off x="502920" y="6446520"/>
            <a:ext cx="9172080" cy="200880"/>
          </a:xfrm>
          <a:prstGeom prst="rect">
            <a:avLst/>
          </a:prstGeom>
          <a:noFill/>
          <a:ln w="0">
            <a:noFill/>
          </a:ln>
        </p:spPr>
        <p:style>
          <a:lnRef idx="0"/>
          <a:fillRef idx="0"/>
          <a:effectRef idx="0"/>
          <a:fontRef idx="minor"/>
        </p:style>
        <p:txBody>
          <a:bodyPr lIns="0" rIns="0" tIns="0" bIns="0" anchor="t">
            <a:noAutofit/>
          </a:bodyPr>
          <a:p>
            <a:pPr defTabSz="457200">
              <a:lnSpc>
                <a:spcPct val="100000"/>
              </a:lnSpc>
            </a:pPr>
            <a:r>
              <a:rPr b="0" lang="en-US" sz="750" spc="-1" strike="noStrike">
                <a:solidFill>
                  <a:srgbClr val="898781"/>
                </a:solidFill>
                <a:latin typeface="Calibri"/>
              </a:rPr>
              <a:t>GetYourGuide · WFM take-home · all figures reproduced by run_model.py, verified by crosscheck.py (72/72)</a:t>
            </a:r>
            <a:endParaRPr b="0" lang="en-US" sz="750" spc="-1" strike="noStrike">
              <a:solidFill>
                <a:srgbClr val="000000"/>
              </a:solidFill>
              <a:latin typeface="Arial"/>
            </a:endParaRPr>
          </a:p>
        </p:txBody>
      </p:sp>
      <p:sp>
        <p:nvSpPr>
          <p:cNvPr id="331" name="TextBox 14"/>
          <p:cNvSpPr/>
          <p:nvPr/>
        </p:nvSpPr>
        <p:spPr>
          <a:xfrm>
            <a:off x="9675360" y="6446520"/>
            <a:ext cx="2013120" cy="200880"/>
          </a:xfrm>
          <a:prstGeom prst="rect">
            <a:avLst/>
          </a:prstGeom>
          <a:noFill/>
          <a:ln w="0">
            <a:noFill/>
          </a:ln>
        </p:spPr>
        <p:style>
          <a:lnRef idx="0"/>
          <a:fillRef idx="0"/>
          <a:effectRef idx="0"/>
          <a:fontRef idx="minor"/>
        </p:style>
        <p:txBody>
          <a:bodyPr lIns="0" rIns="0" tIns="0" bIns="0" anchor="t">
            <a:noAutofit/>
          </a:bodyPr>
          <a:p>
            <a:pPr algn="r" defTabSz="457200">
              <a:lnSpc>
                <a:spcPct val="100000"/>
              </a:lnSpc>
            </a:pPr>
            <a:r>
              <a:rPr b="1" lang="en-US" sz="800" spc="-1" strike="noStrike">
                <a:solidFill>
                  <a:srgbClr val="52514e"/>
                </a:solidFill>
                <a:latin typeface="Calibri"/>
              </a:rPr>
              <a:t>A6 / 6</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2026-09-28T22:36:00Z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