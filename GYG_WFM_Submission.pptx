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cat>
            <c:strRef>
              <c:f>Sheet1!$A$2:$A$8</c:f>
              <c:strCache>
                <c:ptCount val="7"/>
                <c:pt idx="0">
                  <c:v>Workload</c:v>
                </c:pt>
                <c:pt idx="1">
                  <c:v>+SLA</c:v>
                </c:pt>
                <c:pt idx="2">
                  <c:v>SLA-met</c:v>
                </c:pt>
                <c:pt idx="3">
                  <c:v>+Learning</c:v>
                </c:pt>
                <c:pt idx="4">
                  <c:v>On-floor</c:v>
                </c:pt>
                <c:pt idx="5">
                  <c:v>+Attrition</c:v>
                </c:pt>
                <c:pt idx="6">
                  <c:v>Paid FTE</c:v>
                </c:pt>
              </c:strCache>
            </c:strRef>
          </c:cat>
          <c:val>
            <c:numRef>
              <c:f>Sheet1!$B$2:$B$8</c:f>
              <c:numCache>
                <c:formatCode>General</c:formatCode>
                <c:ptCount val="7"/>
                <c:pt idx="0">
                  <c:v>0</c:v>
                </c:pt>
                <c:pt idx="1">
                  <c:v>360.2</c:v>
                </c:pt>
                <c:pt idx="2">
                  <c:v>0</c:v>
                </c:pt>
                <c:pt idx="3">
                  <c:v>484.2</c:v>
                </c:pt>
                <c:pt idx="4">
                  <c:v>0</c:v>
                </c:pt>
                <c:pt idx="5">
                  <c:v>489.7</c:v>
                </c:pt>
                <c:pt idx="6">
                  <c:v>0</c:v>
                </c:pt>
              </c:numCache>
            </c:numRef>
          </c:val>
        </c:ser>
        <c:ser>
          <c:idx val="1"/>
          <c:order val="1"/>
          <c:tx>
            <c:strRef>
              <c:f>Sheet1!$C$1</c:f>
              <c:strCache>
                <c:ptCount val="1"/>
                <c:pt idx="0">
                  <c:v>size</c:v>
                </c:pt>
              </c:strCache>
            </c:strRef>
          </c:tx>
          <c:spPr>
            <a:ln>
              <a:noFill/>
            </a:ln>
          </c:spPr>
          <c:dPt>
            <c:idx val="0"/>
            <c:spPr>
              <a:solidFill>
                <a:srgbClr val="D9D8D2"/>
              </a:solidFill>
            </c:spPr>
          </c:dPt>
          <c:dPt>
            <c:idx val="1"/>
            <c:spPr>
              <a:solidFill>
                <a:srgbClr val="2A78D6"/>
              </a:solidFill>
            </c:spPr>
          </c:dPt>
          <c:dPt>
            <c:idx val="2"/>
            <c:spPr>
              <a:solidFill>
                <a:srgbClr val="D9D8D2"/>
              </a:solidFill>
            </c:spPr>
          </c:dPt>
          <c:dPt>
            <c:idx val="3"/>
            <c:spPr>
              <a:solidFill>
                <a:srgbClr val="2A78D6"/>
              </a:solidFill>
            </c:spPr>
          </c:dPt>
          <c:dPt>
            <c:idx val="4"/>
            <c:spPr>
              <a:solidFill>
                <a:srgbClr val="D9D8D2"/>
              </a:solidFill>
            </c:spPr>
          </c:dPt>
          <c:dPt>
            <c:idx val="5"/>
            <c:spPr>
              <a:solidFill>
                <a:srgbClr val="2A78D6"/>
              </a:solidFill>
            </c:spPr>
          </c:dPt>
          <c:dPt>
            <c:idx val="6"/>
            <c:spPr>
              <a:solidFill>
                <a:srgbClr val="2A78D6"/>
              </a:solidFill>
            </c:spPr>
          </c:dPt>
          <c:dLbls>
            <c:dLbl>
              <c:idx val="0"/>
              <c:tx>
                <c:rich>
                  <a:bodyPr/>
                  <a:lstStyle/>
                  <a:p>
                    <a:r>
                      <a:t>360</a:t>
                    </a:r>
                  </a:p>
                </c:rich>
              </c:tx>
              <c:txPr>
                <a:bodyPr/>
                <a:lstStyle/>
                <a:p>
                  <a:pPr>
                    <a:defRPr sz="850" b="1">
                      <a:solidFill>
                        <a:srgbClr val="0B0B0B"/>
                      </a:solidFill>
                      <a:latin typeface="Calibri"/>
                    </a:defRPr>
                  </a:pPr>
                </a:p>
              </c:txPr>
              <c:showLegendKey val="0"/>
              <c:showVal val="1"/>
              <c:showCatName val="0"/>
              <c:showSerName val="0"/>
              <c:showPercent val="0"/>
              <c:showBubbleSize val="0"/>
            </c:dLbl>
            <c:dLbl>
              <c:idx val="1"/>
              <c:tx>
                <c:rich>
                  <a:bodyPr/>
                  <a:lstStyle/>
                  <a:p>
                    <a:r>
                      <a:t>+124</a:t>
                    </a:r>
                  </a:p>
                </c:rich>
              </c:tx>
              <c:txPr>
                <a:bodyPr/>
                <a:lstStyle/>
                <a:p>
                  <a:pPr>
                    <a:defRPr sz="850" b="1">
                      <a:solidFill>
                        <a:srgbClr val="52514E"/>
                      </a:solidFill>
                      <a:latin typeface="Calibri"/>
                    </a:defRPr>
                  </a:pPr>
                </a:p>
              </c:txPr>
              <c:showLegendKey val="0"/>
              <c:showVal val="1"/>
              <c:showCatName val="0"/>
              <c:showSerName val="0"/>
              <c:showPercent val="0"/>
              <c:showBubbleSize val="0"/>
            </c:dLbl>
            <c:dLbl>
              <c:idx val="2"/>
              <c:tx>
                <c:rich>
                  <a:bodyPr/>
                  <a:lstStyle/>
                  <a:p>
                    <a:r>
                      <a:t>484</a:t>
                    </a:r>
                  </a:p>
                </c:rich>
              </c:tx>
              <c:txPr>
                <a:bodyPr/>
                <a:lstStyle/>
                <a:p>
                  <a:pPr>
                    <a:defRPr sz="850" b="1">
                      <a:solidFill>
                        <a:srgbClr val="0B0B0B"/>
                      </a:solidFill>
                      <a:latin typeface="Calibri"/>
                    </a:defRPr>
                  </a:pPr>
                </a:p>
              </c:txPr>
              <c:showLegendKey val="0"/>
              <c:showVal val="1"/>
              <c:showCatName val="0"/>
              <c:showSerName val="0"/>
              <c:showPercent val="0"/>
              <c:showBubbleSize val="0"/>
            </c:dLbl>
            <c:dLbl>
              <c:idx val="3"/>
              <c:tx>
                <c:rich>
                  <a:bodyPr/>
                  <a:lstStyle/>
                  <a:p>
                    <a:r>
                      <a:t>+6</a:t>
                    </a:r>
                  </a:p>
                </c:rich>
              </c:tx>
              <c:txPr>
                <a:bodyPr/>
                <a:lstStyle/>
                <a:p>
                  <a:pPr>
                    <a:defRPr sz="850" b="1">
                      <a:solidFill>
                        <a:srgbClr val="52514E"/>
                      </a:solidFill>
                      <a:latin typeface="Calibri"/>
                    </a:defRPr>
                  </a:pPr>
                </a:p>
              </c:txPr>
              <c:showLegendKey val="0"/>
              <c:showVal val="1"/>
              <c:showCatName val="0"/>
              <c:showSerName val="0"/>
              <c:showPercent val="0"/>
              <c:showBubbleSize val="0"/>
            </c:dLbl>
            <c:dLbl>
              <c:idx val="4"/>
              <c:tx>
                <c:rich>
                  <a:bodyPr/>
                  <a:lstStyle/>
                  <a:p>
                    <a:r>
                      <a:t>490</a:t>
                    </a:r>
                  </a:p>
                </c:rich>
              </c:tx>
              <c:txPr>
                <a:bodyPr/>
                <a:lstStyle/>
                <a:p>
                  <a:pPr>
                    <a:defRPr sz="850" b="1">
                      <a:solidFill>
                        <a:srgbClr val="0B0B0B"/>
                      </a:solidFill>
                      <a:latin typeface="Calibri"/>
                    </a:defRPr>
                  </a:pPr>
                </a:p>
              </c:txPr>
              <c:showLegendKey val="0"/>
              <c:showVal val="1"/>
              <c:showCatName val="0"/>
              <c:showSerName val="0"/>
              <c:showPercent val="0"/>
              <c:showBubbleSize val="0"/>
            </c:dLbl>
            <c:dLbl>
              <c:idx val="5"/>
              <c:tx>
                <c:rich>
                  <a:bodyPr/>
                  <a:lstStyle/>
                  <a:p>
                    <a:r>
                      <a:t>+18</a:t>
                    </a:r>
                  </a:p>
                </c:rich>
              </c:tx>
              <c:txPr>
                <a:bodyPr/>
                <a:lstStyle/>
                <a:p>
                  <a:pPr>
                    <a:defRPr sz="850" b="1">
                      <a:solidFill>
                        <a:srgbClr val="52514E"/>
                      </a:solidFill>
                      <a:latin typeface="Calibri"/>
                    </a:defRPr>
                  </a:pPr>
                </a:p>
              </c:txPr>
              <c:showLegendKey val="0"/>
              <c:showVal val="1"/>
              <c:showCatName val="0"/>
              <c:showSerName val="0"/>
              <c:showPercent val="0"/>
              <c:showBubbleSize val="0"/>
            </c:dLbl>
            <c:dLbl>
              <c:idx val="6"/>
              <c:tx>
                <c:rich>
                  <a:bodyPr/>
                  <a:lstStyle/>
                  <a:p>
                    <a:r>
                      <a:t>508</a:t>
                    </a:r>
                  </a:p>
                </c:rich>
              </c:tx>
              <c:txPr>
                <a:bodyPr/>
                <a:lstStyle/>
                <a:p>
                  <a:pPr>
                    <a:defRPr sz="850" b="1">
                      <a:solidFill>
                        <a:srgbClr val="0B0B0B"/>
                      </a:solidFill>
                      <a:latin typeface="Calibri"/>
                    </a:defRPr>
                  </a:pPr>
                </a:p>
              </c:txPr>
              <c:showLegendKey val="0"/>
              <c:showVal val="1"/>
              <c:showCatName val="0"/>
              <c:showSerName val="0"/>
              <c:showPercent val="0"/>
              <c:showBubbleSize val="0"/>
            </c:dLbl>
            <c:txPr>
              <a:bodyPr/>
              <a:lstStyle/>
              <a:p>
                <a:pPr>
                  <a:defRPr sz="850" b="1">
                    <a:latin typeface="Calibri"/>
                  </a:defRPr>
                </a:pPr>
              </a:p>
            </c:txPr>
            <c:dLblPos val="outEnd"/>
            <c:showLegendKey val="0"/>
            <c:showVal val="0"/>
            <c:showCatName val="0"/>
            <c:showSerName val="0"/>
            <c:showPercent val="0"/>
            <c:showBubbleSize val="0"/>
            <c:showLeaderLines val="1"/>
          </c:dLbls>
          <c:cat>
            <c:strRef>
              <c:f>Sheet1!$A$2:$A$8</c:f>
              <c:strCache>
                <c:ptCount val="7"/>
                <c:pt idx="0">
                  <c:v>Workload</c:v>
                </c:pt>
                <c:pt idx="1">
                  <c:v>+SLA</c:v>
                </c:pt>
                <c:pt idx="2">
                  <c:v>SLA-met</c:v>
                </c:pt>
                <c:pt idx="3">
                  <c:v>+Learning</c:v>
                </c:pt>
                <c:pt idx="4">
                  <c:v>On-floor</c:v>
                </c:pt>
                <c:pt idx="5">
                  <c:v>+Attrition</c:v>
                </c:pt>
                <c:pt idx="6">
                  <c:v>Paid FTE</c:v>
                </c:pt>
              </c:strCache>
            </c:strRef>
          </c:cat>
          <c:val>
            <c:numRef>
              <c:f>Sheet1!$C$2:$C$8</c:f>
              <c:numCache>
                <c:formatCode>General</c:formatCode>
                <c:ptCount val="7"/>
                <c:pt idx="0">
                  <c:v>360.2</c:v>
                </c:pt>
                <c:pt idx="1">
                  <c:v>124.0</c:v>
                </c:pt>
                <c:pt idx="2">
                  <c:v>484.2</c:v>
                </c:pt>
                <c:pt idx="3">
                  <c:v>5.5</c:v>
                </c:pt>
                <c:pt idx="4">
                  <c:v>489.7</c:v>
                </c:pt>
                <c:pt idx="5">
                  <c:v>17.9</c:v>
                </c:pt>
                <c:pt idx="6">
                  <c:v>507.6</c:v>
                </c:pt>
              </c:numCache>
            </c:numRef>
          </c:val>
        </c:ser>
        <c:gapWidth val="35"/>
        <c:overlap val="100"/>
        <c:axId val="-2068027336"/>
        <c:axId val="-2113994440"/>
      </c:barChart>
      <c:catAx>
        <c:axId val="-2068027336"/>
        <c:scaling>
          <c:orientation val="minMax"/>
        </c:scaling>
        <c:delete val="0"/>
        <c:axPos val="b"/>
        <c:majorTickMark val="out"/>
        <c:minorTickMark val="none"/>
        <c:tickLblPos val="nextTo"/>
        <c:spPr>
          <a:ln>
            <a:solidFill>
              <a:srgbClr val="C3C2B7"/>
            </a:solidFill>
          </a:ln>
        </c:spPr>
        <c:txPr>
          <a:bodyPr/>
          <a:lstStyle/>
          <a:p>
            <a:pPr>
              <a:defRPr sz="600">
                <a:solidFill>
                  <a:srgbClr val="898781"/>
                </a:solidFill>
                <a:latin typeface="Calibri"/>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Actual</c:v>
                </c:pt>
              </c:strCache>
            </c:strRef>
          </c:tx>
          <c:spPr>
            <a:ln w="22225">
              <a:solidFill>
                <a:srgbClr val="2A78D6"/>
              </a:solidFill>
            </a:ln>
          </c:spPr>
          <c:marker>
            <c:symbol val="circle"/>
            <c:size val="5"/>
            <c:spPr>
              <a:solidFill>
                <a:srgbClr val="2A78D6"/>
              </a:solidFill>
              <a:ln>
                <a:solidFill>
                  <a:srgbClr val="FCFCFB"/>
                </a:solidFill>
              </a:ln>
            </c:spPr>
          </c:marker>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General</c:formatCode>
                <c:ptCount val="9"/>
                <c:pt idx="0">
                  <c:v>124</c:v>
                </c:pt>
                <c:pt idx="1">
                  <c:v>121</c:v>
                </c:pt>
                <c:pt idx="2">
                  <c:v>183</c:v>
                </c:pt>
                <c:pt idx="3">
                  <c:v>208</c:v>
                </c:pt>
                <c:pt idx="4">
                  <c:v>187</c:v>
                </c:pt>
                <c:pt idx="5">
                  <c:v>227</c:v>
                </c:pt>
              </c:numCache>
            </c:numRef>
          </c:val>
          <c:smooth val="0"/>
        </c:ser>
        <c:ser>
          <c:idx val="1"/>
          <c:order val="1"/>
          <c:tx>
            <c:strRef>
              <c:f>Sheet1!$C$1</c:f>
              <c:strCache>
                <c:ptCount val="1"/>
                <c:pt idx="0">
                  <c:v>Forecast</c:v>
                </c:pt>
              </c:strCache>
            </c:strRef>
          </c:tx>
          <c:spPr>
            <a:ln w="22225">
              <a:solidFill>
                <a:srgbClr val="2A78D6"/>
              </a:solidFill>
              <a:prstDash val="dash"/>
            </a:ln>
          </c:spPr>
          <c:marker>
            <c:symbol val="circle"/>
            <c:size val="5"/>
            <c:spPr>
              <a:solidFill>
                <a:srgbClr val="2A78D6"/>
              </a:solidFill>
              <a:ln>
                <a:solidFill>
                  <a:srgbClr val="FCFCFB"/>
                </a:solidFill>
              </a:ln>
            </c:spPr>
          </c:marker>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Sheet1!$C$2:$C$10</c:f>
              <c:numCache>
                <c:formatCode>General</c:formatCode>
                <c:ptCount val="9"/>
                <c:pt idx="5">
                  <c:v>227</c:v>
                </c:pt>
                <c:pt idx="6">
                  <c:v>234</c:v>
                </c:pt>
                <c:pt idx="7">
                  <c:v>234</c:v>
                </c:pt>
                <c:pt idx="8">
                  <c:v>234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3C2B7"/>
            </a:solidFill>
          </a:ln>
        </c:spPr>
        <c:txPr>
          <a:bodyPr/>
          <a:lstStyle/>
          <a:p>
            <a:pPr>
              <a:defRPr sz="7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2A78D6"/>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124</c:v>
                </c:pt>
                <c:pt idx="1">
                  <c:v>121</c:v>
                </c:pt>
                <c:pt idx="2">
                  <c:v>183</c:v>
                </c:pt>
                <c:pt idx="3">
                  <c:v>208</c:v>
                </c:pt>
                <c:pt idx="4">
                  <c:v>187</c:v>
                </c:pt>
                <c:pt idx="5">
                  <c:v>227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52514E"/>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131</c:v>
                </c:pt>
                <c:pt idx="1">
                  <c:v>128</c:v>
                </c:pt>
                <c:pt idx="2">
                  <c:v>111</c:v>
                </c:pt>
                <c:pt idx="3">
                  <c:v>105</c:v>
                </c:pt>
                <c:pt idx="4">
                  <c:v>108</c:v>
                </c:pt>
                <c:pt idx="5">
                  <c:v>103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52514E"/>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119</c:v>
                </c:pt>
                <c:pt idx="1">
                  <c:v>116</c:v>
                </c:pt>
                <c:pt idx="2">
                  <c:v>121</c:v>
                </c:pt>
                <c:pt idx="3">
                  <c:v>118</c:v>
                </c:pt>
                <c:pt idx="4">
                  <c:v>122</c:v>
                </c:pt>
                <c:pt idx="5">
                  <c:v>120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52514E"/>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97</c:v>
                </c:pt>
                <c:pt idx="1">
                  <c:v>95</c:v>
                </c:pt>
                <c:pt idx="2">
                  <c:v>98</c:v>
                </c:pt>
                <c:pt idx="3">
                  <c:v>95</c:v>
                </c:pt>
                <c:pt idx="4">
                  <c:v>93</c:v>
                </c:pt>
                <c:pt idx="5">
                  <c:v>94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52514E"/>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88</c:v>
                </c:pt>
                <c:pt idx="1">
                  <c:v>86</c:v>
                </c:pt>
                <c:pt idx="2">
                  <c:v>92</c:v>
                </c:pt>
                <c:pt idx="3">
                  <c:v>88</c:v>
                </c:pt>
                <c:pt idx="4">
                  <c:v>84</c:v>
                </c:pt>
                <c:pt idx="5">
                  <c:v>86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2A78D6"/>
              </a:solidFill>
              <a:ln>
                <a:noFill/>
              </a:ln>
            </c:spPr>
          </c:dPt>
          <c:dPt>
            <c:idx val="1"/>
            <c:spPr>
              <a:solidFill>
                <a:srgbClr val="2A78D6"/>
              </a:solidFill>
              <a:ln>
                <a:noFill/>
              </a:ln>
            </c:spPr>
          </c:dPt>
          <c:dPt>
            <c:idx val="2"/>
            <c:spPr>
              <a:solidFill>
                <a:srgbClr val="0CA30C"/>
              </a:solidFill>
              <a:ln>
                <a:noFill/>
              </a:ln>
            </c:spPr>
          </c:dPt>
          <c:dPt>
            <c:idx val="3"/>
            <c:spPr>
              <a:solidFill>
                <a:srgbClr val="D9D8D2"/>
              </a:solidFill>
              <a:ln>
                <a:noFill/>
              </a:ln>
            </c:spPr>
          </c:dPt>
          <c:dPt>
            <c:idx val="4"/>
            <c:spPr>
              <a:solidFill>
                <a:srgbClr val="D9D8D2"/>
              </a:solidFill>
              <a:ln>
                <a:noFill/>
              </a:ln>
            </c:spPr>
          </c:dPt>
          <c:dLbls>
            <c:dLbl>
              <c:idx val="0"/>
              <c:tx>
                <c:rich>
                  <a:bodyPr/>
                  <a:lstStyle/>
                  <a:p>
                    <a:r>
                      <a:t>38%</a:t>
                    </a:r>
                  </a:p>
                </c:rich>
              </c:tx>
              <c:showLegendKey val="0"/>
              <c:showVal val="1"/>
              <c:showCatName val="0"/>
              <c:showSerName val="0"/>
              <c:showPercent val="0"/>
              <c:showBubbleSize val="0"/>
            </c:dLbl>
            <c:dLbl>
              <c:idx val="1"/>
              <c:tx>
                <c:rich>
                  <a:bodyPr/>
                  <a:lstStyle/>
                  <a:p>
                    <a:r>
                      <a:t>31%</a:t>
                    </a:r>
                  </a:p>
                </c:rich>
              </c:tx>
              <c:showLegendKey val="0"/>
              <c:showVal val="1"/>
              <c:showCatName val="0"/>
              <c:showSerName val="0"/>
              <c:showPercent val="0"/>
              <c:showBubbleSize val="0"/>
            </c:dLbl>
            <c:dLbl>
              <c:idx val="2"/>
              <c:tx>
                <c:rich>
                  <a:bodyPr/>
                  <a:lstStyle/>
                  <a:p>
                    <a:r>
                      <a:t>52%</a:t>
                    </a:r>
                  </a:p>
                </c:rich>
              </c:tx>
              <c:showLegendKey val="0"/>
              <c:showVal val="1"/>
              <c:showCatName val="0"/>
              <c:showSerName val="0"/>
              <c:showPercent val="0"/>
              <c:showBubbleSize val="0"/>
            </c:dLbl>
            <c:dLbl>
              <c:idx val="3"/>
              <c:tx>
                <c:rich>
                  <a:bodyPr/>
                  <a:lstStyle/>
                  <a:p>
                    <a:r>
                      <a:t>42%</a:t>
                    </a:r>
                  </a:p>
                </c:rich>
              </c:tx>
              <c:showLegendKey val="0"/>
              <c:showVal val="1"/>
              <c:showCatName val="0"/>
              <c:showSerName val="0"/>
              <c:showPercent val="0"/>
              <c:showBubbleSize val="0"/>
            </c:dLbl>
            <c:dLbl>
              <c:idx val="4"/>
              <c:tx>
                <c:rich>
                  <a:bodyPr/>
                  <a:lstStyle/>
                  <a:p>
                    <a:r>
                      <a:t>28%</a:t>
                    </a:r>
                  </a:p>
                </c:rich>
              </c:tx>
              <c:showLegendKey val="0"/>
              <c:showVal val="1"/>
              <c:showCatName val="0"/>
              <c:showSerName val="0"/>
              <c:showPercent val="0"/>
              <c:showBubbleSize val="0"/>
            </c:dLbl>
            <c:txPr>
              <a:bodyPr/>
              <a:lstStyle/>
              <a:p>
                <a:pPr>
                  <a:defRPr sz="750" b="1">
                    <a:solidFill>
                      <a:srgbClr val="0B0B0B"/>
                    </a:solidFill>
                    <a:latin typeface="Calibri"/>
                  </a:defRPr>
                </a:pPr>
              </a:p>
            </c:txPr>
            <c:showLegendKey val="0"/>
            <c:showVal val="0"/>
            <c:showCatName val="0"/>
            <c:showSerName val="0"/>
            <c:showPercent val="0"/>
            <c:showBubbleSize val="0"/>
            <c:showLeaderLines val="1"/>
          </c:dLbls>
          <c:cat>
            <c:strRef>
              <c:f>Sheet1!$A$2:$A$6</c:f>
              <c:strCache>
                <c:ptCount val="5"/>
                <c:pt idx="0">
                  <c:v>Spanish inb 38% (pilot)</c:v>
                </c:pt>
                <c:pt idx="1">
                  <c:v>French inb 31% (pilot)</c:v>
                </c:pt>
                <c:pt idx="2">
                  <c:v>Pooled inb 52% (pilot)</c:v>
                </c:pt>
                <c:pt idx="3">
                  <c:v>German inb 42% — phase 2</c:v>
                </c:pt>
                <c:pt idx="4">
                  <c:v>Italian inb 28% — phase 2</c:v>
                </c:pt>
              </c:strCache>
            </c:strRef>
          </c:cat>
          <c:val>
            <c:numRef>
              <c:f>Sheet1!$B$2:$B$6</c:f>
              <c:numCache>
                <c:formatCode>General</c:formatCode>
                <c:ptCount val="5"/>
                <c:pt idx="0">
                  <c:v>38</c:v>
                </c:pt>
                <c:pt idx="1">
                  <c:v>31</c:v>
                </c:pt>
                <c:pt idx="2">
                  <c:v>52</c:v>
                </c:pt>
                <c:pt idx="3">
                  <c:v>42</c:v>
                </c:pt>
                <c:pt idx="4">
                  <c:v>28</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C3C2B7"/>
            </a:solidFill>
          </a:ln>
        </c:spPr>
        <c:txPr>
          <a:bodyPr/>
          <a:lstStyle/>
          <a:p>
            <a:pPr>
              <a:defRPr sz="700">
                <a:solidFill>
                  <a:srgbClr val="52514E"/>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c:v>
                </c:pt>
              </c:strCache>
            </c:strRef>
          </c:tx>
          <c:dPt>
            <c:idx val="0"/>
            <c:spPr>
              <a:solidFill>
                <a:srgbClr val="2A78D6"/>
              </a:solidFill>
              <a:ln>
                <a:noFill/>
              </a:ln>
            </c:spPr>
          </c:dPt>
          <c:dPt>
            <c:idx val="1"/>
            <c:spPr>
              <a:solidFill>
                <a:srgbClr val="D9D8D2"/>
              </a:solidFill>
              <a:ln>
                <a:noFill/>
              </a:ln>
            </c:spPr>
          </c:dPt>
          <c:dPt>
            <c:idx val="2"/>
            <c:spPr>
              <a:solidFill>
                <a:srgbClr val="2A78D6"/>
              </a:solidFill>
              <a:ln>
                <a:noFill/>
              </a:ln>
            </c:spPr>
          </c:dPt>
          <c:dPt>
            <c:idx val="3"/>
            <c:spPr>
              <a:solidFill>
                <a:srgbClr val="D9D8D2"/>
              </a:solidFill>
              <a:ln>
                <a:noFill/>
              </a:ln>
            </c:spPr>
          </c:dPt>
          <c:dPt>
            <c:idx val="4"/>
            <c:spPr>
              <a:solidFill>
                <a:srgbClr val="D9D8D2"/>
              </a:solidFill>
              <a:ln>
                <a:noFill/>
              </a:ln>
            </c:spPr>
          </c:dPt>
          <c:dLbls>
            <c:dLbl>
              <c:idx val="0"/>
              <c:tx>
                <c:rich>
                  <a:bodyPr/>
                  <a:lstStyle/>
                  <a:p>
                    <a:r>
                      <a:t>188</a:t>
                    </a:r>
                  </a:p>
                </c:rich>
              </c:tx>
              <c:showLegendKey val="0"/>
              <c:showVal val="1"/>
              <c:showCatName val="0"/>
              <c:showSerName val="0"/>
              <c:showPercent val="0"/>
              <c:showBubbleSize val="0"/>
            </c:dLbl>
            <c:dLbl>
              <c:idx val="1"/>
              <c:tx>
                <c:rich>
                  <a:bodyPr/>
                  <a:lstStyle/>
                  <a:p>
                    <a:r>
                      <a:t>151</a:t>
                    </a:r>
                  </a:p>
                </c:rich>
              </c:tx>
              <c:showLegendKey val="0"/>
              <c:showVal val="1"/>
              <c:showCatName val="0"/>
              <c:showSerName val="0"/>
              <c:showPercent val="0"/>
              <c:showBubbleSize val="0"/>
            </c:dLbl>
            <c:dLbl>
              <c:idx val="2"/>
              <c:tx>
                <c:rich>
                  <a:bodyPr/>
                  <a:lstStyle/>
                  <a:p>
                    <a:r>
                      <a:t>113</a:t>
                    </a:r>
                  </a:p>
                </c:rich>
              </c:tx>
              <c:showLegendKey val="0"/>
              <c:showVal val="1"/>
              <c:showCatName val="0"/>
              <c:showSerName val="0"/>
              <c:showPercent val="0"/>
              <c:showBubbleSize val="0"/>
            </c:dLbl>
            <c:dLbl>
              <c:idx val="3"/>
              <c:tx>
                <c:rich>
                  <a:bodyPr/>
                  <a:lstStyle/>
                  <a:p>
                    <a:r>
                      <a:t>90</a:t>
                    </a:r>
                  </a:p>
                </c:rich>
              </c:tx>
              <c:showLegendKey val="0"/>
              <c:showVal val="1"/>
              <c:showCatName val="0"/>
              <c:showSerName val="0"/>
              <c:showPercent val="0"/>
              <c:showBubbleSize val="0"/>
            </c:dLbl>
            <c:dLbl>
              <c:idx val="4"/>
              <c:tx>
                <c:rich>
                  <a:bodyPr/>
                  <a:lstStyle/>
                  <a:p>
                    <a:r>
                      <a:t>75</a:t>
                    </a:r>
                  </a:p>
                </c:rich>
              </c:tx>
              <c:showLegendKey val="0"/>
              <c:showVal val="1"/>
              <c:showCatName val="0"/>
              <c:showSerName val="0"/>
              <c:showPercent val="0"/>
              <c:showBubbleSize val="0"/>
            </c:dLbl>
            <c:txPr>
              <a:bodyPr/>
              <a:lstStyle/>
              <a:p>
                <a:pPr>
                  <a:defRPr sz="750" b="1">
                    <a:solidFill>
                      <a:srgbClr val="0B0B0B"/>
                    </a:solidFill>
                    <a:latin typeface="Calibri"/>
                  </a:defRPr>
                </a:pPr>
              </a:p>
            </c:txPr>
            <c:showLegendKey val="0"/>
            <c:showVal val="0"/>
            <c:showCatName val="0"/>
            <c:showSerName val="0"/>
            <c:showPercent val="0"/>
            <c:showBubbleSize val="0"/>
            <c:showLeaderLines val="1"/>
          </c:dLbls>
          <c:cat>
            <c:strRef>
              <c:f>Sheet1!$A$2:$A$6</c:f>
              <c:strCache>
                <c:ptCount val="5"/>
                <c:pt idx="0">
                  <c:v>1.2</c:v>
                </c:pt>
                <c:pt idx="1">
                  <c:v>1.5</c:v>
                </c:pt>
                <c:pt idx="2">
                  <c:v>2</c:v>
                </c:pt>
                <c:pt idx="3">
                  <c:v>2.5</c:v>
                </c:pt>
                <c:pt idx="4">
                  <c:v>3</c:v>
                </c:pt>
              </c:strCache>
            </c:strRef>
          </c:cat>
          <c:val>
            <c:numRef>
              <c:f>Sheet1!$B$2:$B$6</c:f>
              <c:numCache>
                <c:formatCode>General</c:formatCode>
                <c:ptCount val="5"/>
                <c:pt idx="0">
                  <c:v>188</c:v>
                </c:pt>
                <c:pt idx="1">
                  <c:v>151</c:v>
                </c:pt>
                <c:pt idx="2">
                  <c:v>113</c:v>
                </c:pt>
                <c:pt idx="3">
                  <c:v>90</c:v>
                </c:pt>
                <c:pt idx="4">
                  <c:v>75</c:v>
                </c:pt>
              </c:numCache>
            </c:numRef>
          </c:val>
        </c:ser>
        <c:gapWidth val="35"/>
        <c:axId val="-2068027336"/>
        <c:axId val="-2113994440"/>
      </c:barChart>
      <c:catAx>
        <c:axId val="-2068027336"/>
        <c:scaling>
          <c:orientation val="minMax"/>
        </c:scaling>
        <c:delete val="0"/>
        <c:axPos val="b"/>
        <c:majorTickMark val="out"/>
        <c:minorTickMark val="none"/>
        <c:tickLblPos val="nextTo"/>
        <c:spPr>
          <a:ln>
            <a:solidFill>
              <a:srgbClr val="C3C2B7"/>
            </a:solidFill>
          </a:ln>
        </c:spPr>
        <c:txPr>
          <a:bodyPr/>
          <a:lstStyle/>
          <a:p>
            <a:pPr>
              <a:defRPr sz="650">
                <a:solidFill>
                  <a:srgbClr val="52514E"/>
                </a:solidFill>
                <a:latin typeface="Calibri"/>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Chat 39%</c:v>
                </c:pt>
              </c:strCache>
            </c:strRef>
          </c:tx>
          <c:spPr>
            <a:solidFill>
              <a:srgbClr val="2A78D6"/>
            </a:solidFill>
            <a:ln w="19050">
              <a:solidFill>
                <a:srgbClr val="FCFCFB"/>
              </a:solidFill>
            </a:ln>
          </c:spPr>
          <c:dLbls>
            <c:dLbl>
              <c:idx val="0"/>
              <c:tx>
                <c:rich>
                  <a:bodyPr wrap="none"/>
                  <a:lstStyle/>
                  <a:p>
                    <a:pPr>
                      <a:defRPr/>
                    </a:pPr>
                  </a:p>
                </c:rich>
              </c:tx>
              <c:showLegendKey val="0"/>
              <c:showVal val="1"/>
              <c:showCatName val="0"/>
              <c:showSerName val="0"/>
              <c:showPercent val="0"/>
              <c:showBubbleSize val="0"/>
            </c:dLbl>
            <c:numFmt formatCode="0" sourceLinked="0"/>
            <c:txPr>
              <a:bodyPr/>
              <a:lstStyle/>
              <a:p>
                <a:pPr>
                  <a:defRPr sz="800" b="1">
                    <a:solidFill>
                      <a:srgbClr val="FCFCFB"/>
                    </a:solidFill>
                    <a:latin typeface="Calibri"/>
                  </a:defRPr>
                </a:pPr>
              </a:p>
            </c:txPr>
            <c:showLegendKey val="0"/>
            <c:showVal val="1"/>
            <c:showCatName val="0"/>
            <c:showSerName val="0"/>
            <c:showPercent val="0"/>
            <c:showBubbleSize val="0"/>
            <c:showLeaderLines val="1"/>
          </c:dLbls>
          <c:cat>
            <c:strRef>
              <c:f>Sheet1!$A$2:$A$2</c:f>
              <c:strCache>
                <c:ptCount val="1"/>
                <c:pt idx="0">
                  <c:v/>
                </c:pt>
              </c:strCache>
            </c:strRef>
          </c:cat>
          <c:val>
            <c:numRef>
              <c:f>Sheet1!$B$2:$B$2</c:f>
              <c:numCache>
                <c:formatCode>General</c:formatCode>
                <c:ptCount val="1"/>
                <c:pt idx="0">
                  <c:v>188</c:v>
                </c:pt>
              </c:numCache>
            </c:numRef>
          </c:val>
        </c:ser>
        <c:ser>
          <c:idx val="1"/>
          <c:order val="1"/>
          <c:tx>
            <c:strRef>
              <c:f>Sheet1!$C$1</c:f>
              <c:strCache>
                <c:ptCount val="1"/>
                <c:pt idx="0">
                  <c:v>Email 33%</c:v>
                </c:pt>
              </c:strCache>
            </c:strRef>
          </c:tx>
          <c:spPr>
            <a:solidFill>
              <a:srgbClr val="EB6834"/>
            </a:solidFill>
            <a:ln w="19050">
              <a:solidFill>
                <a:srgbClr val="FCFCFB"/>
              </a:solidFill>
            </a:ln>
          </c:spPr>
          <c:dLbls>
            <c:dLbl>
              <c:idx val="0"/>
              <c:tx>
                <c:rich>
                  <a:bodyPr wrap="none"/>
                  <a:lstStyle/>
                  <a:p>
                    <a:pPr>
                      <a:defRPr/>
                    </a:pPr>
                  </a:p>
                </c:rich>
              </c:tx>
              <c:showLegendKey val="0"/>
              <c:showVal val="1"/>
              <c:showCatName val="0"/>
              <c:showSerName val="0"/>
              <c:showPercent val="0"/>
              <c:showBubbleSize val="0"/>
            </c:dLbl>
            <c:numFmt formatCode="0" sourceLinked="0"/>
            <c:txPr>
              <a:bodyPr/>
              <a:lstStyle/>
              <a:p>
                <a:pPr>
                  <a:defRPr sz="800" b="1">
                    <a:solidFill>
                      <a:srgbClr val="FCFCFB"/>
                    </a:solidFill>
                    <a:latin typeface="Calibri"/>
                  </a:defRPr>
                </a:pPr>
              </a:p>
            </c:txPr>
            <c:showLegendKey val="0"/>
            <c:showVal val="1"/>
            <c:showCatName val="0"/>
            <c:showSerName val="0"/>
            <c:showPercent val="0"/>
            <c:showBubbleSize val="0"/>
            <c:showLeaderLines val="1"/>
          </c:dLbls>
          <c:cat>
            <c:strRef>
              <c:f>Sheet1!$A$2:$A$2</c:f>
              <c:strCache>
                <c:ptCount val="1"/>
                <c:pt idx="0">
                  <c:v/>
                </c:pt>
              </c:strCache>
            </c:strRef>
          </c:cat>
          <c:val>
            <c:numRef>
              <c:f>Sheet1!$C$2:$C$2</c:f>
              <c:numCache>
                <c:formatCode>General</c:formatCode>
                <c:ptCount val="1"/>
                <c:pt idx="0">
                  <c:v>159</c:v>
                </c:pt>
              </c:numCache>
            </c:numRef>
          </c:val>
        </c:ser>
        <c:ser>
          <c:idx val="2"/>
          <c:order val="2"/>
          <c:tx>
            <c:strRef>
              <c:f>Sheet1!$D$1</c:f>
              <c:strCache>
                <c:ptCount val="1"/>
                <c:pt idx="0">
                  <c:v>Inbound 24%</c:v>
                </c:pt>
              </c:strCache>
            </c:strRef>
          </c:tx>
          <c:spPr>
            <a:solidFill>
              <a:srgbClr val="0CA30C"/>
            </a:solidFill>
            <a:ln w="19050">
              <a:solidFill>
                <a:srgbClr val="FCFCFB"/>
              </a:solidFill>
            </a:ln>
          </c:spPr>
          <c:dLbls>
            <c:dLbl>
              <c:idx val="0"/>
              <c:tx>
                <c:rich>
                  <a:bodyPr wrap="none"/>
                  <a:lstStyle/>
                  <a:p>
                    <a:pPr>
                      <a:defRPr/>
                    </a:pPr>
                  </a:p>
                </c:rich>
              </c:tx>
              <c:showLegendKey val="0"/>
              <c:showVal val="1"/>
              <c:showCatName val="0"/>
              <c:showSerName val="0"/>
              <c:showPercent val="0"/>
              <c:showBubbleSize val="0"/>
            </c:dLbl>
            <c:numFmt formatCode="0" sourceLinked="0"/>
            <c:txPr>
              <a:bodyPr/>
              <a:lstStyle/>
              <a:p>
                <a:pPr>
                  <a:defRPr sz="800" b="1">
                    <a:solidFill>
                      <a:srgbClr val="FCFCFB"/>
                    </a:solidFill>
                    <a:latin typeface="Calibri"/>
                  </a:defRPr>
                </a:pPr>
              </a:p>
            </c:txPr>
            <c:showLegendKey val="0"/>
            <c:showVal val="1"/>
            <c:showCatName val="0"/>
            <c:showSerName val="0"/>
            <c:showPercent val="0"/>
            <c:showBubbleSize val="0"/>
            <c:showLeaderLines val="1"/>
          </c:dLbls>
          <c:cat>
            <c:strRef>
              <c:f>Sheet1!$A$2:$A$2</c:f>
              <c:strCache>
                <c:ptCount val="1"/>
                <c:pt idx="0">
                  <c:v/>
                </c:pt>
              </c:strCache>
            </c:strRef>
          </c:cat>
          <c:val>
            <c:numRef>
              <c:f>Sheet1!$D$2:$D$2</c:f>
              <c:numCache>
                <c:formatCode>General</c:formatCode>
                <c:ptCount val="1"/>
                <c:pt idx="0">
                  <c:v>118</c:v>
                </c:pt>
              </c:numCache>
            </c:numRef>
          </c:val>
        </c:ser>
        <c:ser>
          <c:idx val="3"/>
          <c:order val="3"/>
          <c:tx>
            <c:strRef>
              <c:f>Sheet1!$E$1</c:f>
              <c:strCache>
                <c:ptCount val="1"/>
                <c:pt idx="0">
                  <c:v>Outbound 4%</c:v>
                </c:pt>
              </c:strCache>
            </c:strRef>
          </c:tx>
          <c:spPr>
            <a:solidFill>
              <a:srgbClr val="EDA100"/>
            </a:solidFill>
            <a:ln w="19050">
              <a:solidFill>
                <a:srgbClr val="FCFCFB"/>
              </a:solidFill>
            </a:ln>
          </c:spPr>
          <c:dLbls>
            <c:dLbl>
              <c:idx val="0"/>
              <c:tx>
                <c:rich>
                  <a:bodyPr wrap="none"/>
                  <a:lstStyle/>
                  <a:p>
                    <a:pPr>
                      <a:defRPr/>
                    </a:pPr>
                  </a:p>
                </c:rich>
              </c:tx>
              <c:showLegendKey val="0"/>
              <c:showVal val="1"/>
              <c:showCatName val="0"/>
              <c:showSerName val="0"/>
              <c:showPercent val="0"/>
              <c:showBubbleSize val="0"/>
            </c:dLbl>
            <c:numFmt formatCode="0" sourceLinked="0"/>
            <c:txPr>
              <a:bodyPr/>
              <a:lstStyle/>
              <a:p>
                <a:pPr>
                  <a:defRPr sz="800" b="1">
                    <a:solidFill>
                      <a:srgbClr val="FCFCFB"/>
                    </a:solidFill>
                    <a:latin typeface="Calibri"/>
                  </a:defRPr>
                </a:pPr>
              </a:p>
            </c:txPr>
            <c:showLegendKey val="0"/>
            <c:showVal val="1"/>
            <c:showCatName val="0"/>
            <c:showSerName val="0"/>
            <c:showPercent val="0"/>
            <c:showBubbleSize val="0"/>
            <c:showLeaderLines val="1"/>
          </c:dLbls>
          <c:cat>
            <c:strRef>
              <c:f>Sheet1!$A$2:$A$2</c:f>
              <c:strCache>
                <c:ptCount val="1"/>
                <c:pt idx="0">
                  <c:v/>
                </c:pt>
              </c:strCache>
            </c:strRef>
          </c:cat>
          <c:val>
            <c:numRef>
              <c:f>Sheet1!$E$2:$E$2</c:f>
              <c:numCache>
                <c:formatCode>General</c:formatCode>
                <c:ptCount val="1"/>
                <c:pt idx="0">
                  <c:v>19</c:v>
                </c:pt>
              </c:numCache>
            </c:numRef>
          </c:val>
        </c:ser>
        <c:gapWidth val="20"/>
        <c:overlap val="100"/>
        <c:axId val="-2068027336"/>
        <c:axId val="-2113994440"/>
      </c:barChart>
      <c:catAx>
        <c:axId val="-2068027336"/>
        <c:scaling>
          <c:orientation val="minMax"/>
        </c:scaling>
        <c:delete/>
        <c:axPos val="l"/>
        <c:majorTickMark val="out"/>
        <c:minorTickMark val="none"/>
        <c:tickLblPos val="nextTo"/>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2A78D6"/>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124</c:v>
                </c:pt>
                <c:pt idx="1">
                  <c:v>121</c:v>
                </c:pt>
                <c:pt idx="2">
                  <c:v>183</c:v>
                </c:pt>
                <c:pt idx="3">
                  <c:v>208</c:v>
                </c:pt>
                <c:pt idx="4">
                  <c:v>187</c:v>
                </c:pt>
                <c:pt idx="5">
                  <c:v>227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52514E"/>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131</c:v>
                </c:pt>
                <c:pt idx="1">
                  <c:v>128</c:v>
                </c:pt>
                <c:pt idx="2">
                  <c:v>111</c:v>
                </c:pt>
                <c:pt idx="3">
                  <c:v>105</c:v>
                </c:pt>
                <c:pt idx="4">
                  <c:v>108</c:v>
                </c:pt>
                <c:pt idx="5">
                  <c:v>103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52514E"/>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119</c:v>
                </c:pt>
                <c:pt idx="1">
                  <c:v>116</c:v>
                </c:pt>
                <c:pt idx="2">
                  <c:v>121</c:v>
                </c:pt>
                <c:pt idx="3">
                  <c:v>118</c:v>
                </c:pt>
                <c:pt idx="4">
                  <c:v>122</c:v>
                </c:pt>
                <c:pt idx="5">
                  <c:v>120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52514E"/>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97</c:v>
                </c:pt>
                <c:pt idx="1">
                  <c:v>95</c:v>
                </c:pt>
                <c:pt idx="2">
                  <c:v>98</c:v>
                </c:pt>
                <c:pt idx="3">
                  <c:v>95</c:v>
                </c:pt>
                <c:pt idx="4">
                  <c:v>93</c:v>
                </c:pt>
                <c:pt idx="5">
                  <c:v>94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c:v>
                </c:pt>
              </c:strCache>
            </c:strRef>
          </c:tx>
          <c:spPr>
            <a:ln w="19050">
              <a:solidFill>
                <a:srgbClr val="52514E"/>
              </a:solidFill>
            </a:ln>
          </c:spPr>
          <c:marker>
            <c:symbol val="none"/>
          </c:marker>
          <c:cat>
            <c:strRef>
              <c:f>Sheet1!$A$2:$A$7</c:f>
              <c:strCache>
                <c:ptCount val="6"/>
                <c:pt idx="0">
                  <c:v>J</c:v>
                </c:pt>
                <c:pt idx="1">
                  <c:v>F</c:v>
                </c:pt>
                <c:pt idx="2">
                  <c:v>M</c:v>
                </c:pt>
                <c:pt idx="3">
                  <c:v>A</c:v>
                </c:pt>
                <c:pt idx="4">
                  <c:v>M</c:v>
                </c:pt>
                <c:pt idx="5">
                  <c:v>J</c:v>
                </c:pt>
              </c:strCache>
            </c:strRef>
          </c:cat>
          <c:val>
            <c:numRef>
              <c:f>Sheet1!$B$2:$B$7</c:f>
              <c:numCache>
                <c:formatCode>General</c:formatCode>
                <c:ptCount val="6"/>
                <c:pt idx="0">
                  <c:v>88</c:v>
                </c:pt>
                <c:pt idx="1">
                  <c:v>86</c:v>
                </c:pt>
                <c:pt idx="2">
                  <c:v>92</c:v>
                </c:pt>
                <c:pt idx="3">
                  <c:v>88</c:v>
                </c:pt>
                <c:pt idx="4">
                  <c:v>84</c:v>
                </c:pt>
                <c:pt idx="5">
                  <c:v>86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txPr>
          <a:bodyPr/>
          <a:lstStyle/>
          <a:p>
            <a:pPr>
              <a:defRPr sz="650">
                <a:solidFill>
                  <a:srgbClr val="898781"/>
                </a:solidFill>
                <a:latin typeface="Calibri"/>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 Id="rId6" Type="http://schemas.openxmlformats.org/officeDocument/2006/relationships/chart" Target="../charts/chart6.xml"/><Relationship Id="rId7" Type="http://schemas.openxmlformats.org/officeDocument/2006/relationships/chart" Target="../charts/char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chart" Target="../charts/char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chart" Target="../charts/chart14.xml"/><Relationship Id="rId6" Type="http://schemas.openxmlformats.org/officeDocument/2006/relationships/chart" Target="../charts/char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2A78D6"/>
                </a:solidFill>
                <a:latin typeface="Calibri"/>
              </a:rPr>
              <a:t>01 · Executive summary</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900" b="1">
                <a:solidFill>
                  <a:srgbClr val="0B0B0B"/>
                </a:solidFill>
                <a:latin typeface="Calibri"/>
              </a:rPr>
              <a:t>508 paid FTE per month to meet service level</a:t>
            </a:r>
          </a:p>
        </p:txBody>
      </p:sp>
      <p:cxnSp>
        <p:nvCxnSpPr>
          <p:cNvPr id="4" name="Connector 3"/>
          <p:cNvCxnSpPr/>
          <p:nvPr/>
        </p:nvCxnSpPr>
        <p:spPr>
          <a:xfrm>
            <a:off x="502920" y="82296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960120"/>
            <a:ext cx="3224082" cy="146304"/>
          </a:xfrm>
          <a:prstGeom prst="rect">
            <a:avLst/>
          </a:prstGeom>
          <a:noFill/>
        </p:spPr>
        <p:txBody>
          <a:bodyPr wrap="square" lIns="0" rIns="0" tIns="0" bIns="0">
            <a:noAutofit/>
          </a:bodyPr>
          <a:lstStyle/>
          <a:p>
            <a:r>
              <a:rPr sz="819" b="1" spc="60">
                <a:solidFill>
                  <a:srgbClr val="898781"/>
                </a:solidFill>
                <a:latin typeface="Calibri"/>
              </a:rPr>
              <a:t>THE ANSWER — JULY TO SEPTEMBER</a:t>
            </a:r>
          </a:p>
        </p:txBody>
      </p:sp>
      <p:sp>
        <p:nvSpPr>
          <p:cNvPr id="6" name="TextBox 5"/>
          <p:cNvSpPr txBox="1"/>
          <p:nvPr/>
        </p:nvSpPr>
        <p:spPr>
          <a:xfrm>
            <a:off x="502920" y="1170432"/>
            <a:ext cx="3224082" cy="1136650"/>
          </a:xfrm>
          <a:prstGeom prst="rect">
            <a:avLst/>
          </a:prstGeom>
          <a:noFill/>
        </p:spPr>
        <p:txBody>
          <a:bodyPr wrap="square" lIns="0" rIns="0" tIns="0" bIns="0" anchor="t">
            <a:noAutofit/>
          </a:bodyPr>
          <a:lstStyle/>
          <a:p>
            <a:r>
              <a:rPr sz="4800" b="1">
                <a:solidFill>
                  <a:srgbClr val="0B0B0B"/>
                </a:solidFill>
                <a:latin typeface="Calibri"/>
              </a:rPr>
              <a:t>508</a:t>
            </a:r>
            <a:r>
              <a:rPr sz="900"/>
              <a:t>   </a:t>
            </a:r>
            <a:r>
              <a:rPr sz="950" b="1" i="0">
                <a:solidFill>
                  <a:srgbClr val="52514E"/>
                </a:solidFill>
                <a:latin typeface="Calibri"/>
              </a:rPr>
              <a:t>paid FTE</a:t>
            </a:r>
            <a:br/>
            <a:r>
              <a:rPr sz="950" b="1" i="0">
                <a:solidFill>
                  <a:srgbClr val="52514E"/>
                </a:solidFill>
                <a:latin typeface="Calibri"/>
              </a:rPr>
              <a:t>per month</a:t>
            </a:r>
          </a:p>
        </p:txBody>
      </p:sp>
      <p:sp>
        <p:nvSpPr>
          <p:cNvPr id="7" name="TextBox 6"/>
          <p:cNvSpPr txBox="1"/>
          <p:nvPr/>
        </p:nvSpPr>
        <p:spPr>
          <a:xfrm>
            <a:off x="502920" y="2407666"/>
            <a:ext cx="3224082" cy="313690"/>
          </a:xfrm>
          <a:prstGeom prst="rect">
            <a:avLst/>
          </a:prstGeom>
          <a:noFill/>
        </p:spPr>
        <p:txBody>
          <a:bodyPr wrap="square" lIns="0" rIns="0" tIns="0" bIns="0">
            <a:noAutofit/>
          </a:bodyPr>
          <a:lstStyle/>
          <a:p>
            <a:r>
              <a:rPr sz="950" b="0" i="0">
                <a:solidFill>
                  <a:srgbClr val="52514E"/>
                </a:solidFill>
                <a:latin typeface="Calibri"/>
              </a:rPr>
              <a:t>To hold </a:t>
            </a:r>
            <a:r>
              <a:rPr sz="950" b="1" i="0">
                <a:solidFill>
                  <a:srgbClr val="52514E"/>
                </a:solidFill>
                <a:latin typeface="Calibri"/>
              </a:rPr>
              <a:t>80% / 20s</a:t>
            </a:r>
            <a:r>
              <a:rPr sz="950" b="0" i="0">
                <a:solidFill>
                  <a:srgbClr val="52514E"/>
                </a:solidFill>
                <a:latin typeface="Calibri"/>
              </a:rPr>
              <a:t> phone and </a:t>
            </a:r>
            <a:r>
              <a:rPr sz="950" b="1" i="0">
                <a:solidFill>
                  <a:srgbClr val="52514E"/>
                </a:solidFill>
                <a:latin typeface="Calibri"/>
              </a:rPr>
              <a:t>80% / 60s</a:t>
            </a:r>
            <a:r>
              <a:rPr sz="950" b="0" i="0">
                <a:solidFill>
                  <a:srgbClr val="52514E"/>
                </a:solidFill>
                <a:latin typeface="Calibri"/>
              </a:rPr>
              <a:t> chat at the June run-rate </a:t>
            </a:r>
            <a:r>
              <a:rPr sz="950" b="1" i="0">
                <a:solidFill>
                  <a:srgbClr val="52514E"/>
                </a:solidFill>
                <a:latin typeface="Calibri"/>
              </a:rPr>
              <a:t>+10%</a:t>
            </a:r>
            <a:r>
              <a:rPr sz="950" b="0" i="0">
                <a:solidFill>
                  <a:srgbClr val="52514E"/>
                </a:solidFill>
                <a:latin typeface="Calibri"/>
              </a:rPr>
              <a:t> seasonal uplift.</a:t>
            </a:r>
          </a:p>
        </p:txBody>
      </p:sp>
      <p:cxnSp>
        <p:nvCxnSpPr>
          <p:cNvPr id="8" name="Connector 7"/>
          <p:cNvCxnSpPr/>
          <p:nvPr/>
        </p:nvCxnSpPr>
        <p:spPr>
          <a:xfrm>
            <a:off x="502920" y="2767076"/>
            <a:ext cx="1557177"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2812796"/>
            <a:ext cx="1557177" cy="411480"/>
          </a:xfrm>
          <a:prstGeom prst="rect">
            <a:avLst/>
          </a:prstGeom>
          <a:noFill/>
        </p:spPr>
        <p:txBody>
          <a:bodyPr wrap="square" lIns="0" rIns="0" tIns="0" bIns="0">
            <a:noAutofit/>
          </a:bodyPr>
          <a:lstStyle/>
          <a:p>
            <a:r>
              <a:rPr sz="660" b="1">
                <a:solidFill>
                  <a:srgbClr val="898781"/>
                </a:solidFill>
                <a:latin typeface="Calibri"/>
              </a:rPr>
              <a:t>PRODUCTIVE HOURS</a:t>
            </a:r>
          </a:p>
          <a:p>
            <a:pPr>
              <a:spcBef>
                <a:spcPts val="200"/>
              </a:spcBef>
            </a:pPr>
            <a:r>
              <a:rPr sz="1500" b="1">
                <a:solidFill>
                  <a:srgbClr val="0B0B0B"/>
                </a:solidFill>
                <a:latin typeface="Calibri"/>
              </a:rPr>
              <a:t>68,827</a:t>
            </a:r>
          </a:p>
          <a:p>
            <a:pPr>
              <a:spcBef>
                <a:spcPts val="100"/>
              </a:spcBef>
            </a:pPr>
            <a:r>
              <a:rPr sz="700">
                <a:solidFill>
                  <a:srgbClr val="898781"/>
                </a:solidFill>
                <a:latin typeface="Calibri"/>
              </a:rPr>
              <a:t>per month — the BPO bill</a:t>
            </a:r>
          </a:p>
        </p:txBody>
      </p:sp>
      <p:cxnSp>
        <p:nvCxnSpPr>
          <p:cNvPr id="10" name="Connector 9"/>
          <p:cNvCxnSpPr/>
          <p:nvPr/>
        </p:nvCxnSpPr>
        <p:spPr>
          <a:xfrm>
            <a:off x="2169825" y="2767076"/>
            <a:ext cx="1557177"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69825" y="2812796"/>
            <a:ext cx="1557177" cy="411480"/>
          </a:xfrm>
          <a:prstGeom prst="rect">
            <a:avLst/>
          </a:prstGeom>
          <a:noFill/>
        </p:spPr>
        <p:txBody>
          <a:bodyPr wrap="square" lIns="0" rIns="0" tIns="0" bIns="0">
            <a:noAutofit/>
          </a:bodyPr>
          <a:lstStyle/>
          <a:p>
            <a:r>
              <a:rPr sz="660" b="1">
                <a:solidFill>
                  <a:srgbClr val="898781"/>
                </a:solidFill>
                <a:latin typeface="Calibri"/>
              </a:rPr>
              <a:t>CONTACTS</a:t>
            </a:r>
          </a:p>
          <a:p>
            <a:pPr>
              <a:spcBef>
                <a:spcPts val="200"/>
              </a:spcBef>
            </a:pPr>
            <a:r>
              <a:rPr sz="1500" b="1">
                <a:solidFill>
                  <a:srgbClr val="0B0B0B"/>
                </a:solidFill>
                <a:latin typeface="Calibri"/>
              </a:rPr>
              <a:t>294k</a:t>
            </a:r>
          </a:p>
          <a:p>
            <a:pPr>
              <a:spcBef>
                <a:spcPts val="100"/>
              </a:spcBef>
            </a:pPr>
            <a:r>
              <a:rPr sz="700">
                <a:solidFill>
                  <a:srgbClr val="898781"/>
                </a:solidFill>
                <a:latin typeface="Calibri"/>
              </a:rPr>
              <a:t>all languages, all channels</a:t>
            </a:r>
          </a:p>
        </p:txBody>
      </p:sp>
      <p:cxnSp>
        <p:nvCxnSpPr>
          <p:cNvPr id="12" name="Connector 11"/>
          <p:cNvCxnSpPr/>
          <p:nvPr/>
        </p:nvCxnSpPr>
        <p:spPr>
          <a:xfrm>
            <a:off x="502920" y="3343148"/>
            <a:ext cx="0" cy="1423035"/>
          </a:xfrm>
          <a:prstGeom prst="line">
            <a:avLst/>
          </a:prstGeom>
          <a:ln w="28575">
            <a:solidFill>
              <a:srgbClr val="D03B3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3370580"/>
            <a:ext cx="3105210" cy="173355"/>
          </a:xfrm>
          <a:prstGeom prst="rect">
            <a:avLst/>
          </a:prstGeom>
          <a:noFill/>
        </p:spPr>
        <p:txBody>
          <a:bodyPr wrap="square" lIns="0" rIns="0" tIns="0" bIns="0">
            <a:noAutofit/>
          </a:bodyPr>
          <a:lstStyle/>
          <a:p>
            <a:r>
              <a:rPr sz="1050" b="1" i="0">
                <a:solidFill>
                  <a:srgbClr val="0B0B0B"/>
                </a:solidFill>
                <a:latin typeface="Calibri"/>
              </a:rPr>
              <a:t>One number needs an owner </a:t>
            </a:r>
            <a:r>
              <a:rPr sz="1050" b="1" i="0">
                <a:solidFill>
                  <a:srgbClr val="D03B3B"/>
                </a:solidFill>
                <a:latin typeface="Calibri"/>
              </a:rPr>
              <a:t>±78 FTE</a:t>
            </a:r>
          </a:p>
        </p:txBody>
      </p:sp>
      <p:sp>
        <p:nvSpPr>
          <p:cNvPr id="14" name="TextBox 13"/>
          <p:cNvSpPr txBox="1"/>
          <p:nvPr/>
        </p:nvSpPr>
        <p:spPr>
          <a:xfrm>
            <a:off x="621792" y="3571367"/>
            <a:ext cx="3105210" cy="1149096"/>
          </a:xfrm>
          <a:prstGeom prst="rect">
            <a:avLst/>
          </a:prstGeom>
          <a:noFill/>
        </p:spPr>
        <p:txBody>
          <a:bodyPr wrap="square" lIns="0" rIns="0" tIns="0" bIns="0">
            <a:noAutofit/>
          </a:bodyPr>
          <a:lstStyle/>
          <a:p>
            <a:r>
              <a:rPr sz="869" b="0" i="0">
                <a:solidFill>
                  <a:srgbClr val="52514E"/>
                </a:solidFill>
                <a:latin typeface="Calibri"/>
              </a:rPr>
              <a:t>The workbook gives two English handle times: </a:t>
            </a:r>
            <a:r>
              <a:rPr sz="869" b="1" i="0">
                <a:solidFill>
                  <a:srgbClr val="52514E"/>
                </a:solidFill>
                <a:latin typeface="Calibri"/>
              </a:rPr>
              <a:t>710s</a:t>
            </a:r>
            <a:r>
              <a:rPr sz="869" b="0" i="0">
                <a:solidFill>
                  <a:srgbClr val="52514E"/>
                </a:solidFill>
                <a:latin typeface="Calibri"/>
              </a:rPr>
              <a:t> including outbound calls, </a:t>
            </a:r>
            <a:r>
              <a:rPr sz="869" b="1" i="0">
                <a:solidFill>
                  <a:srgbClr val="52514E"/>
                </a:solidFill>
                <a:latin typeface="Calibri"/>
              </a:rPr>
              <a:t>909s</a:t>
            </a:r>
            <a:r>
              <a:rPr sz="869" b="0" i="0">
                <a:solidFill>
                  <a:srgbClr val="52514E"/>
                </a:solidFill>
                <a:latin typeface="Calibri"/>
              </a:rPr>
              <a:t> without. That looks like drift — </a:t>
            </a:r>
            <a:r>
              <a:rPr sz="869" b="1" i="0">
                <a:solidFill>
                  <a:srgbClr val="52514E"/>
                </a:solidFill>
                <a:latin typeface="Calibri"/>
              </a:rPr>
              <a:t>it isn’t:</a:t>
            </a:r>
            <a:r>
              <a:rPr sz="869" b="0" i="0">
                <a:solidFill>
                  <a:srgbClr val="52514E"/>
                </a:solidFill>
                <a:latin typeface="Calibri"/>
              </a:rPr>
              <a:t> compared channel-for-channel they agree within 1%. The real question is whether outbound volume is even real — it’s nearly identical to inbound in 29 of 30 months, the signature of a copied column, not a measured one. Real or not swings the plan </a:t>
            </a:r>
            <a:r>
              <a:rPr sz="869" b="1" i="0">
                <a:solidFill>
                  <a:srgbClr val="52514E"/>
                </a:solidFill>
                <a:latin typeface="Calibri"/>
              </a:rPr>
              <a:t>508 vs 585 FTE</a:t>
            </a:r>
            <a:r>
              <a:rPr sz="869" b="0" i="0">
                <a:solidFill>
                  <a:srgbClr val="52514E"/>
                </a:solidFill>
                <a:latin typeface="Calibri"/>
              </a:rPr>
              <a:t>, a call for whoever owns outbound.</a:t>
            </a:r>
          </a:p>
        </p:txBody>
      </p:sp>
      <p:sp>
        <p:nvSpPr>
          <p:cNvPr id="15" name="TextBox 14"/>
          <p:cNvSpPr txBox="1"/>
          <p:nvPr/>
        </p:nvSpPr>
        <p:spPr>
          <a:xfrm>
            <a:off x="502920" y="4866766"/>
            <a:ext cx="3224082" cy="250952"/>
          </a:xfrm>
          <a:prstGeom prst="rect">
            <a:avLst/>
          </a:prstGeom>
          <a:noFill/>
        </p:spPr>
        <p:txBody>
          <a:bodyPr wrap="square" lIns="0" rIns="0" tIns="0" bIns="0">
            <a:noAutofit/>
          </a:bodyPr>
          <a:lstStyle/>
          <a:p>
            <a:r>
              <a:rPr sz="760" b="0" i="0">
                <a:solidFill>
                  <a:srgbClr val="898781"/>
                </a:solidFill>
                <a:latin typeface="Calibri"/>
              </a:rPr>
              <a:t>Full scenario range (LOW/HIGH) and the P10–P90 confidence band are in the appendix (A3).</a:t>
            </a:r>
          </a:p>
        </p:txBody>
      </p:sp>
      <p:sp>
        <p:nvSpPr>
          <p:cNvPr id="16" name="TextBox 15"/>
          <p:cNvSpPr txBox="1"/>
          <p:nvPr/>
        </p:nvSpPr>
        <p:spPr>
          <a:xfrm>
            <a:off x="3946458" y="960120"/>
            <a:ext cx="4298777" cy="146304"/>
          </a:xfrm>
          <a:prstGeom prst="rect">
            <a:avLst/>
          </a:prstGeom>
          <a:noFill/>
        </p:spPr>
        <p:txBody>
          <a:bodyPr wrap="square" lIns="0" rIns="0" tIns="0" bIns="0">
            <a:noAutofit/>
          </a:bodyPr>
          <a:lstStyle/>
          <a:p>
            <a:r>
              <a:rPr sz="819" b="1" spc="60">
                <a:solidFill>
                  <a:srgbClr val="898781"/>
                </a:solidFill>
                <a:latin typeface="Calibri"/>
              </a:rPr>
              <a:t>A QUARTER OF THE REQUIREMENT IS SERVICE LEVEL, NOT WORKLOAD</a:t>
            </a:r>
          </a:p>
        </p:txBody>
      </p:sp>
      <p:graphicFrame>
        <p:nvGraphicFramePr>
          <p:cNvPr id="17" name="Chart 16"/>
          <p:cNvGraphicFramePr>
            <a:graphicFrameLocks noGrp="1"/>
          </p:cNvGraphicFramePr>
          <p:nvPr/>
        </p:nvGraphicFramePr>
        <p:xfrm>
          <a:off x="3946458" y="1225296"/>
          <a:ext cx="4298777" cy="2148840"/>
        </p:xfrm>
        <a:graphic>
          <a:graphicData uri="http://schemas.openxmlformats.org/drawingml/2006/chart">
            <c:chart xmlns:c="http://schemas.openxmlformats.org/drawingml/2006/chart" r:id="rId2"/>
          </a:graphicData>
        </a:graphic>
      </p:graphicFrame>
      <p:sp>
        <p:nvSpPr>
          <p:cNvPr id="18" name="TextBox 17"/>
          <p:cNvSpPr txBox="1"/>
          <p:nvPr/>
        </p:nvSpPr>
        <p:spPr>
          <a:xfrm>
            <a:off x="3946458" y="3474720"/>
            <a:ext cx="4298777" cy="470535"/>
          </a:xfrm>
          <a:prstGeom prst="rect">
            <a:avLst/>
          </a:prstGeom>
          <a:noFill/>
        </p:spPr>
        <p:txBody>
          <a:bodyPr wrap="square" lIns="0" rIns="0" tIns="0" bIns="0">
            <a:noAutofit/>
          </a:bodyPr>
          <a:lstStyle/>
          <a:p>
            <a:r>
              <a:rPr sz="950" b="0" i="0">
                <a:solidFill>
                  <a:srgbClr val="52514E"/>
                </a:solidFill>
                <a:latin typeface="Calibri"/>
              </a:rPr>
              <a:t>A workload model returns </a:t>
            </a:r>
            <a:r>
              <a:rPr sz="950" b="1" i="0">
                <a:solidFill>
                  <a:srgbClr val="52514E"/>
                </a:solidFill>
                <a:latin typeface="Calibri"/>
              </a:rPr>
              <a:t>360 FTE</a:t>
            </a:r>
            <a:r>
              <a:rPr sz="950" b="0" i="0">
                <a:solidFill>
                  <a:srgbClr val="52514E"/>
                </a:solidFill>
                <a:latin typeface="Calibri"/>
              </a:rPr>
              <a:t> and </a:t>
            </a:r>
            <a:r>
              <a:rPr sz="950" b="1" i="0">
                <a:solidFill>
                  <a:srgbClr val="52514E"/>
                </a:solidFill>
                <a:latin typeface="Calibri"/>
              </a:rPr>
              <a:t>misses SLA</a:t>
            </a:r>
            <a:r>
              <a:rPr sz="950" b="0" i="0">
                <a:solidFill>
                  <a:srgbClr val="52514E"/>
                </a:solidFill>
                <a:latin typeface="Calibri"/>
              </a:rPr>
              <a:t> — it implicitly assumes 100% occupancy. Erlang C says English inbound runs at </a:t>
            </a:r>
            <a:r>
              <a:rPr sz="950" b="1" i="0">
                <a:solidFill>
                  <a:srgbClr val="52514E"/>
                </a:solidFill>
                <a:latin typeface="Calibri"/>
              </a:rPr>
              <a:t>70%</a:t>
            </a:r>
            <a:r>
              <a:rPr sz="950" b="0" i="0">
                <a:solidFill>
                  <a:srgbClr val="52514E"/>
                </a:solidFill>
                <a:latin typeface="Calibri"/>
              </a:rPr>
              <a:t>; the idle 30% </a:t>
            </a:r>
            <a:r>
              <a:rPr sz="950" b="0" i="1">
                <a:solidFill>
                  <a:srgbClr val="52514E"/>
                </a:solidFill>
                <a:latin typeface="Calibri"/>
              </a:rPr>
              <a:t>is</a:t>
            </a:r>
            <a:r>
              <a:rPr sz="950" b="0" i="0">
                <a:solidFill>
                  <a:srgbClr val="52514E"/>
                </a:solidFill>
                <a:latin typeface="Calibri"/>
              </a:rPr>
              <a:t> the 20-second answer time.</a:t>
            </a:r>
          </a:p>
        </p:txBody>
      </p:sp>
      <p:sp>
        <p:nvSpPr>
          <p:cNvPr id="19" name="TextBox 18"/>
          <p:cNvSpPr txBox="1"/>
          <p:nvPr/>
        </p:nvSpPr>
        <p:spPr>
          <a:xfrm>
            <a:off x="8464692" y="960120"/>
            <a:ext cx="3224082" cy="146304"/>
          </a:xfrm>
          <a:prstGeom prst="rect">
            <a:avLst/>
          </a:prstGeom>
          <a:noFill/>
        </p:spPr>
        <p:txBody>
          <a:bodyPr wrap="square" lIns="0" rIns="0" tIns="0" bIns="0">
            <a:noAutofit/>
          </a:bodyPr>
          <a:lstStyle/>
          <a:p>
            <a:r>
              <a:rPr sz="819" b="1" spc="60">
                <a:solidFill>
                  <a:srgbClr val="898781"/>
                </a:solidFill>
                <a:latin typeface="Calibri"/>
              </a:rPr>
              <a:t>MODEL ARCHITECTURE — ONE CHAIN, TWO PATHS IN</a:t>
            </a:r>
          </a:p>
        </p:txBody>
      </p:sp>
      <p:sp>
        <p:nvSpPr>
          <p:cNvPr id="20" name="Rounded Rectangle 19"/>
          <p:cNvSpPr/>
          <p:nvPr/>
        </p:nvSpPr>
        <p:spPr>
          <a:xfrm>
            <a:off x="8464692" y="1207008"/>
            <a:ext cx="1584609" cy="274320"/>
          </a:xfrm>
          <a:prstGeom prst="roundRect">
            <a:avLst>
              <a:gd name="adj" fmla="val 10000"/>
            </a:avLst>
          </a:prstGeom>
          <a:solidFill>
            <a:srgbClr val="F2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r>
              <a:rPr sz="750" b="1">
                <a:solidFill>
                  <a:srgbClr val="898781"/>
                </a:solidFill>
                <a:latin typeface="Calibri"/>
              </a:rPr>
              <a:t>Email + Outbound</a:t>
            </a:r>
          </a:p>
          <a:p>
            <a:pPr algn="ctr"/>
            <a:r>
              <a:rPr sz="600" b="1">
                <a:solidFill>
                  <a:srgbClr val="898781"/>
                </a:solidFill>
                <a:latin typeface="Calibri"/>
              </a:rPr>
              <a:t>DEFERRED</a:t>
            </a:r>
          </a:p>
        </p:txBody>
      </p:sp>
      <p:sp>
        <p:nvSpPr>
          <p:cNvPr id="21" name="Rounded Rectangle 20"/>
          <p:cNvSpPr/>
          <p:nvPr/>
        </p:nvSpPr>
        <p:spPr>
          <a:xfrm>
            <a:off x="10104165" y="1207008"/>
            <a:ext cx="1584609" cy="274320"/>
          </a:xfrm>
          <a:prstGeom prst="roundRect">
            <a:avLst>
              <a:gd name="adj" fmla="val 10000"/>
            </a:avLst>
          </a:prstGeom>
          <a:solidFill>
            <a:srgbClr val="F2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r>
              <a:rPr sz="750" b="1">
                <a:solidFill>
                  <a:srgbClr val="2A78D6"/>
                </a:solidFill>
                <a:latin typeface="Calibri"/>
              </a:rPr>
              <a:t>Inbound + Chat</a:t>
            </a:r>
          </a:p>
          <a:p>
            <a:pPr algn="ctr"/>
            <a:r>
              <a:rPr sz="600" b="1">
                <a:solidFill>
                  <a:srgbClr val="2A78D6"/>
                </a:solidFill>
                <a:latin typeface="Calibri"/>
              </a:rPr>
              <a:t>REAL-TIME</a:t>
            </a:r>
          </a:p>
        </p:txBody>
      </p:sp>
      <p:cxnSp>
        <p:nvCxnSpPr>
          <p:cNvPr id="22" name="Connector 21"/>
          <p:cNvCxnSpPr/>
          <p:nvPr/>
        </p:nvCxnSpPr>
        <p:spPr>
          <a:xfrm>
            <a:off x="9256996" y="1481328"/>
            <a:ext cx="0" cy="73152"/>
          </a:xfrm>
          <a:prstGeom prst="line">
            <a:avLst/>
          </a:prstGeom>
          <a:ln w="12700">
            <a:solidFill>
              <a:srgbClr val="C3C2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896470" y="1481328"/>
            <a:ext cx="0" cy="73152"/>
          </a:xfrm>
          <a:prstGeom prst="line">
            <a:avLst/>
          </a:prstGeom>
          <a:ln w="12700">
            <a:solidFill>
              <a:srgbClr val="C3C2B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464692" y="1554480"/>
            <a:ext cx="1584609" cy="310896"/>
          </a:xfrm>
          <a:prstGeom prst="roundRect">
            <a:avLst>
              <a:gd name="adj" fmla="val 10000"/>
            </a:avLst>
          </a:prstGeom>
          <a:solidFill>
            <a:srgbClr val="D9D8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r>
              <a:rPr sz="700" b="1">
                <a:solidFill>
                  <a:srgbClr val="0B0B0B"/>
                </a:solidFill>
                <a:latin typeface="Calibri"/>
              </a:rPr>
              <a:t>÷ occupancy (85%)</a:t>
            </a:r>
          </a:p>
          <a:p>
            <a:pPr algn="ctr"/>
            <a:r>
              <a:rPr sz="550" b="1">
                <a:solidFill>
                  <a:srgbClr val="898781"/>
                </a:solidFill>
                <a:latin typeface="Calibri"/>
              </a:rPr>
              <a:t>seat-equiv. hours</a:t>
            </a:r>
          </a:p>
        </p:txBody>
      </p:sp>
      <p:sp>
        <p:nvSpPr>
          <p:cNvPr id="25" name="Rounded Rectangle 24"/>
          <p:cNvSpPr/>
          <p:nvPr/>
        </p:nvSpPr>
        <p:spPr>
          <a:xfrm>
            <a:off x="10104165" y="1554480"/>
            <a:ext cx="1584609" cy="310896"/>
          </a:xfrm>
          <a:prstGeom prst="roundRect">
            <a:avLst>
              <a:gd name="adj" fmla="val 1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r>
              <a:rPr sz="680" b="1">
                <a:solidFill>
                  <a:srgbClr val="0B0B0B"/>
                </a:solidFill>
                <a:latin typeface="Calibri"/>
              </a:rPr>
              <a:t>Erlang C — 80/20s, 80/60s</a:t>
            </a:r>
          </a:p>
          <a:p>
            <a:pPr algn="ctr"/>
            <a:r>
              <a:rPr sz="530" b="1">
                <a:solidFill>
                  <a:srgbClr val="898781"/>
                </a:solidFill>
                <a:latin typeface="Calibri"/>
              </a:rPr>
              <a:t>→ seats × 730h/mo</a:t>
            </a:r>
          </a:p>
        </p:txBody>
      </p:sp>
      <p:cxnSp>
        <p:nvCxnSpPr>
          <p:cNvPr id="26" name="Connector 25"/>
          <p:cNvCxnSpPr/>
          <p:nvPr/>
        </p:nvCxnSpPr>
        <p:spPr>
          <a:xfrm>
            <a:off x="9256996" y="1865376"/>
            <a:ext cx="819737" cy="128016"/>
          </a:xfrm>
          <a:prstGeom prst="line">
            <a:avLst/>
          </a:prstGeom>
          <a:ln w="12700">
            <a:solidFill>
              <a:srgbClr val="C3C2B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0076733" y="1865376"/>
            <a:ext cx="819737" cy="128016"/>
          </a:xfrm>
          <a:prstGeom prst="line">
            <a:avLst/>
          </a:prstGeom>
          <a:ln w="12700">
            <a:solidFill>
              <a:srgbClr val="C3C2B7"/>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64692" y="1993392"/>
            <a:ext cx="3224082" cy="256032"/>
          </a:xfrm>
          <a:prstGeom prst="roundRect">
            <a:avLst>
              <a:gd name="adj" fmla="val 10000"/>
            </a:avLst>
          </a:prstGeom>
          <a:solidFill>
            <a:srgbClr val="D9D8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r>
              <a:rPr sz="800" b="1">
                <a:solidFill>
                  <a:srgbClr val="0B0B0B"/>
                </a:solidFill>
                <a:latin typeface="Calibri"/>
              </a:rPr>
              <a:t>÷ shrinkage (18%)</a:t>
            </a:r>
          </a:p>
        </p:txBody>
      </p:sp>
      <p:cxnSp>
        <p:nvCxnSpPr>
          <p:cNvPr id="29" name="Connector 28"/>
          <p:cNvCxnSpPr/>
          <p:nvPr/>
        </p:nvCxnSpPr>
        <p:spPr>
          <a:xfrm>
            <a:off x="10076733" y="2249424"/>
            <a:ext cx="0" cy="73152"/>
          </a:xfrm>
          <a:prstGeom prst="line">
            <a:avLst/>
          </a:prstGeom>
          <a:ln w="12700">
            <a:solidFill>
              <a:srgbClr val="C3C2B7"/>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464692" y="2322576"/>
            <a:ext cx="3224082" cy="310896"/>
          </a:xfrm>
          <a:prstGeom prst="roundRect">
            <a:avLst>
              <a:gd name="adj" fmla="val 10000"/>
            </a:avLst>
          </a:prstGeom>
          <a:solidFill>
            <a:srgbClr val="D9D8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r>
              <a:rPr sz="750" b="1">
                <a:solidFill>
                  <a:srgbClr val="2A78D6"/>
                </a:solidFill>
                <a:latin typeface="Calibri"/>
              </a:rPr>
              <a:t>÷ 173.33 h per FTE</a:t>
            </a:r>
          </a:p>
          <a:p>
            <a:pPr algn="ctr"/>
            <a:r>
              <a:rPr sz="600" b="1">
                <a:solidFill>
                  <a:srgbClr val="2A78D6"/>
                </a:solidFill>
                <a:latin typeface="Calibri"/>
              </a:rPr>
              <a:t>→ 484 FTE, SLA-met</a:t>
            </a:r>
          </a:p>
        </p:txBody>
      </p:sp>
      <p:cxnSp>
        <p:nvCxnSpPr>
          <p:cNvPr id="31" name="Connector 30"/>
          <p:cNvCxnSpPr/>
          <p:nvPr/>
        </p:nvCxnSpPr>
        <p:spPr>
          <a:xfrm>
            <a:off x="10076733" y="2633472"/>
            <a:ext cx="0" cy="73152"/>
          </a:xfrm>
          <a:prstGeom prst="line">
            <a:avLst/>
          </a:prstGeom>
          <a:ln w="12700">
            <a:solidFill>
              <a:srgbClr val="C3C2B7"/>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464692" y="2706624"/>
            <a:ext cx="3224082" cy="274320"/>
          </a:xfrm>
          <a:prstGeom prst="roundRect">
            <a:avLst>
              <a:gd name="adj" fmla="val 10000"/>
            </a:avLst>
          </a:prstGeom>
          <a:solidFill>
            <a:srgbClr val="D9D8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r>
              <a:rPr sz="730" b="1">
                <a:solidFill>
                  <a:srgbClr val="0B0B0B"/>
                </a:solidFill>
                <a:latin typeface="Calibri"/>
              </a:rPr>
              <a:t>÷ tenure-blend + training class</a:t>
            </a:r>
          </a:p>
        </p:txBody>
      </p:sp>
      <p:cxnSp>
        <p:nvCxnSpPr>
          <p:cNvPr id="33" name="Connector 32"/>
          <p:cNvCxnSpPr/>
          <p:nvPr/>
        </p:nvCxnSpPr>
        <p:spPr>
          <a:xfrm>
            <a:off x="10076733" y="2980944"/>
            <a:ext cx="0" cy="73152"/>
          </a:xfrm>
          <a:prstGeom prst="line">
            <a:avLst/>
          </a:prstGeom>
          <a:ln w="12700">
            <a:solidFill>
              <a:srgbClr val="C3C2B7"/>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64692" y="3054096"/>
            <a:ext cx="3224082" cy="484632"/>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r>
              <a:rPr sz="800" b="1">
                <a:solidFill>
                  <a:srgbClr val="FCFCFB"/>
                </a:solidFill>
                <a:latin typeface="Calibri"/>
              </a:rPr>
              <a:t>PAID FTE — THE BILL</a:t>
            </a:r>
          </a:p>
          <a:p>
            <a:pPr algn="ctr"/>
            <a:r>
              <a:rPr sz="650" b="1">
                <a:solidFill>
                  <a:srgbClr val="FCFCFB"/>
                </a:solidFill>
                <a:latin typeface="Calibri"/>
              </a:rPr>
              <a:t>508</a:t>
            </a:r>
          </a:p>
        </p:txBody>
      </p:sp>
      <p:sp>
        <p:nvSpPr>
          <p:cNvPr id="35" name="TextBox 34"/>
          <p:cNvSpPr txBox="1"/>
          <p:nvPr/>
        </p:nvSpPr>
        <p:spPr>
          <a:xfrm>
            <a:off x="8464692" y="3639311"/>
            <a:ext cx="3224082" cy="376427"/>
          </a:xfrm>
          <a:prstGeom prst="rect">
            <a:avLst/>
          </a:prstGeom>
          <a:noFill/>
        </p:spPr>
        <p:txBody>
          <a:bodyPr wrap="square" lIns="0" rIns="0" tIns="0" bIns="0">
            <a:noAutofit/>
          </a:bodyPr>
          <a:lstStyle/>
          <a:p>
            <a:r>
              <a:rPr sz="760" b="0" i="0">
                <a:solidFill>
                  <a:srgbClr val="898781"/>
                </a:solidFill>
                <a:latin typeface="Calibri"/>
              </a:rPr>
              <a:t>Two paths — deferred (workload) and real-time (Erlang C) — merge before shrinkage. Same chain, every language. Full formula and constants on slide 03.</a:t>
            </a:r>
          </a:p>
        </p:txBody>
      </p:sp>
      <p:cxnSp>
        <p:nvCxnSpPr>
          <p:cNvPr id="36" name="Connector 35"/>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submission · </a:t>
            </a:r>
          </a:p>
        </p:txBody>
      </p:sp>
      <p:sp>
        <p:nvSpPr>
          <p:cNvPr id="38" name="TextBox 37"/>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2A78D6"/>
                </a:solidFill>
                <a:latin typeface="Calibri"/>
              </a:rPr>
              <a:t>02 · Task 1a — Capacity forecast</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900" b="1">
                <a:solidFill>
                  <a:srgbClr val="0B0B0B"/>
                </a:solidFill>
                <a:latin typeface="Calibri"/>
              </a:rPr>
              <a:t>Forecast, capacity and the range around it</a:t>
            </a:r>
          </a:p>
        </p:txBody>
      </p:sp>
      <p:cxnSp>
        <p:nvCxnSpPr>
          <p:cNvPr id="4" name="Connector 3"/>
          <p:cNvCxnSpPr/>
          <p:nvPr/>
        </p:nvCxnSpPr>
        <p:spPr>
          <a:xfrm>
            <a:off x="502920" y="82296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960120"/>
            <a:ext cx="4943593" cy="146304"/>
          </a:xfrm>
          <a:prstGeom prst="rect">
            <a:avLst/>
          </a:prstGeom>
          <a:noFill/>
        </p:spPr>
        <p:txBody>
          <a:bodyPr wrap="square" lIns="0" rIns="0" tIns="0" bIns="0">
            <a:noAutofit/>
          </a:bodyPr>
          <a:lstStyle/>
          <a:p>
            <a:r>
              <a:rPr sz="819" b="1" spc="60">
                <a:solidFill>
                  <a:srgbClr val="898781"/>
                </a:solidFill>
                <a:latin typeface="Calibri"/>
              </a:rPr>
              <a:t>VOLUME — SIX MONTHS OF ACTUALS, THREE OF FORECAST</a:t>
            </a:r>
          </a:p>
        </p:txBody>
      </p:sp>
      <p:graphicFrame>
        <p:nvGraphicFramePr>
          <p:cNvPr id="6" name="Chart 5"/>
          <p:cNvGraphicFramePr>
            <a:graphicFrameLocks noGrp="1"/>
          </p:cNvGraphicFramePr>
          <p:nvPr/>
        </p:nvGraphicFramePr>
        <p:xfrm>
          <a:off x="502920" y="1207008"/>
          <a:ext cx="4943593" cy="1417320"/>
        </p:xfrm>
        <a:graphic>
          <a:graphicData uri="http://schemas.openxmlformats.org/drawingml/2006/chart">
            <c:chart xmlns:c="http://schemas.openxmlformats.org/drawingml/2006/chart" r:id="rId2"/>
          </a:graphicData>
        </a:graphic>
      </p:graphicFrame>
      <p:sp>
        <p:nvSpPr>
          <p:cNvPr id="7" name="TextBox 6"/>
          <p:cNvSpPr txBox="1"/>
          <p:nvPr/>
        </p:nvSpPr>
        <p:spPr>
          <a:xfrm>
            <a:off x="502920" y="2715768"/>
            <a:ext cx="4943593" cy="283972"/>
          </a:xfrm>
          <a:prstGeom prst="rect">
            <a:avLst/>
          </a:prstGeom>
          <a:noFill/>
        </p:spPr>
        <p:txBody>
          <a:bodyPr wrap="square" lIns="0" rIns="0" tIns="0" bIns="0">
            <a:noAutofit/>
          </a:bodyPr>
          <a:lstStyle/>
          <a:p>
            <a:r>
              <a:rPr sz="860" b="0" i="0">
                <a:solidFill>
                  <a:srgbClr val="52514E"/>
                </a:solidFill>
                <a:latin typeface="Calibri"/>
              </a:rPr>
              <a:t>March is a </a:t>
            </a:r>
            <a:r>
              <a:rPr sz="860" b="0" i="0">
                <a:solidFill>
                  <a:srgbClr val="D03B3B"/>
                </a:solidFill>
                <a:latin typeface="Calibri"/>
              </a:rPr>
              <a:t>structural break</a:t>
            </a:r>
            <a:r>
              <a:rPr sz="860" b="0" i="0">
                <a:solidFill>
                  <a:srgbClr val="52514E"/>
                </a:solidFill>
                <a:latin typeface="Calibri"/>
              </a:rPr>
              <a:t>, not seasonality — anchor the baseline on June, post-break. </a:t>
            </a:r>
            <a:r>
              <a:rPr sz="860" b="1" i="0">
                <a:solidFill>
                  <a:srgbClr val="52514E"/>
                </a:solidFill>
                <a:latin typeface="Calibri"/>
              </a:rPr>
              <a:t>BASE</a:t>
            </a:r>
            <a:r>
              <a:rPr sz="860" b="0" i="0">
                <a:solidFill>
                  <a:srgbClr val="52514E"/>
                </a:solidFill>
                <a:latin typeface="Calibri"/>
              </a:rPr>
              <a:t> holds Jul–Sep flat; </a:t>
            </a:r>
            <a:r>
              <a:rPr sz="860" b="1" i="0">
                <a:solidFill>
                  <a:srgbClr val="52514E"/>
                </a:solidFill>
                <a:latin typeface="Calibri"/>
              </a:rPr>
              <a:t>HIGH</a:t>
            </a:r>
            <a:r>
              <a:rPr sz="860" b="0" i="0">
                <a:solidFill>
                  <a:srgbClr val="52514E"/>
                </a:solidFill>
                <a:latin typeface="Calibri"/>
              </a:rPr>
              <a:t> carries English’s own 3-month trend forward.</a:t>
            </a:r>
          </a:p>
        </p:txBody>
      </p:sp>
      <p:sp>
        <p:nvSpPr>
          <p:cNvPr id="8" name="TextBox 7"/>
          <p:cNvSpPr txBox="1"/>
          <p:nvPr/>
        </p:nvSpPr>
        <p:spPr>
          <a:xfrm>
            <a:off x="502920" y="3054604"/>
            <a:ext cx="4943593" cy="146304"/>
          </a:xfrm>
          <a:prstGeom prst="rect">
            <a:avLst/>
          </a:prstGeom>
          <a:noFill/>
        </p:spPr>
        <p:txBody>
          <a:bodyPr wrap="square" lIns="0" rIns="0" tIns="0" bIns="0">
            <a:noAutofit/>
          </a:bodyPr>
          <a:lstStyle/>
          <a:p>
            <a:r>
              <a:rPr sz="819" b="1" spc="60">
                <a:solidFill>
                  <a:srgbClr val="898781"/>
                </a:solidFill>
                <a:latin typeface="Calibri"/>
              </a:rPr>
              <a:t>ONLY ENGLISH IS GROWING</a:t>
            </a:r>
          </a:p>
        </p:txBody>
      </p:sp>
      <p:sp>
        <p:nvSpPr>
          <p:cNvPr id="9" name="TextBox 8"/>
          <p:cNvSpPr txBox="1"/>
          <p:nvPr/>
        </p:nvSpPr>
        <p:spPr>
          <a:xfrm>
            <a:off x="502920" y="3283204"/>
            <a:ext cx="900936" cy="137160"/>
          </a:xfrm>
          <a:prstGeom prst="rect">
            <a:avLst/>
          </a:prstGeom>
          <a:noFill/>
        </p:spPr>
        <p:txBody>
          <a:bodyPr wrap="square" lIns="0" rIns="0" tIns="0" bIns="0">
            <a:noAutofit/>
          </a:bodyPr>
          <a:lstStyle/>
          <a:p>
            <a:r>
              <a:rPr sz="800" b="1">
                <a:solidFill>
                  <a:srgbClr val="0B0B0B"/>
                </a:solidFill>
                <a:latin typeface="Calibri"/>
              </a:rPr>
              <a:t>English</a:t>
            </a:r>
          </a:p>
        </p:txBody>
      </p:sp>
      <p:sp>
        <p:nvSpPr>
          <p:cNvPr id="10" name="TextBox 9"/>
          <p:cNvSpPr txBox="1"/>
          <p:nvPr/>
        </p:nvSpPr>
        <p:spPr>
          <a:xfrm>
            <a:off x="502920" y="3420364"/>
            <a:ext cx="900936" cy="118872"/>
          </a:xfrm>
          <a:prstGeom prst="rect">
            <a:avLst/>
          </a:prstGeom>
          <a:noFill/>
        </p:spPr>
        <p:txBody>
          <a:bodyPr wrap="square" lIns="0" rIns="0" tIns="0" bIns="0">
            <a:noAutofit/>
          </a:bodyPr>
          <a:lstStyle/>
          <a:p>
            <a:r>
              <a:rPr sz="700" b="1">
                <a:solidFill>
                  <a:srgbClr val="2A78D6"/>
                </a:solidFill>
                <a:latin typeface="Calibri"/>
              </a:rPr>
              <a:t>+16,870/mo</a:t>
            </a:r>
          </a:p>
        </p:txBody>
      </p:sp>
      <p:graphicFrame>
        <p:nvGraphicFramePr>
          <p:cNvPr id="11" name="Chart 10"/>
          <p:cNvGraphicFramePr>
            <a:graphicFrameLocks noGrp="1"/>
          </p:cNvGraphicFramePr>
          <p:nvPr/>
        </p:nvGraphicFramePr>
        <p:xfrm>
          <a:off x="502920" y="3557524"/>
          <a:ext cx="900936" cy="502920"/>
        </p:xfrm>
        <a:graphic>
          <a:graphicData uri="http://schemas.openxmlformats.org/drawingml/2006/chart">
            <c:chart xmlns:c="http://schemas.openxmlformats.org/drawingml/2006/chart" r:id="rId3"/>
          </a:graphicData>
        </a:graphic>
      </p:graphicFrame>
      <p:sp>
        <p:nvSpPr>
          <p:cNvPr id="12" name="TextBox 11"/>
          <p:cNvSpPr txBox="1"/>
          <p:nvPr/>
        </p:nvSpPr>
        <p:spPr>
          <a:xfrm>
            <a:off x="1513584" y="3283204"/>
            <a:ext cx="900936" cy="137160"/>
          </a:xfrm>
          <a:prstGeom prst="rect">
            <a:avLst/>
          </a:prstGeom>
          <a:noFill/>
        </p:spPr>
        <p:txBody>
          <a:bodyPr wrap="square" lIns="0" rIns="0" tIns="0" bIns="0">
            <a:noAutofit/>
          </a:bodyPr>
          <a:lstStyle/>
          <a:p>
            <a:r>
              <a:rPr sz="800" b="1">
                <a:solidFill>
                  <a:srgbClr val="52514E"/>
                </a:solidFill>
                <a:latin typeface="Calibri"/>
              </a:rPr>
              <a:t>German</a:t>
            </a:r>
          </a:p>
        </p:txBody>
      </p:sp>
      <p:sp>
        <p:nvSpPr>
          <p:cNvPr id="13" name="TextBox 12"/>
          <p:cNvSpPr txBox="1"/>
          <p:nvPr/>
        </p:nvSpPr>
        <p:spPr>
          <a:xfrm>
            <a:off x="1513584" y="3420364"/>
            <a:ext cx="900936" cy="118872"/>
          </a:xfrm>
          <a:prstGeom prst="rect">
            <a:avLst/>
          </a:prstGeom>
          <a:noFill/>
        </p:spPr>
        <p:txBody>
          <a:bodyPr wrap="square" lIns="0" rIns="0" tIns="0" bIns="0">
            <a:noAutofit/>
          </a:bodyPr>
          <a:lstStyle/>
          <a:p>
            <a:r>
              <a:rPr sz="700" b="1">
                <a:solidFill>
                  <a:srgbClr val="52514E"/>
                </a:solidFill>
                <a:latin typeface="Calibri"/>
              </a:rPr>
              <a:t>−1,904/mo</a:t>
            </a:r>
          </a:p>
        </p:txBody>
      </p:sp>
      <p:graphicFrame>
        <p:nvGraphicFramePr>
          <p:cNvPr id="14" name="Chart 13"/>
          <p:cNvGraphicFramePr>
            <a:graphicFrameLocks noGrp="1"/>
          </p:cNvGraphicFramePr>
          <p:nvPr/>
        </p:nvGraphicFramePr>
        <p:xfrm>
          <a:off x="1513584" y="3557524"/>
          <a:ext cx="900936" cy="502920"/>
        </p:xfrm>
        <a:graphic>
          <a:graphicData uri="http://schemas.openxmlformats.org/drawingml/2006/chart">
            <c:chart xmlns:c="http://schemas.openxmlformats.org/drawingml/2006/chart" r:id="rId4"/>
          </a:graphicData>
        </a:graphic>
      </p:graphicFrame>
      <p:sp>
        <p:nvSpPr>
          <p:cNvPr id="15" name="TextBox 14"/>
          <p:cNvSpPr txBox="1"/>
          <p:nvPr/>
        </p:nvSpPr>
        <p:spPr>
          <a:xfrm>
            <a:off x="2524248" y="3283204"/>
            <a:ext cx="900936" cy="137160"/>
          </a:xfrm>
          <a:prstGeom prst="rect">
            <a:avLst/>
          </a:prstGeom>
          <a:noFill/>
        </p:spPr>
        <p:txBody>
          <a:bodyPr wrap="square" lIns="0" rIns="0" tIns="0" bIns="0">
            <a:noAutofit/>
          </a:bodyPr>
          <a:lstStyle/>
          <a:p>
            <a:r>
              <a:rPr sz="800" b="1">
                <a:solidFill>
                  <a:srgbClr val="52514E"/>
                </a:solidFill>
                <a:latin typeface="Calibri"/>
              </a:rPr>
              <a:t>Spanish</a:t>
            </a:r>
          </a:p>
        </p:txBody>
      </p:sp>
      <p:sp>
        <p:nvSpPr>
          <p:cNvPr id="16" name="TextBox 15"/>
          <p:cNvSpPr txBox="1"/>
          <p:nvPr/>
        </p:nvSpPr>
        <p:spPr>
          <a:xfrm>
            <a:off x="2524248" y="3420364"/>
            <a:ext cx="900936" cy="118872"/>
          </a:xfrm>
          <a:prstGeom prst="rect">
            <a:avLst/>
          </a:prstGeom>
          <a:noFill/>
        </p:spPr>
        <p:txBody>
          <a:bodyPr wrap="square" lIns="0" rIns="0" tIns="0" bIns="0">
            <a:noAutofit/>
          </a:bodyPr>
          <a:lstStyle/>
          <a:p>
            <a:r>
              <a:rPr sz="700" b="1">
                <a:solidFill>
                  <a:srgbClr val="52514E"/>
                </a:solidFill>
                <a:latin typeface="Calibri"/>
              </a:rPr>
              <a:t>+282/mo</a:t>
            </a:r>
          </a:p>
        </p:txBody>
      </p:sp>
      <p:graphicFrame>
        <p:nvGraphicFramePr>
          <p:cNvPr id="17" name="Chart 16"/>
          <p:cNvGraphicFramePr>
            <a:graphicFrameLocks noGrp="1"/>
          </p:cNvGraphicFramePr>
          <p:nvPr/>
        </p:nvGraphicFramePr>
        <p:xfrm>
          <a:off x="2524248" y="3557524"/>
          <a:ext cx="900936" cy="502920"/>
        </p:xfrm>
        <a:graphic>
          <a:graphicData uri="http://schemas.openxmlformats.org/drawingml/2006/chart">
            <c:chart xmlns:c="http://schemas.openxmlformats.org/drawingml/2006/chart" r:id="rId5"/>
          </a:graphicData>
        </a:graphic>
      </p:graphicFrame>
      <p:sp>
        <p:nvSpPr>
          <p:cNvPr id="18" name="TextBox 17"/>
          <p:cNvSpPr txBox="1"/>
          <p:nvPr/>
        </p:nvSpPr>
        <p:spPr>
          <a:xfrm>
            <a:off x="3534913" y="3283204"/>
            <a:ext cx="900936" cy="137160"/>
          </a:xfrm>
          <a:prstGeom prst="rect">
            <a:avLst/>
          </a:prstGeom>
          <a:noFill/>
        </p:spPr>
        <p:txBody>
          <a:bodyPr wrap="square" lIns="0" rIns="0" tIns="0" bIns="0">
            <a:noAutofit/>
          </a:bodyPr>
          <a:lstStyle/>
          <a:p>
            <a:r>
              <a:rPr sz="800" b="1">
                <a:solidFill>
                  <a:srgbClr val="52514E"/>
                </a:solidFill>
                <a:latin typeface="Calibri"/>
              </a:rPr>
              <a:t>French</a:t>
            </a:r>
          </a:p>
        </p:txBody>
      </p:sp>
      <p:sp>
        <p:nvSpPr>
          <p:cNvPr id="19" name="TextBox 18"/>
          <p:cNvSpPr txBox="1"/>
          <p:nvPr/>
        </p:nvSpPr>
        <p:spPr>
          <a:xfrm>
            <a:off x="3534913" y="3420364"/>
            <a:ext cx="900936" cy="118872"/>
          </a:xfrm>
          <a:prstGeom prst="rect">
            <a:avLst/>
          </a:prstGeom>
          <a:noFill/>
        </p:spPr>
        <p:txBody>
          <a:bodyPr wrap="square" lIns="0" rIns="0" tIns="0" bIns="0">
            <a:noAutofit/>
          </a:bodyPr>
          <a:lstStyle/>
          <a:p>
            <a:r>
              <a:rPr sz="700" b="1">
                <a:solidFill>
                  <a:srgbClr val="52514E"/>
                </a:solidFill>
                <a:latin typeface="Calibri"/>
              </a:rPr>
              <a:t>−363/mo</a:t>
            </a:r>
          </a:p>
        </p:txBody>
      </p:sp>
      <p:graphicFrame>
        <p:nvGraphicFramePr>
          <p:cNvPr id="20" name="Chart 19"/>
          <p:cNvGraphicFramePr>
            <a:graphicFrameLocks noGrp="1"/>
          </p:cNvGraphicFramePr>
          <p:nvPr/>
        </p:nvGraphicFramePr>
        <p:xfrm>
          <a:off x="3534913" y="3557524"/>
          <a:ext cx="900936" cy="502920"/>
        </p:xfrm>
        <a:graphic>
          <a:graphicData uri="http://schemas.openxmlformats.org/drawingml/2006/chart">
            <c:chart xmlns:c="http://schemas.openxmlformats.org/drawingml/2006/chart" r:id="rId6"/>
          </a:graphicData>
        </a:graphic>
      </p:graphicFrame>
      <p:sp>
        <p:nvSpPr>
          <p:cNvPr id="21" name="TextBox 20"/>
          <p:cNvSpPr txBox="1"/>
          <p:nvPr/>
        </p:nvSpPr>
        <p:spPr>
          <a:xfrm>
            <a:off x="4545577" y="3283204"/>
            <a:ext cx="900936" cy="137160"/>
          </a:xfrm>
          <a:prstGeom prst="rect">
            <a:avLst/>
          </a:prstGeom>
          <a:noFill/>
        </p:spPr>
        <p:txBody>
          <a:bodyPr wrap="square" lIns="0" rIns="0" tIns="0" bIns="0">
            <a:noAutofit/>
          </a:bodyPr>
          <a:lstStyle/>
          <a:p>
            <a:r>
              <a:rPr sz="800" b="1">
                <a:solidFill>
                  <a:srgbClr val="52514E"/>
                </a:solidFill>
                <a:latin typeface="Calibri"/>
              </a:rPr>
              <a:t>Italian</a:t>
            </a:r>
          </a:p>
        </p:txBody>
      </p:sp>
      <p:sp>
        <p:nvSpPr>
          <p:cNvPr id="22" name="TextBox 21"/>
          <p:cNvSpPr txBox="1"/>
          <p:nvPr/>
        </p:nvSpPr>
        <p:spPr>
          <a:xfrm>
            <a:off x="4545577" y="3420364"/>
            <a:ext cx="900936" cy="118872"/>
          </a:xfrm>
          <a:prstGeom prst="rect">
            <a:avLst/>
          </a:prstGeom>
          <a:noFill/>
        </p:spPr>
        <p:txBody>
          <a:bodyPr wrap="square" lIns="0" rIns="0" tIns="0" bIns="0">
            <a:noAutofit/>
          </a:bodyPr>
          <a:lstStyle/>
          <a:p>
            <a:r>
              <a:rPr sz="700" b="1">
                <a:solidFill>
                  <a:srgbClr val="52514E"/>
                </a:solidFill>
                <a:latin typeface="Calibri"/>
              </a:rPr>
              <a:t>−474/mo</a:t>
            </a:r>
          </a:p>
        </p:txBody>
      </p:sp>
      <p:graphicFrame>
        <p:nvGraphicFramePr>
          <p:cNvPr id="23" name="Chart 22"/>
          <p:cNvGraphicFramePr>
            <a:graphicFrameLocks noGrp="1"/>
          </p:cNvGraphicFramePr>
          <p:nvPr/>
        </p:nvGraphicFramePr>
        <p:xfrm>
          <a:off x="4545577" y="3557524"/>
          <a:ext cx="900936" cy="502920"/>
        </p:xfrm>
        <a:graphic>
          <a:graphicData uri="http://schemas.openxmlformats.org/drawingml/2006/chart">
            <c:chart xmlns:c="http://schemas.openxmlformats.org/drawingml/2006/chart" r:id="rId7"/>
          </a:graphicData>
        </a:graphic>
      </p:graphicFrame>
      <p:sp>
        <p:nvSpPr>
          <p:cNvPr id="24" name="TextBox 23"/>
          <p:cNvSpPr txBox="1"/>
          <p:nvPr/>
        </p:nvSpPr>
        <p:spPr>
          <a:xfrm>
            <a:off x="5665969" y="960120"/>
            <a:ext cx="2901674" cy="146304"/>
          </a:xfrm>
          <a:prstGeom prst="rect">
            <a:avLst/>
          </a:prstGeom>
          <a:noFill/>
        </p:spPr>
        <p:txBody>
          <a:bodyPr wrap="square" lIns="0" rIns="0" tIns="0" bIns="0">
            <a:noAutofit/>
          </a:bodyPr>
          <a:lstStyle/>
          <a:p>
            <a:r>
              <a:rPr sz="819" b="1" spc="60">
                <a:solidFill>
                  <a:srgbClr val="898781"/>
                </a:solidFill>
                <a:latin typeface="Calibri"/>
              </a:rPr>
              <a:t>CAPACITY BY LANGUAGE — BASE, PER MONTH</a:t>
            </a:r>
          </a:p>
        </p:txBody>
      </p:sp>
      <p:graphicFrame>
        <p:nvGraphicFramePr>
          <p:cNvPr id="25" name="Table 24"/>
          <p:cNvGraphicFramePr>
            <a:graphicFrameLocks noGrp="1"/>
          </p:cNvGraphicFramePr>
          <p:nvPr/>
        </p:nvGraphicFramePr>
        <p:xfrm>
          <a:off x="5665969" y="1197864"/>
          <a:ext cx="2901674" cy="1314395"/>
        </p:xfrm>
        <a:graphic>
          <a:graphicData uri="http://schemas.openxmlformats.org/drawingml/2006/table">
            <a:tbl>
              <a:tblPr firstRow="0" bandRow="0">
                <a:tableStyleId>{5C22544A-7EE6-4342-B048-85BDC9FD1C3A}</a:tableStyleId>
              </a:tblPr>
              <a:tblGrid>
                <a:gridCol w="644816"/>
                <a:gridCol w="537347"/>
                <a:gridCol w="456744"/>
                <a:gridCol w="456744"/>
                <a:gridCol w="403010"/>
                <a:gridCol w="403013"/>
              </a:tblGrid>
              <a:tr h="271373">
                <a:tc>
                  <a:txBody>
                    <a:bodyPr wrap="square"/>
                    <a:lstStyle/>
                    <a:p>
                      <a:pPr algn="l"/>
                      <a:r>
                        <a:rPr sz="680" b="1">
                          <a:solidFill>
                            <a:srgbClr val="898781"/>
                          </a:solidFill>
                          <a:latin typeface="Calibri"/>
                        </a:rPr>
                        <a:t>LANGUAGE</a:t>
                      </a:r>
                    </a:p>
                  </a:txBody>
                  <a:tcPr marL="31750" marR="31750" marT="12700" marB="12700" anchor="b">
                    <a:solidFill>
                      <a:srgbClr val="FCFCFB"/>
                    </a:solidFill>
                  </a:tcPr>
                </a:tc>
                <a:tc>
                  <a:txBody>
                    <a:bodyPr wrap="square"/>
                    <a:lstStyle/>
                    <a:p>
                      <a:pPr algn="r"/>
                      <a:r>
                        <a:rPr sz="680" b="1">
                          <a:solidFill>
                            <a:srgbClr val="898781"/>
                          </a:solidFill>
                          <a:latin typeface="Calibri"/>
                        </a:rPr>
                        <a:t>CONTACTS</a:t>
                      </a:r>
                    </a:p>
                  </a:txBody>
                  <a:tcPr marL="31750" marR="31750" marT="12700" marB="12700" anchor="b">
                    <a:solidFill>
                      <a:srgbClr val="FCFCFB"/>
                    </a:solidFill>
                  </a:tcPr>
                </a:tc>
                <a:tc>
                  <a:txBody>
                    <a:bodyPr wrap="square"/>
                    <a:lstStyle/>
                    <a:p>
                      <a:pPr algn="r"/>
                      <a:r>
                        <a:rPr sz="680" b="1">
                          <a:solidFill>
                            <a:srgbClr val="898781"/>
                          </a:solidFill>
                          <a:latin typeface="Calibri"/>
                        </a:rPr>
                        <a:t>PROD H</a:t>
                      </a:r>
                    </a:p>
                  </a:txBody>
                  <a:tcPr marL="31750" marR="31750" marT="12700" marB="12700" anchor="b">
                    <a:solidFill>
                      <a:srgbClr val="FCFCFB"/>
                    </a:solidFill>
                  </a:tcPr>
                </a:tc>
                <a:tc>
                  <a:txBody>
                    <a:bodyPr wrap="square"/>
                    <a:lstStyle/>
                    <a:p>
                      <a:pPr algn="r"/>
                      <a:r>
                        <a:rPr sz="680" b="1">
                          <a:solidFill>
                            <a:srgbClr val="898781"/>
                          </a:solidFill>
                          <a:latin typeface="Calibri"/>
                        </a:rPr>
                        <a:t>WKLD
FTE</a:t>
                      </a:r>
                    </a:p>
                  </a:txBody>
                  <a:tcPr marL="31750" marR="31750" marT="12700" marB="12700" anchor="b">
                    <a:solidFill>
                      <a:srgbClr val="FCFCFB"/>
                    </a:solidFill>
                  </a:tcPr>
                </a:tc>
                <a:tc>
                  <a:txBody>
                    <a:bodyPr wrap="square"/>
                    <a:lstStyle/>
                    <a:p>
                      <a:pPr algn="r"/>
                      <a:r>
                        <a:rPr sz="680" b="1">
                          <a:solidFill>
                            <a:srgbClr val="898781"/>
                          </a:solidFill>
                          <a:latin typeface="Calibri"/>
                        </a:rPr>
                        <a:t>SLA
FTE</a:t>
                      </a:r>
                    </a:p>
                  </a:txBody>
                  <a:tcPr marL="31750" marR="31750" marT="12700" marB="12700" anchor="b">
                    <a:solidFill>
                      <a:srgbClr val="FCFCFB"/>
                    </a:solidFill>
                  </a:tcPr>
                </a:tc>
                <a:tc>
                  <a:txBody>
                    <a:bodyPr wrap="square"/>
                    <a:lstStyle/>
                    <a:p>
                      <a:pPr algn="r"/>
                      <a:r>
                        <a:rPr sz="680" b="1">
                          <a:solidFill>
                            <a:srgbClr val="898781"/>
                          </a:solidFill>
                          <a:latin typeface="Calibri"/>
                        </a:rPr>
                        <a:t>PAID
FTE</a:t>
                      </a:r>
                    </a:p>
                  </a:txBody>
                  <a:tcPr marL="31750" marR="31750" marT="12700" marB="12700" anchor="b">
                    <a:solidFill>
                      <a:srgbClr val="FCFCFB"/>
                    </a:solidFill>
                  </a:tcPr>
                </a:tc>
              </a:tr>
              <a:tr h="173837">
                <a:tc>
                  <a:txBody>
                    <a:bodyPr wrap="square"/>
                    <a:lstStyle/>
                    <a:p>
                      <a:pPr algn="l"/>
                      <a:r>
                        <a:rPr sz="760" b="1">
                          <a:solidFill>
                            <a:srgbClr val="52514E"/>
                          </a:solidFill>
                          <a:latin typeface="Calibri"/>
                        </a:rPr>
                        <a:t>English</a:t>
                      </a:r>
                    </a:p>
                  </a:txBody>
                  <a:tcPr marL="31750" marR="31750" marT="12700" marB="12700" anchor="ctr">
                    <a:solidFill>
                      <a:srgbClr val="FCFCFB"/>
                    </a:solidFill>
                  </a:tcPr>
                </a:tc>
                <a:tc>
                  <a:txBody>
                    <a:bodyPr wrap="square"/>
                    <a:lstStyle/>
                    <a:p>
                      <a:pPr algn="r"/>
                      <a:r>
                        <a:rPr sz="760" b="0">
                          <a:solidFill>
                            <a:srgbClr val="52514E"/>
                          </a:solidFill>
                          <a:latin typeface="Calibri"/>
                        </a:rPr>
                        <a:t>174,128</a:t>
                      </a:r>
                    </a:p>
                  </a:txBody>
                  <a:tcPr marL="31750" marR="31750" marT="12700" marB="12700" anchor="ctr">
                    <a:solidFill>
                      <a:srgbClr val="FCFCFB"/>
                    </a:solidFill>
                  </a:tcPr>
                </a:tc>
                <a:tc>
                  <a:txBody>
                    <a:bodyPr wrap="square"/>
                    <a:lstStyle/>
                    <a:p>
                      <a:pPr algn="r"/>
                      <a:r>
                        <a:rPr sz="760" b="0">
                          <a:solidFill>
                            <a:srgbClr val="52514E"/>
                          </a:solidFill>
                          <a:latin typeface="Calibri"/>
                        </a:rPr>
                        <a:t>40,298</a:t>
                      </a:r>
                    </a:p>
                  </a:txBody>
                  <a:tcPr marL="31750" marR="31750" marT="12700" marB="12700" anchor="ctr">
                    <a:solidFill>
                      <a:srgbClr val="FCFCFB"/>
                    </a:solidFill>
                  </a:tcPr>
                </a:tc>
                <a:tc>
                  <a:txBody>
                    <a:bodyPr wrap="square"/>
                    <a:lstStyle/>
                    <a:p>
                      <a:pPr algn="r"/>
                      <a:r>
                        <a:rPr sz="760" b="0">
                          <a:solidFill>
                            <a:srgbClr val="52514E"/>
                          </a:solidFill>
                          <a:latin typeface="Calibri"/>
                        </a:rPr>
                        <a:t>242</a:t>
                      </a:r>
                    </a:p>
                  </a:txBody>
                  <a:tcPr marL="31750" marR="31750" marT="12700" marB="12700" anchor="ctr">
                    <a:solidFill>
                      <a:srgbClr val="FCFCFB"/>
                    </a:solidFill>
                  </a:tcPr>
                </a:tc>
                <a:tc>
                  <a:txBody>
                    <a:bodyPr wrap="square"/>
                    <a:lstStyle/>
                    <a:p>
                      <a:pPr algn="r"/>
                      <a:r>
                        <a:rPr sz="760" b="0">
                          <a:solidFill>
                            <a:srgbClr val="52514E"/>
                          </a:solidFill>
                          <a:latin typeface="Calibri"/>
                        </a:rPr>
                        <a:t>284</a:t>
                      </a:r>
                    </a:p>
                  </a:txBody>
                  <a:tcPr marL="31750" marR="31750" marT="12700" marB="12700" anchor="ctr">
                    <a:solidFill>
                      <a:srgbClr val="FCFCFB"/>
                    </a:solidFill>
                  </a:tcPr>
                </a:tc>
                <a:tc>
                  <a:txBody>
                    <a:bodyPr wrap="square"/>
                    <a:lstStyle/>
                    <a:p>
                      <a:pPr algn="r"/>
                      <a:r>
                        <a:rPr sz="760" b="1">
                          <a:solidFill>
                            <a:srgbClr val="52514E"/>
                          </a:solidFill>
                          <a:latin typeface="Calibri"/>
                        </a:rPr>
                        <a:t>297</a:t>
                      </a:r>
                    </a:p>
                  </a:txBody>
                  <a:tcPr marL="31750" marR="31750" marT="12700" marB="12700" anchor="ctr">
                    <a:solidFill>
                      <a:srgbClr val="FCFCFB"/>
                    </a:solidFill>
                  </a:tcPr>
                </a:tc>
              </a:tr>
              <a:tr h="173837">
                <a:tc>
                  <a:txBody>
                    <a:bodyPr wrap="square"/>
                    <a:lstStyle/>
                    <a:p>
                      <a:pPr algn="l"/>
                      <a:r>
                        <a:rPr sz="760" b="1">
                          <a:solidFill>
                            <a:srgbClr val="52514E"/>
                          </a:solidFill>
                          <a:latin typeface="Calibri"/>
                        </a:rPr>
                        <a:t>German</a:t>
                      </a:r>
                    </a:p>
                  </a:txBody>
                  <a:tcPr marL="31750" marR="31750" marT="12700" marB="12700" anchor="ctr">
                    <a:solidFill>
                      <a:srgbClr val="FCFCFB"/>
                    </a:solidFill>
                  </a:tcPr>
                </a:tc>
                <a:tc>
                  <a:txBody>
                    <a:bodyPr wrap="square"/>
                    <a:lstStyle/>
                    <a:p>
                      <a:pPr algn="r"/>
                      <a:r>
                        <a:rPr sz="760" b="0">
                          <a:solidFill>
                            <a:srgbClr val="52514E"/>
                          </a:solidFill>
                          <a:latin typeface="Calibri"/>
                        </a:rPr>
                        <a:t>36,135</a:t>
                      </a:r>
                    </a:p>
                  </a:txBody>
                  <a:tcPr marL="31750" marR="31750" marT="12700" marB="12700" anchor="ctr">
                    <a:solidFill>
                      <a:srgbClr val="FCFCFB"/>
                    </a:solidFill>
                  </a:tcPr>
                </a:tc>
                <a:tc>
                  <a:txBody>
                    <a:bodyPr wrap="square"/>
                    <a:lstStyle/>
                    <a:p>
                      <a:pPr algn="r"/>
                      <a:r>
                        <a:rPr sz="760" b="0">
                          <a:solidFill>
                            <a:srgbClr val="52514E"/>
                          </a:solidFill>
                          <a:latin typeface="Calibri"/>
                        </a:rPr>
                        <a:t>8,220</a:t>
                      </a:r>
                    </a:p>
                  </a:txBody>
                  <a:tcPr marL="31750" marR="31750" marT="12700" marB="12700" anchor="ctr">
                    <a:solidFill>
                      <a:srgbClr val="FCFCFB"/>
                    </a:solidFill>
                  </a:tcPr>
                </a:tc>
                <a:tc>
                  <a:txBody>
                    <a:bodyPr wrap="square"/>
                    <a:lstStyle/>
                    <a:p>
                      <a:pPr algn="r"/>
                      <a:r>
                        <a:rPr sz="760" b="0">
                          <a:solidFill>
                            <a:srgbClr val="52514E"/>
                          </a:solidFill>
                          <a:latin typeface="Calibri"/>
                        </a:rPr>
                        <a:t>36</a:t>
                      </a:r>
                    </a:p>
                  </a:txBody>
                  <a:tcPr marL="31750" marR="31750" marT="12700" marB="12700" anchor="ctr">
                    <a:solidFill>
                      <a:srgbClr val="FCFCFB"/>
                    </a:solidFill>
                  </a:tcPr>
                </a:tc>
                <a:tc>
                  <a:txBody>
                    <a:bodyPr wrap="square"/>
                    <a:lstStyle/>
                    <a:p>
                      <a:pPr algn="r"/>
                      <a:r>
                        <a:rPr sz="760" b="0">
                          <a:solidFill>
                            <a:srgbClr val="52514E"/>
                          </a:solidFill>
                          <a:latin typeface="Calibri"/>
                        </a:rPr>
                        <a:t>58</a:t>
                      </a:r>
                    </a:p>
                  </a:txBody>
                  <a:tcPr marL="31750" marR="31750" marT="12700" marB="12700" anchor="ctr">
                    <a:solidFill>
                      <a:srgbClr val="FCFCFB"/>
                    </a:solidFill>
                  </a:tcPr>
                </a:tc>
                <a:tc>
                  <a:txBody>
                    <a:bodyPr wrap="square"/>
                    <a:lstStyle/>
                    <a:p>
                      <a:pPr algn="r"/>
                      <a:r>
                        <a:rPr sz="760" b="1">
                          <a:solidFill>
                            <a:srgbClr val="52514E"/>
                          </a:solidFill>
                          <a:latin typeface="Calibri"/>
                        </a:rPr>
                        <a:t>61</a:t>
                      </a:r>
                    </a:p>
                  </a:txBody>
                  <a:tcPr marL="31750" marR="31750" marT="12700" marB="12700" anchor="ctr">
                    <a:solidFill>
                      <a:srgbClr val="FCFCFB"/>
                    </a:solidFill>
                  </a:tcPr>
                </a:tc>
              </a:tr>
              <a:tr h="173837">
                <a:tc>
                  <a:txBody>
                    <a:bodyPr wrap="square"/>
                    <a:lstStyle/>
                    <a:p>
                      <a:pPr algn="l"/>
                      <a:r>
                        <a:rPr sz="760" b="1">
                          <a:solidFill>
                            <a:srgbClr val="52514E"/>
                          </a:solidFill>
                          <a:latin typeface="Calibri"/>
                        </a:rPr>
                        <a:t>Spanish</a:t>
                      </a:r>
                    </a:p>
                  </a:txBody>
                  <a:tcPr marL="31750" marR="31750" marT="12700" marB="12700" anchor="ctr">
                    <a:solidFill>
                      <a:srgbClr val="FCFCFB"/>
                    </a:solidFill>
                  </a:tcPr>
                </a:tc>
                <a:tc>
                  <a:txBody>
                    <a:bodyPr wrap="square"/>
                    <a:lstStyle/>
                    <a:p>
                      <a:pPr algn="r"/>
                      <a:r>
                        <a:rPr sz="760" b="0">
                          <a:solidFill>
                            <a:srgbClr val="52514E"/>
                          </a:solidFill>
                          <a:latin typeface="Calibri"/>
                        </a:rPr>
                        <a:t>32,879</a:t>
                      </a:r>
                    </a:p>
                  </a:txBody>
                  <a:tcPr marL="31750" marR="31750" marT="12700" marB="12700" anchor="ctr">
                    <a:solidFill>
                      <a:srgbClr val="FCFCFB"/>
                    </a:solidFill>
                  </a:tcPr>
                </a:tc>
                <a:tc>
                  <a:txBody>
                    <a:bodyPr wrap="square"/>
                    <a:lstStyle/>
                    <a:p>
                      <a:pPr algn="r"/>
                      <a:r>
                        <a:rPr sz="760" b="0">
                          <a:solidFill>
                            <a:srgbClr val="52514E"/>
                          </a:solidFill>
                          <a:latin typeface="Calibri"/>
                        </a:rPr>
                        <a:t>7,133</a:t>
                      </a:r>
                    </a:p>
                  </a:txBody>
                  <a:tcPr marL="31750" marR="31750" marT="12700" marB="12700" anchor="ctr">
                    <a:solidFill>
                      <a:srgbClr val="FCFCFB"/>
                    </a:solidFill>
                  </a:tcPr>
                </a:tc>
                <a:tc>
                  <a:txBody>
                    <a:bodyPr wrap="square"/>
                    <a:lstStyle/>
                    <a:p>
                      <a:pPr algn="r"/>
                      <a:r>
                        <a:rPr sz="760" b="0">
                          <a:solidFill>
                            <a:srgbClr val="52514E"/>
                          </a:solidFill>
                          <a:latin typeface="Calibri"/>
                        </a:rPr>
                        <a:t>31</a:t>
                      </a:r>
                    </a:p>
                  </a:txBody>
                  <a:tcPr marL="31750" marR="31750" marT="12700" marB="12700" anchor="ctr">
                    <a:solidFill>
                      <a:srgbClr val="FCFCFB"/>
                    </a:solidFill>
                  </a:tcPr>
                </a:tc>
                <a:tc>
                  <a:txBody>
                    <a:bodyPr wrap="square"/>
                    <a:lstStyle/>
                    <a:p>
                      <a:pPr algn="r"/>
                      <a:r>
                        <a:rPr sz="760" b="0">
                          <a:solidFill>
                            <a:srgbClr val="52514E"/>
                          </a:solidFill>
                          <a:latin typeface="Calibri"/>
                        </a:rPr>
                        <a:t>50</a:t>
                      </a:r>
                    </a:p>
                  </a:txBody>
                  <a:tcPr marL="31750" marR="31750" marT="12700" marB="12700" anchor="ctr">
                    <a:solidFill>
                      <a:srgbClr val="FCFCFB"/>
                    </a:solidFill>
                  </a:tcPr>
                </a:tc>
                <a:tc>
                  <a:txBody>
                    <a:bodyPr wrap="square"/>
                    <a:lstStyle/>
                    <a:p>
                      <a:pPr algn="r"/>
                      <a:r>
                        <a:rPr sz="760" b="1">
                          <a:solidFill>
                            <a:srgbClr val="52514E"/>
                          </a:solidFill>
                          <a:latin typeface="Calibri"/>
                        </a:rPr>
                        <a:t>53</a:t>
                      </a:r>
                    </a:p>
                  </a:txBody>
                  <a:tcPr marL="31750" marR="31750" marT="12700" marB="12700" anchor="ctr">
                    <a:solidFill>
                      <a:srgbClr val="FCFCFB"/>
                    </a:solidFill>
                  </a:tcPr>
                </a:tc>
              </a:tr>
              <a:tr h="173837">
                <a:tc>
                  <a:txBody>
                    <a:bodyPr wrap="square"/>
                    <a:lstStyle/>
                    <a:p>
                      <a:pPr algn="l"/>
                      <a:r>
                        <a:rPr sz="760" b="1">
                          <a:solidFill>
                            <a:srgbClr val="52514E"/>
                          </a:solidFill>
                          <a:latin typeface="Calibri"/>
                        </a:rPr>
                        <a:t>French</a:t>
                      </a:r>
                    </a:p>
                  </a:txBody>
                  <a:tcPr marL="31750" marR="31750" marT="12700" marB="12700" anchor="ctr">
                    <a:solidFill>
                      <a:srgbClr val="FCFCFB"/>
                    </a:solidFill>
                  </a:tcPr>
                </a:tc>
                <a:tc>
                  <a:txBody>
                    <a:bodyPr wrap="square"/>
                    <a:lstStyle/>
                    <a:p>
                      <a:pPr algn="r"/>
                      <a:r>
                        <a:rPr sz="760" b="0">
                          <a:solidFill>
                            <a:srgbClr val="52514E"/>
                          </a:solidFill>
                          <a:latin typeface="Calibri"/>
                        </a:rPr>
                        <a:t>26,662</a:t>
                      </a:r>
                    </a:p>
                  </a:txBody>
                  <a:tcPr marL="31750" marR="31750" marT="12700" marB="12700" anchor="ctr">
                    <a:solidFill>
                      <a:srgbClr val="FCFCFB"/>
                    </a:solidFill>
                  </a:tcPr>
                </a:tc>
                <a:tc>
                  <a:txBody>
                    <a:bodyPr wrap="square"/>
                    <a:lstStyle/>
                    <a:p>
                      <a:pPr algn="r"/>
                      <a:r>
                        <a:rPr sz="760" b="0">
                          <a:solidFill>
                            <a:srgbClr val="52514E"/>
                          </a:solidFill>
                          <a:latin typeface="Calibri"/>
                        </a:rPr>
                        <a:t>6,773</a:t>
                      </a:r>
                    </a:p>
                  </a:txBody>
                  <a:tcPr marL="31750" marR="31750" marT="12700" marB="12700" anchor="ctr">
                    <a:solidFill>
                      <a:srgbClr val="FCFCFB"/>
                    </a:solidFill>
                  </a:tcPr>
                </a:tc>
                <a:tc>
                  <a:txBody>
                    <a:bodyPr wrap="square"/>
                    <a:lstStyle/>
                    <a:p>
                      <a:pPr algn="r"/>
                      <a:r>
                        <a:rPr sz="760" b="0">
                          <a:solidFill>
                            <a:srgbClr val="52514E"/>
                          </a:solidFill>
                          <a:latin typeface="Calibri"/>
                        </a:rPr>
                        <a:t>26</a:t>
                      </a:r>
                    </a:p>
                  </a:txBody>
                  <a:tcPr marL="31750" marR="31750" marT="12700" marB="12700" anchor="ctr">
                    <a:solidFill>
                      <a:srgbClr val="FCFCFB"/>
                    </a:solidFill>
                  </a:tcPr>
                </a:tc>
                <a:tc>
                  <a:txBody>
                    <a:bodyPr wrap="square"/>
                    <a:lstStyle/>
                    <a:p>
                      <a:pPr algn="r"/>
                      <a:r>
                        <a:rPr sz="760" b="0">
                          <a:solidFill>
                            <a:srgbClr val="52514E"/>
                          </a:solidFill>
                          <a:latin typeface="Calibri"/>
                        </a:rPr>
                        <a:t>48</a:t>
                      </a:r>
                    </a:p>
                  </a:txBody>
                  <a:tcPr marL="31750" marR="31750" marT="12700" marB="12700" anchor="ctr">
                    <a:solidFill>
                      <a:srgbClr val="FCFCFB"/>
                    </a:solidFill>
                  </a:tcPr>
                </a:tc>
                <a:tc>
                  <a:txBody>
                    <a:bodyPr wrap="square"/>
                    <a:lstStyle/>
                    <a:p>
                      <a:pPr algn="r"/>
                      <a:r>
                        <a:rPr sz="760" b="1">
                          <a:solidFill>
                            <a:srgbClr val="52514E"/>
                          </a:solidFill>
                          <a:latin typeface="Calibri"/>
                        </a:rPr>
                        <a:t>50</a:t>
                      </a:r>
                    </a:p>
                  </a:txBody>
                  <a:tcPr marL="31750" marR="31750" marT="12700" marB="12700" anchor="ctr">
                    <a:solidFill>
                      <a:srgbClr val="FCFCFB"/>
                    </a:solidFill>
                  </a:tcPr>
                </a:tc>
              </a:tr>
              <a:tr h="173837">
                <a:tc>
                  <a:txBody>
                    <a:bodyPr wrap="square"/>
                    <a:lstStyle/>
                    <a:p>
                      <a:pPr algn="l"/>
                      <a:r>
                        <a:rPr sz="760" b="1">
                          <a:solidFill>
                            <a:srgbClr val="52514E"/>
                          </a:solidFill>
                          <a:latin typeface="Calibri"/>
                        </a:rPr>
                        <a:t>Italian</a:t>
                      </a:r>
                    </a:p>
                  </a:txBody>
                  <a:tcPr marL="31750" marR="31750" marT="12700" marB="12700" anchor="ctr">
                    <a:solidFill>
                      <a:srgbClr val="FCFCFB"/>
                    </a:solidFill>
                  </a:tcPr>
                </a:tc>
                <a:tc>
                  <a:txBody>
                    <a:bodyPr wrap="square"/>
                    <a:lstStyle/>
                    <a:p>
                      <a:pPr algn="r"/>
                      <a:r>
                        <a:rPr sz="760" b="0">
                          <a:solidFill>
                            <a:srgbClr val="52514E"/>
                          </a:solidFill>
                          <a:latin typeface="Calibri"/>
                        </a:rPr>
                        <a:t>24,066</a:t>
                      </a:r>
                    </a:p>
                  </a:txBody>
                  <a:tcPr marL="31750" marR="31750" marT="12700" marB="12700" anchor="ctr">
                    <a:solidFill>
                      <a:srgbClr val="FCFCFB"/>
                    </a:solidFill>
                  </a:tcPr>
                </a:tc>
                <a:tc>
                  <a:txBody>
                    <a:bodyPr wrap="square"/>
                    <a:lstStyle/>
                    <a:p>
                      <a:pPr algn="r"/>
                      <a:r>
                        <a:rPr sz="760" b="0">
                          <a:solidFill>
                            <a:srgbClr val="52514E"/>
                          </a:solidFill>
                          <a:latin typeface="Calibri"/>
                        </a:rPr>
                        <a:t>6,402</a:t>
                      </a:r>
                    </a:p>
                  </a:txBody>
                  <a:tcPr marL="31750" marR="31750" marT="12700" marB="12700" anchor="ctr">
                    <a:solidFill>
                      <a:srgbClr val="FCFCFB"/>
                    </a:solidFill>
                  </a:tcPr>
                </a:tc>
                <a:tc>
                  <a:txBody>
                    <a:bodyPr wrap="square"/>
                    <a:lstStyle/>
                    <a:p>
                      <a:pPr algn="r"/>
                      <a:r>
                        <a:rPr sz="760" b="0">
                          <a:solidFill>
                            <a:srgbClr val="52514E"/>
                          </a:solidFill>
                          <a:latin typeface="Calibri"/>
                        </a:rPr>
                        <a:t>25</a:t>
                      </a:r>
                    </a:p>
                  </a:txBody>
                  <a:tcPr marL="31750" marR="31750" marT="12700" marB="12700" anchor="ctr">
                    <a:solidFill>
                      <a:srgbClr val="FCFCFB"/>
                    </a:solidFill>
                  </a:tcPr>
                </a:tc>
                <a:tc>
                  <a:txBody>
                    <a:bodyPr wrap="square"/>
                    <a:lstStyle/>
                    <a:p>
                      <a:pPr algn="r"/>
                      <a:r>
                        <a:rPr sz="760" b="0">
                          <a:solidFill>
                            <a:srgbClr val="52514E"/>
                          </a:solidFill>
                          <a:latin typeface="Calibri"/>
                        </a:rPr>
                        <a:t>45</a:t>
                      </a:r>
                    </a:p>
                  </a:txBody>
                  <a:tcPr marL="31750" marR="31750" marT="12700" marB="12700" anchor="ctr">
                    <a:solidFill>
                      <a:srgbClr val="FCFCFB"/>
                    </a:solidFill>
                  </a:tcPr>
                </a:tc>
                <a:tc>
                  <a:txBody>
                    <a:bodyPr wrap="square"/>
                    <a:lstStyle/>
                    <a:p>
                      <a:pPr algn="r"/>
                      <a:r>
                        <a:rPr sz="760" b="1">
                          <a:solidFill>
                            <a:srgbClr val="52514E"/>
                          </a:solidFill>
                          <a:latin typeface="Calibri"/>
                        </a:rPr>
                        <a:t>47</a:t>
                      </a:r>
                    </a:p>
                  </a:txBody>
                  <a:tcPr marL="31750" marR="31750" marT="12700" marB="12700" anchor="ctr">
                    <a:solidFill>
                      <a:srgbClr val="FCFCFB"/>
                    </a:solidFill>
                  </a:tcPr>
                </a:tc>
              </a:tr>
              <a:tr h="173837">
                <a:tc>
                  <a:txBody>
                    <a:bodyPr wrap="square"/>
                    <a:lstStyle/>
                    <a:p>
                      <a:pPr algn="l"/>
                      <a:r>
                        <a:rPr sz="760" b="1">
                          <a:solidFill>
                            <a:srgbClr val="0B0B0B"/>
                          </a:solidFill>
                          <a:latin typeface="Calibri"/>
                        </a:rPr>
                        <a:t>Total</a:t>
                      </a:r>
                    </a:p>
                  </a:txBody>
                  <a:tcPr marL="31750" marR="31750" marT="12700" marB="12700" anchor="ctr">
                    <a:solidFill>
                      <a:srgbClr val="FCFCFB"/>
                    </a:solidFill>
                  </a:tcPr>
                </a:tc>
                <a:tc>
                  <a:txBody>
                    <a:bodyPr wrap="square"/>
                    <a:lstStyle/>
                    <a:p>
                      <a:pPr algn="r"/>
                      <a:r>
                        <a:rPr sz="760" b="1">
                          <a:solidFill>
                            <a:srgbClr val="0B0B0B"/>
                          </a:solidFill>
                          <a:latin typeface="Calibri"/>
                        </a:rPr>
                        <a:t>293,869</a:t>
                      </a:r>
                    </a:p>
                  </a:txBody>
                  <a:tcPr marL="31750" marR="31750" marT="12700" marB="12700" anchor="ctr">
                    <a:solidFill>
                      <a:srgbClr val="FCFCFB"/>
                    </a:solidFill>
                  </a:tcPr>
                </a:tc>
                <a:tc>
                  <a:txBody>
                    <a:bodyPr wrap="square"/>
                    <a:lstStyle/>
                    <a:p>
                      <a:pPr algn="r"/>
                      <a:r>
                        <a:rPr sz="760" b="1">
                          <a:solidFill>
                            <a:srgbClr val="0B0B0B"/>
                          </a:solidFill>
                          <a:latin typeface="Calibri"/>
                        </a:rPr>
                        <a:t>68,827</a:t>
                      </a:r>
                    </a:p>
                  </a:txBody>
                  <a:tcPr marL="31750" marR="31750" marT="12700" marB="12700" anchor="ctr">
                    <a:solidFill>
                      <a:srgbClr val="FCFCFB"/>
                    </a:solidFill>
                  </a:tcPr>
                </a:tc>
                <a:tc>
                  <a:txBody>
                    <a:bodyPr wrap="square"/>
                    <a:lstStyle/>
                    <a:p>
                      <a:pPr algn="r"/>
                      <a:r>
                        <a:rPr sz="760" b="1">
                          <a:solidFill>
                            <a:srgbClr val="0B0B0B"/>
                          </a:solidFill>
                          <a:latin typeface="Calibri"/>
                        </a:rPr>
                        <a:t>360</a:t>
                      </a:r>
                    </a:p>
                  </a:txBody>
                  <a:tcPr marL="31750" marR="31750" marT="12700" marB="12700" anchor="ctr">
                    <a:solidFill>
                      <a:srgbClr val="FCFCFB"/>
                    </a:solidFill>
                  </a:tcPr>
                </a:tc>
                <a:tc>
                  <a:txBody>
                    <a:bodyPr wrap="square"/>
                    <a:lstStyle/>
                    <a:p>
                      <a:pPr algn="r"/>
                      <a:r>
                        <a:rPr sz="760" b="1">
                          <a:solidFill>
                            <a:srgbClr val="0B0B0B"/>
                          </a:solidFill>
                          <a:latin typeface="Calibri"/>
                        </a:rPr>
                        <a:t>484</a:t>
                      </a:r>
                    </a:p>
                  </a:txBody>
                  <a:tcPr marL="31750" marR="31750" marT="12700" marB="12700" anchor="ctr">
                    <a:solidFill>
                      <a:srgbClr val="FCFCFB"/>
                    </a:solidFill>
                  </a:tcPr>
                </a:tc>
                <a:tc>
                  <a:txBody>
                    <a:bodyPr wrap="square"/>
                    <a:lstStyle/>
                    <a:p>
                      <a:pPr algn="r"/>
                      <a:r>
                        <a:rPr sz="760" b="1">
                          <a:solidFill>
                            <a:srgbClr val="0B0B0B"/>
                          </a:solidFill>
                          <a:latin typeface="Calibri"/>
                        </a:rPr>
                        <a:t>508</a:t>
                      </a:r>
                    </a:p>
                  </a:txBody>
                  <a:tcPr marL="31750" marR="31750" marT="12700" marB="12700" anchor="ctr">
                    <a:solidFill>
                      <a:srgbClr val="FCFCFB"/>
                    </a:solidFill>
                  </a:tcPr>
                </a:tc>
              </a:tr>
            </a:tbl>
          </a:graphicData>
        </a:graphic>
      </p:graphicFrame>
      <p:sp>
        <p:nvSpPr>
          <p:cNvPr id="26" name="TextBox 25"/>
          <p:cNvSpPr txBox="1"/>
          <p:nvPr/>
        </p:nvSpPr>
        <p:spPr>
          <a:xfrm>
            <a:off x="5665969" y="2576271"/>
            <a:ext cx="2901674" cy="224536"/>
          </a:xfrm>
          <a:prstGeom prst="rect">
            <a:avLst/>
          </a:prstGeom>
          <a:noFill/>
        </p:spPr>
        <p:txBody>
          <a:bodyPr wrap="square" lIns="0" rIns="0" tIns="0" bIns="0">
            <a:noAutofit/>
          </a:bodyPr>
          <a:lstStyle/>
          <a:p>
            <a:r>
              <a:rPr sz="680" b="0" i="0">
                <a:solidFill>
                  <a:srgbClr val="898781"/>
                </a:solidFill>
                <a:latin typeface="Calibri"/>
              </a:rPr>
              <a:t>SLA → Paid adds the same learning-curve and attrition-backfill steps as the slide 1 waterfall, applied per language.</a:t>
            </a:r>
          </a:p>
        </p:txBody>
      </p:sp>
      <p:sp>
        <p:nvSpPr>
          <p:cNvPr id="27" name="TextBox 26"/>
          <p:cNvSpPr txBox="1"/>
          <p:nvPr/>
        </p:nvSpPr>
        <p:spPr>
          <a:xfrm>
            <a:off x="5665969" y="2892247"/>
            <a:ext cx="2901674" cy="146304"/>
          </a:xfrm>
          <a:prstGeom prst="rect">
            <a:avLst/>
          </a:prstGeom>
          <a:noFill/>
        </p:spPr>
        <p:txBody>
          <a:bodyPr wrap="square" lIns="0" rIns="0" tIns="0" bIns="0">
            <a:noAutofit/>
          </a:bodyPr>
          <a:lstStyle/>
          <a:p>
            <a:r>
              <a:rPr sz="819" b="1" spc="60">
                <a:solidFill>
                  <a:srgbClr val="898781"/>
                </a:solidFill>
                <a:latin typeface="Calibri"/>
              </a:rPr>
              <a:t>BY BPO — VENDOR SPLIT</a:t>
            </a:r>
          </a:p>
        </p:txBody>
      </p:sp>
      <p:graphicFrame>
        <p:nvGraphicFramePr>
          <p:cNvPr id="28" name="Table 27"/>
          <p:cNvGraphicFramePr>
            <a:graphicFrameLocks noGrp="1"/>
          </p:cNvGraphicFramePr>
          <p:nvPr/>
        </p:nvGraphicFramePr>
        <p:xfrm>
          <a:off x="5665969" y="3129991"/>
          <a:ext cx="2901674" cy="714756"/>
        </p:xfrm>
        <a:graphic>
          <a:graphicData uri="http://schemas.openxmlformats.org/drawingml/2006/table">
            <a:tbl>
              <a:tblPr firstRow="0" bandRow="0">
                <a:tableStyleId>{5C22544A-7EE6-4342-B048-85BDC9FD1C3A}</a:tableStyleId>
              </a:tblPr>
              <a:tblGrid>
                <a:gridCol w="687238"/>
                <a:gridCol w="992677"/>
                <a:gridCol w="534518"/>
                <a:gridCol w="687241"/>
              </a:tblGrid>
              <a:tr h="173736">
                <a:tc>
                  <a:txBody>
                    <a:bodyPr wrap="square"/>
                    <a:lstStyle/>
                    <a:p>
                      <a:pPr algn="l"/>
                      <a:r>
                        <a:rPr sz="680" b="1">
                          <a:solidFill>
                            <a:srgbClr val="898781"/>
                          </a:solidFill>
                          <a:latin typeface="Calibri"/>
                        </a:rPr>
                        <a:t>BPO</a:t>
                      </a:r>
                    </a:p>
                  </a:txBody>
                  <a:tcPr marL="31750" marR="31750" marT="12700" marB="12700" anchor="b">
                    <a:solidFill>
                      <a:srgbClr val="FCFCFB"/>
                    </a:solidFill>
                  </a:tcPr>
                </a:tc>
                <a:tc>
                  <a:txBody>
                    <a:bodyPr wrap="square"/>
                    <a:lstStyle/>
                    <a:p>
                      <a:pPr algn="l"/>
                      <a:r>
                        <a:rPr sz="680" b="1">
                          <a:solidFill>
                            <a:srgbClr val="898781"/>
                          </a:solidFill>
                          <a:latin typeface="Calibri"/>
                        </a:rPr>
                        <a:t>LANGUAGES</a:t>
                      </a:r>
                    </a:p>
                  </a:txBody>
                  <a:tcPr marL="31750" marR="31750" marT="12700" marB="12700" anchor="b">
                    <a:solidFill>
                      <a:srgbClr val="FCFCFB"/>
                    </a:solidFill>
                  </a:tcPr>
                </a:tc>
                <a:tc>
                  <a:txBody>
                    <a:bodyPr wrap="square"/>
                    <a:lstStyle/>
                    <a:p>
                      <a:pPr algn="r"/>
                      <a:r>
                        <a:rPr sz="680" b="1">
                          <a:solidFill>
                            <a:srgbClr val="898781"/>
                          </a:solidFill>
                          <a:latin typeface="Calibri"/>
                        </a:rPr>
                        <a:t>FTE</a:t>
                      </a:r>
                    </a:p>
                  </a:txBody>
                  <a:tcPr marL="31750" marR="31750" marT="12700" marB="12700" anchor="b">
                    <a:solidFill>
                      <a:srgbClr val="FCFCFB"/>
                    </a:solidFill>
                  </a:tcPr>
                </a:tc>
                <a:tc>
                  <a:txBody>
                    <a:bodyPr wrap="square"/>
                    <a:lstStyle/>
                    <a:p>
                      <a:pPr algn="r"/>
                      <a:r>
                        <a:rPr sz="680" b="1">
                          <a:solidFill>
                            <a:srgbClr val="898781"/>
                          </a:solidFill>
                          <a:latin typeface="Calibri"/>
                        </a:rPr>
                        <a:t>PROD H</a:t>
                      </a:r>
                    </a:p>
                  </a:txBody>
                  <a:tcPr marL="31750" marR="31750" marT="12700" marB="12700" anchor="b">
                    <a:solidFill>
                      <a:srgbClr val="FCFCFB"/>
                    </a:solidFill>
                  </a:tcPr>
                </a:tc>
              </a:tr>
              <a:tr h="180340">
                <a:tc>
                  <a:txBody>
                    <a:bodyPr wrap="square"/>
                    <a:lstStyle/>
                    <a:p>
                      <a:pPr algn="l"/>
                      <a:r>
                        <a:rPr sz="800" b="1">
                          <a:solidFill>
                            <a:srgbClr val="52514E"/>
                          </a:solidFill>
                          <a:latin typeface="Calibri"/>
                        </a:rPr>
                        <a:t>BPO 3</a:t>
                      </a:r>
                    </a:p>
                  </a:txBody>
                  <a:tcPr marL="31750" marR="31750" marT="12700" marB="12700" anchor="ctr">
                    <a:solidFill>
                      <a:srgbClr val="FCFCFB"/>
                    </a:solidFill>
                  </a:tcPr>
                </a:tc>
                <a:tc>
                  <a:txBody>
                    <a:bodyPr wrap="square"/>
                    <a:lstStyle/>
                    <a:p>
                      <a:pPr algn="l"/>
                      <a:r>
                        <a:rPr sz="800" b="0">
                          <a:solidFill>
                            <a:srgbClr val="898781"/>
                          </a:solidFill>
                          <a:latin typeface="Calibri"/>
                        </a:rPr>
                        <a:t>DE IT ES FR</a:t>
                      </a:r>
                    </a:p>
                  </a:txBody>
                  <a:tcPr marL="31750" marR="31750" marT="12700" marB="12700" anchor="ctr">
                    <a:solidFill>
                      <a:srgbClr val="FCFCFB"/>
                    </a:solidFill>
                  </a:tcPr>
                </a:tc>
                <a:tc>
                  <a:txBody>
                    <a:bodyPr wrap="square"/>
                    <a:lstStyle/>
                    <a:p>
                      <a:pPr algn="r"/>
                      <a:r>
                        <a:rPr sz="800" b="1">
                          <a:solidFill>
                            <a:srgbClr val="52514E"/>
                          </a:solidFill>
                          <a:latin typeface="Calibri"/>
                        </a:rPr>
                        <a:t>201</a:t>
                      </a:r>
                    </a:p>
                  </a:txBody>
                  <a:tcPr marL="31750" marR="31750" marT="12700" marB="12700" anchor="ctr">
                    <a:solidFill>
                      <a:srgbClr val="FCFCFB"/>
                    </a:solidFill>
                  </a:tcPr>
                </a:tc>
                <a:tc>
                  <a:txBody>
                    <a:bodyPr wrap="square"/>
                    <a:lstStyle/>
                    <a:p>
                      <a:pPr algn="r"/>
                      <a:r>
                        <a:rPr sz="800" b="0">
                          <a:solidFill>
                            <a:srgbClr val="52514E"/>
                          </a:solidFill>
                          <a:latin typeface="Calibri"/>
                        </a:rPr>
                        <a:t>28,529</a:t>
                      </a:r>
                    </a:p>
                  </a:txBody>
                  <a:tcPr marL="31750" marR="31750" marT="12700" marB="12700" anchor="ctr">
                    <a:solidFill>
                      <a:srgbClr val="FCFCFB"/>
                    </a:solidFill>
                  </a:tcPr>
                </a:tc>
              </a:tr>
              <a:tr h="180340">
                <a:tc>
                  <a:txBody>
                    <a:bodyPr wrap="square"/>
                    <a:lstStyle/>
                    <a:p>
                      <a:pPr algn="l"/>
                      <a:r>
                        <a:rPr sz="800" b="1">
                          <a:solidFill>
                            <a:srgbClr val="52514E"/>
                          </a:solidFill>
                          <a:latin typeface="Calibri"/>
                        </a:rPr>
                        <a:t>BPO 1</a:t>
                      </a:r>
                    </a:p>
                  </a:txBody>
                  <a:tcPr marL="31750" marR="31750" marT="12700" marB="12700" anchor="ctr">
                    <a:solidFill>
                      <a:srgbClr val="FCFCFB"/>
                    </a:solidFill>
                  </a:tcPr>
                </a:tc>
                <a:tc>
                  <a:txBody>
                    <a:bodyPr wrap="square"/>
                    <a:lstStyle/>
                    <a:p>
                      <a:pPr algn="l"/>
                      <a:r>
                        <a:rPr sz="800" b="0">
                          <a:solidFill>
                            <a:srgbClr val="898781"/>
                          </a:solidFill>
                          <a:latin typeface="Calibri"/>
                        </a:rPr>
                        <a:t>English 50%</a:t>
                      </a:r>
                    </a:p>
                  </a:txBody>
                  <a:tcPr marL="31750" marR="31750" marT="12700" marB="12700" anchor="ctr">
                    <a:solidFill>
                      <a:srgbClr val="FCFCFB"/>
                    </a:solidFill>
                  </a:tcPr>
                </a:tc>
                <a:tc>
                  <a:txBody>
                    <a:bodyPr wrap="square"/>
                    <a:lstStyle/>
                    <a:p>
                      <a:pPr algn="r"/>
                      <a:r>
                        <a:rPr sz="800" b="1">
                          <a:solidFill>
                            <a:srgbClr val="52514E"/>
                          </a:solidFill>
                          <a:latin typeface="Calibri"/>
                        </a:rPr>
                        <a:t>142</a:t>
                      </a:r>
                    </a:p>
                  </a:txBody>
                  <a:tcPr marL="31750" marR="31750" marT="12700" marB="12700" anchor="ctr">
                    <a:solidFill>
                      <a:srgbClr val="FCFCFB"/>
                    </a:solidFill>
                  </a:tcPr>
                </a:tc>
                <a:tc>
                  <a:txBody>
                    <a:bodyPr wrap="square"/>
                    <a:lstStyle/>
                    <a:p>
                      <a:pPr algn="r"/>
                      <a:r>
                        <a:rPr sz="800" b="0">
                          <a:solidFill>
                            <a:srgbClr val="52514E"/>
                          </a:solidFill>
                          <a:latin typeface="Calibri"/>
                        </a:rPr>
                        <a:t>20,149</a:t>
                      </a:r>
                    </a:p>
                  </a:txBody>
                  <a:tcPr marL="31750" marR="31750" marT="12700" marB="12700" anchor="ctr">
                    <a:solidFill>
                      <a:srgbClr val="FCFCFB"/>
                    </a:solidFill>
                  </a:tcPr>
                </a:tc>
              </a:tr>
              <a:tr h="180340">
                <a:tc>
                  <a:txBody>
                    <a:bodyPr wrap="square"/>
                    <a:lstStyle/>
                    <a:p>
                      <a:pPr algn="l"/>
                      <a:r>
                        <a:rPr sz="800" b="1">
                          <a:solidFill>
                            <a:srgbClr val="52514E"/>
                          </a:solidFill>
                          <a:latin typeface="Calibri"/>
                        </a:rPr>
                        <a:t>BPO 2</a:t>
                      </a:r>
                    </a:p>
                  </a:txBody>
                  <a:tcPr marL="31750" marR="31750" marT="12700" marB="12700" anchor="ctr">
                    <a:solidFill>
                      <a:srgbClr val="FCFCFB"/>
                    </a:solidFill>
                  </a:tcPr>
                </a:tc>
                <a:tc>
                  <a:txBody>
                    <a:bodyPr wrap="square"/>
                    <a:lstStyle/>
                    <a:p>
                      <a:pPr algn="l"/>
                      <a:r>
                        <a:rPr sz="800" b="0">
                          <a:solidFill>
                            <a:srgbClr val="898781"/>
                          </a:solidFill>
                          <a:latin typeface="Calibri"/>
                        </a:rPr>
                        <a:t>English 50%</a:t>
                      </a:r>
                    </a:p>
                  </a:txBody>
                  <a:tcPr marL="31750" marR="31750" marT="12700" marB="12700" anchor="ctr">
                    <a:solidFill>
                      <a:srgbClr val="FCFCFB"/>
                    </a:solidFill>
                  </a:tcPr>
                </a:tc>
                <a:tc>
                  <a:txBody>
                    <a:bodyPr wrap="square"/>
                    <a:lstStyle/>
                    <a:p>
                      <a:pPr algn="r"/>
                      <a:r>
                        <a:rPr sz="800" b="1">
                          <a:solidFill>
                            <a:srgbClr val="52514E"/>
                          </a:solidFill>
                          <a:latin typeface="Calibri"/>
                        </a:rPr>
                        <a:t>142</a:t>
                      </a:r>
                    </a:p>
                  </a:txBody>
                  <a:tcPr marL="31750" marR="31750" marT="12700" marB="12700" anchor="ctr">
                    <a:solidFill>
                      <a:srgbClr val="FCFCFB"/>
                    </a:solidFill>
                  </a:tcPr>
                </a:tc>
                <a:tc>
                  <a:txBody>
                    <a:bodyPr wrap="square"/>
                    <a:lstStyle/>
                    <a:p>
                      <a:pPr algn="r"/>
                      <a:r>
                        <a:rPr sz="800" b="0">
                          <a:solidFill>
                            <a:srgbClr val="52514E"/>
                          </a:solidFill>
                          <a:latin typeface="Calibri"/>
                        </a:rPr>
                        <a:t>20,149</a:t>
                      </a:r>
                    </a:p>
                  </a:txBody>
                  <a:tcPr marL="31750" marR="31750" marT="12700" marB="12700" anchor="ctr">
                    <a:solidFill>
                      <a:srgbClr val="FCFCFB"/>
                    </a:solidFill>
                  </a:tcPr>
                </a:tc>
              </a:tr>
            </a:tbl>
          </a:graphicData>
        </a:graphic>
      </p:graphicFrame>
      <p:sp>
        <p:nvSpPr>
          <p:cNvPr id="29" name="TextBox 28"/>
          <p:cNvSpPr txBox="1"/>
          <p:nvPr/>
        </p:nvSpPr>
        <p:spPr>
          <a:xfrm>
            <a:off x="5665969" y="3927043"/>
            <a:ext cx="2901674" cy="336804"/>
          </a:xfrm>
          <a:prstGeom prst="rect">
            <a:avLst/>
          </a:prstGeom>
          <a:noFill/>
        </p:spPr>
        <p:txBody>
          <a:bodyPr wrap="square" lIns="0" rIns="0" tIns="0" bIns="0">
            <a:noAutofit/>
          </a:bodyPr>
          <a:lstStyle/>
          <a:p>
            <a:r>
              <a:rPr sz="680" b="0" i="0">
                <a:solidFill>
                  <a:srgbClr val="52514E"/>
                </a:solidFill>
                <a:latin typeface="Calibri"/>
              </a:rPr>
              <a:t>The 50/50 English split is </a:t>
            </a:r>
            <a:r>
              <a:rPr sz="680" b="0" i="0">
                <a:solidFill>
                  <a:srgbClr val="D03B3B"/>
                </a:solidFill>
                <a:latin typeface="Calibri"/>
              </a:rPr>
              <a:t>assumed, not in the brief</a:t>
            </a:r>
            <a:r>
              <a:rPr sz="680" b="0" i="0">
                <a:solidFill>
                  <a:srgbClr val="52514E"/>
                </a:solidFill>
                <a:latin typeface="Calibri"/>
              </a:rPr>
              <a:t> — English AHT is the BPO1/BPO2 blend either way, so total capacity is split-agnostic, but the per-vendor bill above isn’t.</a:t>
            </a:r>
          </a:p>
        </p:txBody>
      </p:sp>
      <p:sp>
        <p:nvSpPr>
          <p:cNvPr id="30" name="TextBox 29"/>
          <p:cNvSpPr txBox="1"/>
          <p:nvPr/>
        </p:nvSpPr>
        <p:spPr>
          <a:xfrm>
            <a:off x="8787100" y="960120"/>
            <a:ext cx="2901674" cy="146304"/>
          </a:xfrm>
          <a:prstGeom prst="rect">
            <a:avLst/>
          </a:prstGeom>
          <a:noFill/>
        </p:spPr>
        <p:txBody>
          <a:bodyPr wrap="square" lIns="0" rIns="0" tIns="0" bIns="0">
            <a:noAutofit/>
          </a:bodyPr>
          <a:lstStyle/>
          <a:p>
            <a:r>
              <a:rPr sz="819" b="1" spc="60">
                <a:solidFill>
                  <a:srgbClr val="898781"/>
                </a:solidFill>
                <a:latin typeface="Calibri"/>
              </a:rPr>
              <a:t>SCENARIOS — PAID FTE</a:t>
            </a:r>
          </a:p>
        </p:txBody>
      </p:sp>
      <p:graphicFrame>
        <p:nvGraphicFramePr>
          <p:cNvPr id="31" name="Table 30"/>
          <p:cNvGraphicFramePr>
            <a:graphicFrameLocks noGrp="1"/>
          </p:cNvGraphicFramePr>
          <p:nvPr/>
        </p:nvGraphicFramePr>
        <p:xfrm>
          <a:off x="8787100" y="1197864"/>
          <a:ext cx="2901674" cy="882090"/>
        </p:xfrm>
        <a:graphic>
          <a:graphicData uri="http://schemas.openxmlformats.org/drawingml/2006/table">
            <a:tbl>
              <a:tblPr firstRow="0" bandRow="0">
                <a:tableStyleId>{5C22544A-7EE6-4342-B048-85BDC9FD1C3A}</a:tableStyleId>
              </a:tblPr>
              <a:tblGrid>
                <a:gridCol w="507792"/>
                <a:gridCol w="398980"/>
                <a:gridCol w="398980"/>
                <a:gridCol w="398980"/>
                <a:gridCol w="1196942"/>
              </a:tblGrid>
              <a:tr h="274320">
                <a:tc>
                  <a:txBody>
                    <a:bodyPr wrap="square"/>
                    <a:lstStyle/>
                    <a:p>
                      <a:pPr algn="l"/>
                      <a:r>
                        <a:rPr sz="680" b="1">
                          <a:solidFill>
                            <a:srgbClr val="898781"/>
                          </a:solidFill>
                          <a:latin typeface="Calibri"/>
                        </a:rPr>
                        <a:t>CASE</a:t>
                      </a:r>
                    </a:p>
                  </a:txBody>
                  <a:tcPr marL="31750" marR="31750" marT="12700" marB="12700" anchor="b">
                    <a:solidFill>
                      <a:srgbClr val="FCFCFB"/>
                    </a:solidFill>
                  </a:tcPr>
                </a:tc>
                <a:tc>
                  <a:txBody>
                    <a:bodyPr wrap="square"/>
                    <a:lstStyle/>
                    <a:p>
                      <a:pPr algn="r"/>
                      <a:r>
                        <a:rPr sz="680" b="1">
                          <a:solidFill>
                            <a:srgbClr val="898781"/>
                          </a:solidFill>
                          <a:latin typeface="Calibri"/>
                        </a:rPr>
                        <a:t>JUL</a:t>
                      </a:r>
                    </a:p>
                  </a:txBody>
                  <a:tcPr marL="31750" marR="31750" marT="12700" marB="12700" anchor="b">
                    <a:solidFill>
                      <a:srgbClr val="FCFCFB"/>
                    </a:solidFill>
                  </a:tcPr>
                </a:tc>
                <a:tc>
                  <a:txBody>
                    <a:bodyPr wrap="square"/>
                    <a:lstStyle/>
                    <a:p>
                      <a:pPr algn="r"/>
                      <a:r>
                        <a:rPr sz="680" b="1">
                          <a:solidFill>
                            <a:srgbClr val="898781"/>
                          </a:solidFill>
                          <a:latin typeface="Calibri"/>
                        </a:rPr>
                        <a:t>AUG</a:t>
                      </a:r>
                    </a:p>
                  </a:txBody>
                  <a:tcPr marL="31750" marR="31750" marT="12700" marB="12700" anchor="b">
                    <a:solidFill>
                      <a:srgbClr val="FCFCFB"/>
                    </a:solidFill>
                  </a:tcPr>
                </a:tc>
                <a:tc>
                  <a:txBody>
                    <a:bodyPr wrap="square"/>
                    <a:lstStyle/>
                    <a:p>
                      <a:pPr algn="r"/>
                      <a:r>
                        <a:rPr sz="680" b="1">
                          <a:solidFill>
                            <a:srgbClr val="898781"/>
                          </a:solidFill>
                          <a:latin typeface="Calibri"/>
                        </a:rPr>
                        <a:t>SEP</a:t>
                      </a:r>
                    </a:p>
                  </a:txBody>
                  <a:tcPr marL="31750" marR="31750" marT="12700" marB="12700" anchor="b">
                    <a:solidFill>
                      <a:srgbClr val="FCFCFB"/>
                    </a:solidFill>
                  </a:tcPr>
                </a:tc>
                <a:tc>
                  <a:txBody>
                    <a:bodyPr wrap="square"/>
                    <a:lstStyle/>
                    <a:p>
                      <a:pPr algn="l"/>
                      <a:r>
                        <a:rPr sz="680" b="1">
                          <a:solidFill>
                            <a:srgbClr val="898781"/>
                          </a:solidFill>
                          <a:latin typeface="Calibri"/>
                        </a:rPr>
                        <a:t>BASIS</a:t>
                      </a:r>
                    </a:p>
                  </a:txBody>
                  <a:tcPr marL="31750" marR="31750" marT="12700" marB="12700" anchor="b">
                    <a:solidFill>
                      <a:srgbClr val="FCFCFB"/>
                    </a:solidFill>
                  </a:tcPr>
                </a:tc>
              </a:tr>
              <a:tr h="303885">
                <a:tc>
                  <a:txBody>
                    <a:bodyPr wrap="square"/>
                    <a:lstStyle/>
                    <a:p>
                      <a:pPr algn="l"/>
                      <a:r>
                        <a:rPr sz="780" b="1">
                          <a:solidFill>
                            <a:srgbClr val="52514E"/>
                          </a:solidFill>
                          <a:latin typeface="Calibri"/>
                        </a:rPr>
                        <a:t>BASE</a:t>
                      </a:r>
                    </a:p>
                  </a:txBody>
                  <a:tcPr marL="31750" marR="31750" marT="12700" marB="12700" anchor="ctr">
                    <a:solidFill>
                      <a:srgbClr val="FCFCFB"/>
                    </a:solidFill>
                  </a:tcPr>
                </a:tc>
                <a:tc>
                  <a:txBody>
                    <a:bodyPr wrap="square"/>
                    <a:lstStyle/>
                    <a:p>
                      <a:pPr algn="r"/>
                      <a:r>
                        <a:rPr sz="780" b="0">
                          <a:solidFill>
                            <a:srgbClr val="52514E"/>
                          </a:solidFill>
                          <a:latin typeface="Calibri"/>
                        </a:rPr>
                        <a:t>508</a:t>
                      </a:r>
                    </a:p>
                  </a:txBody>
                  <a:tcPr marL="31750" marR="31750" marT="12700" marB="12700" anchor="ctr">
                    <a:solidFill>
                      <a:srgbClr val="FCFCFB"/>
                    </a:solidFill>
                  </a:tcPr>
                </a:tc>
                <a:tc>
                  <a:txBody>
                    <a:bodyPr wrap="square"/>
                    <a:lstStyle/>
                    <a:p>
                      <a:pPr algn="r"/>
                      <a:r>
                        <a:rPr sz="780" b="0">
                          <a:solidFill>
                            <a:srgbClr val="52514E"/>
                          </a:solidFill>
                          <a:latin typeface="Calibri"/>
                        </a:rPr>
                        <a:t>508</a:t>
                      </a:r>
                    </a:p>
                  </a:txBody>
                  <a:tcPr marL="31750" marR="31750" marT="12700" marB="12700" anchor="ctr">
                    <a:solidFill>
                      <a:srgbClr val="FCFCFB"/>
                    </a:solidFill>
                  </a:tcPr>
                </a:tc>
                <a:tc>
                  <a:txBody>
                    <a:bodyPr wrap="square"/>
                    <a:lstStyle/>
                    <a:p>
                      <a:pPr algn="r"/>
                      <a:r>
                        <a:rPr sz="780" b="0">
                          <a:solidFill>
                            <a:srgbClr val="52514E"/>
                          </a:solidFill>
                          <a:latin typeface="Calibri"/>
                        </a:rPr>
                        <a:t>508</a:t>
                      </a:r>
                    </a:p>
                  </a:txBody>
                  <a:tcPr marL="31750" marR="31750" marT="12700" marB="12700" anchor="ctr">
                    <a:solidFill>
                      <a:srgbClr val="FCFCFB"/>
                    </a:solidFill>
                  </a:tcPr>
                </a:tc>
                <a:tc>
                  <a:txBody>
                    <a:bodyPr wrap="square"/>
                    <a:lstStyle/>
                    <a:p>
                      <a:pPr algn="l"/>
                      <a:r>
                        <a:rPr sz="780" b="0">
                          <a:solidFill>
                            <a:srgbClr val="898781"/>
                          </a:solidFill>
                          <a:latin typeface="Calibri"/>
                        </a:rPr>
                        <a:t>June × 1.10, held flat</a:t>
                      </a:r>
                    </a:p>
                  </a:txBody>
                  <a:tcPr marL="31750" marR="31750" marT="12700" marB="12700" anchor="ctr">
                    <a:solidFill>
                      <a:srgbClr val="FCFCFB"/>
                    </a:solidFill>
                  </a:tcPr>
                </a:tc>
              </a:tr>
              <a:tr h="303885">
                <a:tc>
                  <a:txBody>
                    <a:bodyPr wrap="square"/>
                    <a:lstStyle/>
                    <a:p>
                      <a:pPr algn="l"/>
                      <a:r>
                        <a:rPr sz="780" b="1">
                          <a:solidFill>
                            <a:srgbClr val="52514E"/>
                          </a:solidFill>
                          <a:latin typeface="Calibri"/>
                        </a:rPr>
                        <a:t>HIGH</a:t>
                      </a:r>
                    </a:p>
                  </a:txBody>
                  <a:tcPr marL="31750" marR="31750" marT="12700" marB="12700" anchor="ctr">
                    <a:solidFill>
                      <a:srgbClr val="FCFCFB"/>
                    </a:solidFill>
                  </a:tcPr>
                </a:tc>
                <a:tc>
                  <a:txBody>
                    <a:bodyPr wrap="square"/>
                    <a:lstStyle/>
                    <a:p>
                      <a:pPr algn="r"/>
                      <a:r>
                        <a:rPr sz="780" b="0">
                          <a:solidFill>
                            <a:srgbClr val="52514E"/>
                          </a:solidFill>
                          <a:latin typeface="Calibri"/>
                        </a:rPr>
                        <a:t>518</a:t>
                      </a:r>
                    </a:p>
                  </a:txBody>
                  <a:tcPr marL="31750" marR="31750" marT="12700" marB="12700" anchor="ctr">
                    <a:solidFill>
                      <a:srgbClr val="FCFCFB"/>
                    </a:solidFill>
                  </a:tcPr>
                </a:tc>
                <a:tc>
                  <a:txBody>
                    <a:bodyPr wrap="square"/>
                    <a:lstStyle/>
                    <a:p>
                      <a:pPr algn="r"/>
                      <a:r>
                        <a:rPr sz="780" b="0">
                          <a:solidFill>
                            <a:srgbClr val="52514E"/>
                          </a:solidFill>
                          <a:latin typeface="Calibri"/>
                        </a:rPr>
                        <a:t>551</a:t>
                      </a:r>
                    </a:p>
                  </a:txBody>
                  <a:tcPr marL="31750" marR="31750" marT="12700" marB="12700" anchor="ctr">
                    <a:solidFill>
                      <a:srgbClr val="FCFCFB"/>
                    </a:solidFill>
                  </a:tcPr>
                </a:tc>
                <a:tc>
                  <a:txBody>
                    <a:bodyPr wrap="square"/>
                    <a:lstStyle/>
                    <a:p>
                      <a:pPr algn="r"/>
                      <a:r>
                        <a:rPr sz="780" b="0">
                          <a:solidFill>
                            <a:srgbClr val="52514E"/>
                          </a:solidFill>
                          <a:latin typeface="Calibri"/>
                        </a:rPr>
                        <a:t>579</a:t>
                      </a:r>
                    </a:p>
                  </a:txBody>
                  <a:tcPr marL="31750" marR="31750" marT="12700" marB="12700" anchor="ctr">
                    <a:solidFill>
                      <a:srgbClr val="FCFCFB"/>
                    </a:solidFill>
                  </a:tcPr>
                </a:tc>
                <a:tc>
                  <a:txBody>
                    <a:bodyPr wrap="square"/>
                    <a:lstStyle/>
                    <a:p>
                      <a:pPr algn="l"/>
                      <a:r>
                        <a:rPr sz="780" b="0">
                          <a:solidFill>
                            <a:srgbClr val="898781"/>
                          </a:solidFill>
                          <a:latin typeface="Calibri"/>
                        </a:rPr>
                        <a:t>English 3-mo trend ×1.10; rest ×1.10</a:t>
                      </a:r>
                    </a:p>
                  </a:txBody>
                  <a:tcPr marL="31750" marR="31750" marT="12700" marB="12700" anchor="ctr">
                    <a:solidFill>
                      <a:srgbClr val="FCFCFB"/>
                    </a:solidFill>
                  </a:tcPr>
                </a:tc>
              </a:tr>
            </a:tbl>
          </a:graphicData>
        </a:graphic>
      </p:graphicFrame>
      <p:sp>
        <p:nvSpPr>
          <p:cNvPr id="32" name="TextBox 31"/>
          <p:cNvSpPr txBox="1"/>
          <p:nvPr/>
        </p:nvSpPr>
        <p:spPr>
          <a:xfrm>
            <a:off x="8787100" y="2217115"/>
            <a:ext cx="2901674" cy="146304"/>
          </a:xfrm>
          <a:prstGeom prst="rect">
            <a:avLst/>
          </a:prstGeom>
          <a:noFill/>
        </p:spPr>
        <p:txBody>
          <a:bodyPr wrap="square" lIns="0" rIns="0" tIns="0" bIns="0">
            <a:noAutofit/>
          </a:bodyPr>
          <a:lstStyle/>
          <a:p>
            <a:r>
              <a:rPr sz="819" b="1" spc="60">
                <a:solidFill>
                  <a:srgbClr val="898781"/>
                </a:solidFill>
                <a:latin typeface="Calibri"/>
              </a:rPr>
              <a:t>PAID FTE — 80% CONFIDENCE BAND</a:t>
            </a:r>
          </a:p>
        </p:txBody>
      </p:sp>
      <p:sp>
        <p:nvSpPr>
          <p:cNvPr id="33" name="Rounded Rectangle 32"/>
          <p:cNvSpPr/>
          <p:nvPr/>
        </p:nvSpPr>
        <p:spPr>
          <a:xfrm>
            <a:off x="8787100" y="2644140"/>
            <a:ext cx="2901674" cy="124724"/>
          </a:xfrm>
          <a:prstGeom prst="round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270712" y="2644140"/>
            <a:ext cx="1945196" cy="124724"/>
          </a:xfrm>
          <a:prstGeom prst="roundRect">
            <a:avLst/>
          </a:prstGeom>
          <a:solidFill>
            <a:srgbClr val="2A78D6">
              <a:lumMod val="45000"/>
              <a:lumOff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39849" y="2598420"/>
            <a:ext cx="45720" cy="216164"/>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96949" y="2388107"/>
            <a:ext cx="731520" cy="146304"/>
          </a:xfrm>
          <a:prstGeom prst="rect">
            <a:avLst/>
          </a:prstGeom>
          <a:noFill/>
        </p:spPr>
        <p:txBody>
          <a:bodyPr wrap="square" lIns="0" rIns="0" tIns="0" bIns="0">
            <a:noAutofit/>
          </a:bodyPr>
          <a:lstStyle/>
          <a:p>
            <a:pPr algn="ctr"/>
            <a:r>
              <a:rPr sz="1100" b="1">
                <a:solidFill>
                  <a:srgbClr val="0B0B0B"/>
                </a:solidFill>
                <a:latin typeface="Calibri"/>
              </a:rPr>
              <a:t>508</a:t>
            </a:r>
          </a:p>
        </p:txBody>
      </p:sp>
      <p:sp>
        <p:nvSpPr>
          <p:cNvPr id="37" name="TextBox 36"/>
          <p:cNvSpPr txBox="1"/>
          <p:nvPr/>
        </p:nvSpPr>
        <p:spPr>
          <a:xfrm>
            <a:off x="8904952" y="2823728"/>
            <a:ext cx="731520" cy="146304"/>
          </a:xfrm>
          <a:prstGeom prst="rect">
            <a:avLst/>
          </a:prstGeom>
          <a:noFill/>
        </p:spPr>
        <p:txBody>
          <a:bodyPr wrap="square" lIns="0" rIns="0" tIns="0" bIns="0">
            <a:noAutofit/>
          </a:bodyPr>
          <a:lstStyle/>
          <a:p>
            <a:pPr algn="ctr"/>
            <a:r>
              <a:rPr sz="700" b="1">
                <a:solidFill>
                  <a:srgbClr val="898781"/>
                </a:solidFill>
                <a:latin typeface="Calibri"/>
              </a:rPr>
              <a:t>P10
425</a:t>
            </a:r>
          </a:p>
        </p:txBody>
      </p:sp>
      <p:sp>
        <p:nvSpPr>
          <p:cNvPr id="38" name="TextBox 37"/>
          <p:cNvSpPr txBox="1"/>
          <p:nvPr/>
        </p:nvSpPr>
        <p:spPr>
          <a:xfrm>
            <a:off x="10850149" y="2823728"/>
            <a:ext cx="731520" cy="146304"/>
          </a:xfrm>
          <a:prstGeom prst="rect">
            <a:avLst/>
          </a:prstGeom>
          <a:noFill/>
        </p:spPr>
        <p:txBody>
          <a:bodyPr wrap="square" lIns="0" rIns="0" tIns="0" bIns="0">
            <a:noAutofit/>
          </a:bodyPr>
          <a:lstStyle/>
          <a:p>
            <a:pPr algn="ctr"/>
            <a:r>
              <a:rPr sz="700" b="1">
                <a:solidFill>
                  <a:srgbClr val="898781"/>
                </a:solidFill>
                <a:latin typeface="Calibri"/>
              </a:rPr>
              <a:t>P90
606</a:t>
            </a:r>
          </a:p>
        </p:txBody>
      </p:sp>
      <p:cxnSp>
        <p:nvCxnSpPr>
          <p:cNvPr id="39" name="Connector 38"/>
          <p:cNvCxnSpPr/>
          <p:nvPr/>
        </p:nvCxnSpPr>
        <p:spPr>
          <a:xfrm>
            <a:off x="8787100" y="3085795"/>
            <a:ext cx="0" cy="614680"/>
          </a:xfrm>
          <a:prstGeom prst="line">
            <a:avLst/>
          </a:prstGeom>
          <a:ln w="28575">
            <a:solidFill>
              <a:srgbClr val="2A78D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905972" y="3113227"/>
            <a:ext cx="2782802" cy="541528"/>
          </a:xfrm>
          <a:prstGeom prst="rect">
            <a:avLst/>
          </a:prstGeom>
          <a:noFill/>
        </p:spPr>
        <p:txBody>
          <a:bodyPr wrap="square" lIns="0" rIns="0" tIns="0" bIns="0">
            <a:noAutofit/>
          </a:bodyPr>
          <a:lstStyle/>
          <a:p>
            <a:r>
              <a:rPr sz="819" b="1" i="0">
                <a:solidFill>
                  <a:srgbClr val="52514E"/>
                </a:solidFill>
                <a:latin typeface="Calibri"/>
              </a:rPr>
              <a:t>Do not hire to a point estimate.</a:t>
            </a:r>
            <a:r>
              <a:rPr sz="819" b="0" i="0">
                <a:solidFill>
                  <a:srgbClr val="52514E"/>
                </a:solidFill>
                <a:latin typeface="Calibri"/>
              </a:rPr>
              <a:t> Contract a </a:t>
            </a:r>
            <a:r>
              <a:rPr sz="819" b="1" i="0">
                <a:solidFill>
                  <a:srgbClr val="52514E"/>
                </a:solidFill>
                <a:latin typeface="Calibri"/>
              </a:rPr>
              <a:t>~490 FTE core</a:t>
            </a:r>
            <a:r>
              <a:rPr sz="819" b="0" i="0">
                <a:solidFill>
                  <a:srgbClr val="52514E"/>
                </a:solidFill>
                <a:latin typeface="Calibri"/>
              </a:rPr>
              <a:t> and hold a cross-trained flex pool of </a:t>
            </a:r>
            <a:r>
              <a:rPr sz="819" b="1" i="0">
                <a:solidFill>
                  <a:srgbClr val="52514E"/>
                </a:solidFill>
                <a:latin typeface="Calibri"/>
              </a:rPr>
              <a:t>60–100</a:t>
            </a:r>
            <a:r>
              <a:rPr sz="819" b="0" i="0">
                <a:solidFill>
                  <a:srgbClr val="52514E"/>
                </a:solidFill>
                <a:latin typeface="Calibri"/>
              </a:rPr>
              <a:t> against the P90, released monthly on the re-forecast trigger.</a:t>
            </a:r>
          </a:p>
        </p:txBody>
      </p:sp>
      <p:sp>
        <p:nvSpPr>
          <p:cNvPr id="41" name="TextBox 40"/>
          <p:cNvSpPr txBox="1"/>
          <p:nvPr/>
        </p:nvSpPr>
        <p:spPr>
          <a:xfrm>
            <a:off x="8787100" y="3801059"/>
            <a:ext cx="2901674" cy="346710"/>
          </a:xfrm>
          <a:prstGeom prst="rect">
            <a:avLst/>
          </a:prstGeom>
          <a:noFill/>
        </p:spPr>
        <p:txBody>
          <a:bodyPr wrap="square" lIns="0" rIns="0" tIns="0" bIns="0">
            <a:noAutofit/>
          </a:bodyPr>
          <a:lstStyle/>
          <a:p>
            <a:r>
              <a:rPr sz="700" b="0" i="0">
                <a:solidFill>
                  <a:srgbClr val="898781"/>
                </a:solidFill>
                <a:latin typeface="Calibri"/>
              </a:rPr>
              <a:t>Backfill alone runs at </a:t>
            </a:r>
            <a:r>
              <a:rPr sz="700" b="1" i="0">
                <a:solidFill>
                  <a:srgbClr val="898781"/>
                </a:solidFill>
                <a:latin typeface="Calibri"/>
              </a:rPr>
              <a:t>19 hires/month</a:t>
            </a:r>
            <a:r>
              <a:rPr sz="700" b="0" i="0">
                <a:solidFill>
                  <a:srgbClr val="898781"/>
                </a:solidFill>
                <a:latin typeface="Calibri"/>
              </a:rPr>
              <a:t> at 36% annual attrition — with a 4-week class and a 3-month ramp, recruitment must lead the forecast by a full quarter.</a:t>
            </a:r>
          </a:p>
        </p:txBody>
      </p:sp>
      <p:cxnSp>
        <p:nvCxnSpPr>
          <p:cNvPr id="42" name="Connector 41"/>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submission · </a:t>
            </a:r>
          </a:p>
        </p:txBody>
      </p:sp>
      <p:sp>
        <p:nvSpPr>
          <p:cNvPr id="44" name="TextBox 43"/>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2A78D6"/>
                </a:solidFill>
                <a:latin typeface="Calibri"/>
              </a:rPr>
              <a:t>03 · Method</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900" b="1">
                <a:solidFill>
                  <a:srgbClr val="0B0B0B"/>
                </a:solidFill>
                <a:latin typeface="Calibri"/>
              </a:rPr>
              <a:t>How the number is built — and what the data would not tell us</a:t>
            </a:r>
          </a:p>
        </p:txBody>
      </p:sp>
      <p:cxnSp>
        <p:nvCxnSpPr>
          <p:cNvPr id="4" name="Connector 3"/>
          <p:cNvCxnSpPr/>
          <p:nvPr/>
        </p:nvCxnSpPr>
        <p:spPr>
          <a:xfrm>
            <a:off x="502920" y="82296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960120"/>
            <a:ext cx="3546491" cy="146304"/>
          </a:xfrm>
          <a:prstGeom prst="rect">
            <a:avLst/>
          </a:prstGeom>
          <a:noFill/>
        </p:spPr>
        <p:txBody>
          <a:bodyPr wrap="square" lIns="0" rIns="0" tIns="0" bIns="0">
            <a:noAutofit/>
          </a:bodyPr>
          <a:lstStyle/>
          <a:p>
            <a:r>
              <a:rPr sz="819" b="1" spc="60">
                <a:solidFill>
                  <a:srgbClr val="898781"/>
                </a:solidFill>
                <a:latin typeface="Calibri"/>
              </a:rPr>
              <a:t>ASSUMPTIONS — WHAT WE HAD TO DECIDE</a:t>
            </a:r>
          </a:p>
        </p:txBody>
      </p:sp>
      <p:graphicFrame>
        <p:nvGraphicFramePr>
          <p:cNvPr id="6" name="Table 5"/>
          <p:cNvGraphicFramePr>
            <a:graphicFrameLocks noGrp="1"/>
          </p:cNvGraphicFramePr>
          <p:nvPr/>
        </p:nvGraphicFramePr>
        <p:xfrm>
          <a:off x="502920" y="1197864"/>
          <a:ext cx="3546491" cy="2054352"/>
        </p:xfrm>
        <a:graphic>
          <a:graphicData uri="http://schemas.openxmlformats.org/drawingml/2006/table">
            <a:tbl>
              <a:tblPr firstRow="0" bandRow="0">
                <a:tableStyleId>{5C22544A-7EE6-4342-B048-85BDC9FD1C3A}</a:tableStyleId>
              </a:tblPr>
              <a:tblGrid>
                <a:gridCol w="1300380"/>
                <a:gridCol w="2246111"/>
              </a:tblGrid>
              <a:tr h="214884">
                <a:tc>
                  <a:txBody>
                    <a:bodyPr wrap="square"/>
                    <a:lstStyle/>
                    <a:p>
                      <a:pPr algn="l"/>
                      <a:r>
                        <a:rPr sz="680" b="1">
                          <a:solidFill>
                            <a:srgbClr val="898781"/>
                          </a:solidFill>
                          <a:latin typeface="Calibri"/>
                        </a:rPr>
                        <a:t/>
                      </a:r>
                    </a:p>
                  </a:txBody>
                  <a:tcPr marL="31750" marR="31750" marT="12700" marB="12700" anchor="b">
                    <a:solidFill>
                      <a:srgbClr val="FCFCFB"/>
                    </a:solidFill>
                  </a:tcPr>
                </a:tc>
                <a:tc>
                  <a:txBody>
                    <a:bodyPr wrap="square"/>
                    <a:lstStyle/>
                    <a:p>
                      <a:pPr algn="l"/>
                      <a:r>
                        <a:rPr sz="680" b="1">
                          <a:solidFill>
                            <a:srgbClr val="898781"/>
                          </a:solidFill>
                          <a:latin typeface="Calibri"/>
                        </a:rPr>
                        <a:t/>
                      </a:r>
                    </a:p>
                  </a:txBody>
                  <a:tcPr marL="31750" marR="31750" marT="12700" marB="12700" anchor="b">
                    <a:solidFill>
                      <a:srgbClr val="FCFCFB"/>
                    </a:solidFill>
                  </a:tcPr>
                </a:tc>
              </a:tr>
              <a:tr h="326644">
                <a:tc>
                  <a:txBody>
                    <a:bodyPr wrap="square"/>
                    <a:lstStyle/>
                    <a:p>
                      <a:pPr algn="l"/>
                      <a:r>
                        <a:rPr sz="850" b="1">
                          <a:solidFill>
                            <a:srgbClr val="52514E"/>
                          </a:solidFill>
                          <a:latin typeface="Calibri"/>
                        </a:rPr>
                        <a:t>Deferred occupancy</a:t>
                      </a:r>
                    </a:p>
                  </a:txBody>
                  <a:tcPr marL="31750" marR="31750" marT="12700" marB="12700" anchor="ctr">
                    <a:solidFill>
                      <a:srgbClr val="FCFCFB"/>
                    </a:solidFill>
                  </a:tcPr>
                </a:tc>
                <a:tc>
                  <a:txBody>
                    <a:bodyPr wrap="square"/>
                    <a:lstStyle/>
                    <a:p>
                      <a:pPr algn="l"/>
                      <a:r>
                        <a:rPr sz="850" b="0">
                          <a:solidFill>
                            <a:srgbClr val="898781"/>
                          </a:solidFill>
                          <a:latin typeface="Calibri"/>
                        </a:rPr>
                        <a:t>85% — not in the data, industry-typical</a:t>
                      </a:r>
                    </a:p>
                  </a:txBody>
                  <a:tcPr marL="31750" marR="31750" marT="12700" marB="12700" anchor="ctr">
                    <a:solidFill>
                      <a:srgbClr val="FCFCFB"/>
                    </a:solidFill>
                  </a:tcPr>
                </a:tc>
              </a:tr>
              <a:tr h="326644">
                <a:tc>
                  <a:txBody>
                    <a:bodyPr wrap="square"/>
                    <a:lstStyle/>
                    <a:p>
                      <a:pPr algn="l"/>
                      <a:r>
                        <a:rPr sz="850" b="1">
                          <a:solidFill>
                            <a:srgbClr val="52514E"/>
                          </a:solidFill>
                          <a:latin typeface="Calibri"/>
                        </a:rPr>
                        <a:t>Shrinkage</a:t>
                      </a:r>
                    </a:p>
                  </a:txBody>
                  <a:tcPr marL="31750" marR="31750" marT="12700" marB="12700" anchor="ctr">
                    <a:solidFill>
                      <a:srgbClr val="FCFCFB"/>
                    </a:solidFill>
                  </a:tcPr>
                </a:tc>
                <a:tc>
                  <a:txBody>
                    <a:bodyPr wrap="square"/>
                    <a:lstStyle/>
                    <a:p>
                      <a:pPr algn="l"/>
                      <a:r>
                        <a:rPr sz="850" b="0">
                          <a:solidFill>
                            <a:srgbClr val="898781"/>
                          </a:solidFill>
                          <a:latin typeface="Calibri"/>
                        </a:rPr>
                        <a:t>18% flat — matches the workbook exactly</a:t>
                      </a:r>
                    </a:p>
                  </a:txBody>
                  <a:tcPr marL="31750" marR="31750" marT="12700" marB="12700" anchor="ctr">
                    <a:solidFill>
                      <a:srgbClr val="FCFCFB"/>
                    </a:solidFill>
                  </a:tcPr>
                </a:tc>
              </a:tr>
              <a:tr h="214884">
                <a:tc>
                  <a:txBody>
                    <a:bodyPr wrap="square"/>
                    <a:lstStyle/>
                    <a:p>
                      <a:pPr algn="l"/>
                      <a:r>
                        <a:rPr sz="850" b="1">
                          <a:solidFill>
                            <a:srgbClr val="52514E"/>
                          </a:solidFill>
                          <a:latin typeface="Calibri"/>
                        </a:rPr>
                        <a:t>Attrition</a:t>
                      </a:r>
                    </a:p>
                  </a:txBody>
                  <a:tcPr marL="31750" marR="31750" marT="12700" marB="12700" anchor="ctr">
                    <a:solidFill>
                      <a:srgbClr val="FCFCFB"/>
                    </a:solidFill>
                  </a:tcPr>
                </a:tc>
                <a:tc>
                  <a:txBody>
                    <a:bodyPr wrap="square"/>
                    <a:lstStyle/>
                    <a:p>
                      <a:pPr algn="l"/>
                      <a:r>
                        <a:rPr sz="850" b="0">
                          <a:solidFill>
                            <a:srgbClr val="898781"/>
                          </a:solidFill>
                          <a:latin typeface="Calibri"/>
                        </a:rPr>
                        <a:t>36%/yr → 3.65%/mo, compounded</a:t>
                      </a:r>
                    </a:p>
                  </a:txBody>
                  <a:tcPr marL="31750" marR="31750" marT="12700" marB="12700" anchor="ctr">
                    <a:solidFill>
                      <a:srgbClr val="FCFCFB"/>
                    </a:solidFill>
                  </a:tcPr>
                </a:tc>
              </a:tr>
              <a:tr h="214884">
                <a:tc>
                  <a:txBody>
                    <a:bodyPr wrap="square"/>
                    <a:lstStyle/>
                    <a:p>
                      <a:pPr algn="l"/>
                      <a:r>
                        <a:rPr sz="850" b="1">
                          <a:solidFill>
                            <a:srgbClr val="52514E"/>
                          </a:solidFill>
                          <a:latin typeface="Calibri"/>
                        </a:rPr>
                        <a:t>Seasonal uplift</a:t>
                      </a:r>
                    </a:p>
                  </a:txBody>
                  <a:tcPr marL="31750" marR="31750" marT="12700" marB="12700" anchor="ctr">
                    <a:solidFill>
                      <a:srgbClr val="FCFCFB"/>
                    </a:solidFill>
                  </a:tcPr>
                </a:tc>
                <a:tc>
                  <a:txBody>
                    <a:bodyPr wrap="square"/>
                    <a:lstStyle/>
                    <a:p>
                      <a:pPr algn="l"/>
                      <a:r>
                        <a:rPr sz="850" b="0">
                          <a:solidFill>
                            <a:srgbClr val="898781"/>
                          </a:solidFill>
                          <a:latin typeface="Calibri"/>
                        </a:rPr>
                        <a:t>+10% — mandated by the brief</a:t>
                      </a:r>
                    </a:p>
                  </a:txBody>
                  <a:tcPr marL="31750" marR="31750" marT="12700" marB="12700" anchor="ctr">
                    <a:solidFill>
                      <a:srgbClr val="FCFCFB"/>
                    </a:solidFill>
                  </a:tcPr>
                </a:tc>
              </a:tr>
              <a:tr h="214884">
                <a:tc>
                  <a:txBody>
                    <a:bodyPr wrap="square"/>
                    <a:lstStyle/>
                    <a:p>
                      <a:pPr algn="l"/>
                      <a:r>
                        <a:rPr sz="850" b="1">
                          <a:solidFill>
                            <a:srgbClr val="52514E"/>
                          </a:solidFill>
                          <a:latin typeface="Calibri"/>
                        </a:rPr>
                        <a:t>Routing</a:t>
                      </a:r>
                    </a:p>
                  </a:txBody>
                  <a:tcPr marL="31750" marR="31750" marT="12700" marB="12700" anchor="ctr">
                    <a:solidFill>
                      <a:srgbClr val="FCFCFB"/>
                    </a:solidFill>
                  </a:tcPr>
                </a:tc>
                <a:tc>
                  <a:txBody>
                    <a:bodyPr wrap="square"/>
                    <a:lstStyle/>
                    <a:p>
                      <a:pPr algn="l"/>
                      <a:r>
                        <a:rPr sz="850" b="0">
                          <a:solidFill>
                            <a:srgbClr val="898781"/>
                          </a:solidFill>
                          <a:latin typeface="Calibri"/>
                        </a:rPr>
                        <a:t>BPO 1&amp;2 English; BPO 3 DE/IT/ES/FR</a:t>
                      </a:r>
                    </a:p>
                  </a:txBody>
                  <a:tcPr marL="31750" marR="31750" marT="12700" marB="12700" anchor="ctr">
                    <a:solidFill>
                      <a:srgbClr val="FCFCFB"/>
                    </a:solidFill>
                  </a:tcPr>
                </a:tc>
              </a:tr>
              <a:tr h="214884">
                <a:tc>
                  <a:txBody>
                    <a:bodyPr wrap="square"/>
                    <a:lstStyle/>
                    <a:p>
                      <a:pPr algn="l"/>
                      <a:r>
                        <a:rPr sz="850" b="1">
                          <a:solidFill>
                            <a:srgbClr val="52514E"/>
                          </a:solidFill>
                          <a:latin typeface="Calibri"/>
                        </a:rPr>
                        <a:t>Chat concurrency</a:t>
                      </a:r>
                    </a:p>
                  </a:txBody>
                  <a:tcPr marL="31750" marR="31750" marT="12700" marB="12700" anchor="ctr">
                    <a:solidFill>
                      <a:srgbClr val="FCFCFB"/>
                    </a:solidFill>
                  </a:tcPr>
                </a:tc>
                <a:tc>
                  <a:txBody>
                    <a:bodyPr wrap="square"/>
                    <a:lstStyle/>
                    <a:p>
                      <a:pPr algn="l"/>
                      <a:r>
                        <a:rPr sz="850" b="0">
                          <a:solidFill>
                            <a:srgbClr val="D03B3B"/>
                          </a:solidFill>
                          <a:latin typeface="Calibri"/>
                        </a:rPr>
                        <a:t>1.2 as given — open, see Q2</a:t>
                      </a:r>
                    </a:p>
                  </a:txBody>
                  <a:tcPr marL="31750" marR="31750" marT="12700" marB="12700" anchor="ctr">
                    <a:solidFill>
                      <a:srgbClr val="FCFCFB"/>
                    </a:solidFill>
                  </a:tcPr>
                </a:tc>
              </a:tr>
              <a:tr h="326644">
                <a:tc>
                  <a:txBody>
                    <a:bodyPr wrap="square"/>
                    <a:lstStyle/>
                    <a:p>
                      <a:pPr algn="l"/>
                      <a:r>
                        <a:rPr sz="850" b="1">
                          <a:solidFill>
                            <a:srgbClr val="52514E"/>
                          </a:solidFill>
                          <a:latin typeface="Calibri"/>
                        </a:rPr>
                        <a:t>English AHT engine</a:t>
                      </a:r>
                    </a:p>
                  </a:txBody>
                  <a:tcPr marL="31750" marR="31750" marT="12700" marB="12700" anchor="ctr">
                    <a:solidFill>
                      <a:srgbClr val="FCFCFB"/>
                    </a:solidFill>
                  </a:tcPr>
                </a:tc>
                <a:tc>
                  <a:txBody>
                    <a:bodyPr wrap="square"/>
                    <a:lstStyle/>
                    <a:p>
                      <a:pPr algn="l"/>
                      <a:r>
                        <a:rPr sz="850" b="0">
                          <a:solidFill>
                            <a:srgbClr val="D03B3B"/>
                          </a:solidFill>
                          <a:latin typeface="Calibri"/>
                        </a:rPr>
                        <a:t>channel-level, incl. outbound — open, see Q1</a:t>
                      </a:r>
                    </a:p>
                  </a:txBody>
                  <a:tcPr marL="31750" marR="31750" marT="12700" marB="12700" anchor="ctr">
                    <a:solidFill>
                      <a:srgbClr val="FCFCFB"/>
                    </a:solidFill>
                  </a:tcPr>
                </a:tc>
              </a:tr>
            </a:tbl>
          </a:graphicData>
        </a:graphic>
      </p:graphicFrame>
      <p:sp>
        <p:nvSpPr>
          <p:cNvPr id="7" name="TextBox 6"/>
          <p:cNvSpPr txBox="1"/>
          <p:nvPr/>
        </p:nvSpPr>
        <p:spPr>
          <a:xfrm>
            <a:off x="502920" y="3389376"/>
            <a:ext cx="3546491" cy="396240"/>
          </a:xfrm>
          <a:prstGeom prst="rect">
            <a:avLst/>
          </a:prstGeom>
          <a:noFill/>
        </p:spPr>
        <p:txBody>
          <a:bodyPr wrap="square" lIns="0" rIns="0" tIns="0" bIns="0">
            <a:noAutofit/>
          </a:bodyPr>
          <a:lstStyle/>
          <a:p>
            <a:r>
              <a:rPr sz="800" b="0" i="0">
                <a:solidFill>
                  <a:srgbClr val="898781"/>
                </a:solidFill>
                <a:latin typeface="Calibri"/>
              </a:rPr>
              <a:t>Erlang C runs on a flat 24/7 average arrival rate — a </a:t>
            </a:r>
            <a:r>
              <a:rPr sz="800" b="0" i="1">
                <a:solidFill>
                  <a:srgbClr val="898781"/>
                </a:solidFill>
                <a:latin typeface="Calibri"/>
              </a:rPr>
              <a:t>floor</a:t>
            </a:r>
            <a:r>
              <a:rPr sz="800" b="0" i="0">
                <a:solidFill>
                  <a:srgbClr val="898781"/>
                </a:solidFill>
                <a:latin typeface="Calibri"/>
              </a:rPr>
              <a:t>. Real intraday peaks and overnight minimum-staffing push interval-level staffing up, never down.</a:t>
            </a:r>
          </a:p>
        </p:txBody>
      </p:sp>
      <p:sp>
        <p:nvSpPr>
          <p:cNvPr id="8" name="TextBox 7"/>
          <p:cNvSpPr txBox="1"/>
          <p:nvPr/>
        </p:nvSpPr>
        <p:spPr>
          <a:xfrm>
            <a:off x="4268867" y="960120"/>
            <a:ext cx="4298777" cy="146304"/>
          </a:xfrm>
          <a:prstGeom prst="rect">
            <a:avLst/>
          </a:prstGeom>
          <a:noFill/>
        </p:spPr>
        <p:txBody>
          <a:bodyPr wrap="square" lIns="0" rIns="0" tIns="0" bIns="0">
            <a:noAutofit/>
          </a:bodyPr>
          <a:lstStyle/>
          <a:p>
            <a:r>
              <a:rPr sz="819" b="1" spc="60">
                <a:solidFill>
                  <a:srgbClr val="898781"/>
                </a:solidFill>
                <a:latin typeface="Calibri"/>
              </a:rPr>
              <a:t>DATA QUALITY — 12 CHECKS, FULL LOG IN APPENDIX</a:t>
            </a:r>
          </a:p>
        </p:txBody>
      </p:sp>
      <p:graphicFrame>
        <p:nvGraphicFramePr>
          <p:cNvPr id="9" name="Table 8"/>
          <p:cNvGraphicFramePr>
            <a:graphicFrameLocks noGrp="1"/>
          </p:cNvGraphicFramePr>
          <p:nvPr/>
        </p:nvGraphicFramePr>
        <p:xfrm>
          <a:off x="4268867" y="1197864"/>
          <a:ext cx="4298777" cy="2031186"/>
        </p:xfrm>
        <a:graphic>
          <a:graphicData uri="http://schemas.openxmlformats.org/drawingml/2006/table">
            <a:tbl>
              <a:tblPr firstRow="0" bandRow="0">
                <a:tableStyleId>{5C22544A-7EE6-4342-B048-85BDC9FD1C3A}</a:tableStyleId>
              </a:tblPr>
              <a:tblGrid>
                <a:gridCol w="429877"/>
                <a:gridCol w="1977437"/>
                <a:gridCol w="1891463"/>
              </a:tblGrid>
              <a:tr h="246888">
                <a:tc>
                  <a:txBody>
                    <a:bodyPr wrap="square"/>
                    <a:lstStyle/>
                    <a:p>
                      <a:pPr algn="l"/>
                      <a:r>
                        <a:rPr sz="680" b="1">
                          <a:solidFill>
                            <a:srgbClr val="898781"/>
                          </a:solidFill>
                          <a:latin typeface="Calibri"/>
                        </a:rPr>
                        <a:t/>
                      </a:r>
                    </a:p>
                  </a:txBody>
                  <a:tcPr marL="31750" marR="31750" marT="12700" marB="12700" anchor="b">
                    <a:solidFill>
                      <a:srgbClr val="FCFCFB"/>
                    </a:solidFill>
                  </a:tcPr>
                </a:tc>
                <a:tc>
                  <a:txBody>
                    <a:bodyPr wrap="square"/>
                    <a:lstStyle/>
                    <a:p>
                      <a:pPr algn="l"/>
                      <a:r>
                        <a:rPr sz="680" b="1">
                          <a:solidFill>
                            <a:srgbClr val="898781"/>
                          </a:solidFill>
                          <a:latin typeface="Calibri"/>
                        </a:rPr>
                        <a:t/>
                      </a:r>
                    </a:p>
                  </a:txBody>
                  <a:tcPr marL="31750" marR="31750" marT="12700" marB="12700" anchor="b">
                    <a:solidFill>
                      <a:srgbClr val="FCFCFB"/>
                    </a:solidFill>
                  </a:tcPr>
                </a:tc>
                <a:tc>
                  <a:txBody>
                    <a:bodyPr wrap="square"/>
                    <a:lstStyle/>
                    <a:p>
                      <a:pPr algn="l"/>
                      <a:r>
                        <a:rPr sz="680" b="1">
                          <a:solidFill>
                            <a:srgbClr val="898781"/>
                          </a:solidFill>
                          <a:latin typeface="Calibri"/>
                        </a:rPr>
                        <a:t/>
                      </a:r>
                    </a:p>
                  </a:txBody>
                  <a:tcPr marL="31750" marR="31750" marT="12700" marB="12700" anchor="b">
                    <a:solidFill>
                      <a:srgbClr val="FCFCFB"/>
                    </a:solidFill>
                  </a:tcPr>
                </a:tc>
              </a:tr>
              <a:tr h="297383">
                <a:tc>
                  <a:txBody>
                    <a:bodyPr wrap="square"/>
                    <a:lstStyle/>
                    <a:p>
                      <a:pPr algn="l"/>
                      <a:r>
                        <a:rPr sz="760" b="1">
                          <a:solidFill>
                            <a:srgbClr val="0A6B0A"/>
                          </a:solidFill>
                          <a:latin typeface="Calibri"/>
                        </a:rPr>
                        <a:t>PASS</a:t>
                      </a:r>
                    </a:p>
                  </a:txBody>
                  <a:tcPr marL="31750" marR="31750" marT="12700" marB="12700" anchor="ctr">
                    <a:solidFill>
                      <a:srgbClr val="FCFCFB"/>
                    </a:solidFill>
                  </a:tcPr>
                </a:tc>
                <a:tc>
                  <a:txBody>
                    <a:bodyPr wrap="square"/>
                    <a:lstStyle/>
                    <a:p>
                      <a:pPr algn="l"/>
                      <a:r>
                        <a:rPr sz="760" b="1">
                          <a:solidFill>
                            <a:srgbClr val="52514E"/>
                          </a:solidFill>
                          <a:latin typeface="Calibri"/>
                        </a:rPr>
                        <a:t>English reason tickets tie to Contact Volume, all 6 months</a:t>
                      </a:r>
                    </a:p>
                  </a:txBody>
                  <a:tcPr marL="31750" marR="31750" marT="12700" marB="12700" anchor="ctr">
                    <a:solidFill>
                      <a:srgbClr val="FCFCFB"/>
                    </a:solidFill>
                  </a:tcPr>
                </a:tc>
                <a:tc>
                  <a:txBody>
                    <a:bodyPr wrap="square"/>
                    <a:lstStyle/>
                    <a:p>
                      <a:pPr algn="l"/>
                      <a:r>
                        <a:rPr sz="760" b="0">
                          <a:solidFill>
                            <a:srgbClr val="898781"/>
                          </a:solidFill>
                          <a:latin typeface="Calibri"/>
                        </a:rPr>
                        <a:t>ratio exactly 1.000000 — safe to join</a:t>
                      </a:r>
                    </a:p>
                  </a:txBody>
                  <a:tcPr marL="31750" marR="31750" marT="12700" marB="12700" anchor="ctr">
                    <a:solidFill>
                      <a:srgbClr val="FCFCFB"/>
                    </a:solidFill>
                  </a:tcPr>
                </a:tc>
              </a:tr>
              <a:tr h="297383">
                <a:tc>
                  <a:txBody>
                    <a:bodyPr wrap="square"/>
                    <a:lstStyle/>
                    <a:p>
                      <a:pPr algn="l"/>
                      <a:r>
                        <a:rPr sz="760" b="1">
                          <a:solidFill>
                            <a:srgbClr val="9C4A18"/>
                          </a:solidFill>
                          <a:latin typeface="Calibri"/>
                        </a:rPr>
                        <a:t>WARN</a:t>
                      </a:r>
                    </a:p>
                  </a:txBody>
                  <a:tcPr marL="31750" marR="31750" marT="12700" marB="12700" anchor="ctr">
                    <a:solidFill>
                      <a:srgbClr val="FCFCFB"/>
                    </a:solidFill>
                  </a:tcPr>
                </a:tc>
                <a:tc>
                  <a:txBody>
                    <a:bodyPr wrap="square"/>
                    <a:lstStyle/>
                    <a:p>
                      <a:pPr algn="l"/>
                      <a:r>
                        <a:rPr sz="760" b="1">
                          <a:solidFill>
                            <a:srgbClr val="52514E"/>
                          </a:solidFill>
                          <a:latin typeface="Calibri"/>
                        </a:rPr>
                        <a:t>Channel rows vs their own language total</a:t>
                      </a:r>
                    </a:p>
                  </a:txBody>
                  <a:tcPr marL="31750" marR="31750" marT="12700" marB="12700" anchor="ctr">
                    <a:solidFill>
                      <a:srgbClr val="FCFCFB"/>
                    </a:solidFill>
                  </a:tcPr>
                </a:tc>
                <a:tc>
                  <a:txBody>
                    <a:bodyPr wrap="square"/>
                    <a:lstStyle/>
                    <a:p>
                      <a:pPr algn="l"/>
                      <a:r>
                        <a:rPr sz="760" b="0">
                          <a:solidFill>
                            <a:srgbClr val="898781"/>
                          </a:solidFill>
                          <a:latin typeface="Calibri"/>
                        </a:rPr>
                        <a:t>off by ≤2 contacts in 17/30 months</a:t>
                      </a:r>
                    </a:p>
                  </a:txBody>
                  <a:tcPr marL="31750" marR="31750" marT="12700" marB="12700" anchor="ctr">
                    <a:solidFill>
                      <a:srgbClr val="FCFCFB"/>
                    </a:solidFill>
                  </a:tcPr>
                </a:tc>
              </a:tr>
              <a:tr h="297383">
                <a:tc>
                  <a:txBody>
                    <a:bodyPr wrap="square"/>
                    <a:lstStyle/>
                    <a:p>
                      <a:pPr algn="l"/>
                      <a:r>
                        <a:rPr sz="760" b="1">
                          <a:solidFill>
                            <a:srgbClr val="1C5CAB"/>
                          </a:solidFill>
                          <a:latin typeface="Calibri"/>
                        </a:rPr>
                        <a:t>FIX</a:t>
                      </a:r>
                    </a:p>
                  </a:txBody>
                  <a:tcPr marL="31750" marR="31750" marT="12700" marB="12700" anchor="ctr">
                    <a:solidFill>
                      <a:srgbClr val="FCFCFB"/>
                    </a:solidFill>
                  </a:tcPr>
                </a:tc>
                <a:tc>
                  <a:txBody>
                    <a:bodyPr wrap="square"/>
                    <a:lstStyle/>
                    <a:p>
                      <a:pPr algn="l"/>
                      <a:r>
                        <a:rPr sz="760" b="1">
                          <a:solidFill>
                            <a:srgbClr val="52514E"/>
                          </a:solidFill>
                          <a:latin typeface="Calibri"/>
                        </a:rPr>
                        <a:t>Blank reason label, 3,729 tickets</a:t>
                      </a:r>
                    </a:p>
                  </a:txBody>
                  <a:tcPr marL="31750" marR="31750" marT="12700" marB="12700" anchor="ctr">
                    <a:solidFill>
                      <a:srgbClr val="FCFCFB"/>
                    </a:solidFill>
                  </a:tcPr>
                </a:tc>
                <a:tc>
                  <a:txBody>
                    <a:bodyPr wrap="square"/>
                    <a:lstStyle/>
                    <a:p>
                      <a:pPr algn="l"/>
                      <a:r>
                        <a:rPr sz="760" b="0">
                          <a:solidFill>
                            <a:srgbClr val="898781"/>
                          </a:solidFill>
                          <a:latin typeface="Calibri"/>
                        </a:rPr>
                        <a:t>relabelled “UNMAPPED”, volume kept</a:t>
                      </a:r>
                    </a:p>
                  </a:txBody>
                  <a:tcPr marL="31750" marR="31750" marT="12700" marB="12700" anchor="ctr">
                    <a:solidFill>
                      <a:srgbClr val="FCFCFB"/>
                    </a:solidFill>
                  </a:tcPr>
                </a:tc>
              </a:tr>
              <a:tr h="297383">
                <a:tc>
                  <a:txBody>
                    <a:bodyPr wrap="square"/>
                    <a:lstStyle/>
                    <a:p>
                      <a:pPr algn="l"/>
                      <a:r>
                        <a:rPr sz="760" b="1">
                          <a:solidFill>
                            <a:srgbClr val="1C5CAB"/>
                          </a:solidFill>
                          <a:latin typeface="Calibri"/>
                        </a:rPr>
                        <a:t>FIX</a:t>
                      </a:r>
                    </a:p>
                  </a:txBody>
                  <a:tcPr marL="31750" marR="31750" marT="12700" marB="12700" anchor="ctr">
                    <a:solidFill>
                      <a:srgbClr val="FCFCFB"/>
                    </a:solidFill>
                  </a:tcPr>
                </a:tc>
                <a:tc>
                  <a:txBody>
                    <a:bodyPr wrap="square"/>
                    <a:lstStyle/>
                    <a:p>
                      <a:pPr algn="l"/>
                      <a:r>
                        <a:rPr sz="760" b="1">
                          <a:solidFill>
                            <a:srgbClr val="52514E"/>
                          </a:solidFill>
                          <a:latin typeface="Calibri"/>
                        </a:rPr>
                        <a:t>1 AHT outlier vs its reason median</a:t>
                      </a:r>
                    </a:p>
                  </a:txBody>
                  <a:tcPr marL="31750" marR="31750" marT="12700" marB="12700" anchor="ctr">
                    <a:solidFill>
                      <a:srgbClr val="FCFCFB"/>
                    </a:solidFill>
                  </a:tcPr>
                </a:tc>
                <a:tc>
                  <a:txBody>
                    <a:bodyPr wrap="square"/>
                    <a:lstStyle/>
                    <a:p>
                      <a:pPr algn="l"/>
                      <a:r>
                        <a:rPr sz="760" b="0">
                          <a:solidFill>
                            <a:srgbClr val="898781"/>
                          </a:solidFill>
                          <a:latin typeface="Calibri"/>
                        </a:rPr>
                        <a:t>replaced with the reason's own median</a:t>
                      </a:r>
                    </a:p>
                  </a:txBody>
                  <a:tcPr marL="31750" marR="31750" marT="12700" marB="12700" anchor="ctr">
                    <a:solidFill>
                      <a:srgbClr val="FCFCFB"/>
                    </a:solidFill>
                  </a:tcPr>
                </a:tc>
              </a:tr>
              <a:tr h="297383">
                <a:tc>
                  <a:txBody>
                    <a:bodyPr wrap="square"/>
                    <a:lstStyle/>
                    <a:p>
                      <a:pPr algn="l"/>
                      <a:r>
                        <a:rPr sz="760" b="1">
                          <a:solidFill>
                            <a:srgbClr val="9C4A18"/>
                          </a:solidFill>
                          <a:latin typeface="Calibri"/>
                        </a:rPr>
                        <a:t>WARN</a:t>
                      </a:r>
                    </a:p>
                  </a:txBody>
                  <a:tcPr marL="31750" marR="31750" marT="12700" marB="12700" anchor="ctr">
                    <a:solidFill>
                      <a:srgbClr val="FCFCFB"/>
                    </a:solidFill>
                  </a:tcPr>
                </a:tc>
                <a:tc>
                  <a:txBody>
                    <a:bodyPr wrap="square"/>
                    <a:lstStyle/>
                    <a:p>
                      <a:pPr algn="l"/>
                      <a:r>
                        <a:rPr sz="760" b="1">
                          <a:solidFill>
                            <a:srgbClr val="52514E"/>
                          </a:solidFill>
                          <a:latin typeface="Calibri"/>
                        </a:rPr>
                        <a:t>Inbound = Outbound, Email = Chat, most months</a:t>
                      </a:r>
                    </a:p>
                  </a:txBody>
                  <a:tcPr marL="31750" marR="31750" marT="12700" marB="12700" anchor="ctr">
                    <a:solidFill>
                      <a:srgbClr val="FCFCFB"/>
                    </a:solidFill>
                  </a:tcPr>
                </a:tc>
                <a:tc>
                  <a:txBody>
                    <a:bodyPr wrap="square"/>
                    <a:lstStyle/>
                    <a:p>
                      <a:pPr algn="l"/>
                      <a:r>
                        <a:rPr sz="760" b="0">
                          <a:solidFill>
                            <a:srgbClr val="898781"/>
                          </a:solidFill>
                          <a:latin typeface="Calibri"/>
                        </a:rPr>
                        <a:t>synthetic mirror — kept conservatively, flagged</a:t>
                      </a:r>
                    </a:p>
                  </a:txBody>
                  <a:tcPr marL="31750" marR="31750" marT="12700" marB="12700" anchor="ctr">
                    <a:solidFill>
                      <a:srgbClr val="FCFCFB"/>
                    </a:solidFill>
                  </a:tcPr>
                </a:tc>
              </a:tr>
              <a:tr h="297383">
                <a:tc>
                  <a:txBody>
                    <a:bodyPr wrap="square"/>
                    <a:lstStyle/>
                    <a:p>
                      <a:pPr algn="l"/>
                      <a:r>
                        <a:rPr sz="760" b="1">
                          <a:solidFill>
                            <a:srgbClr val="1C5CAB"/>
                          </a:solidFill>
                          <a:latin typeface="Calibri"/>
                        </a:rPr>
                        <a:t>FIX</a:t>
                      </a:r>
                    </a:p>
                  </a:txBody>
                  <a:tcPr marL="31750" marR="31750" marT="12700" marB="12700" anchor="ctr">
                    <a:solidFill>
                      <a:srgbClr val="FCFCFB"/>
                    </a:solidFill>
                  </a:tcPr>
                </a:tc>
                <a:tc>
                  <a:txBody>
                    <a:bodyPr wrap="square"/>
                    <a:lstStyle/>
                    <a:p>
                      <a:pPr algn="l"/>
                      <a:r>
                        <a:rPr sz="760" b="1">
                          <a:solidFill>
                            <a:srgbClr val="52514E"/>
                          </a:solidFill>
                          <a:latin typeface="Calibri"/>
                        </a:rPr>
                        <a:t>SLA attainment reported at 110% in February</a:t>
                      </a:r>
                    </a:p>
                  </a:txBody>
                  <a:tcPr marL="31750" marR="31750" marT="12700" marB="12700" anchor="ctr">
                    <a:solidFill>
                      <a:srgbClr val="FCFCFB"/>
                    </a:solidFill>
                  </a:tcPr>
                </a:tc>
                <a:tc>
                  <a:txBody>
                    <a:bodyPr wrap="square"/>
                    <a:lstStyle/>
                    <a:p>
                      <a:pPr algn="l"/>
                      <a:r>
                        <a:rPr sz="760" b="0">
                          <a:solidFill>
                            <a:srgbClr val="898781"/>
                          </a:solidFill>
                          <a:latin typeface="Calibri"/>
                        </a:rPr>
                        <a:t>impossible — excluded from the trend</a:t>
                      </a:r>
                    </a:p>
                  </a:txBody>
                  <a:tcPr marL="31750" marR="31750" marT="12700" marB="12700" anchor="ctr">
                    <a:solidFill>
                      <a:srgbClr val="FCFCFB"/>
                    </a:solidFill>
                  </a:tcPr>
                </a:tc>
              </a:tr>
            </a:tbl>
          </a:graphicData>
        </a:graphic>
      </p:graphicFrame>
      <p:sp>
        <p:nvSpPr>
          <p:cNvPr id="10" name="TextBox 9"/>
          <p:cNvSpPr txBox="1"/>
          <p:nvPr/>
        </p:nvSpPr>
        <p:spPr>
          <a:xfrm>
            <a:off x="4268867" y="3329635"/>
            <a:ext cx="4298777" cy="396240"/>
          </a:xfrm>
          <a:prstGeom prst="rect">
            <a:avLst/>
          </a:prstGeom>
          <a:noFill/>
        </p:spPr>
        <p:txBody>
          <a:bodyPr wrap="square" lIns="0" rIns="0" tIns="0" bIns="0">
            <a:noAutofit/>
          </a:bodyPr>
          <a:lstStyle/>
          <a:p>
            <a:r>
              <a:rPr sz="800" b="1" i="0">
                <a:solidFill>
                  <a:srgbClr val="52514E"/>
                </a:solidFill>
                <a:latin typeface="Calibri"/>
              </a:rPr>
              <a:t>The validation that passed matters most:</a:t>
            </a:r>
            <a:r>
              <a:rPr sz="800" b="0" i="0">
                <a:solidFill>
                  <a:srgbClr val="52514E"/>
                </a:solidFill>
                <a:latin typeface="Calibri"/>
              </a:rPr>
              <a:t> the per-reason ticket counts tie to the English contact volume in all six months at a ratio of </a:t>
            </a:r>
            <a:r>
              <a:rPr sz="800" b="1" i="0">
                <a:solidFill>
                  <a:srgbClr val="52514E"/>
                </a:solidFill>
                <a:latin typeface="Calibri"/>
              </a:rPr>
              <a:t>exactly 1.000000</a:t>
            </a:r>
            <a:r>
              <a:rPr sz="800" b="0" i="0">
                <a:solidFill>
                  <a:srgbClr val="52514E"/>
                </a:solidFill>
                <a:latin typeface="Calibri"/>
              </a:rPr>
              <a:t> — so the two sheets describe the same population and the reason-mix join is safe.</a:t>
            </a:r>
          </a:p>
        </p:txBody>
      </p:sp>
      <p:cxnSp>
        <p:nvCxnSpPr>
          <p:cNvPr id="11" name="Connector 10"/>
          <p:cNvCxnSpPr/>
          <p:nvPr/>
        </p:nvCxnSpPr>
        <p:spPr>
          <a:xfrm>
            <a:off x="4268867" y="3780739"/>
            <a:ext cx="0" cy="469392"/>
          </a:xfrm>
          <a:prstGeom prst="line">
            <a:avLst/>
          </a:prstGeom>
          <a:ln w="28575">
            <a:solidFill>
              <a:srgbClr val="D03B3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87739" y="3808171"/>
            <a:ext cx="4179905" cy="396240"/>
          </a:xfrm>
          <a:prstGeom prst="rect">
            <a:avLst/>
          </a:prstGeom>
          <a:noFill/>
        </p:spPr>
        <p:txBody>
          <a:bodyPr wrap="square" lIns="0" rIns="0" tIns="0" bIns="0">
            <a:noAutofit/>
          </a:bodyPr>
          <a:lstStyle/>
          <a:p>
            <a:r>
              <a:rPr sz="800" b="1" i="0">
                <a:solidFill>
                  <a:srgbClr val="52514E"/>
                </a:solidFill>
                <a:latin typeface="Calibri"/>
              </a:rPr>
              <a:t>SLA attainment has fallen 95% → 92% while volume doubled</a:t>
            </a:r>
            <a:r>
              <a:rPr sz="800" b="0" i="0">
                <a:solidFill>
                  <a:srgbClr val="52514E"/>
                </a:solidFill>
                <a:latin typeface="Calibri"/>
              </a:rPr>
              <a:t> (February reports 110%, which is impossible). That is the business case for this transformation, sitting unused in the source data.</a:t>
            </a:r>
          </a:p>
        </p:txBody>
      </p:sp>
      <p:sp>
        <p:nvSpPr>
          <p:cNvPr id="13" name="TextBox 12"/>
          <p:cNvSpPr txBox="1"/>
          <p:nvPr/>
        </p:nvSpPr>
        <p:spPr>
          <a:xfrm>
            <a:off x="8787100" y="960120"/>
            <a:ext cx="2901674" cy="146304"/>
          </a:xfrm>
          <a:prstGeom prst="rect">
            <a:avLst/>
          </a:prstGeom>
          <a:noFill/>
        </p:spPr>
        <p:txBody>
          <a:bodyPr wrap="square" lIns="0" rIns="0" tIns="0" bIns="0">
            <a:noAutofit/>
          </a:bodyPr>
          <a:lstStyle/>
          <a:p>
            <a:r>
              <a:rPr sz="819" b="1" spc="60">
                <a:solidFill>
                  <a:srgbClr val="898781"/>
                </a:solidFill>
                <a:latin typeface="Calibri"/>
              </a:rPr>
              <a:t>TWO OPEN QUESTIONS, PRICED</a:t>
            </a:r>
          </a:p>
        </p:txBody>
      </p:sp>
      <p:sp>
        <p:nvSpPr>
          <p:cNvPr id="14" name="TextBox 13"/>
          <p:cNvSpPr txBox="1"/>
          <p:nvPr/>
        </p:nvSpPr>
        <p:spPr>
          <a:xfrm>
            <a:off x="8787100" y="1207008"/>
            <a:ext cx="2901674" cy="156845"/>
          </a:xfrm>
          <a:prstGeom prst="rect">
            <a:avLst/>
          </a:prstGeom>
          <a:noFill/>
        </p:spPr>
        <p:txBody>
          <a:bodyPr wrap="square" lIns="0" rIns="0" tIns="0" bIns="0">
            <a:noAutofit/>
          </a:bodyPr>
          <a:lstStyle/>
          <a:p>
            <a:r>
              <a:rPr sz="950" b="1" i="0">
                <a:solidFill>
                  <a:srgbClr val="0B0B0B"/>
                </a:solidFill>
                <a:latin typeface="Calibri"/>
              </a:rPr>
              <a:t>1 · Is outbound English volume real?</a:t>
            </a:r>
          </a:p>
        </p:txBody>
      </p:sp>
      <p:sp>
        <p:nvSpPr>
          <p:cNvPr id="15" name="TextBox 14"/>
          <p:cNvSpPr txBox="1"/>
          <p:nvPr/>
        </p:nvSpPr>
        <p:spPr>
          <a:xfrm>
            <a:off x="8787100" y="1437005"/>
            <a:ext cx="2901674" cy="660400"/>
          </a:xfrm>
          <a:prstGeom prst="rect">
            <a:avLst/>
          </a:prstGeom>
          <a:noFill/>
        </p:spPr>
        <p:txBody>
          <a:bodyPr wrap="square" lIns="0" rIns="0" tIns="0" bIns="0">
            <a:noAutofit/>
          </a:bodyPr>
          <a:lstStyle/>
          <a:p>
            <a:r>
              <a:rPr sz="800" b="0" i="0">
                <a:solidFill>
                  <a:srgbClr val="52514E"/>
                </a:solidFill>
                <a:latin typeface="Calibri"/>
              </a:rPr>
              <a:t>AHT assumption (709.8s) and Apr–Jun actuals (908.8s) agree within 1% once outbound is excluded from both — not AHT drift. Outbound mirrors inbound in 29/30 months, the signature of a synthetic column. </a:t>
            </a:r>
            <a:r>
              <a:rPr sz="800" b="0" i="0">
                <a:solidFill>
                  <a:srgbClr val="D03B3B"/>
                </a:solidFill>
                <a:latin typeface="Calibri"/>
              </a:rPr>
              <a:t>Worth 78 FTE (15%) either way.</a:t>
            </a:r>
          </a:p>
        </p:txBody>
      </p:sp>
      <p:sp>
        <p:nvSpPr>
          <p:cNvPr id="16" name="TextBox 15"/>
          <p:cNvSpPr txBox="1"/>
          <p:nvPr/>
        </p:nvSpPr>
        <p:spPr>
          <a:xfrm>
            <a:off x="8787100" y="2170557"/>
            <a:ext cx="2901674" cy="156845"/>
          </a:xfrm>
          <a:prstGeom prst="rect">
            <a:avLst/>
          </a:prstGeom>
          <a:noFill/>
        </p:spPr>
        <p:txBody>
          <a:bodyPr wrap="square" lIns="0" rIns="0" tIns="0" bIns="0">
            <a:noAutofit/>
          </a:bodyPr>
          <a:lstStyle/>
          <a:p>
            <a:r>
              <a:rPr sz="950" b="1" i="0">
                <a:solidFill>
                  <a:srgbClr val="0B0B0B"/>
                </a:solidFill>
                <a:latin typeface="Calibri"/>
              </a:rPr>
              <a:t>2 · Is chat concurrency measured or assumed?</a:t>
            </a:r>
          </a:p>
        </p:txBody>
      </p:sp>
      <p:sp>
        <p:nvSpPr>
          <p:cNvPr id="17" name="TextBox 16"/>
          <p:cNvSpPr txBox="1"/>
          <p:nvPr/>
        </p:nvSpPr>
        <p:spPr>
          <a:xfrm>
            <a:off x="8787100" y="2400554"/>
            <a:ext cx="2901674" cy="264160"/>
          </a:xfrm>
          <a:prstGeom prst="rect">
            <a:avLst/>
          </a:prstGeom>
          <a:noFill/>
        </p:spPr>
        <p:txBody>
          <a:bodyPr wrap="square" lIns="0" rIns="0" tIns="0" bIns="0">
            <a:noAutofit/>
          </a:bodyPr>
          <a:lstStyle/>
          <a:p>
            <a:r>
              <a:rPr sz="800" b="0" i="0">
                <a:solidFill>
                  <a:srgbClr val="52514E"/>
                </a:solidFill>
                <a:latin typeface="Calibri"/>
              </a:rPr>
              <a:t>1.2 on every BPO and every language, under a header that says “English”. </a:t>
            </a:r>
            <a:r>
              <a:rPr sz="800" b="0" i="0">
                <a:solidFill>
                  <a:srgbClr val="D03B3B"/>
                </a:solidFill>
                <a:latin typeface="Calibri"/>
              </a:rPr>
              <a:t>Worth 75 FTE.</a:t>
            </a:r>
          </a:p>
        </p:txBody>
      </p:sp>
      <p:sp>
        <p:nvSpPr>
          <p:cNvPr id="18" name="TextBox 17"/>
          <p:cNvSpPr txBox="1"/>
          <p:nvPr/>
        </p:nvSpPr>
        <p:spPr>
          <a:xfrm>
            <a:off x="8787100" y="2756154"/>
            <a:ext cx="2901674" cy="146304"/>
          </a:xfrm>
          <a:prstGeom prst="rect">
            <a:avLst/>
          </a:prstGeom>
          <a:noFill/>
        </p:spPr>
        <p:txBody>
          <a:bodyPr wrap="square" lIns="0" rIns="0" tIns="0" bIns="0">
            <a:noAutofit/>
          </a:bodyPr>
          <a:lstStyle/>
          <a:p>
            <a:r>
              <a:rPr sz="819" b="1" spc="60">
                <a:solidFill>
                  <a:srgbClr val="898781"/>
                </a:solidFill>
                <a:latin typeface="Calibri"/>
              </a:rPr>
              <a:t>ALSO REQUESTED</a:t>
            </a:r>
          </a:p>
        </p:txBody>
      </p:sp>
      <p:sp>
        <p:nvSpPr>
          <p:cNvPr id="19" name="TextBox 18"/>
          <p:cNvSpPr txBox="1"/>
          <p:nvPr/>
        </p:nvSpPr>
        <p:spPr>
          <a:xfrm>
            <a:off x="8787100" y="2993898"/>
            <a:ext cx="2901674" cy="862583"/>
          </a:xfrm>
          <a:prstGeom prst="rect">
            <a:avLst/>
          </a:prstGeom>
          <a:noFill/>
        </p:spPr>
        <p:txBody>
          <a:bodyPr wrap="square" lIns="0" rIns="0" tIns="0" bIns="0">
            <a:noAutofit/>
          </a:bodyPr>
          <a:lstStyle/>
          <a:p>
            <a:r>
              <a:rPr sz="760" b="0" i="0">
                <a:solidFill>
                  <a:srgbClr val="52514E"/>
                </a:solidFill>
                <a:latin typeface="Calibri"/>
              </a:rPr>
              <a:t>•  24+ months of history — 6 cannot support a seasonal model</a:t>
            </a:r>
          </a:p>
          <a:p>
            <a:pPr>
              <a:spcBef>
                <a:spcPts val="216"/>
              </a:spcBef>
            </a:pPr>
            <a:r>
              <a:rPr sz="760" b="0" i="0">
                <a:solidFill>
                  <a:srgbClr val="52514E"/>
                </a:solidFill>
                <a:latin typeface="Calibri"/>
              </a:rPr>
              <a:t>•  15/30-minute arrival data — monthly Erlang is a floor</a:t>
            </a:r>
          </a:p>
          <a:p>
            <a:pPr>
              <a:spcBef>
                <a:spcPts val="216"/>
              </a:spcBef>
            </a:pPr>
            <a:r>
              <a:rPr sz="760" b="0" i="0">
                <a:solidFill>
                  <a:srgbClr val="52514E"/>
                </a:solidFill>
                <a:latin typeface="Calibri"/>
              </a:rPr>
              <a:t>•  What changed in March — system, market, or demand?</a:t>
            </a:r>
          </a:p>
          <a:p>
            <a:pPr>
              <a:spcBef>
                <a:spcPts val="216"/>
              </a:spcBef>
            </a:pPr>
            <a:r>
              <a:rPr sz="760" b="0" i="0">
                <a:solidFill>
                  <a:srgbClr val="52514E"/>
                </a:solidFill>
                <a:latin typeface="Calibri"/>
              </a:rPr>
              <a:t>•  Cost per productive hour by BPO — to rank levers in €</a:t>
            </a:r>
          </a:p>
          <a:p>
            <a:pPr>
              <a:spcBef>
                <a:spcPts val="216"/>
              </a:spcBef>
            </a:pPr>
            <a:r>
              <a:rPr sz="760" b="0" i="0">
                <a:solidFill>
                  <a:srgbClr val="52514E"/>
                </a:solidFill>
                <a:latin typeface="Calibri"/>
              </a:rPr>
              <a:t>•  True outbound volumes — the mirrored columns cannot be real</a:t>
            </a:r>
          </a:p>
        </p:txBody>
      </p:sp>
      <p:cxnSp>
        <p:nvCxnSpPr>
          <p:cNvPr id="20" name="Connector 19"/>
          <p:cNvCxnSpPr/>
          <p:nvPr/>
        </p:nvCxnSpPr>
        <p:spPr>
          <a:xfrm>
            <a:off x="8787100" y="3947922"/>
            <a:ext cx="0" cy="555244"/>
          </a:xfrm>
          <a:prstGeom prst="line">
            <a:avLst/>
          </a:prstGeom>
          <a:ln w="28575">
            <a:solidFill>
              <a:srgbClr val="C3C2B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05972" y="3975354"/>
            <a:ext cx="2782802" cy="482092"/>
          </a:xfrm>
          <a:prstGeom prst="rect">
            <a:avLst/>
          </a:prstGeom>
          <a:noFill/>
        </p:spPr>
        <p:txBody>
          <a:bodyPr wrap="square" lIns="0" rIns="0" tIns="0" bIns="0">
            <a:noAutofit/>
          </a:bodyPr>
          <a:lstStyle/>
          <a:p>
            <a:r>
              <a:rPr sz="730" b="1" i="0">
                <a:solidFill>
                  <a:srgbClr val="52514E"/>
                </a:solidFill>
                <a:latin typeface="Calibri"/>
              </a:rPr>
              <a:t>Structural finding:</a:t>
            </a:r>
            <a:r>
              <a:rPr sz="730" b="0" i="0">
                <a:solidFill>
                  <a:srgbClr val="52514E"/>
                </a:solidFill>
                <a:latin typeface="Calibri"/>
              </a:rPr>
              <a:t> 45 reason codes collapse to </a:t>
            </a:r>
            <a:r>
              <a:rPr sz="730" b="1" i="0">
                <a:solidFill>
                  <a:srgbClr val="52514E"/>
                </a:solidFill>
                <a:latin typeface="Calibri"/>
              </a:rPr>
              <a:t>25</a:t>
            </a:r>
            <a:r>
              <a:rPr sz="730" b="0" i="0">
                <a:solidFill>
                  <a:srgbClr val="52514E"/>
                </a:solidFill>
                <a:latin typeface="Calibri"/>
              </a:rPr>
              <a:t> distinct AHT profiles, and </a:t>
            </a:r>
            <a:r>
              <a:rPr sz="730" b="1" i="0">
                <a:solidFill>
                  <a:srgbClr val="52514E"/>
                </a:solidFill>
                <a:latin typeface="Calibri"/>
              </a:rPr>
              <a:t>6</a:t>
            </a:r>
            <a:r>
              <a:rPr sz="730" b="0" i="0">
                <a:solidFill>
                  <a:srgbClr val="52514E"/>
                </a:solidFill>
                <a:latin typeface="Calibri"/>
              </a:rPr>
              <a:t> of those clusters cross reason families — AHT is measured on a different taxonomy than the reason codes, and neither nests inside the other.</a:t>
            </a:r>
          </a:p>
        </p:txBody>
      </p:sp>
      <p:cxnSp>
        <p:nvCxnSpPr>
          <p:cNvPr id="22" name="Connector 21"/>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submission · </a:t>
            </a:r>
          </a:p>
        </p:txBody>
      </p:sp>
      <p:sp>
        <p:nvSpPr>
          <p:cNvPr id="24" name="TextBox 23"/>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2A78D6"/>
                </a:solidFill>
                <a:latin typeface="Calibri"/>
              </a:rPr>
              <a:t>04 · Task 1b — Optimisation</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900" b="1">
                <a:solidFill>
                  <a:srgbClr val="0B0B0B"/>
                </a:solidFill>
                <a:latin typeface="Calibri"/>
              </a:rPr>
              <a:t>Two strategies the arithmetic supports — and one it kills</a:t>
            </a:r>
          </a:p>
        </p:txBody>
      </p:sp>
      <p:cxnSp>
        <p:nvCxnSpPr>
          <p:cNvPr id="4" name="Connector 3"/>
          <p:cNvCxnSpPr/>
          <p:nvPr/>
        </p:nvCxnSpPr>
        <p:spPr>
          <a:xfrm>
            <a:off x="502920" y="82296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960120"/>
            <a:ext cx="4298777" cy="146304"/>
          </a:xfrm>
          <a:prstGeom prst="rect">
            <a:avLst/>
          </a:prstGeom>
          <a:noFill/>
        </p:spPr>
        <p:txBody>
          <a:bodyPr wrap="square" lIns="0" rIns="0" tIns="0" bIns="0">
            <a:noAutofit/>
          </a:bodyPr>
          <a:lstStyle/>
          <a:p>
            <a:r>
              <a:rPr sz="819" b="1" spc="60">
                <a:solidFill>
                  <a:srgbClr val="898781"/>
                </a:solidFill>
                <a:latin typeface="Calibri"/>
              </a:rPr>
              <a:t>STRATEGY 1 · PILOT: POOL SPANISH + FRENCH −18.8 FTE</a:t>
            </a:r>
          </a:p>
        </p:txBody>
      </p:sp>
      <p:graphicFrame>
        <p:nvGraphicFramePr>
          <p:cNvPr id="6" name="Chart 5"/>
          <p:cNvGraphicFramePr>
            <a:graphicFrameLocks noGrp="1"/>
          </p:cNvGraphicFramePr>
          <p:nvPr/>
        </p:nvGraphicFramePr>
        <p:xfrm>
          <a:off x="502920" y="1207008"/>
          <a:ext cx="4298777" cy="1234440"/>
        </p:xfrm>
        <a:graphic>
          <a:graphicData uri="http://schemas.openxmlformats.org/drawingml/2006/chart">
            <c:chart xmlns:c="http://schemas.openxmlformats.org/drawingml/2006/chart" r:id="rId2"/>
          </a:graphicData>
        </a:graphic>
      </p:graphicFrame>
      <p:sp>
        <p:nvSpPr>
          <p:cNvPr id="7" name="TextBox 6"/>
          <p:cNvSpPr txBox="1"/>
          <p:nvPr/>
        </p:nvSpPr>
        <p:spPr>
          <a:xfrm>
            <a:off x="502920" y="2542032"/>
            <a:ext cx="4298777" cy="548132"/>
          </a:xfrm>
          <a:prstGeom prst="rect">
            <a:avLst/>
          </a:prstGeom>
          <a:noFill/>
        </p:spPr>
        <p:txBody>
          <a:bodyPr wrap="square" lIns="0" rIns="0" tIns="0" bIns="0">
            <a:noAutofit/>
          </a:bodyPr>
          <a:lstStyle/>
          <a:p>
            <a:r>
              <a:rPr sz="830" b="1" i="0">
                <a:solidFill>
                  <a:srgbClr val="52514E"/>
                </a:solidFill>
                <a:latin typeface="Calibri"/>
              </a:rPr>
              <a:t>The occupancy column is the finding.</a:t>
            </a:r>
            <a:r>
              <a:rPr sz="830" b="0" i="0">
                <a:solidFill>
                  <a:srgbClr val="52514E"/>
                </a:solidFill>
                <a:latin typeface="Calibri"/>
              </a:rPr>
              <a:t> Those queues are not idle by choice — 80/20 staffed 24/7 needs a minimum of 3 seats no matter how few calls arrive. </a:t>
            </a:r>
            <a:r>
              <a:rPr sz="830" b="1" i="0">
                <a:solidFill>
                  <a:srgbClr val="52514E"/>
                </a:solidFill>
                <a:latin typeface="Calibri"/>
              </a:rPr>
              <a:t>Pilot on the two Romance-language queues first</a:t>
            </a:r>
            <a:r>
              <a:rPr sz="830" b="0" i="0">
                <a:solidFill>
                  <a:srgbClr val="52514E"/>
                </a:solidFill>
                <a:latin typeface="Calibri"/>
              </a:rPr>
              <a:t> to prove the mechanism before committing to all four.</a:t>
            </a:r>
          </a:p>
        </p:txBody>
      </p:sp>
      <p:graphicFrame>
        <p:nvGraphicFramePr>
          <p:cNvPr id="8" name="Table 7"/>
          <p:cNvGraphicFramePr>
            <a:graphicFrameLocks noGrp="1"/>
          </p:cNvGraphicFramePr>
          <p:nvPr/>
        </p:nvGraphicFramePr>
        <p:xfrm>
          <a:off x="502920" y="3135884"/>
          <a:ext cx="4298777" cy="907389"/>
        </p:xfrm>
        <a:graphic>
          <a:graphicData uri="http://schemas.openxmlformats.org/drawingml/2006/table">
            <a:tbl>
              <a:tblPr firstRow="0" bandRow="0">
                <a:tableStyleId>{5C22544A-7EE6-4342-B048-85BDC9FD1C3A}</a:tableStyleId>
              </a:tblPr>
              <a:tblGrid>
                <a:gridCol w="1499573"/>
                <a:gridCol w="799772"/>
                <a:gridCol w="699800"/>
                <a:gridCol w="599829"/>
                <a:gridCol w="699803"/>
              </a:tblGrid>
              <a:tr h="201168">
                <a:tc>
                  <a:txBody>
                    <a:bodyPr wrap="square"/>
                    <a:lstStyle/>
                    <a:p>
                      <a:pPr algn="l"/>
                      <a:r>
                        <a:rPr sz="680" b="1">
                          <a:solidFill>
                            <a:srgbClr val="898781"/>
                          </a:solidFill>
                          <a:latin typeface="Calibri"/>
                        </a:rPr>
                        <a:t>QUEUE</a:t>
                      </a:r>
                    </a:p>
                  </a:txBody>
                  <a:tcPr marL="31750" marR="31750" marT="12700" marB="12700" anchor="b">
                    <a:solidFill>
                      <a:srgbClr val="FCFCFB"/>
                    </a:solidFill>
                  </a:tcPr>
                </a:tc>
                <a:tc>
                  <a:txBody>
                    <a:bodyPr wrap="square"/>
                    <a:lstStyle/>
                    <a:p>
                      <a:pPr algn="r"/>
                      <a:r>
                        <a:rPr sz="680" b="1">
                          <a:solidFill>
                            <a:srgbClr val="898781"/>
                          </a:solidFill>
                          <a:latin typeface="Calibri"/>
                        </a:rPr>
                        <a:t>SILOED</a:t>
                      </a:r>
                    </a:p>
                  </a:txBody>
                  <a:tcPr marL="31750" marR="31750" marT="12700" marB="12700" anchor="b">
                    <a:solidFill>
                      <a:srgbClr val="FCFCFB"/>
                    </a:solidFill>
                  </a:tcPr>
                </a:tc>
                <a:tc>
                  <a:txBody>
                    <a:bodyPr wrap="square"/>
                    <a:lstStyle/>
                    <a:p>
                      <a:pPr algn="r"/>
                      <a:r>
                        <a:rPr sz="680" b="1">
                          <a:solidFill>
                            <a:srgbClr val="898781"/>
                          </a:solidFill>
                          <a:latin typeface="Calibri"/>
                        </a:rPr>
                        <a:t>POOLED</a:t>
                      </a:r>
                    </a:p>
                  </a:txBody>
                  <a:tcPr marL="31750" marR="31750" marT="12700" marB="12700" anchor="b">
                    <a:solidFill>
                      <a:srgbClr val="FCFCFB"/>
                    </a:solidFill>
                  </a:tcPr>
                </a:tc>
                <a:tc>
                  <a:txBody>
                    <a:bodyPr wrap="square"/>
                    <a:lstStyle/>
                    <a:p>
                      <a:pPr algn="r"/>
                      <a:r>
                        <a:rPr sz="680" b="1">
                          <a:solidFill>
                            <a:srgbClr val="898781"/>
                          </a:solidFill>
                          <a:latin typeface="Calibri"/>
                        </a:rPr>
                        <a:t>SL</a:t>
                      </a:r>
                    </a:p>
                  </a:txBody>
                  <a:tcPr marL="31750" marR="31750" marT="12700" marB="12700" anchor="b">
                    <a:solidFill>
                      <a:srgbClr val="FCFCFB"/>
                    </a:solidFill>
                  </a:tcPr>
                </a:tc>
                <a:tc>
                  <a:txBody>
                    <a:bodyPr wrap="square"/>
                    <a:lstStyle/>
                    <a:p>
                      <a:pPr algn="r"/>
                      <a:r>
                        <a:rPr sz="680" b="1">
                          <a:solidFill>
                            <a:srgbClr val="898781"/>
                          </a:solidFill>
                          <a:latin typeface="Calibri"/>
                        </a:rPr>
                        <a:t>SAVED</a:t>
                      </a:r>
                    </a:p>
                  </a:txBody>
                  <a:tcPr marL="31750" marR="31750" marT="12700" marB="12700" anchor="b">
                    <a:solidFill>
                      <a:srgbClr val="FCFCFB"/>
                    </a:solidFill>
                  </a:tcPr>
                </a:tc>
              </a:tr>
              <a:tr h="201168">
                <a:tc>
                  <a:txBody>
                    <a:bodyPr wrap="square"/>
                    <a:lstStyle/>
                    <a:p>
                      <a:pPr algn="l"/>
                      <a:r>
                        <a:rPr sz="780" b="1">
                          <a:solidFill>
                            <a:srgbClr val="52514E"/>
                          </a:solidFill>
                          <a:latin typeface="Calibri"/>
                        </a:rPr>
                        <a:t>Inbound ES/FR</a:t>
                      </a:r>
                    </a:p>
                  </a:txBody>
                  <a:tcPr marL="31750" marR="31750" marT="12700" marB="12700" anchor="ctr">
                    <a:solidFill>
                      <a:srgbClr val="FCFCFB"/>
                    </a:solidFill>
                  </a:tcPr>
                </a:tc>
                <a:tc>
                  <a:txBody>
                    <a:bodyPr wrap="square"/>
                    <a:lstStyle/>
                    <a:p>
                      <a:pPr algn="r"/>
                      <a:r>
                        <a:rPr sz="780" b="0">
                          <a:solidFill>
                            <a:srgbClr val="52514E"/>
                          </a:solidFill>
                          <a:latin typeface="Calibri"/>
                        </a:rPr>
                        <a:t>6 seats</a:t>
                      </a:r>
                    </a:p>
                  </a:txBody>
                  <a:tcPr marL="31750" marR="31750" marT="12700" marB="12700" anchor="ctr">
                    <a:solidFill>
                      <a:srgbClr val="FCFCFB"/>
                    </a:solidFill>
                  </a:tcPr>
                </a:tc>
                <a:tc>
                  <a:txBody>
                    <a:bodyPr wrap="square"/>
                    <a:lstStyle/>
                    <a:p>
                      <a:pPr algn="r"/>
                      <a:r>
                        <a:rPr sz="780" b="1">
                          <a:solidFill>
                            <a:srgbClr val="52514E"/>
                          </a:solidFill>
                          <a:latin typeface="Calibri"/>
                        </a:rPr>
                        <a:t>4</a:t>
                      </a:r>
                    </a:p>
                  </a:txBody>
                  <a:tcPr marL="31750" marR="31750" marT="12700" marB="12700" anchor="ctr">
                    <a:solidFill>
                      <a:srgbClr val="FCFCFB"/>
                    </a:solidFill>
                  </a:tcPr>
                </a:tc>
                <a:tc>
                  <a:txBody>
                    <a:bodyPr wrap="square"/>
                    <a:lstStyle/>
                    <a:p>
                      <a:pPr algn="r"/>
                      <a:r>
                        <a:rPr sz="780" b="0">
                          <a:solidFill>
                            <a:srgbClr val="0CA30C"/>
                          </a:solidFill>
                          <a:latin typeface="Calibri"/>
                        </a:rPr>
                        <a:t>83%</a:t>
                      </a:r>
                    </a:p>
                  </a:txBody>
                  <a:tcPr marL="31750" marR="31750" marT="12700" marB="12700" anchor="ctr">
                    <a:solidFill>
                      <a:srgbClr val="FCFCFB"/>
                    </a:solidFill>
                  </a:tcPr>
                </a:tc>
                <a:tc>
                  <a:txBody>
                    <a:bodyPr wrap="square"/>
                    <a:lstStyle/>
                    <a:p>
                      <a:pPr algn="r"/>
                      <a:r>
                        <a:rPr sz="780" b="1">
                          <a:solidFill>
                            <a:srgbClr val="52514E"/>
                          </a:solidFill>
                          <a:latin typeface="Calibri"/>
                        </a:rPr>
                        <a:t>10.3</a:t>
                      </a:r>
                    </a:p>
                  </a:txBody>
                  <a:tcPr marL="31750" marR="31750" marT="12700" marB="12700" anchor="ctr">
                    <a:solidFill>
                      <a:srgbClr val="FCFCFB"/>
                    </a:solidFill>
                  </a:tcPr>
                </a:tc>
              </a:tr>
              <a:tr h="201168">
                <a:tc>
                  <a:txBody>
                    <a:bodyPr wrap="square"/>
                    <a:lstStyle/>
                    <a:p>
                      <a:pPr algn="l"/>
                      <a:r>
                        <a:rPr sz="780" b="1">
                          <a:solidFill>
                            <a:srgbClr val="52514E"/>
                          </a:solidFill>
                          <a:latin typeface="Calibri"/>
                        </a:rPr>
                        <a:t>Chat ES/FR</a:t>
                      </a:r>
                    </a:p>
                  </a:txBody>
                  <a:tcPr marL="31750" marR="31750" marT="12700" marB="12700" anchor="ctr">
                    <a:solidFill>
                      <a:srgbClr val="FCFCFB"/>
                    </a:solidFill>
                  </a:tcPr>
                </a:tc>
                <a:tc>
                  <a:txBody>
                    <a:bodyPr wrap="square"/>
                    <a:lstStyle/>
                    <a:p>
                      <a:pPr algn="r"/>
                      <a:r>
                        <a:rPr sz="780" b="0">
                          <a:solidFill>
                            <a:srgbClr val="52514E"/>
                          </a:solidFill>
                          <a:latin typeface="Calibri"/>
                        </a:rPr>
                        <a:t>8.3 seats</a:t>
                      </a:r>
                    </a:p>
                  </a:txBody>
                  <a:tcPr marL="31750" marR="31750" marT="12700" marB="12700" anchor="ctr">
                    <a:solidFill>
                      <a:srgbClr val="FCFCFB"/>
                    </a:solidFill>
                  </a:tcPr>
                </a:tc>
                <a:tc>
                  <a:txBody>
                    <a:bodyPr wrap="square"/>
                    <a:lstStyle/>
                    <a:p>
                      <a:pPr algn="r"/>
                      <a:r>
                        <a:rPr sz="780" b="1">
                          <a:solidFill>
                            <a:srgbClr val="52514E"/>
                          </a:solidFill>
                          <a:latin typeface="Calibri"/>
                        </a:rPr>
                        <a:t>6.7</a:t>
                      </a:r>
                    </a:p>
                  </a:txBody>
                  <a:tcPr marL="31750" marR="31750" marT="12700" marB="12700" anchor="ctr">
                    <a:solidFill>
                      <a:srgbClr val="FCFCFB"/>
                    </a:solidFill>
                  </a:tcPr>
                </a:tc>
                <a:tc>
                  <a:txBody>
                    <a:bodyPr wrap="square"/>
                    <a:lstStyle/>
                    <a:p>
                      <a:pPr algn="r"/>
                      <a:r>
                        <a:rPr sz="780" b="0">
                          <a:solidFill>
                            <a:srgbClr val="0CA30C"/>
                          </a:solidFill>
                          <a:latin typeface="Calibri"/>
                        </a:rPr>
                        <a:t>86%</a:t>
                      </a:r>
                    </a:p>
                  </a:txBody>
                  <a:tcPr marL="31750" marR="31750" marT="12700" marB="12700" anchor="ctr">
                    <a:solidFill>
                      <a:srgbClr val="FCFCFB"/>
                    </a:solidFill>
                  </a:tcPr>
                </a:tc>
                <a:tc>
                  <a:txBody>
                    <a:bodyPr wrap="square"/>
                    <a:lstStyle/>
                    <a:p>
                      <a:pPr algn="r"/>
                      <a:r>
                        <a:rPr sz="780" b="1">
                          <a:solidFill>
                            <a:srgbClr val="52514E"/>
                          </a:solidFill>
                          <a:latin typeface="Calibri"/>
                        </a:rPr>
                        <a:t>8.6</a:t>
                      </a:r>
                    </a:p>
                  </a:txBody>
                  <a:tcPr marL="31750" marR="31750" marT="12700" marB="12700" anchor="ctr">
                    <a:solidFill>
                      <a:srgbClr val="FCFCFB"/>
                    </a:solidFill>
                  </a:tcPr>
                </a:tc>
              </a:tr>
              <a:tr h="303885">
                <a:tc>
                  <a:txBody>
                    <a:bodyPr wrap="square"/>
                    <a:lstStyle/>
                    <a:p>
                      <a:pPr algn="l"/>
                      <a:r>
                        <a:rPr sz="780" b="1">
                          <a:solidFill>
                            <a:srgbClr val="0B0B0B"/>
                          </a:solidFill>
                          <a:latin typeface="Calibri"/>
                        </a:rPr>
                        <a:t>Total</a:t>
                      </a:r>
                    </a:p>
                  </a:txBody>
                  <a:tcPr marL="31750" marR="31750" marT="12700" marB="12700" anchor="ctr">
                    <a:solidFill>
                      <a:srgbClr val="FCFCFB"/>
                    </a:solidFill>
                  </a:tcPr>
                </a:tc>
                <a:tc>
                  <a:txBody>
                    <a:bodyPr wrap="square"/>
                    <a:lstStyle/>
                    <a:p>
                      <a:pPr algn="r"/>
                      <a:r>
                        <a:rPr sz="780" b="1">
                          <a:solidFill>
                            <a:srgbClr val="0B0B0B"/>
                          </a:solidFill>
                          <a:latin typeface="Calibri"/>
                        </a:rPr>
                        <a:t/>
                      </a:r>
                    </a:p>
                  </a:txBody>
                  <a:tcPr marL="31750" marR="31750" marT="12700" marB="12700" anchor="ctr">
                    <a:solidFill>
                      <a:srgbClr val="FCFCFB"/>
                    </a:solidFill>
                  </a:tcPr>
                </a:tc>
                <a:tc>
                  <a:txBody>
                    <a:bodyPr wrap="square"/>
                    <a:lstStyle/>
                    <a:p>
                      <a:pPr algn="l"/>
                      <a:r>
                        <a:rPr sz="780" b="1">
                          <a:solidFill>
                            <a:srgbClr val="898781"/>
                          </a:solidFill>
                          <a:latin typeface="Calibri"/>
                        </a:rPr>
                        <a:t>≈ 3,260 h off BPO 3</a:t>
                      </a:r>
                    </a:p>
                  </a:txBody>
                  <a:tcPr marL="31750" marR="31750" marT="12700" marB="12700" anchor="ctr">
                    <a:solidFill>
                      <a:srgbClr val="FCFCFB"/>
                    </a:solidFill>
                  </a:tcPr>
                </a:tc>
                <a:tc>
                  <a:txBody>
                    <a:bodyPr wrap="square"/>
                    <a:lstStyle/>
                    <a:p>
                      <a:pPr algn="r"/>
                      <a:r>
                        <a:rPr sz="780" b="1">
                          <a:solidFill>
                            <a:srgbClr val="0B0B0B"/>
                          </a:solidFill>
                          <a:latin typeface="Calibri"/>
                        </a:rPr>
                        <a:t/>
                      </a:r>
                    </a:p>
                  </a:txBody>
                  <a:tcPr marL="31750" marR="31750" marT="12700" marB="12700" anchor="ctr">
                    <a:solidFill>
                      <a:srgbClr val="FCFCFB"/>
                    </a:solidFill>
                  </a:tcPr>
                </a:tc>
                <a:tc>
                  <a:txBody>
                    <a:bodyPr wrap="square"/>
                    <a:lstStyle/>
                    <a:p>
                      <a:pPr algn="r"/>
                      <a:r>
                        <a:rPr sz="780" b="1">
                          <a:solidFill>
                            <a:srgbClr val="0B0B0B"/>
                          </a:solidFill>
                          <a:latin typeface="Calibri"/>
                        </a:rPr>
                        <a:t>18.8</a:t>
                      </a:r>
                    </a:p>
                  </a:txBody>
                  <a:tcPr marL="31750" marR="31750" marT="12700" marB="12700" anchor="ctr">
                    <a:solidFill>
                      <a:srgbClr val="FCFCFB"/>
                    </a:solidFill>
                  </a:tcPr>
                </a:tc>
              </a:tr>
            </a:tbl>
          </a:graphicData>
        </a:graphic>
      </p:graphicFrame>
      <p:sp>
        <p:nvSpPr>
          <p:cNvPr id="9" name="TextBox 8"/>
          <p:cNvSpPr txBox="1"/>
          <p:nvPr/>
        </p:nvSpPr>
        <p:spPr>
          <a:xfrm>
            <a:off x="621792" y="4217009"/>
            <a:ext cx="4179905" cy="156845"/>
          </a:xfrm>
          <a:prstGeom prst="rect">
            <a:avLst/>
          </a:prstGeom>
          <a:noFill/>
        </p:spPr>
        <p:txBody>
          <a:bodyPr wrap="square" lIns="0" rIns="0" tIns="0" bIns="0">
            <a:noAutofit/>
          </a:bodyPr>
          <a:lstStyle/>
          <a:p>
            <a:r>
              <a:rPr sz="950" b="1" i="0">
                <a:solidFill>
                  <a:srgbClr val="0B0B0B"/>
                </a:solidFill>
                <a:latin typeface="Calibri"/>
              </a:rPr>
              <a:t>Phase 2 · Add German + Italian, gated on pilot </a:t>
            </a:r>
            <a:r>
              <a:rPr sz="950" b="1" i="0">
                <a:solidFill>
                  <a:srgbClr val="2A78D6"/>
                </a:solidFill>
                <a:latin typeface="Calibri"/>
              </a:rPr>
              <a:t>up to −51.4 FTE total</a:t>
            </a:r>
          </a:p>
        </p:txBody>
      </p:sp>
      <p:sp>
        <p:nvSpPr>
          <p:cNvPr id="10" name="TextBox 9"/>
          <p:cNvSpPr txBox="1"/>
          <p:nvPr/>
        </p:nvSpPr>
        <p:spPr>
          <a:xfrm>
            <a:off x="621792" y="4447006"/>
            <a:ext cx="4179905" cy="528320"/>
          </a:xfrm>
          <a:prstGeom prst="rect">
            <a:avLst/>
          </a:prstGeom>
          <a:noFill/>
        </p:spPr>
        <p:txBody>
          <a:bodyPr wrap="square" lIns="0" rIns="0" tIns="0" bIns="0">
            <a:noAutofit/>
          </a:bodyPr>
          <a:lstStyle/>
          <a:p>
            <a:r>
              <a:rPr sz="800" b="0" i="0">
                <a:solidFill>
                  <a:srgbClr val="52514E"/>
                </a:solidFill>
                <a:latin typeface="Calibri"/>
              </a:rPr>
              <a:t>Extend only if the pilot holds: SLA stays ≥80%, misroute rate is low, and the bilingual pay premium comes in under the breakeven. Requires a </a:t>
            </a:r>
            <a:r>
              <a:rPr sz="800" b="1" i="0">
                <a:solidFill>
                  <a:srgbClr val="52514E"/>
                </a:solidFill>
                <a:latin typeface="Calibri"/>
              </a:rPr>
              <a:t>BPO3 skills audit first</a:t>
            </a:r>
            <a:r>
              <a:rPr sz="800" b="0" i="0">
                <a:solidFill>
                  <a:srgbClr val="52514E"/>
                </a:solidFill>
                <a:latin typeface="Calibri"/>
              </a:rPr>
              <a:t> — how many agents are already certified in 2+ of DE/IT/ES/FR — since pooling only works if routing can still match a caller to someone who speaks their language.</a:t>
            </a:r>
          </a:p>
        </p:txBody>
      </p:sp>
      <p:cxnSp>
        <p:nvCxnSpPr>
          <p:cNvPr id="11" name="Connector 10"/>
          <p:cNvCxnSpPr/>
          <p:nvPr/>
        </p:nvCxnSpPr>
        <p:spPr>
          <a:xfrm>
            <a:off x="502920" y="4162145"/>
            <a:ext cx="0" cy="813181"/>
          </a:xfrm>
          <a:prstGeom prst="line">
            <a:avLst/>
          </a:prstGeom>
          <a:ln w="28575">
            <a:solidFill>
              <a:srgbClr val="2A78D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1153" y="960120"/>
            <a:ext cx="3546491" cy="146304"/>
          </a:xfrm>
          <a:prstGeom prst="rect">
            <a:avLst/>
          </a:prstGeom>
          <a:noFill/>
        </p:spPr>
        <p:txBody>
          <a:bodyPr wrap="square" lIns="0" rIns="0" tIns="0" bIns="0">
            <a:noAutofit/>
          </a:bodyPr>
          <a:lstStyle/>
          <a:p>
            <a:r>
              <a:rPr sz="819" b="1" spc="60">
                <a:solidFill>
                  <a:srgbClr val="898781"/>
                </a:solidFill>
                <a:latin typeface="Calibri"/>
              </a:rPr>
              <a:t>WHY IT WORKS, AND WHAT IT COSTS</a:t>
            </a:r>
          </a:p>
        </p:txBody>
      </p:sp>
      <p:sp>
        <p:nvSpPr>
          <p:cNvPr id="13" name="TextBox 12"/>
          <p:cNvSpPr txBox="1"/>
          <p:nvPr/>
        </p:nvSpPr>
        <p:spPr>
          <a:xfrm>
            <a:off x="5021153" y="1197864"/>
            <a:ext cx="3546491" cy="959231"/>
          </a:xfrm>
          <a:prstGeom prst="rect">
            <a:avLst/>
          </a:prstGeom>
          <a:noFill/>
        </p:spPr>
        <p:txBody>
          <a:bodyPr wrap="square" lIns="0" rIns="0" tIns="0" bIns="0">
            <a:noAutofit/>
          </a:bodyPr>
          <a:lstStyle/>
          <a:p>
            <a:r>
              <a:rPr sz="830" b="0" i="0">
                <a:solidFill>
                  <a:srgbClr val="52514E"/>
                </a:solidFill>
                <a:latin typeface="Calibri"/>
              </a:rPr>
              <a:t>All four languages already sit in BPO 3, so this is a routing and skilling change, not a vendor change. The pilot pair was </a:t>
            </a:r>
            <a:r>
              <a:rPr sz="830" b="1" i="0">
                <a:solidFill>
                  <a:srgbClr val="52514E"/>
                </a:solidFill>
                <a:latin typeface="Calibri"/>
              </a:rPr>
              <a:t>re-solved through the same Erlang engine</a:t>
            </a:r>
            <a:r>
              <a:rPr sz="830" b="0" i="0">
                <a:solidFill>
                  <a:srgbClr val="52514E"/>
                </a:solidFill>
                <a:latin typeface="Calibri"/>
              </a:rPr>
              <a:t> — the service level goes up, not down. It starts on the </a:t>
            </a:r>
            <a:r>
              <a:rPr sz="830" b="1" i="0">
                <a:solidFill>
                  <a:srgbClr val="52514E"/>
                </a:solidFill>
                <a:latin typeface="Calibri"/>
              </a:rPr>
              <a:t>overnight window</a:t>
            </a:r>
            <a:r>
              <a:rPr sz="830" b="0" i="0">
                <a:solidFill>
                  <a:srgbClr val="52514E"/>
                </a:solidFill>
                <a:latin typeface="Calibri"/>
              </a:rPr>
              <a:t>, where the floors bite hardest and customer risk is lowest. Bilingual agents likely cost more per hour — the saving holds up to a </a:t>
            </a:r>
            <a:r>
              <a:rPr sz="830" b="1" i="0">
                <a:solidFill>
                  <a:srgbClr val="52514E"/>
                </a:solidFill>
                <a:latin typeface="Calibri"/>
              </a:rPr>
              <a:t>~34% pay premium</a:t>
            </a:r>
            <a:r>
              <a:rPr sz="830" b="0" i="0">
                <a:solidFill>
                  <a:srgbClr val="52514E"/>
                </a:solidFill>
                <a:latin typeface="Calibri"/>
              </a:rPr>
              <a:t> before it's erased; realistic premiums run 5–15%, a wide margin.</a:t>
            </a:r>
          </a:p>
        </p:txBody>
      </p:sp>
      <p:sp>
        <p:nvSpPr>
          <p:cNvPr id="14" name="TextBox 13"/>
          <p:cNvSpPr txBox="1"/>
          <p:nvPr/>
        </p:nvSpPr>
        <p:spPr>
          <a:xfrm>
            <a:off x="5140025" y="2330831"/>
            <a:ext cx="3427619" cy="161798"/>
          </a:xfrm>
          <a:prstGeom prst="rect">
            <a:avLst/>
          </a:prstGeom>
          <a:noFill/>
        </p:spPr>
        <p:txBody>
          <a:bodyPr wrap="square" lIns="0" rIns="0" tIns="0" bIns="0">
            <a:noAutofit/>
          </a:bodyPr>
          <a:lstStyle/>
          <a:p>
            <a:r>
              <a:rPr sz="980" b="1" i="0">
                <a:solidFill>
                  <a:srgbClr val="0B0B0B"/>
                </a:solidFill>
                <a:latin typeface="Calibri"/>
              </a:rPr>
              <a:t>Tested and rejected: deflect phone → chat</a:t>
            </a:r>
          </a:p>
        </p:txBody>
      </p:sp>
      <p:sp>
        <p:nvSpPr>
          <p:cNvPr id="15" name="TextBox 14"/>
          <p:cNvSpPr txBox="1"/>
          <p:nvPr/>
        </p:nvSpPr>
        <p:spPr>
          <a:xfrm>
            <a:off x="5140025" y="2565781"/>
            <a:ext cx="3427619" cy="396240"/>
          </a:xfrm>
          <a:prstGeom prst="rect">
            <a:avLst/>
          </a:prstGeom>
          <a:noFill/>
        </p:spPr>
        <p:txBody>
          <a:bodyPr wrap="square" lIns="0" rIns="0" tIns="0" bIns="0">
            <a:noAutofit/>
          </a:bodyPr>
          <a:lstStyle/>
          <a:p>
            <a:r>
              <a:rPr sz="800" b="0" i="0">
                <a:solidFill>
                  <a:srgbClr val="52514E"/>
                </a:solidFill>
                <a:latin typeface="Calibri"/>
              </a:rPr>
              <a:t>The intuitive lever. Modelled end-to-end it </a:t>
            </a:r>
            <a:r>
              <a:rPr sz="800" b="1" i="0">
                <a:solidFill>
                  <a:srgbClr val="52514E"/>
                </a:solidFill>
                <a:latin typeface="Calibri"/>
              </a:rPr>
              <a:t>costs</a:t>
            </a:r>
            <a:r>
              <a:rPr sz="800" b="0" i="0">
                <a:solidFill>
                  <a:srgbClr val="52514E"/>
                </a:solidFill>
                <a:latin typeface="Calibri"/>
              </a:rPr>
              <a:t> FTE, because English chat consumes </a:t>
            </a:r>
            <a:r>
              <a:rPr sz="800" b="1" i="0">
                <a:solidFill>
                  <a:srgbClr val="52514E"/>
                </a:solidFill>
                <a:latin typeface="Calibri"/>
              </a:rPr>
              <a:t>958 agent-seconds</a:t>
            </a:r>
            <a:r>
              <a:rPr sz="800" b="0" i="0">
                <a:solidFill>
                  <a:srgbClr val="52514E"/>
                </a:solidFill>
                <a:latin typeface="Calibri"/>
              </a:rPr>
              <a:t> per contact against phone’s </a:t>
            </a:r>
            <a:r>
              <a:rPr sz="800" b="1" i="0">
                <a:solidFill>
                  <a:srgbClr val="52514E"/>
                </a:solidFill>
                <a:latin typeface="Calibri"/>
              </a:rPr>
              <a:t>458</a:t>
            </a:r>
            <a:r>
              <a:rPr sz="800" b="0" i="0">
                <a:solidFill>
                  <a:srgbClr val="52514E"/>
                </a:solidFill>
                <a:latin typeface="Calibri"/>
              </a:rPr>
              <a:t>.</a:t>
            </a:r>
          </a:p>
        </p:txBody>
      </p:sp>
      <p:graphicFrame>
        <p:nvGraphicFramePr>
          <p:cNvPr id="16" name="Table 15"/>
          <p:cNvGraphicFramePr>
            <a:graphicFrameLocks noGrp="1"/>
          </p:cNvGraphicFramePr>
          <p:nvPr/>
        </p:nvGraphicFramePr>
        <p:xfrm>
          <a:off x="5140025" y="3016884"/>
          <a:ext cx="3427619" cy="869084"/>
        </p:xfrm>
        <a:graphic>
          <a:graphicData uri="http://schemas.openxmlformats.org/drawingml/2006/table">
            <a:tbl>
              <a:tblPr firstRow="0" bandRow="0">
                <a:tableStyleId>{5C22544A-7EE6-4342-B048-85BDC9FD1C3A}</a:tableStyleId>
              </a:tblPr>
              <a:tblGrid>
                <a:gridCol w="618095"/>
                <a:gridCol w="674285"/>
                <a:gridCol w="674285"/>
                <a:gridCol w="730476"/>
                <a:gridCol w="730478"/>
              </a:tblGrid>
              <a:tr h="173736">
                <a:tc>
                  <a:txBody>
                    <a:bodyPr wrap="square"/>
                    <a:lstStyle/>
                    <a:p>
                      <a:pPr algn="l"/>
                      <a:r>
                        <a:rPr sz="680" b="1">
                          <a:solidFill>
                            <a:srgbClr val="898781"/>
                          </a:solidFill>
                          <a:latin typeface="Calibri"/>
                        </a:rPr>
                        <a:t>SHIFT</a:t>
                      </a:r>
                    </a:p>
                  </a:txBody>
                  <a:tcPr marL="31750" marR="31750" marT="12700" marB="12700" anchor="b">
                    <a:solidFill>
                      <a:srgbClr val="FCFCFB"/>
                    </a:solidFill>
                  </a:tcPr>
                </a:tc>
                <a:tc>
                  <a:txBody>
                    <a:bodyPr wrap="square"/>
                    <a:lstStyle/>
                    <a:p>
                      <a:pPr algn="r"/>
                      <a:r>
                        <a:rPr sz="680" b="1">
                          <a:solidFill>
                            <a:srgbClr val="898781"/>
                          </a:solidFill>
                          <a:latin typeface="Calibri"/>
                        </a:rPr>
                        <a:t>PHONE</a:t>
                      </a:r>
                    </a:p>
                  </a:txBody>
                  <a:tcPr marL="31750" marR="31750" marT="12700" marB="12700" anchor="b">
                    <a:solidFill>
                      <a:srgbClr val="FCFCFB"/>
                    </a:solidFill>
                  </a:tcPr>
                </a:tc>
                <a:tc>
                  <a:txBody>
                    <a:bodyPr wrap="square"/>
                    <a:lstStyle/>
                    <a:p>
                      <a:pPr algn="r"/>
                      <a:r>
                        <a:rPr sz="680" b="1">
                          <a:solidFill>
                            <a:srgbClr val="898781"/>
                          </a:solidFill>
                          <a:latin typeface="Calibri"/>
                        </a:rPr>
                        <a:t>CHAT</a:t>
                      </a:r>
                    </a:p>
                  </a:txBody>
                  <a:tcPr marL="31750" marR="31750" marT="12700" marB="12700" anchor="b">
                    <a:solidFill>
                      <a:srgbClr val="FCFCFB"/>
                    </a:solidFill>
                  </a:tcPr>
                </a:tc>
                <a:tc>
                  <a:txBody>
                    <a:bodyPr wrap="square"/>
                    <a:lstStyle/>
                    <a:p>
                      <a:pPr algn="r"/>
                      <a:r>
                        <a:rPr sz="680" b="1">
                          <a:solidFill>
                            <a:srgbClr val="898781"/>
                          </a:solidFill>
                          <a:latin typeface="Calibri"/>
                        </a:rPr>
                        <a:t>FTE</a:t>
                      </a:r>
                    </a:p>
                  </a:txBody>
                  <a:tcPr marL="31750" marR="31750" marT="12700" marB="12700" anchor="b">
                    <a:solidFill>
                      <a:srgbClr val="FCFCFB"/>
                    </a:solidFill>
                  </a:tcPr>
                </a:tc>
                <a:tc>
                  <a:txBody>
                    <a:bodyPr wrap="square"/>
                    <a:lstStyle/>
                    <a:p>
                      <a:pPr algn="r"/>
                      <a:r>
                        <a:rPr sz="680" b="1">
                          <a:solidFill>
                            <a:srgbClr val="898781"/>
                          </a:solidFill>
                          <a:latin typeface="Calibri"/>
                        </a:rPr>
                        <a:t>Δ</a:t>
                      </a:r>
                    </a:p>
                  </a:txBody>
                  <a:tcPr marL="31750" marR="31750" marT="12700" marB="12700" anchor="b">
                    <a:solidFill>
                      <a:srgbClr val="FCFCFB"/>
                    </a:solidFill>
                  </a:tcPr>
                </a:tc>
              </a:tr>
              <a:tr h="173837">
                <a:tc>
                  <a:txBody>
                    <a:bodyPr wrap="square"/>
                    <a:lstStyle/>
                    <a:p>
                      <a:pPr algn="l"/>
                      <a:r>
                        <a:rPr sz="760" b="0">
                          <a:solidFill>
                            <a:srgbClr val="52514E"/>
                          </a:solidFill>
                          <a:latin typeface="Calibri"/>
                        </a:rPr>
                        <a:t>0%</a:t>
                      </a:r>
                    </a:p>
                  </a:txBody>
                  <a:tcPr marL="31750" marR="31750" marT="12700" marB="12700" anchor="ctr">
                    <a:solidFill>
                      <a:srgbClr val="FCFCFB"/>
                    </a:solidFill>
                  </a:tcPr>
                </a:tc>
                <a:tc>
                  <a:txBody>
                    <a:bodyPr wrap="square"/>
                    <a:lstStyle/>
                    <a:p>
                      <a:pPr algn="r"/>
                      <a:r>
                        <a:rPr sz="760" b="0">
                          <a:solidFill>
                            <a:srgbClr val="52514E"/>
                          </a:solidFill>
                          <a:latin typeface="Calibri"/>
                        </a:rPr>
                        <a:t>11</a:t>
                      </a:r>
                    </a:p>
                  </a:txBody>
                  <a:tcPr marL="31750" marR="31750" marT="12700" marB="12700" anchor="ctr">
                    <a:solidFill>
                      <a:srgbClr val="FCFCFB"/>
                    </a:solidFill>
                  </a:tcPr>
                </a:tc>
                <a:tc>
                  <a:txBody>
                    <a:bodyPr wrap="square"/>
                    <a:lstStyle/>
                    <a:p>
                      <a:pPr algn="r"/>
                      <a:r>
                        <a:rPr sz="760" b="0">
                          <a:solidFill>
                            <a:srgbClr val="52514E"/>
                          </a:solidFill>
                          <a:latin typeface="Calibri"/>
                        </a:rPr>
                        <a:t>24</a:t>
                      </a:r>
                    </a:p>
                  </a:txBody>
                  <a:tcPr marL="31750" marR="31750" marT="12700" marB="12700" anchor="ctr">
                    <a:solidFill>
                      <a:srgbClr val="FCFCFB"/>
                    </a:solidFill>
                  </a:tcPr>
                </a:tc>
                <a:tc>
                  <a:txBody>
                    <a:bodyPr wrap="square"/>
                    <a:lstStyle/>
                    <a:p>
                      <a:pPr algn="r"/>
                      <a:r>
                        <a:rPr sz="760" b="0">
                          <a:solidFill>
                            <a:srgbClr val="52514E"/>
                          </a:solidFill>
                          <a:latin typeface="Calibri"/>
                        </a:rPr>
                        <a:t>159.2</a:t>
                      </a:r>
                    </a:p>
                  </a:txBody>
                  <a:tcPr marL="31750" marR="31750" marT="12700" marB="12700" anchor="ctr">
                    <a:solidFill>
                      <a:srgbClr val="FCFCFB"/>
                    </a:solidFill>
                  </a:tcPr>
                </a:tc>
                <a:tc>
                  <a:txBody>
                    <a:bodyPr wrap="square"/>
                    <a:lstStyle/>
                    <a:p>
                      <a:pPr algn="r"/>
                      <a:r>
                        <a:rPr sz="760" b="0">
                          <a:solidFill>
                            <a:srgbClr val="898781"/>
                          </a:solidFill>
                          <a:latin typeface="Calibri"/>
                        </a:rPr>
                        <a:t>0.0</a:t>
                      </a:r>
                    </a:p>
                  </a:txBody>
                  <a:tcPr marL="31750" marR="31750" marT="12700" marB="12700" anchor="ctr">
                    <a:solidFill>
                      <a:srgbClr val="FCFCFB"/>
                    </a:solidFill>
                  </a:tcPr>
                </a:tc>
              </a:tr>
              <a:tr h="173837">
                <a:tc>
                  <a:txBody>
                    <a:bodyPr wrap="square"/>
                    <a:lstStyle/>
                    <a:p>
                      <a:pPr algn="l"/>
                      <a:r>
                        <a:rPr sz="760" b="0">
                          <a:solidFill>
                            <a:srgbClr val="52514E"/>
                          </a:solidFill>
                          <a:latin typeface="Calibri"/>
                        </a:rPr>
                        <a:t>10%</a:t>
                      </a:r>
                    </a:p>
                  </a:txBody>
                  <a:tcPr marL="31750" marR="31750" marT="12700" marB="12700" anchor="ctr">
                    <a:solidFill>
                      <a:srgbClr val="FCFCFB"/>
                    </a:solidFill>
                  </a:tcPr>
                </a:tc>
                <a:tc>
                  <a:txBody>
                    <a:bodyPr wrap="square"/>
                    <a:lstStyle/>
                    <a:p>
                      <a:pPr algn="r"/>
                      <a:r>
                        <a:rPr sz="760" b="0">
                          <a:solidFill>
                            <a:srgbClr val="52514E"/>
                          </a:solidFill>
                          <a:latin typeface="Calibri"/>
                        </a:rPr>
                        <a:t>10</a:t>
                      </a:r>
                    </a:p>
                  </a:txBody>
                  <a:tcPr marL="31750" marR="31750" marT="12700" marB="12700" anchor="ctr">
                    <a:solidFill>
                      <a:srgbClr val="FCFCFB"/>
                    </a:solidFill>
                  </a:tcPr>
                </a:tc>
                <a:tc>
                  <a:txBody>
                    <a:bodyPr wrap="square"/>
                    <a:lstStyle/>
                    <a:p>
                      <a:pPr algn="r"/>
                      <a:r>
                        <a:rPr sz="760" b="0">
                          <a:solidFill>
                            <a:srgbClr val="52514E"/>
                          </a:solidFill>
                          <a:latin typeface="Calibri"/>
                        </a:rPr>
                        <a:t>26</a:t>
                      </a:r>
                    </a:p>
                  </a:txBody>
                  <a:tcPr marL="31750" marR="31750" marT="12700" marB="12700" anchor="ctr">
                    <a:solidFill>
                      <a:srgbClr val="FCFCFB"/>
                    </a:solidFill>
                  </a:tcPr>
                </a:tc>
                <a:tc>
                  <a:txBody>
                    <a:bodyPr wrap="square"/>
                    <a:lstStyle/>
                    <a:p>
                      <a:pPr algn="r"/>
                      <a:r>
                        <a:rPr sz="760" b="0">
                          <a:solidFill>
                            <a:srgbClr val="52514E"/>
                          </a:solidFill>
                          <a:latin typeface="Calibri"/>
                        </a:rPr>
                        <a:t>162.6</a:t>
                      </a:r>
                    </a:p>
                  </a:txBody>
                  <a:tcPr marL="31750" marR="31750" marT="12700" marB="12700" anchor="ctr">
                    <a:solidFill>
                      <a:srgbClr val="FCFCFB"/>
                    </a:solidFill>
                  </a:tcPr>
                </a:tc>
                <a:tc>
                  <a:txBody>
                    <a:bodyPr wrap="square"/>
                    <a:lstStyle/>
                    <a:p>
                      <a:pPr algn="r"/>
                      <a:r>
                        <a:rPr sz="760" b="0">
                          <a:solidFill>
                            <a:srgbClr val="D03B3B"/>
                          </a:solidFill>
                          <a:latin typeface="Calibri"/>
                        </a:rPr>
                        <a:t>+3.4</a:t>
                      </a:r>
                    </a:p>
                  </a:txBody>
                  <a:tcPr marL="31750" marR="31750" marT="12700" marB="12700" anchor="ctr">
                    <a:solidFill>
                      <a:srgbClr val="FCFCFB"/>
                    </a:solidFill>
                  </a:tcPr>
                </a:tc>
              </a:tr>
              <a:tr h="173837">
                <a:tc>
                  <a:txBody>
                    <a:bodyPr wrap="square"/>
                    <a:lstStyle/>
                    <a:p>
                      <a:pPr algn="l"/>
                      <a:r>
                        <a:rPr sz="760" b="0">
                          <a:solidFill>
                            <a:srgbClr val="52514E"/>
                          </a:solidFill>
                          <a:latin typeface="Calibri"/>
                        </a:rPr>
                        <a:t>20%</a:t>
                      </a:r>
                    </a:p>
                  </a:txBody>
                  <a:tcPr marL="31750" marR="31750" marT="12700" marB="12700" anchor="ctr">
                    <a:solidFill>
                      <a:srgbClr val="FCFCFB"/>
                    </a:solidFill>
                  </a:tcPr>
                </a:tc>
                <a:tc>
                  <a:txBody>
                    <a:bodyPr wrap="square"/>
                    <a:lstStyle/>
                    <a:p>
                      <a:pPr algn="r"/>
                      <a:r>
                        <a:rPr sz="760" b="0">
                          <a:solidFill>
                            <a:srgbClr val="52514E"/>
                          </a:solidFill>
                          <a:latin typeface="Calibri"/>
                        </a:rPr>
                        <a:t>9</a:t>
                      </a:r>
                    </a:p>
                  </a:txBody>
                  <a:tcPr marL="31750" marR="31750" marT="12700" marB="12700" anchor="ctr">
                    <a:solidFill>
                      <a:srgbClr val="FCFCFB"/>
                    </a:solidFill>
                  </a:tcPr>
                </a:tc>
                <a:tc>
                  <a:txBody>
                    <a:bodyPr wrap="square"/>
                    <a:lstStyle/>
                    <a:p>
                      <a:pPr algn="r"/>
                      <a:r>
                        <a:rPr sz="760" b="0">
                          <a:solidFill>
                            <a:srgbClr val="52514E"/>
                          </a:solidFill>
                          <a:latin typeface="Calibri"/>
                        </a:rPr>
                        <a:t>28</a:t>
                      </a:r>
                    </a:p>
                  </a:txBody>
                  <a:tcPr marL="31750" marR="31750" marT="12700" marB="12700" anchor="ctr">
                    <a:solidFill>
                      <a:srgbClr val="FCFCFB"/>
                    </a:solidFill>
                  </a:tcPr>
                </a:tc>
                <a:tc>
                  <a:txBody>
                    <a:bodyPr wrap="square"/>
                    <a:lstStyle/>
                    <a:p>
                      <a:pPr algn="r"/>
                      <a:r>
                        <a:rPr sz="760" b="0">
                          <a:solidFill>
                            <a:srgbClr val="52514E"/>
                          </a:solidFill>
                          <a:latin typeface="Calibri"/>
                        </a:rPr>
                        <a:t>166.1</a:t>
                      </a:r>
                    </a:p>
                  </a:txBody>
                  <a:tcPr marL="31750" marR="31750" marT="12700" marB="12700" anchor="ctr">
                    <a:solidFill>
                      <a:srgbClr val="FCFCFB"/>
                    </a:solidFill>
                  </a:tcPr>
                </a:tc>
                <a:tc>
                  <a:txBody>
                    <a:bodyPr wrap="square"/>
                    <a:lstStyle/>
                    <a:p>
                      <a:pPr algn="r"/>
                      <a:r>
                        <a:rPr sz="760" b="0">
                          <a:solidFill>
                            <a:srgbClr val="D03B3B"/>
                          </a:solidFill>
                          <a:latin typeface="Calibri"/>
                        </a:rPr>
                        <a:t>+6.8</a:t>
                      </a:r>
                    </a:p>
                  </a:txBody>
                  <a:tcPr marL="31750" marR="31750" marT="12700" marB="12700" anchor="ctr">
                    <a:solidFill>
                      <a:srgbClr val="FCFCFB"/>
                    </a:solidFill>
                  </a:tcPr>
                </a:tc>
              </a:tr>
              <a:tr h="173837">
                <a:tc>
                  <a:txBody>
                    <a:bodyPr wrap="square"/>
                    <a:lstStyle/>
                    <a:p>
                      <a:pPr algn="l"/>
                      <a:r>
                        <a:rPr sz="760" b="0">
                          <a:solidFill>
                            <a:srgbClr val="52514E"/>
                          </a:solidFill>
                          <a:latin typeface="Calibri"/>
                        </a:rPr>
                        <a:t>30%</a:t>
                      </a:r>
                    </a:p>
                  </a:txBody>
                  <a:tcPr marL="31750" marR="31750" marT="12700" marB="12700" anchor="ctr">
                    <a:solidFill>
                      <a:srgbClr val="FCFCFB"/>
                    </a:solidFill>
                  </a:tcPr>
                </a:tc>
                <a:tc>
                  <a:txBody>
                    <a:bodyPr wrap="square"/>
                    <a:lstStyle/>
                    <a:p>
                      <a:pPr algn="r"/>
                      <a:r>
                        <a:rPr sz="760" b="0">
                          <a:solidFill>
                            <a:srgbClr val="52514E"/>
                          </a:solidFill>
                          <a:latin typeface="Calibri"/>
                        </a:rPr>
                        <a:t>9</a:t>
                      </a:r>
                    </a:p>
                  </a:txBody>
                  <a:tcPr marL="31750" marR="31750" marT="12700" marB="12700" anchor="ctr">
                    <a:solidFill>
                      <a:srgbClr val="FCFCFB"/>
                    </a:solidFill>
                  </a:tcPr>
                </a:tc>
                <a:tc>
                  <a:txBody>
                    <a:bodyPr wrap="square"/>
                    <a:lstStyle/>
                    <a:p>
                      <a:pPr algn="r"/>
                      <a:r>
                        <a:rPr sz="760" b="0">
                          <a:solidFill>
                            <a:srgbClr val="52514E"/>
                          </a:solidFill>
                          <a:latin typeface="Calibri"/>
                        </a:rPr>
                        <a:t>30</a:t>
                      </a:r>
                    </a:p>
                  </a:txBody>
                  <a:tcPr marL="31750" marR="31750" marT="12700" marB="12700" anchor="ctr">
                    <a:solidFill>
                      <a:srgbClr val="FCFCFB"/>
                    </a:solidFill>
                  </a:tcPr>
                </a:tc>
                <a:tc>
                  <a:txBody>
                    <a:bodyPr wrap="square"/>
                    <a:lstStyle/>
                    <a:p>
                      <a:pPr algn="r"/>
                      <a:r>
                        <a:rPr sz="760" b="0">
                          <a:solidFill>
                            <a:srgbClr val="52514E"/>
                          </a:solidFill>
                          <a:latin typeface="Calibri"/>
                        </a:rPr>
                        <a:t>174.6</a:t>
                      </a:r>
                    </a:p>
                  </a:txBody>
                  <a:tcPr marL="31750" marR="31750" marT="12700" marB="12700" anchor="ctr">
                    <a:solidFill>
                      <a:srgbClr val="FCFCFB"/>
                    </a:solidFill>
                  </a:tcPr>
                </a:tc>
                <a:tc>
                  <a:txBody>
                    <a:bodyPr wrap="square"/>
                    <a:lstStyle/>
                    <a:p>
                      <a:pPr algn="r"/>
                      <a:r>
                        <a:rPr sz="760" b="0">
                          <a:solidFill>
                            <a:srgbClr val="D03B3B"/>
                          </a:solidFill>
                          <a:latin typeface="Calibri"/>
                        </a:rPr>
                        <a:t>+15.4</a:t>
                      </a:r>
                    </a:p>
                  </a:txBody>
                  <a:tcPr marL="31750" marR="31750" marT="12700" marB="12700" anchor="ctr">
                    <a:solidFill>
                      <a:srgbClr val="FCFCFB"/>
                    </a:solidFill>
                  </a:tcPr>
                </a:tc>
              </a:tr>
            </a:tbl>
          </a:graphicData>
        </a:graphic>
      </p:graphicFrame>
      <p:cxnSp>
        <p:nvCxnSpPr>
          <p:cNvPr id="17" name="Connector 16"/>
          <p:cNvCxnSpPr/>
          <p:nvPr/>
        </p:nvCxnSpPr>
        <p:spPr>
          <a:xfrm>
            <a:off x="5021153" y="2275967"/>
            <a:ext cx="0" cy="1655724"/>
          </a:xfrm>
          <a:prstGeom prst="line">
            <a:avLst/>
          </a:prstGeom>
          <a:ln w="28575">
            <a:solidFill>
              <a:srgbClr val="D03B3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87100" y="960120"/>
            <a:ext cx="2901674" cy="146304"/>
          </a:xfrm>
          <a:prstGeom prst="rect">
            <a:avLst/>
          </a:prstGeom>
          <a:noFill/>
        </p:spPr>
        <p:txBody>
          <a:bodyPr wrap="square" lIns="0" rIns="0" tIns="0" bIns="0">
            <a:noAutofit/>
          </a:bodyPr>
          <a:lstStyle/>
          <a:p>
            <a:r>
              <a:rPr sz="819" b="1" spc="60">
                <a:solidFill>
                  <a:srgbClr val="898781"/>
                </a:solidFill>
                <a:latin typeface="Calibri"/>
              </a:rPr>
              <a:t>STRATEGY 2 · CHAT CONCURRENCY −75.3 FTE (15%)</a:t>
            </a:r>
          </a:p>
        </p:txBody>
      </p:sp>
      <p:graphicFrame>
        <p:nvGraphicFramePr>
          <p:cNvPr id="19" name="Chart 18"/>
          <p:cNvGraphicFramePr>
            <a:graphicFrameLocks noGrp="1"/>
          </p:cNvGraphicFramePr>
          <p:nvPr/>
        </p:nvGraphicFramePr>
        <p:xfrm>
          <a:off x="8787100" y="1188720"/>
          <a:ext cx="2901674" cy="1234440"/>
        </p:xfrm>
        <a:graphic>
          <a:graphicData uri="http://schemas.openxmlformats.org/drawingml/2006/chart">
            <c:chart xmlns:c="http://schemas.openxmlformats.org/drawingml/2006/chart" r:id="rId3"/>
          </a:graphicData>
        </a:graphic>
      </p:graphicFrame>
      <p:sp>
        <p:nvSpPr>
          <p:cNvPr id="20" name="TextBox 19"/>
          <p:cNvSpPr txBox="1"/>
          <p:nvPr/>
        </p:nvSpPr>
        <p:spPr>
          <a:xfrm>
            <a:off x="8787100" y="2505456"/>
            <a:ext cx="2901674" cy="515112"/>
          </a:xfrm>
          <a:prstGeom prst="rect">
            <a:avLst/>
          </a:prstGeom>
          <a:noFill/>
        </p:spPr>
        <p:txBody>
          <a:bodyPr wrap="square" lIns="0" rIns="0" tIns="0" bIns="0">
            <a:noAutofit/>
          </a:bodyPr>
          <a:lstStyle/>
          <a:p>
            <a:r>
              <a:rPr sz="780" b="0" i="0">
                <a:solidFill>
                  <a:srgbClr val="52514E"/>
                </a:solidFill>
                <a:latin typeface="Calibri"/>
              </a:rPr>
              <a:t>Chat is </a:t>
            </a:r>
            <a:r>
              <a:rPr sz="780" b="1" i="0">
                <a:solidFill>
                  <a:srgbClr val="52514E"/>
                </a:solidFill>
                <a:latin typeface="Calibri"/>
              </a:rPr>
              <a:t>188 FTE — 39% of the entire operation</a:t>
            </a:r>
            <a:r>
              <a:rPr sz="780" b="0" i="0">
                <a:solidFill>
                  <a:srgbClr val="52514E"/>
                </a:solidFill>
                <a:latin typeface="Calibri"/>
              </a:rPr>
              <a:t>, the largest single line in the plan. The given 1.2 sits under a column headed “Chat concurrency </a:t>
            </a:r>
            <a:r>
              <a:rPr sz="780" b="0" i="1">
                <a:solidFill>
                  <a:srgbClr val="52514E"/>
                </a:solidFill>
                <a:latin typeface="Calibri"/>
              </a:rPr>
              <a:t>English</a:t>
            </a:r>
            <a:r>
              <a:rPr sz="780" b="0" i="0">
                <a:solidFill>
                  <a:srgbClr val="52514E"/>
                </a:solidFill>
                <a:latin typeface="Calibri"/>
              </a:rPr>
              <a:t>” yet repeats on every BPO and every language.</a:t>
            </a:r>
          </a:p>
        </p:txBody>
      </p:sp>
      <p:sp>
        <p:nvSpPr>
          <p:cNvPr id="21" name="TextBox 20"/>
          <p:cNvSpPr txBox="1"/>
          <p:nvPr/>
        </p:nvSpPr>
        <p:spPr>
          <a:xfrm>
            <a:off x="8787100" y="3066288"/>
            <a:ext cx="2901674" cy="515112"/>
          </a:xfrm>
          <a:prstGeom prst="rect">
            <a:avLst/>
          </a:prstGeom>
          <a:noFill/>
        </p:spPr>
        <p:txBody>
          <a:bodyPr wrap="square" lIns="0" rIns="0" tIns="0" bIns="0">
            <a:noAutofit/>
          </a:bodyPr>
          <a:lstStyle/>
          <a:p>
            <a:r>
              <a:rPr sz="780" b="1" i="0">
                <a:solidFill>
                  <a:srgbClr val="52514E"/>
                </a:solidFill>
                <a:latin typeface="Calibri"/>
              </a:rPr>
              <a:t>Ask whether it was measured.</a:t>
            </a:r>
            <a:r>
              <a:rPr sz="780" b="0" i="0">
                <a:solidFill>
                  <a:srgbClr val="52514E"/>
                </a:solidFill>
                <a:latin typeface="Calibri"/>
              </a:rPr>
              <a:t> If it was, the tooling or the routing rules are the constraint and there is a clear case to fix them. If it is a placeholder, the plan carries a 75 FTE error. Either answer is worth having.</a:t>
            </a:r>
          </a:p>
        </p:txBody>
      </p:sp>
      <p:cxnSp>
        <p:nvCxnSpPr>
          <p:cNvPr id="22" name="Connector 21"/>
          <p:cNvCxnSpPr/>
          <p:nvPr/>
        </p:nvCxnSpPr>
        <p:spPr>
          <a:xfrm>
            <a:off x="8787100" y="3654552"/>
            <a:ext cx="0" cy="786384"/>
          </a:xfrm>
          <a:prstGeom prst="line">
            <a:avLst/>
          </a:prstGeom>
          <a:ln w="28575">
            <a:solidFill>
              <a:srgbClr val="C3C2B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905972" y="3681984"/>
            <a:ext cx="2782802" cy="713232"/>
          </a:xfrm>
          <a:prstGeom prst="rect">
            <a:avLst/>
          </a:prstGeom>
          <a:noFill/>
        </p:spPr>
        <p:txBody>
          <a:bodyPr wrap="square" lIns="0" rIns="0" tIns="0" bIns="0">
            <a:noAutofit/>
          </a:bodyPr>
          <a:lstStyle/>
          <a:p>
            <a:r>
              <a:rPr sz="720" b="1" i="0">
                <a:solidFill>
                  <a:srgbClr val="52514E"/>
                </a:solidFill>
                <a:latin typeface="Calibri"/>
              </a:rPr>
              <a:t>Where the real prize is.</a:t>
            </a:r>
            <a:r>
              <a:rPr sz="720" b="0" i="0">
                <a:solidFill>
                  <a:srgbClr val="52514E"/>
                </a:solidFill>
                <a:latin typeface="Calibri"/>
              </a:rPr>
              <a:t> The top three handling-hour drivers — </a:t>
            </a:r>
            <a:r>
              <a:rPr sz="720" b="1" i="0">
                <a:solidFill>
                  <a:srgbClr val="52514E"/>
                </a:solidFill>
                <a:latin typeface="Calibri"/>
              </a:rPr>
              <a:t>1.1 Availability</a:t>
            </a:r>
            <a:r>
              <a:rPr sz="720" b="0" i="0">
                <a:solidFill>
                  <a:srgbClr val="52514E"/>
                </a:solidFill>
                <a:latin typeface="Calibri"/>
              </a:rPr>
              <a:t> (5,026 h), </a:t>
            </a:r>
            <a:r>
              <a:rPr sz="720" b="1" i="0">
                <a:solidFill>
                  <a:srgbClr val="52514E"/>
                </a:solidFill>
                <a:latin typeface="Calibri"/>
              </a:rPr>
              <a:t>3.3 Meeting point</a:t>
            </a:r>
            <a:r>
              <a:rPr sz="720" b="0" i="0">
                <a:solidFill>
                  <a:srgbClr val="52514E"/>
                </a:solidFill>
                <a:latin typeface="Calibri"/>
              </a:rPr>
              <a:t> (4,712 h) and </a:t>
            </a:r>
            <a:r>
              <a:rPr sz="720" b="1" i="0">
                <a:solidFill>
                  <a:srgbClr val="52514E"/>
                </a:solidFill>
                <a:latin typeface="Calibri"/>
              </a:rPr>
              <a:t>3.1 Voucher not received</a:t>
            </a:r>
            <a:r>
              <a:rPr sz="720" b="0" i="0">
                <a:solidFill>
                  <a:srgbClr val="52514E"/>
                </a:solidFill>
                <a:latin typeface="Calibri"/>
              </a:rPr>
              <a:t> (3,844 h, CSAT 65%) — are high-volume, low-CSAT and automatable. That is a product ask, not a scheduling change, so it sits beside these two rather than among them.</a:t>
            </a:r>
          </a:p>
        </p:txBody>
      </p:sp>
      <p:cxnSp>
        <p:nvCxnSpPr>
          <p:cNvPr id="24" name="Connector 23"/>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submission · </a:t>
            </a:r>
          </a:p>
        </p:txBody>
      </p:sp>
      <p:sp>
        <p:nvSpPr>
          <p:cNvPr id="26" name="TextBox 25"/>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2A78D6"/>
                </a:solidFill>
                <a:latin typeface="Calibri"/>
              </a:rPr>
              <a:t>05 · Section 2 + Task 1c</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900" b="1">
                <a:solidFill>
                  <a:srgbClr val="0B0B0B"/>
                </a:solidFill>
                <a:latin typeface="Calibri"/>
              </a:rPr>
              <a:t>Leading the transformation — and how AI was actually used</a:t>
            </a:r>
          </a:p>
        </p:txBody>
      </p:sp>
      <p:cxnSp>
        <p:nvCxnSpPr>
          <p:cNvPr id="4" name="Connector 3"/>
          <p:cNvCxnSpPr/>
          <p:nvPr/>
        </p:nvCxnSpPr>
        <p:spPr>
          <a:xfrm>
            <a:off x="502920" y="82296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960120"/>
            <a:ext cx="4083838" cy="146304"/>
          </a:xfrm>
          <a:prstGeom prst="rect">
            <a:avLst/>
          </a:prstGeom>
          <a:noFill/>
        </p:spPr>
        <p:txBody>
          <a:bodyPr wrap="square" lIns="0" rIns="0" tIns="0" bIns="0">
            <a:noAutofit/>
          </a:bodyPr>
          <a:lstStyle/>
          <a:p>
            <a:r>
              <a:rPr sz="819" b="1" spc="60">
                <a:solidFill>
                  <a:srgbClr val="898781"/>
                </a:solidFill>
                <a:latin typeface="Calibri"/>
              </a:rPr>
              <a:t>2A · 30 / 60 / 90</a:t>
            </a:r>
          </a:p>
        </p:txBody>
      </p:sp>
      <p:sp>
        <p:nvSpPr>
          <p:cNvPr id="6" name="TextBox 5"/>
          <p:cNvSpPr txBox="1"/>
          <p:nvPr/>
        </p:nvSpPr>
        <p:spPr>
          <a:xfrm>
            <a:off x="502920" y="1207008"/>
            <a:ext cx="4083838" cy="156845"/>
          </a:xfrm>
          <a:prstGeom prst="rect">
            <a:avLst/>
          </a:prstGeom>
          <a:noFill/>
        </p:spPr>
        <p:txBody>
          <a:bodyPr wrap="square" lIns="0" rIns="0" tIns="0" bIns="0">
            <a:noAutofit/>
          </a:bodyPr>
          <a:lstStyle/>
          <a:p>
            <a:r>
              <a:rPr sz="950" b="1" i="0">
                <a:solidFill>
                  <a:srgbClr val="0B0B0B"/>
                </a:solidFill>
                <a:latin typeface="Calibri"/>
              </a:rPr>
              <a:t>0–30 · Decide, then build</a:t>
            </a:r>
          </a:p>
        </p:txBody>
      </p:sp>
      <p:sp>
        <p:nvSpPr>
          <p:cNvPr id="7" name="TextBox 6"/>
          <p:cNvSpPr txBox="1"/>
          <p:nvPr/>
        </p:nvSpPr>
        <p:spPr>
          <a:xfrm>
            <a:off x="502920" y="1437005"/>
            <a:ext cx="4083838" cy="515112"/>
          </a:xfrm>
          <a:prstGeom prst="rect">
            <a:avLst/>
          </a:prstGeom>
          <a:noFill/>
        </p:spPr>
        <p:txBody>
          <a:bodyPr wrap="square" lIns="0" rIns="0" tIns="0" bIns="0">
            <a:noAutofit/>
          </a:bodyPr>
          <a:lstStyle/>
          <a:p>
            <a:r>
              <a:rPr sz="780" b="0" i="0">
                <a:solidFill>
                  <a:srgbClr val="52514E"/>
                </a:solidFill>
                <a:latin typeface="Calibri"/>
              </a:rPr>
              <a:t>Four decisions gate everything downstream — none are technical: </a:t>
            </a:r>
            <a:r>
              <a:rPr sz="780" b="1" i="0">
                <a:solidFill>
                  <a:srgbClr val="52514E"/>
                </a:solidFill>
                <a:latin typeface="Calibri"/>
              </a:rPr>
              <a:t>who owns the AHT definition</a:t>
            </a:r>
            <a:r>
              <a:rPr sz="780" b="0" i="0">
                <a:solidFill>
                  <a:srgbClr val="52514E"/>
                </a:solidFill>
                <a:latin typeface="Calibri"/>
              </a:rPr>
              <a:t> (the ±78 FTE question is unresolvable without an owner); </a:t>
            </a:r>
            <a:r>
              <a:rPr sz="780" b="1" i="0">
                <a:solidFill>
                  <a:srgbClr val="52514E"/>
                </a:solidFill>
                <a:latin typeface="Calibri"/>
              </a:rPr>
              <a:t>forecast granularity</a:t>
            </a:r>
            <a:r>
              <a:rPr sz="780" b="0" i="0">
                <a:solidFill>
                  <a:srgbClr val="52514E"/>
                </a:solidFill>
                <a:latin typeface="Calibri"/>
              </a:rPr>
              <a:t> (language × channel × interval); </a:t>
            </a:r>
            <a:r>
              <a:rPr sz="780" b="1" i="0">
                <a:solidFill>
                  <a:srgbClr val="52514E"/>
                </a:solidFill>
                <a:latin typeface="Calibri"/>
              </a:rPr>
              <a:t>who signs off assumptions</a:t>
            </a:r>
            <a:r>
              <a:rPr sz="780" b="0" i="0">
                <a:solidFill>
                  <a:srgbClr val="52514E"/>
                </a:solidFill>
                <a:latin typeface="Calibri"/>
              </a:rPr>
              <a:t>; </a:t>
            </a:r>
            <a:r>
              <a:rPr sz="780" b="1" i="0">
                <a:solidFill>
                  <a:srgbClr val="52514E"/>
                </a:solidFill>
                <a:latin typeface="Calibri"/>
              </a:rPr>
              <a:t>where the model lives</a:t>
            </a:r>
            <a:r>
              <a:rPr sz="780" b="0" i="0">
                <a:solidFill>
                  <a:srgbClr val="52514E"/>
                </a:solidFill>
                <a:latin typeface="Calibri"/>
              </a:rPr>
              <a:t>. Baseline the manual model's accuracy in week 1.</a:t>
            </a:r>
          </a:p>
        </p:txBody>
      </p:sp>
      <p:sp>
        <p:nvSpPr>
          <p:cNvPr id="8" name="TextBox 7"/>
          <p:cNvSpPr txBox="1"/>
          <p:nvPr/>
        </p:nvSpPr>
        <p:spPr>
          <a:xfrm>
            <a:off x="502920" y="2006981"/>
            <a:ext cx="4083838" cy="156845"/>
          </a:xfrm>
          <a:prstGeom prst="rect">
            <a:avLst/>
          </a:prstGeom>
          <a:noFill/>
        </p:spPr>
        <p:txBody>
          <a:bodyPr wrap="square" lIns="0" rIns="0" tIns="0" bIns="0">
            <a:noAutofit/>
          </a:bodyPr>
          <a:lstStyle/>
          <a:p>
            <a:r>
              <a:rPr sz="950" b="1" i="0">
                <a:solidFill>
                  <a:srgbClr val="0B0B0B"/>
                </a:solidFill>
                <a:latin typeface="Calibri"/>
              </a:rPr>
              <a:t>31–60 · Shadow, don't switch</a:t>
            </a:r>
          </a:p>
        </p:txBody>
      </p:sp>
      <p:sp>
        <p:nvSpPr>
          <p:cNvPr id="9" name="TextBox 8"/>
          <p:cNvSpPr txBox="1"/>
          <p:nvPr/>
        </p:nvSpPr>
        <p:spPr>
          <a:xfrm>
            <a:off x="502920" y="2236978"/>
            <a:ext cx="4083838" cy="386334"/>
          </a:xfrm>
          <a:prstGeom prst="rect">
            <a:avLst/>
          </a:prstGeom>
          <a:noFill/>
        </p:spPr>
        <p:txBody>
          <a:bodyPr wrap="square" lIns="0" rIns="0" tIns="0" bIns="0">
            <a:noAutofit/>
          </a:bodyPr>
          <a:lstStyle/>
          <a:p>
            <a:r>
              <a:rPr sz="780" b="0" i="0">
                <a:solidFill>
                  <a:srgbClr val="52514E"/>
                </a:solidFill>
                <a:latin typeface="Calibri"/>
              </a:rPr>
              <a:t>New model runs in parallel on English — 59% of volume, all of the growth, all of the forecast risk (σ 19.5% vs under 9% elsewhere). Weekly reconciliation against the manual plan. The manual plan stays </a:t>
            </a:r>
            <a:r>
              <a:rPr sz="780" b="0" i="1">
                <a:solidFill>
                  <a:srgbClr val="52514E"/>
                </a:solidFill>
                <a:latin typeface="Calibri"/>
              </a:rPr>
              <a:t>the</a:t>
            </a:r>
            <a:r>
              <a:rPr sz="780" b="0" i="0">
                <a:solidFill>
                  <a:srgbClr val="52514E"/>
                </a:solidFill>
                <a:latin typeface="Calibri"/>
              </a:rPr>
              <a:t> plan.</a:t>
            </a:r>
          </a:p>
        </p:txBody>
      </p:sp>
      <p:sp>
        <p:nvSpPr>
          <p:cNvPr id="10" name="TextBox 9"/>
          <p:cNvSpPr txBox="1"/>
          <p:nvPr/>
        </p:nvSpPr>
        <p:spPr>
          <a:xfrm>
            <a:off x="502920" y="2678176"/>
            <a:ext cx="4083838" cy="156845"/>
          </a:xfrm>
          <a:prstGeom prst="rect">
            <a:avLst/>
          </a:prstGeom>
          <a:noFill/>
        </p:spPr>
        <p:txBody>
          <a:bodyPr wrap="square" lIns="0" rIns="0" tIns="0" bIns="0">
            <a:noAutofit/>
          </a:bodyPr>
          <a:lstStyle/>
          <a:p>
            <a:r>
              <a:rPr sz="950" b="1" i="0">
                <a:solidFill>
                  <a:srgbClr val="0B0B0B"/>
                </a:solidFill>
                <a:latin typeface="Calibri"/>
              </a:rPr>
              <a:t>61–90 · Cut over, then extend</a:t>
            </a:r>
          </a:p>
        </p:txBody>
      </p:sp>
      <p:sp>
        <p:nvSpPr>
          <p:cNvPr id="11" name="TextBox 10"/>
          <p:cNvSpPr txBox="1"/>
          <p:nvPr/>
        </p:nvSpPr>
        <p:spPr>
          <a:xfrm>
            <a:off x="502920" y="2908173"/>
            <a:ext cx="4083838" cy="257556"/>
          </a:xfrm>
          <a:prstGeom prst="rect">
            <a:avLst/>
          </a:prstGeom>
          <a:noFill/>
        </p:spPr>
        <p:txBody>
          <a:bodyPr wrap="square" lIns="0" rIns="0" tIns="0" bIns="0">
            <a:noAutofit/>
          </a:bodyPr>
          <a:lstStyle/>
          <a:p>
            <a:r>
              <a:rPr sz="780" b="0" i="0">
                <a:solidFill>
                  <a:srgbClr val="52514E"/>
                </a:solidFill>
                <a:latin typeface="Calibri"/>
              </a:rPr>
              <a:t>English cuts over once it has beaten the baseline for six consecutive weeks. DE/IT/ES/FR follow. Escalation and override rules written down before, not after.</a:t>
            </a:r>
          </a:p>
        </p:txBody>
      </p:sp>
      <p:cxnSp>
        <p:nvCxnSpPr>
          <p:cNvPr id="12" name="Connector 11"/>
          <p:cNvCxnSpPr/>
          <p:nvPr/>
        </p:nvCxnSpPr>
        <p:spPr>
          <a:xfrm>
            <a:off x="502920" y="3238881"/>
            <a:ext cx="0" cy="449579"/>
          </a:xfrm>
          <a:prstGeom prst="line">
            <a:avLst/>
          </a:prstGeom>
          <a:ln w="28575">
            <a:solidFill>
              <a:srgbClr val="2A78D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3266312"/>
            <a:ext cx="3964966" cy="376427"/>
          </a:xfrm>
          <a:prstGeom prst="rect">
            <a:avLst/>
          </a:prstGeom>
          <a:noFill/>
        </p:spPr>
        <p:txBody>
          <a:bodyPr wrap="square" lIns="0" rIns="0" tIns="0" bIns="0">
            <a:noAutofit/>
          </a:bodyPr>
          <a:lstStyle/>
          <a:p>
            <a:r>
              <a:rPr sz="760" b="1" i="0">
                <a:solidFill>
                  <a:srgbClr val="52514E"/>
                </a:solidFill>
                <a:latin typeface="Calibri"/>
              </a:rPr>
              <a:t>"Done" at 90 days:</a:t>
            </a:r>
            <a:r>
              <a:rPr sz="760" b="0" i="0">
                <a:solidFill>
                  <a:srgbClr val="52514E"/>
                </a:solidFill>
                <a:latin typeface="Calibri"/>
              </a:rPr>
              <a:t> the model produces the weekly plan unaided, beats the manual baseline on MAPE for six straight weeks, the three specialists run it without me, and every assumption is versioned and dated.</a:t>
            </a:r>
          </a:p>
        </p:txBody>
      </p:sp>
      <p:sp>
        <p:nvSpPr>
          <p:cNvPr id="14" name="TextBox 13"/>
          <p:cNvSpPr txBox="1"/>
          <p:nvPr/>
        </p:nvSpPr>
        <p:spPr>
          <a:xfrm>
            <a:off x="4806214" y="960120"/>
            <a:ext cx="2579266" cy="146304"/>
          </a:xfrm>
          <a:prstGeom prst="rect">
            <a:avLst/>
          </a:prstGeom>
          <a:noFill/>
        </p:spPr>
        <p:txBody>
          <a:bodyPr wrap="square" lIns="0" rIns="0" tIns="0" bIns="0">
            <a:noAutofit/>
          </a:bodyPr>
          <a:lstStyle/>
          <a:p>
            <a:r>
              <a:rPr sz="819" b="1" spc="60">
                <a:solidFill>
                  <a:srgbClr val="898781"/>
                </a:solidFill>
                <a:latin typeface="Calibri"/>
              </a:rPr>
              <a:t>2B · BRINGING THREE SPECIALISTS ALONG</a:t>
            </a:r>
          </a:p>
        </p:txBody>
      </p:sp>
      <p:sp>
        <p:nvSpPr>
          <p:cNvPr id="15" name="TextBox 14"/>
          <p:cNvSpPr txBox="1"/>
          <p:nvPr/>
        </p:nvSpPr>
        <p:spPr>
          <a:xfrm>
            <a:off x="4806214" y="1197864"/>
            <a:ext cx="2579266" cy="376427"/>
          </a:xfrm>
          <a:prstGeom prst="rect">
            <a:avLst/>
          </a:prstGeom>
          <a:noFill/>
        </p:spPr>
        <p:txBody>
          <a:bodyPr wrap="square" lIns="0" rIns="0" tIns="0" bIns="0">
            <a:noAutofit/>
          </a:bodyPr>
          <a:lstStyle/>
          <a:p>
            <a:r>
              <a:rPr sz="760" b="1" i="0">
                <a:solidFill>
                  <a:srgbClr val="52514E"/>
                </a:solidFill>
                <a:latin typeface="Calibri"/>
              </a:rPr>
              <a:t>Assess with an artefact, not an opinion.</a:t>
            </a:r>
            <a:r>
              <a:rPr sz="760" b="0" i="0">
                <a:solidFill>
                  <a:srgbClr val="52514E"/>
                </a:solidFill>
                <a:latin typeface="Calibri"/>
              </a:rPr>
              <a:t> Give all three the same task on this dataset — clean it, forecast one language, document the assumptions.</a:t>
            </a:r>
          </a:p>
        </p:txBody>
      </p:sp>
      <p:sp>
        <p:nvSpPr>
          <p:cNvPr id="16" name="TextBox 15"/>
          <p:cNvSpPr txBox="1"/>
          <p:nvPr/>
        </p:nvSpPr>
        <p:spPr>
          <a:xfrm>
            <a:off x="4806214" y="1620012"/>
            <a:ext cx="2579266" cy="376427"/>
          </a:xfrm>
          <a:prstGeom prst="rect">
            <a:avLst/>
          </a:prstGeom>
          <a:noFill/>
        </p:spPr>
        <p:txBody>
          <a:bodyPr wrap="square" lIns="0" rIns="0" tIns="0" bIns="0">
            <a:noAutofit/>
          </a:bodyPr>
          <a:lstStyle/>
          <a:p>
            <a:r>
              <a:rPr sz="760" b="1" i="0">
                <a:solidFill>
                  <a:srgbClr val="52514E"/>
                </a:solidFill>
                <a:latin typeface="Calibri"/>
              </a:rPr>
              <a:t>Set the expectation explicitly:</a:t>
            </a:r>
            <a:r>
              <a:rPr sz="760" b="0" i="0">
                <a:solidFill>
                  <a:srgbClr val="52514E"/>
                </a:solidFill>
                <a:latin typeface="Calibri"/>
              </a:rPr>
              <a:t> AI is the tool, they own the judgement. The two things AI got wrong were both plausible-sounding domain defaults.</a:t>
            </a:r>
          </a:p>
        </p:txBody>
      </p:sp>
      <p:sp>
        <p:nvSpPr>
          <p:cNvPr id="17" name="TextBox 16"/>
          <p:cNvSpPr txBox="1"/>
          <p:nvPr/>
        </p:nvSpPr>
        <p:spPr>
          <a:xfrm>
            <a:off x="4806214" y="2042160"/>
            <a:ext cx="2579266" cy="250952"/>
          </a:xfrm>
          <a:prstGeom prst="rect">
            <a:avLst/>
          </a:prstGeom>
          <a:noFill/>
        </p:spPr>
        <p:txBody>
          <a:bodyPr wrap="square" lIns="0" rIns="0" tIns="0" bIns="0">
            <a:noAutofit/>
          </a:bodyPr>
          <a:lstStyle/>
          <a:p>
            <a:r>
              <a:rPr sz="760" b="1" i="0">
                <a:solidFill>
                  <a:srgbClr val="52514E"/>
                </a:solidFill>
                <a:latin typeface="Calibri"/>
              </a:rPr>
              <a:t>Protect BAU:</a:t>
            </a:r>
            <a:r>
              <a:rPr sz="760" b="0" i="0">
                <a:solidFill>
                  <a:srgbClr val="52514E"/>
                </a:solidFill>
                <a:latin typeface="Calibri"/>
              </a:rPr>
              <a:t> six weeks of shadow running, paired shadowing, and a written prompt playbook.</a:t>
            </a:r>
          </a:p>
        </p:txBody>
      </p:sp>
      <p:sp>
        <p:nvSpPr>
          <p:cNvPr id="18" name="TextBox 17"/>
          <p:cNvSpPr txBox="1"/>
          <p:nvPr/>
        </p:nvSpPr>
        <p:spPr>
          <a:xfrm>
            <a:off x="4806214" y="2384552"/>
            <a:ext cx="2579266" cy="146304"/>
          </a:xfrm>
          <a:prstGeom prst="rect">
            <a:avLst/>
          </a:prstGeom>
          <a:noFill/>
        </p:spPr>
        <p:txBody>
          <a:bodyPr wrap="square" lIns="0" rIns="0" tIns="0" bIns="0">
            <a:noAutofit/>
          </a:bodyPr>
          <a:lstStyle/>
          <a:p>
            <a:r>
              <a:rPr sz="819" b="1" spc="60">
                <a:solidFill>
                  <a:srgbClr val="898781"/>
                </a:solidFill>
                <a:latin typeface="Calibri"/>
              </a:rPr>
              <a:t>2C · WHAT I WOULD MEASURE</a:t>
            </a:r>
          </a:p>
        </p:txBody>
      </p:sp>
      <p:sp>
        <p:nvSpPr>
          <p:cNvPr id="19" name="TextBox 18"/>
          <p:cNvSpPr txBox="1"/>
          <p:nvPr/>
        </p:nvSpPr>
        <p:spPr>
          <a:xfrm>
            <a:off x="4806214" y="2622296"/>
            <a:ext cx="2579266" cy="361569"/>
          </a:xfrm>
          <a:prstGeom prst="rect">
            <a:avLst/>
          </a:prstGeom>
          <a:noFill/>
        </p:spPr>
        <p:txBody>
          <a:bodyPr wrap="square" lIns="0" rIns="0" tIns="0" bIns="0">
            <a:noAutofit/>
          </a:bodyPr>
          <a:lstStyle/>
          <a:p>
            <a:r>
              <a:rPr sz="730" b="1" i="0">
                <a:solidFill>
                  <a:srgbClr val="52514E"/>
                </a:solidFill>
                <a:latin typeface="Calibri"/>
              </a:rPr>
              <a:t>Leading</a:t>
            </a:r>
            <a:r>
              <a:rPr sz="730" b="0" i="0">
                <a:solidFill>
                  <a:srgbClr val="52514E"/>
                </a:solidFill>
                <a:latin typeface="Calibri"/>
              </a:rPr>
              <a:t> — inputs with a named owner · time to produce a plan · open data-quality items (</a:t>
            </a:r>
            <a:r>
              <a:rPr sz="730" b="1" i="0">
                <a:solidFill>
                  <a:srgbClr val="52514E"/>
                </a:solidFill>
                <a:latin typeface="Calibri"/>
              </a:rPr>
              <a:t>starts at 12</a:t>
            </a:r>
            <a:r>
              <a:rPr sz="730" b="0" i="0">
                <a:solidFill>
                  <a:srgbClr val="52514E"/>
                </a:solidFill>
                <a:latin typeface="Calibri"/>
              </a:rPr>
              <a:t>) · specialists running it solo (0→3).</a:t>
            </a:r>
          </a:p>
        </p:txBody>
      </p:sp>
      <p:sp>
        <p:nvSpPr>
          <p:cNvPr id="20" name="TextBox 19"/>
          <p:cNvSpPr txBox="1"/>
          <p:nvPr/>
        </p:nvSpPr>
        <p:spPr>
          <a:xfrm>
            <a:off x="4806214" y="3020441"/>
            <a:ext cx="2579266" cy="361569"/>
          </a:xfrm>
          <a:prstGeom prst="rect">
            <a:avLst/>
          </a:prstGeom>
          <a:noFill/>
        </p:spPr>
        <p:txBody>
          <a:bodyPr wrap="square" lIns="0" rIns="0" tIns="0" bIns="0">
            <a:noAutofit/>
          </a:bodyPr>
          <a:lstStyle/>
          <a:p>
            <a:r>
              <a:rPr sz="730" b="1" i="0">
                <a:solidFill>
                  <a:srgbClr val="52514E"/>
                </a:solidFill>
                <a:latin typeface="Calibri"/>
              </a:rPr>
              <a:t>Lagging</a:t>
            </a:r>
            <a:r>
              <a:rPr sz="730" b="0" i="0">
                <a:solidFill>
                  <a:srgbClr val="52514E"/>
                </a:solidFill>
                <a:latin typeface="Calibri"/>
              </a:rPr>
              <a:t> — forecast MAPE </a:t>
            </a:r>
            <a:r>
              <a:rPr sz="730" b="0" i="1">
                <a:solidFill>
                  <a:srgbClr val="52514E"/>
                </a:solidFill>
                <a:latin typeface="Calibri"/>
              </a:rPr>
              <a:t>and BIAS</a:t>
            </a:r>
            <a:r>
              <a:rPr sz="730" b="0" i="0">
                <a:solidFill>
                  <a:srgbClr val="52514E"/>
                </a:solidFill>
                <a:latin typeface="Calibri"/>
              </a:rPr>
              <a:t> · SLA attainment (baseline </a:t>
            </a:r>
            <a:r>
              <a:rPr sz="730" b="1" i="0">
                <a:solidFill>
                  <a:srgbClr val="52514E"/>
                </a:solidFill>
                <a:latin typeface="Calibri"/>
              </a:rPr>
              <a:t>92%, falling</a:t>
            </a:r>
            <a:r>
              <a:rPr sz="730" b="0" i="0">
                <a:solidFill>
                  <a:srgbClr val="52514E"/>
                </a:solidFill>
                <a:latin typeface="Calibri"/>
              </a:rPr>
              <a:t>) · FTE plan-vs-actual · cost per contact.</a:t>
            </a:r>
          </a:p>
        </p:txBody>
      </p:sp>
      <p:cxnSp>
        <p:nvCxnSpPr>
          <p:cNvPr id="21" name="Connector 20"/>
          <p:cNvCxnSpPr/>
          <p:nvPr/>
        </p:nvCxnSpPr>
        <p:spPr>
          <a:xfrm>
            <a:off x="4806214" y="3455162"/>
            <a:ext cx="0" cy="429768"/>
          </a:xfrm>
          <a:prstGeom prst="line">
            <a:avLst/>
          </a:prstGeom>
          <a:ln w="28575">
            <a:solidFill>
              <a:srgbClr val="2A78D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925086" y="3482594"/>
            <a:ext cx="2460394" cy="356616"/>
          </a:xfrm>
          <a:prstGeom prst="rect">
            <a:avLst/>
          </a:prstGeom>
          <a:noFill/>
        </p:spPr>
        <p:txBody>
          <a:bodyPr wrap="square" lIns="0" rIns="0" tIns="0" bIns="0">
            <a:noAutofit/>
          </a:bodyPr>
          <a:lstStyle/>
          <a:p>
            <a:r>
              <a:rPr sz="720" b="1" i="0">
                <a:solidFill>
                  <a:srgbClr val="52514E"/>
                </a:solidFill>
                <a:latin typeface="Calibri"/>
              </a:rPr>
              <a:t>Lead with bias, not accuracy.</a:t>
            </a:r>
            <a:r>
              <a:rPr sz="720" b="0" i="0">
                <a:solidFill>
                  <a:srgbClr val="52514E"/>
                </a:solidFill>
                <a:latin typeface="Calibri"/>
              </a:rPr>
              <a:t> Accuracy hides direction — a workload-only model is short by 34%, every single month.</a:t>
            </a:r>
          </a:p>
        </p:txBody>
      </p:sp>
      <p:sp>
        <p:nvSpPr>
          <p:cNvPr id="23" name="TextBox 22"/>
          <p:cNvSpPr txBox="1"/>
          <p:nvPr/>
        </p:nvSpPr>
        <p:spPr>
          <a:xfrm>
            <a:off x="7604936" y="960120"/>
            <a:ext cx="4083838" cy="146304"/>
          </a:xfrm>
          <a:prstGeom prst="rect">
            <a:avLst/>
          </a:prstGeom>
          <a:noFill/>
        </p:spPr>
        <p:txBody>
          <a:bodyPr wrap="square" lIns="0" rIns="0" tIns="0" bIns="0">
            <a:noAutofit/>
          </a:bodyPr>
          <a:lstStyle/>
          <a:p>
            <a:r>
              <a:rPr sz="819" b="1" spc="60">
                <a:solidFill>
                  <a:srgbClr val="898781"/>
                </a:solidFill>
                <a:latin typeface="Calibri"/>
              </a:rPr>
              <a:t>1C · HOW AI WAS USED — AND WHERE IT WAS WRONG</a:t>
            </a:r>
          </a:p>
        </p:txBody>
      </p:sp>
      <p:graphicFrame>
        <p:nvGraphicFramePr>
          <p:cNvPr id="24" name="Table 23"/>
          <p:cNvGraphicFramePr>
            <a:graphicFrameLocks noGrp="1"/>
          </p:cNvGraphicFramePr>
          <p:nvPr/>
        </p:nvGraphicFramePr>
        <p:xfrm>
          <a:off x="7604936" y="1197864"/>
          <a:ext cx="4083838" cy="1969308"/>
        </p:xfrm>
        <a:graphic>
          <a:graphicData uri="http://schemas.openxmlformats.org/drawingml/2006/table">
            <a:tbl>
              <a:tblPr firstRow="0" bandRow="0">
                <a:tableStyleId>{5C22544A-7EE6-4342-B048-85BDC9FD1C3A}</a:tableStyleId>
              </a:tblPr>
              <a:tblGrid>
                <a:gridCol w="1390242"/>
                <a:gridCol w="738566"/>
                <a:gridCol w="1955030"/>
              </a:tblGrid>
              <a:tr h="224028">
                <a:tc>
                  <a:txBody>
                    <a:bodyPr wrap="square"/>
                    <a:lstStyle/>
                    <a:p>
                      <a:pPr algn="l"/>
                      <a:r>
                        <a:rPr sz="680" b="1">
                          <a:solidFill>
                            <a:srgbClr val="898781"/>
                          </a:solidFill>
                          <a:latin typeface="Calibri"/>
                        </a:rPr>
                        <a:t>WHERE</a:t>
                      </a:r>
                    </a:p>
                  </a:txBody>
                  <a:tcPr marL="31750" marR="31750" marT="12700" marB="12700" anchor="b">
                    <a:solidFill>
                      <a:srgbClr val="FCFCFB"/>
                    </a:solidFill>
                  </a:tcPr>
                </a:tc>
                <a:tc>
                  <a:txBody>
                    <a:bodyPr wrap="square"/>
                    <a:lstStyle/>
                    <a:p>
                      <a:pPr algn="l"/>
                      <a:r>
                        <a:rPr sz="680" b="1">
                          <a:solidFill>
                            <a:srgbClr val="898781"/>
                          </a:solidFill>
                          <a:latin typeface="Calibri"/>
                        </a:rPr>
                        <a:t>VERDICT</a:t>
                      </a:r>
                    </a:p>
                  </a:txBody>
                  <a:tcPr marL="31750" marR="31750" marT="12700" marB="12700" anchor="b">
                    <a:solidFill>
                      <a:srgbClr val="FCFCFB"/>
                    </a:solidFill>
                  </a:tcPr>
                </a:tc>
                <a:tc>
                  <a:txBody>
                    <a:bodyPr wrap="square"/>
                    <a:lstStyle/>
                    <a:p>
                      <a:pPr algn="l"/>
                      <a:r>
                        <a:rPr sz="680" b="1">
                          <a:solidFill>
                            <a:srgbClr val="898781"/>
                          </a:solidFill>
                          <a:latin typeface="Calibri"/>
                        </a:rPr>
                        <a:t>WHAT HAPPENED</a:t>
                      </a:r>
                    </a:p>
                  </a:txBody>
                  <a:tcPr marL="31750" marR="31750" marT="12700" marB="12700" anchor="b">
                    <a:solidFill>
                      <a:srgbClr val="FCFCFB"/>
                    </a:solidFill>
                  </a:tcPr>
                </a:tc>
              </a:tr>
              <a:tr h="290880">
                <a:tc>
                  <a:txBody>
                    <a:bodyPr wrap="square"/>
                    <a:lstStyle/>
                    <a:p>
                      <a:pPr algn="l"/>
                      <a:r>
                        <a:rPr sz="740" b="1">
                          <a:solidFill>
                            <a:srgbClr val="52514E"/>
                          </a:solidFill>
                          <a:latin typeface="Calibri"/>
                        </a:rPr>
                        <a:t>Sheet parsing, anomaly sweep</a:t>
                      </a:r>
                    </a:p>
                  </a:txBody>
                  <a:tcPr marL="31750" marR="31750" marT="12700" marB="12700" anchor="ctr">
                    <a:solidFill>
                      <a:srgbClr val="FCFCFB"/>
                    </a:solidFill>
                  </a:tcPr>
                </a:tc>
                <a:tc>
                  <a:txBody>
                    <a:bodyPr wrap="square"/>
                    <a:lstStyle/>
                    <a:p>
                      <a:pPr algn="l"/>
                      <a:r>
                        <a:rPr sz="740" b="1">
                          <a:solidFill>
                            <a:srgbClr val="0A6B0A"/>
                          </a:solidFill>
                          <a:latin typeface="Calibri"/>
                        </a:rPr>
                        <a:t>ACCEPTED</a:t>
                      </a:r>
                    </a:p>
                  </a:txBody>
                  <a:tcPr marL="31750" marR="31750" marT="12700" marB="12700" anchor="ctr">
                    <a:solidFill>
                      <a:srgbClr val="FCFCFB"/>
                    </a:solidFill>
                  </a:tcPr>
                </a:tc>
                <a:tc>
                  <a:txBody>
                    <a:bodyPr wrap="square"/>
                    <a:lstStyle/>
                    <a:p>
                      <a:pPr algn="l"/>
                      <a:r>
                        <a:rPr sz="740" b="0">
                          <a:solidFill>
                            <a:srgbClr val="898781"/>
                          </a:solidFill>
                          <a:latin typeface="Calibri"/>
                        </a:rPr>
                        <a:t>Deterministic Python, verified independently.</a:t>
                      </a:r>
                    </a:p>
                  </a:txBody>
                  <a:tcPr marL="31750" marR="31750" marT="12700" marB="12700" anchor="ctr">
                    <a:solidFill>
                      <a:srgbClr val="FCFCFB"/>
                    </a:solidFill>
                  </a:tcPr>
                </a:tc>
              </a:tr>
              <a:tr h="290880">
                <a:tc>
                  <a:txBody>
                    <a:bodyPr wrap="square"/>
                    <a:lstStyle/>
                    <a:p>
                      <a:pPr algn="l"/>
                      <a:r>
                        <a:rPr sz="740" b="1">
                          <a:solidFill>
                            <a:srgbClr val="52514E"/>
                          </a:solidFill>
                          <a:latin typeface="Calibri"/>
                        </a:rPr>
                        <a:t>Erlang C implementation</a:t>
                      </a:r>
                    </a:p>
                  </a:txBody>
                  <a:tcPr marL="31750" marR="31750" marT="12700" marB="12700" anchor="ctr">
                    <a:solidFill>
                      <a:srgbClr val="FCFCFB"/>
                    </a:solidFill>
                  </a:tcPr>
                </a:tc>
                <a:tc>
                  <a:txBody>
                    <a:bodyPr wrap="square"/>
                    <a:lstStyle/>
                    <a:p>
                      <a:pPr algn="l"/>
                      <a:r>
                        <a:rPr sz="740" b="1">
                          <a:solidFill>
                            <a:srgbClr val="0A6B0A"/>
                          </a:solidFill>
                          <a:latin typeface="Calibri"/>
                        </a:rPr>
                        <a:t>ACCEPTED</a:t>
                      </a:r>
                    </a:p>
                  </a:txBody>
                  <a:tcPr marL="31750" marR="31750" marT="12700" marB="12700" anchor="ctr">
                    <a:solidFill>
                      <a:srgbClr val="FCFCFB"/>
                    </a:solidFill>
                  </a:tcPr>
                </a:tc>
                <a:tc>
                  <a:txBody>
                    <a:bodyPr wrap="square"/>
                    <a:lstStyle/>
                    <a:p>
                      <a:pPr algn="l"/>
                      <a:r>
                        <a:rPr sz="740" b="0">
                          <a:solidFill>
                            <a:srgbClr val="898781"/>
                          </a:solidFill>
                          <a:latin typeface="Calibri"/>
                        </a:rPr>
                        <a:t>Checked by hand and against a simulation.</a:t>
                      </a:r>
                    </a:p>
                  </a:txBody>
                  <a:tcPr marL="31750" marR="31750" marT="12700" marB="12700" anchor="ctr">
                    <a:solidFill>
                      <a:srgbClr val="FCFCFB"/>
                    </a:solidFill>
                  </a:tcPr>
                </a:tc>
              </a:tr>
              <a:tr h="290880">
                <a:tc>
                  <a:txBody>
                    <a:bodyPr wrap="square"/>
                    <a:lstStyle/>
                    <a:p>
                      <a:pPr algn="l"/>
                      <a:r>
                        <a:rPr sz="740" b="1">
                          <a:solidFill>
                            <a:srgbClr val="52514E"/>
                          </a:solidFill>
                          <a:latin typeface="Calibri"/>
                        </a:rPr>
                        <a:t>First-pass model structure</a:t>
                      </a:r>
                    </a:p>
                  </a:txBody>
                  <a:tcPr marL="31750" marR="31750" marT="12700" marB="12700" anchor="ctr">
                    <a:solidFill>
                      <a:srgbClr val="FCFCFB"/>
                    </a:solidFill>
                  </a:tcPr>
                </a:tc>
                <a:tc>
                  <a:txBody>
                    <a:bodyPr wrap="square"/>
                    <a:lstStyle/>
                    <a:p>
                      <a:pPr algn="l"/>
                      <a:r>
                        <a:rPr sz="740" b="1">
                          <a:solidFill>
                            <a:srgbClr val="9C4A18"/>
                          </a:solidFill>
                          <a:latin typeface="Calibri"/>
                        </a:rPr>
                        <a:t>REJECTED</a:t>
                      </a:r>
                    </a:p>
                  </a:txBody>
                  <a:tcPr marL="31750" marR="31750" marT="12700" marB="12700" anchor="ctr">
                    <a:solidFill>
                      <a:srgbClr val="FCFCFB"/>
                    </a:solidFill>
                  </a:tcPr>
                </a:tc>
                <a:tc>
                  <a:txBody>
                    <a:bodyPr wrap="square"/>
                    <a:lstStyle/>
                    <a:p>
                      <a:pPr algn="l"/>
                      <a:r>
                        <a:rPr sz="740" b="0">
                          <a:solidFill>
                            <a:srgbClr val="898781"/>
                          </a:solidFill>
                          <a:latin typeface="Calibri"/>
                        </a:rPr>
                        <a:t>Workload and Erlang tables that never met.</a:t>
                      </a:r>
                    </a:p>
                  </a:txBody>
                  <a:tcPr marL="31750" marR="31750" marT="12700" marB="12700" anchor="ctr">
                    <a:solidFill>
                      <a:srgbClr val="FCFCFB"/>
                    </a:solidFill>
                  </a:tcPr>
                </a:tc>
              </a:tr>
              <a:tr h="290880">
                <a:tc>
                  <a:txBody>
                    <a:bodyPr wrap="square"/>
                    <a:lstStyle/>
                    <a:p>
                      <a:pPr algn="l"/>
                      <a:r>
                        <a:rPr sz="740" b="1">
                          <a:solidFill>
                            <a:srgbClr val="52514E"/>
                          </a:solidFill>
                          <a:latin typeface="Calibri"/>
                        </a:rPr>
                        <a:t>“Deflect phone→chat”</a:t>
                      </a:r>
                    </a:p>
                  </a:txBody>
                  <a:tcPr marL="31750" marR="31750" marT="12700" marB="12700" anchor="ctr">
                    <a:solidFill>
                      <a:srgbClr val="FCFCFB"/>
                    </a:solidFill>
                  </a:tcPr>
                </a:tc>
                <a:tc>
                  <a:txBody>
                    <a:bodyPr wrap="square"/>
                    <a:lstStyle/>
                    <a:p>
                      <a:pPr algn="l"/>
                      <a:r>
                        <a:rPr sz="740" b="1">
                          <a:solidFill>
                            <a:srgbClr val="9C4A18"/>
                          </a:solidFill>
                          <a:latin typeface="Calibri"/>
                        </a:rPr>
                        <a:t>REJECTED</a:t>
                      </a:r>
                    </a:p>
                  </a:txBody>
                  <a:tcPr marL="31750" marR="31750" marT="12700" marB="12700" anchor="ctr">
                    <a:solidFill>
                      <a:srgbClr val="FCFCFB"/>
                    </a:solidFill>
                  </a:tcPr>
                </a:tc>
                <a:tc>
                  <a:txBody>
                    <a:bodyPr wrap="square"/>
                    <a:lstStyle/>
                    <a:p>
                      <a:pPr algn="l"/>
                      <a:r>
                        <a:rPr sz="740" b="0">
                          <a:solidFill>
                            <a:srgbClr val="898781"/>
                          </a:solidFill>
                          <a:latin typeface="Calibri"/>
                        </a:rPr>
                        <a:t>Generic WFM instinct, contradicted by the data.</a:t>
                      </a:r>
                    </a:p>
                  </a:txBody>
                  <a:tcPr marL="31750" marR="31750" marT="12700" marB="12700" anchor="ctr">
                    <a:solidFill>
                      <a:srgbClr val="FCFCFB"/>
                    </a:solidFill>
                  </a:tcPr>
                </a:tc>
              </a:tr>
              <a:tr h="290880">
                <a:tc>
                  <a:txBody>
                    <a:bodyPr wrap="square"/>
                    <a:lstStyle/>
                    <a:p>
                      <a:pPr algn="l"/>
                      <a:r>
                        <a:rPr sz="740" b="1">
                          <a:solidFill>
                            <a:srgbClr val="52514E"/>
                          </a:solidFill>
                          <a:latin typeface="Calibri"/>
                        </a:rPr>
                        <a:t>Reason-taxonomy clustering</a:t>
                      </a:r>
                    </a:p>
                  </a:txBody>
                  <a:tcPr marL="31750" marR="31750" marT="12700" marB="12700" anchor="ctr">
                    <a:solidFill>
                      <a:srgbClr val="FCFCFB"/>
                    </a:solidFill>
                  </a:tcPr>
                </a:tc>
                <a:tc>
                  <a:txBody>
                    <a:bodyPr wrap="square"/>
                    <a:lstStyle/>
                    <a:p>
                      <a:pPr algn="l"/>
                      <a:r>
                        <a:rPr sz="740" b="1">
                          <a:solidFill>
                            <a:srgbClr val="1C5CAB"/>
                          </a:solidFill>
                          <a:latin typeface="Calibri"/>
                        </a:rPr>
                        <a:t>CHANGED</a:t>
                      </a:r>
                    </a:p>
                  </a:txBody>
                  <a:tcPr marL="31750" marR="31750" marT="12700" marB="12700" anchor="ctr">
                    <a:solidFill>
                      <a:srgbClr val="FCFCFB"/>
                    </a:solidFill>
                  </a:tcPr>
                </a:tc>
                <a:tc>
                  <a:txBody>
                    <a:bodyPr wrap="square"/>
                    <a:lstStyle/>
                    <a:p>
                      <a:pPr algn="l"/>
                      <a:r>
                        <a:rPr sz="740" b="0">
                          <a:solidFill>
                            <a:srgbClr val="898781"/>
                          </a:solidFill>
                          <a:latin typeface="Calibri"/>
                        </a:rPr>
                        <a:t>Clusters cross families in 6 of 11 groups.</a:t>
                      </a:r>
                    </a:p>
                  </a:txBody>
                  <a:tcPr marL="31750" marR="31750" marT="12700" marB="12700" anchor="ctr">
                    <a:solidFill>
                      <a:srgbClr val="FCFCFB"/>
                    </a:solidFill>
                  </a:tcPr>
                </a:tc>
              </a:tr>
              <a:tr h="290880">
                <a:tc>
                  <a:txBody>
                    <a:bodyPr wrap="square"/>
                    <a:lstStyle/>
                    <a:p>
                      <a:pPr algn="l"/>
                      <a:r>
                        <a:rPr sz="740" b="1">
                          <a:solidFill>
                            <a:srgbClr val="52514E"/>
                          </a:solidFill>
                          <a:latin typeface="Calibri"/>
                        </a:rPr>
                        <a:t>Narrative drafting</a:t>
                      </a:r>
                    </a:p>
                  </a:txBody>
                  <a:tcPr marL="31750" marR="31750" marT="12700" marB="12700" anchor="ctr">
                    <a:solidFill>
                      <a:srgbClr val="FCFCFB"/>
                    </a:solidFill>
                  </a:tcPr>
                </a:tc>
                <a:tc>
                  <a:txBody>
                    <a:bodyPr wrap="square"/>
                    <a:lstStyle/>
                    <a:p>
                      <a:pPr algn="l"/>
                      <a:r>
                        <a:rPr sz="740" b="1">
                          <a:solidFill>
                            <a:srgbClr val="1C5CAB"/>
                          </a:solidFill>
                          <a:latin typeface="Calibri"/>
                        </a:rPr>
                        <a:t>CHANGED</a:t>
                      </a:r>
                    </a:p>
                  </a:txBody>
                  <a:tcPr marL="31750" marR="31750" marT="12700" marB="12700" anchor="ctr">
                    <a:solidFill>
                      <a:srgbClr val="FCFCFB"/>
                    </a:solidFill>
                  </a:tcPr>
                </a:tc>
                <a:tc>
                  <a:txBody>
                    <a:bodyPr wrap="square"/>
                    <a:lstStyle/>
                    <a:p>
                      <a:pPr algn="l"/>
                      <a:r>
                        <a:rPr sz="740" b="0">
                          <a:solidFill>
                            <a:srgbClr val="898781"/>
                          </a:solidFill>
                          <a:latin typeface="Calibri"/>
                        </a:rPr>
                        <a:t>Defaulted to hedging; needed a recommendation.</a:t>
                      </a:r>
                    </a:p>
                  </a:txBody>
                  <a:tcPr marL="31750" marR="31750" marT="12700" marB="12700" anchor="ctr">
                    <a:solidFill>
                      <a:srgbClr val="FCFCFB"/>
                    </a:solidFill>
                  </a:tcPr>
                </a:tc>
              </a:tr>
            </a:tbl>
          </a:graphicData>
        </a:graphic>
      </p:graphicFrame>
      <p:cxnSp>
        <p:nvCxnSpPr>
          <p:cNvPr id="25" name="Connector 24"/>
          <p:cNvCxnSpPr/>
          <p:nvPr/>
        </p:nvCxnSpPr>
        <p:spPr>
          <a:xfrm>
            <a:off x="7604936" y="3286048"/>
            <a:ext cx="0" cy="449580"/>
          </a:xfrm>
          <a:prstGeom prst="line">
            <a:avLst/>
          </a:prstGeom>
          <a:ln w="28575">
            <a:solidFill>
              <a:srgbClr val="D03B3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23808" y="3313480"/>
            <a:ext cx="3964966" cy="376427"/>
          </a:xfrm>
          <a:prstGeom prst="rect">
            <a:avLst/>
          </a:prstGeom>
          <a:noFill/>
        </p:spPr>
        <p:txBody>
          <a:bodyPr wrap="square" lIns="0" rIns="0" tIns="0" bIns="0">
            <a:noAutofit/>
          </a:bodyPr>
          <a:lstStyle/>
          <a:p>
            <a:r>
              <a:rPr sz="760" b="1" i="0">
                <a:solidFill>
                  <a:srgbClr val="52514E"/>
                </a:solidFill>
                <a:latin typeface="Calibri"/>
              </a:rPr>
              <a:t>What I would do differently.</a:t>
            </a:r>
            <a:r>
              <a:rPr sz="760" b="0" i="0">
                <a:solidFill>
                  <a:srgbClr val="52514E"/>
                </a:solidFill>
                <a:latin typeface="Calibri"/>
              </a:rPr>
              <a:t> State the acceptance test </a:t>
            </a:r>
            <a:r>
              <a:rPr sz="760" b="0" i="1">
                <a:solidFill>
                  <a:srgbClr val="52514E"/>
                </a:solidFill>
                <a:latin typeface="Calibri"/>
              </a:rPr>
              <a:t>before</a:t>
            </a:r>
            <a:r>
              <a:rPr sz="760" b="0" i="0">
                <a:solidFill>
                  <a:srgbClr val="52514E"/>
                </a:solidFill>
                <a:latin typeface="Calibri"/>
              </a:rPr>
              <a:t> generating — rather than reviewing after. AI is reliable at parsing, arithmetic and structure, and unreliable at knowing </a:t>
            </a:r>
            <a:r>
              <a:rPr sz="760" b="1" i="0">
                <a:solidFill>
                  <a:srgbClr val="52514E"/>
                </a:solidFill>
                <a:latin typeface="Calibri"/>
              </a:rPr>
              <a:t>which of two conflicting numbers in a workbook is the real one</a:t>
            </a:r>
            <a:r>
              <a:rPr sz="760" b="0" i="0">
                <a:solidFill>
                  <a:srgbClr val="52514E"/>
                </a:solidFill>
                <a:latin typeface="Calibri"/>
              </a:rPr>
              <a:t>.</a:t>
            </a:r>
          </a:p>
        </p:txBody>
      </p:sp>
      <p:sp>
        <p:nvSpPr>
          <p:cNvPr id="27" name="TextBox 26"/>
          <p:cNvSpPr txBox="1"/>
          <p:nvPr/>
        </p:nvSpPr>
        <p:spPr>
          <a:xfrm>
            <a:off x="7604936" y="3836212"/>
            <a:ext cx="4083838" cy="224536"/>
          </a:xfrm>
          <a:prstGeom prst="rect">
            <a:avLst/>
          </a:prstGeom>
          <a:noFill/>
        </p:spPr>
        <p:txBody>
          <a:bodyPr wrap="square" lIns="0" rIns="0" tIns="0" bIns="0">
            <a:noAutofit/>
          </a:bodyPr>
          <a:lstStyle/>
          <a:p>
            <a:r>
              <a:rPr sz="680" b="0" i="0">
                <a:solidFill>
                  <a:srgbClr val="898781"/>
                </a:solidFill>
                <a:latin typeface="Calibri"/>
              </a:rPr>
              <a:t>Tools: Claude (Opus 5) in Claude Code for the analysis, the Python model and this deck. The verification suite found </a:t>
            </a:r>
            <a:r>
              <a:rPr sz="680" b="1" i="0">
                <a:solidFill>
                  <a:srgbClr val="898781"/>
                </a:solidFill>
                <a:latin typeface="Calibri"/>
              </a:rPr>
              <a:t>three real defects in my own model</a:t>
            </a:r>
            <a:r>
              <a:rPr sz="680" b="0" i="0">
                <a:solidFill>
                  <a:srgbClr val="898781"/>
                </a:solidFill>
                <a:latin typeface="Calibri"/>
              </a:rPr>
              <a:t> — all fixed at source.</a:t>
            </a:r>
          </a:p>
        </p:txBody>
      </p:sp>
      <p:cxnSp>
        <p:nvCxnSpPr>
          <p:cNvPr id="28" name="Connector 27"/>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submission · </a:t>
            </a:r>
          </a:p>
        </p:txBody>
      </p:sp>
      <p:sp>
        <p:nvSpPr>
          <p:cNvPr id="30" name="TextBox 29"/>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5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898781"/>
                </a:solidFill>
                <a:latin typeface="Calibri"/>
              </a:rPr>
              <a:t>Appendix A1</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700" b="1">
                <a:solidFill>
                  <a:srgbClr val="0B0B0B"/>
                </a:solidFill>
                <a:latin typeface="Calibri"/>
              </a:rPr>
              <a:t>Every queue, end to end — BASE, July</a:t>
            </a:r>
          </a:p>
        </p:txBody>
      </p:sp>
      <p:sp>
        <p:nvSpPr>
          <p:cNvPr id="4" name="TextBox 3"/>
          <p:cNvSpPr txBox="1"/>
          <p:nvPr/>
        </p:nvSpPr>
        <p:spPr>
          <a:xfrm>
            <a:off x="502920" y="822960"/>
            <a:ext cx="11185855" cy="237744"/>
          </a:xfrm>
          <a:prstGeom prst="rect">
            <a:avLst/>
          </a:prstGeom>
          <a:noFill/>
        </p:spPr>
        <p:txBody>
          <a:bodyPr wrap="square" lIns="0" rIns="0" tIns="0" bIns="0">
            <a:noAutofit/>
          </a:bodyPr>
          <a:lstStyle/>
          <a:p>
            <a:r>
              <a:rPr sz="1050" b="0" i="0">
                <a:solidFill>
                  <a:srgbClr val="52514E"/>
                </a:solidFill>
                <a:latin typeface="Calibri"/>
              </a:rPr>
              <a:t>The full working behind slide 2. Occupancy below 100% on the Erlang rows is the cost of the service level.</a:t>
            </a:r>
          </a:p>
        </p:txBody>
      </p:sp>
      <p:cxnSp>
        <p:nvCxnSpPr>
          <p:cNvPr id="5" name="Connector 4"/>
          <p:cNvCxnSpPr/>
          <p:nvPr/>
        </p:nvCxnSpPr>
        <p:spPr>
          <a:xfrm>
            <a:off x="502920" y="1078992"/>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261872"/>
          <a:ext cx="7457151" cy="3351360"/>
        </p:xfrm>
        <a:graphic>
          <a:graphicData uri="http://schemas.openxmlformats.org/drawingml/2006/table">
            <a:tbl>
              <a:tblPr firstRow="0" bandRow="0">
                <a:tableStyleId>{5C22544A-7EE6-4342-B048-85BDC9FD1C3A}</a:tableStyleId>
              </a:tblPr>
              <a:tblGrid>
                <a:gridCol w="690476"/>
                <a:gridCol w="644445"/>
                <a:gridCol w="690476"/>
                <a:gridCol w="506349"/>
                <a:gridCol w="598413"/>
                <a:gridCol w="460317"/>
                <a:gridCol w="460317"/>
                <a:gridCol w="460317"/>
                <a:gridCol w="506349"/>
                <a:gridCol w="598413"/>
                <a:gridCol w="598413"/>
                <a:gridCol w="644445"/>
                <a:gridCol w="598421"/>
              </a:tblGrid>
              <a:tr h="144576">
                <a:tc>
                  <a:txBody>
                    <a:bodyPr wrap="square"/>
                    <a:lstStyle/>
                    <a:p>
                      <a:pPr algn="l"/>
                      <a:r>
                        <a:rPr sz="580" b="1">
                          <a:solidFill>
                            <a:srgbClr val="898781"/>
                          </a:solidFill>
                          <a:latin typeface="Calibri"/>
                        </a:rPr>
                        <a:t>LANG</a:t>
                      </a:r>
                    </a:p>
                  </a:txBody>
                  <a:tcPr marL="31750" marR="31750" marT="12700" marB="12700" anchor="b">
                    <a:solidFill>
                      <a:srgbClr val="FCFCFB"/>
                    </a:solidFill>
                  </a:tcPr>
                </a:tc>
                <a:tc>
                  <a:txBody>
                    <a:bodyPr wrap="square"/>
                    <a:lstStyle/>
                    <a:p>
                      <a:pPr algn="l"/>
                      <a:r>
                        <a:rPr sz="580" b="1">
                          <a:solidFill>
                            <a:srgbClr val="898781"/>
                          </a:solidFill>
                          <a:latin typeface="Calibri"/>
                        </a:rPr>
                        <a:t>CHAN</a:t>
                      </a:r>
                    </a:p>
                  </a:txBody>
                  <a:tcPr marL="31750" marR="31750" marT="12700" marB="12700" anchor="b">
                    <a:solidFill>
                      <a:srgbClr val="FCFCFB"/>
                    </a:solidFill>
                  </a:tcPr>
                </a:tc>
                <a:tc>
                  <a:txBody>
                    <a:bodyPr wrap="square"/>
                    <a:lstStyle/>
                    <a:p>
                      <a:pPr algn="r"/>
                      <a:r>
                        <a:rPr sz="580" b="1">
                          <a:solidFill>
                            <a:srgbClr val="898781"/>
                          </a:solidFill>
                          <a:latin typeface="Calibri"/>
                        </a:rPr>
                        <a:t>CONTACTS</a:t>
                      </a:r>
                    </a:p>
                  </a:txBody>
                  <a:tcPr marL="31750" marR="31750" marT="12700" marB="12700" anchor="b">
                    <a:solidFill>
                      <a:srgbClr val="FCFCFB"/>
                    </a:solidFill>
                  </a:tcPr>
                </a:tc>
                <a:tc>
                  <a:txBody>
                    <a:bodyPr wrap="square"/>
                    <a:lstStyle/>
                    <a:p>
                      <a:pPr algn="r"/>
                      <a:r>
                        <a:rPr sz="580" b="1">
                          <a:solidFill>
                            <a:srgbClr val="898781"/>
                          </a:solidFill>
                          <a:latin typeface="Calibri"/>
                        </a:rPr>
                        <a:t>AHT</a:t>
                      </a:r>
                    </a:p>
                  </a:txBody>
                  <a:tcPr marL="31750" marR="31750" marT="12700" marB="12700" anchor="b">
                    <a:solidFill>
                      <a:srgbClr val="FCFCFB"/>
                    </a:solidFill>
                  </a:tcPr>
                </a:tc>
                <a:tc>
                  <a:txBody>
                    <a:bodyPr wrap="square"/>
                    <a:lstStyle/>
                    <a:p>
                      <a:pPr algn="l"/>
                      <a:r>
                        <a:rPr sz="580" b="1">
                          <a:solidFill>
                            <a:srgbClr val="898781"/>
                          </a:solidFill>
                          <a:latin typeface="Calibri"/>
                        </a:rPr>
                        <a:t>MODEL</a:t>
                      </a:r>
                    </a:p>
                  </a:txBody>
                  <a:tcPr marL="31750" marR="31750" marT="12700" marB="12700" anchor="b">
                    <a:solidFill>
                      <a:srgbClr val="FCFCFB"/>
                    </a:solidFill>
                  </a:tcPr>
                </a:tc>
                <a:tc>
                  <a:txBody>
                    <a:bodyPr wrap="square"/>
                    <a:lstStyle/>
                    <a:p>
                      <a:pPr algn="r"/>
                      <a:r>
                        <a:rPr sz="580" b="1">
                          <a:solidFill>
                            <a:srgbClr val="898781"/>
                          </a:solidFill>
                          <a:latin typeface="Calibri"/>
                        </a:rPr>
                        <a:t>ERL</a:t>
                      </a:r>
                    </a:p>
                  </a:txBody>
                  <a:tcPr marL="31750" marR="31750" marT="12700" marB="12700" anchor="b">
                    <a:solidFill>
                      <a:srgbClr val="FCFCFB"/>
                    </a:solidFill>
                  </a:tcPr>
                </a:tc>
                <a:tc>
                  <a:txBody>
                    <a:bodyPr wrap="square"/>
                    <a:lstStyle/>
                    <a:p>
                      <a:pPr algn="r"/>
                      <a:r>
                        <a:rPr sz="580" b="1">
                          <a:solidFill>
                            <a:srgbClr val="898781"/>
                          </a:solidFill>
                          <a:latin typeface="Calibri"/>
                        </a:rPr>
                        <a:t>SEATS</a:t>
                      </a:r>
                    </a:p>
                  </a:txBody>
                  <a:tcPr marL="31750" marR="31750" marT="12700" marB="12700" anchor="b">
                    <a:solidFill>
                      <a:srgbClr val="FCFCFB"/>
                    </a:solidFill>
                  </a:tcPr>
                </a:tc>
                <a:tc>
                  <a:txBody>
                    <a:bodyPr wrap="square"/>
                    <a:lstStyle/>
                    <a:p>
                      <a:pPr algn="r"/>
                      <a:r>
                        <a:rPr sz="580" b="1">
                          <a:solidFill>
                            <a:srgbClr val="898781"/>
                          </a:solidFill>
                          <a:latin typeface="Calibri"/>
                        </a:rPr>
                        <a:t>OCC</a:t>
                      </a:r>
                    </a:p>
                  </a:txBody>
                  <a:tcPr marL="31750" marR="31750" marT="12700" marB="12700" anchor="b">
                    <a:solidFill>
                      <a:srgbClr val="FCFCFB"/>
                    </a:solidFill>
                  </a:tcPr>
                </a:tc>
                <a:tc>
                  <a:txBody>
                    <a:bodyPr wrap="square"/>
                    <a:lstStyle/>
                    <a:p>
                      <a:pPr algn="r"/>
                      <a:r>
                        <a:rPr sz="580" b="1">
                          <a:solidFill>
                            <a:srgbClr val="898781"/>
                          </a:solidFill>
                          <a:latin typeface="Calibri"/>
                        </a:rPr>
                        <a:t>SL</a:t>
                      </a:r>
                    </a:p>
                  </a:txBody>
                  <a:tcPr marL="31750" marR="31750" marT="12700" marB="12700" anchor="b">
                    <a:solidFill>
                      <a:srgbClr val="FCFCFB"/>
                    </a:solidFill>
                  </a:tcPr>
                </a:tc>
                <a:tc>
                  <a:txBody>
                    <a:bodyPr wrap="square"/>
                    <a:lstStyle/>
                    <a:p>
                      <a:pPr algn="r"/>
                      <a:r>
                        <a:rPr sz="580" b="1">
                          <a:solidFill>
                            <a:srgbClr val="898781"/>
                          </a:solidFill>
                          <a:latin typeface="Calibri"/>
                        </a:rPr>
                        <a:t>WKLD H</a:t>
                      </a:r>
                    </a:p>
                  </a:txBody>
                  <a:tcPr marL="31750" marR="31750" marT="12700" marB="12700" anchor="b">
                    <a:solidFill>
                      <a:srgbClr val="FCFCFB"/>
                    </a:solidFill>
                  </a:tcPr>
                </a:tc>
                <a:tc>
                  <a:txBody>
                    <a:bodyPr wrap="square"/>
                    <a:lstStyle/>
                    <a:p>
                      <a:pPr algn="r"/>
                      <a:r>
                        <a:rPr sz="580" b="1">
                          <a:solidFill>
                            <a:srgbClr val="898781"/>
                          </a:solidFill>
                          <a:latin typeface="Calibri"/>
                        </a:rPr>
                        <a:t>PROD H</a:t>
                      </a:r>
                    </a:p>
                  </a:txBody>
                  <a:tcPr marL="31750" marR="31750" marT="12700" marB="12700" anchor="b">
                    <a:solidFill>
                      <a:srgbClr val="FCFCFB"/>
                    </a:solidFill>
                  </a:tcPr>
                </a:tc>
                <a:tc>
                  <a:txBody>
                    <a:bodyPr wrap="square"/>
                    <a:lstStyle/>
                    <a:p>
                      <a:pPr algn="r"/>
                      <a:r>
                        <a:rPr sz="580" b="1">
                          <a:solidFill>
                            <a:srgbClr val="898781"/>
                          </a:solidFill>
                          <a:latin typeface="Calibri"/>
                        </a:rPr>
                        <a:t>WKLD FTE</a:t>
                      </a:r>
                    </a:p>
                  </a:txBody>
                  <a:tcPr marL="31750" marR="31750" marT="12700" marB="12700" anchor="b">
                    <a:solidFill>
                      <a:srgbClr val="FCFCFB"/>
                    </a:solidFill>
                  </a:tcPr>
                </a:tc>
                <a:tc>
                  <a:txBody>
                    <a:bodyPr wrap="square"/>
                    <a:lstStyle/>
                    <a:p>
                      <a:pPr algn="r"/>
                      <a:r>
                        <a:rPr sz="580" b="1">
                          <a:solidFill>
                            <a:srgbClr val="898781"/>
                          </a:solidFill>
                          <a:latin typeface="Calibri"/>
                        </a:rPr>
                        <a:t>SLA FTE</a:t>
                      </a:r>
                    </a:p>
                  </a:txBody>
                  <a:tcPr marL="31750" marR="31750" marT="12700" marB="12700" anchor="b">
                    <a:solidFill>
                      <a:srgbClr val="FCFCFB"/>
                    </a:solidFill>
                  </a:tcPr>
                </a:tc>
              </a:tr>
              <a:tr h="152704">
                <a:tc>
                  <a:txBody>
                    <a:bodyPr wrap="square"/>
                    <a:lstStyle/>
                    <a:p>
                      <a:pPr algn="l"/>
                      <a:r>
                        <a:rPr sz="630" b="1">
                          <a:solidFill>
                            <a:srgbClr val="52514E"/>
                          </a:solidFill>
                          <a:latin typeface="Calibri"/>
                        </a:rPr>
                        <a:t>English</a:t>
                      </a:r>
                    </a:p>
                  </a:txBody>
                  <a:tcPr marL="31750" marR="31750" marT="12700" marB="12700" anchor="ctr">
                    <a:solidFill>
                      <a:srgbClr val="FCFCFB"/>
                    </a:solidFill>
                  </a:tcPr>
                </a:tc>
                <a:tc>
                  <a:txBody>
                    <a:bodyPr wrap="square"/>
                    <a:lstStyle/>
                    <a:p>
                      <a:pPr algn="l"/>
                      <a:r>
                        <a:rPr sz="630" b="0">
                          <a:solidFill>
                            <a:srgbClr val="52514E"/>
                          </a:solidFill>
                          <a:latin typeface="Calibri"/>
                        </a:rPr>
                        <a:t>Chat</a:t>
                      </a:r>
                    </a:p>
                  </a:txBody>
                  <a:tcPr marL="31750" marR="31750" marT="12700" marB="12700" anchor="ctr">
                    <a:solidFill>
                      <a:srgbClr val="FCFCFB"/>
                    </a:solidFill>
                  </a:tcPr>
                </a:tc>
                <a:tc>
                  <a:txBody>
                    <a:bodyPr wrap="square"/>
                    <a:lstStyle/>
                    <a:p>
                      <a:pPr algn="r"/>
                      <a:r>
                        <a:rPr sz="630" b="0">
                          <a:solidFill>
                            <a:srgbClr val="52514E"/>
                          </a:solidFill>
                          <a:latin typeface="Calibri"/>
                        </a:rPr>
                        <a:t>42,882</a:t>
                      </a:r>
                    </a:p>
                  </a:txBody>
                  <a:tcPr marL="31750" marR="31750" marT="12700" marB="12700" anchor="ctr">
                    <a:solidFill>
                      <a:srgbClr val="FCFCFB"/>
                    </a:solidFill>
                  </a:tcPr>
                </a:tc>
                <a:tc>
                  <a:txBody>
                    <a:bodyPr wrap="square"/>
                    <a:lstStyle/>
                    <a:p>
                      <a:pPr algn="r"/>
                      <a:r>
                        <a:rPr sz="630" b="0">
                          <a:solidFill>
                            <a:srgbClr val="52514E"/>
                          </a:solidFill>
                          <a:latin typeface="Calibri"/>
                        </a:rPr>
                        <a:t>1,150</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18.77</a:t>
                      </a:r>
                    </a:p>
                  </a:txBody>
                  <a:tcPr marL="31750" marR="31750" marT="12700" marB="12700" anchor="ctr">
                    <a:solidFill>
                      <a:srgbClr val="FCFCFB"/>
                    </a:solidFill>
                  </a:tcPr>
                </a:tc>
                <a:tc>
                  <a:txBody>
                    <a:bodyPr wrap="square"/>
                    <a:lstStyle/>
                    <a:p>
                      <a:pPr algn="r"/>
                      <a:r>
                        <a:rPr sz="630" b="0">
                          <a:solidFill>
                            <a:srgbClr val="52514E"/>
                          </a:solidFill>
                          <a:latin typeface="Calibri"/>
                        </a:rPr>
                        <a:t>24</a:t>
                      </a:r>
                    </a:p>
                  </a:txBody>
                  <a:tcPr marL="31750" marR="31750" marT="12700" marB="12700" anchor="ctr">
                    <a:solidFill>
                      <a:srgbClr val="FCFCFB"/>
                    </a:solidFill>
                  </a:tcPr>
                </a:tc>
                <a:tc>
                  <a:txBody>
                    <a:bodyPr wrap="square"/>
                    <a:lstStyle/>
                    <a:p>
                      <a:pPr algn="r"/>
                      <a:r>
                        <a:rPr sz="630" b="0">
                          <a:solidFill>
                            <a:srgbClr val="52514E"/>
                          </a:solidFill>
                          <a:latin typeface="Calibri"/>
                        </a:rPr>
                        <a:t>78%</a:t>
                      </a:r>
                    </a:p>
                  </a:txBody>
                  <a:tcPr marL="31750" marR="31750" marT="12700" marB="12700" anchor="ctr">
                    <a:solidFill>
                      <a:srgbClr val="FCFCFB"/>
                    </a:solidFill>
                  </a:tcPr>
                </a:tc>
                <a:tc>
                  <a:txBody>
                    <a:bodyPr wrap="square"/>
                    <a:lstStyle/>
                    <a:p>
                      <a:pPr algn="r"/>
                      <a:r>
                        <a:rPr sz="630" b="0">
                          <a:solidFill>
                            <a:srgbClr val="52514E"/>
                          </a:solidFill>
                          <a:latin typeface="Calibri"/>
                        </a:rPr>
                        <a:t>86.2%</a:t>
                      </a:r>
                    </a:p>
                  </a:txBody>
                  <a:tcPr marL="31750" marR="31750" marT="12700" marB="12700" anchor="ctr">
                    <a:solidFill>
                      <a:srgbClr val="FCFCFB"/>
                    </a:solidFill>
                  </a:tcPr>
                </a:tc>
                <a:tc>
                  <a:txBody>
                    <a:bodyPr wrap="square"/>
                    <a:lstStyle/>
                    <a:p>
                      <a:pPr algn="r"/>
                      <a:r>
                        <a:rPr sz="630" b="0">
                          <a:solidFill>
                            <a:srgbClr val="52514E"/>
                          </a:solidFill>
                          <a:latin typeface="Calibri"/>
                        </a:rPr>
                        <a:t>13,699</a:t>
                      </a:r>
                    </a:p>
                  </a:txBody>
                  <a:tcPr marL="31750" marR="31750" marT="12700" marB="12700" anchor="ctr">
                    <a:solidFill>
                      <a:srgbClr val="FCFCFB"/>
                    </a:solidFill>
                  </a:tcPr>
                </a:tc>
                <a:tc>
                  <a:txBody>
                    <a:bodyPr wrap="square"/>
                    <a:lstStyle/>
                    <a:p>
                      <a:pPr algn="r"/>
                      <a:r>
                        <a:rPr sz="630" b="0">
                          <a:solidFill>
                            <a:srgbClr val="52514E"/>
                          </a:solidFill>
                          <a:latin typeface="Calibri"/>
                        </a:rPr>
                        <a:t>14,600</a:t>
                      </a:r>
                    </a:p>
                  </a:txBody>
                  <a:tcPr marL="31750" marR="31750" marT="12700" marB="12700" anchor="ctr">
                    <a:solidFill>
                      <a:srgbClr val="FCFCFB"/>
                    </a:solidFill>
                  </a:tcPr>
                </a:tc>
                <a:tc>
                  <a:txBody>
                    <a:bodyPr wrap="square"/>
                    <a:lstStyle/>
                    <a:p>
                      <a:pPr algn="r"/>
                      <a:r>
                        <a:rPr sz="630" b="0">
                          <a:solidFill>
                            <a:srgbClr val="52514E"/>
                          </a:solidFill>
                          <a:latin typeface="Calibri"/>
                        </a:rPr>
                        <a:t>96.4</a:t>
                      </a:r>
                    </a:p>
                  </a:txBody>
                  <a:tcPr marL="31750" marR="31750" marT="12700" marB="12700" anchor="ctr">
                    <a:solidFill>
                      <a:srgbClr val="FCFCFB"/>
                    </a:solidFill>
                  </a:tcPr>
                </a:tc>
                <a:tc>
                  <a:txBody>
                    <a:bodyPr wrap="square"/>
                    <a:lstStyle/>
                    <a:p>
                      <a:pPr algn="r"/>
                      <a:r>
                        <a:rPr sz="630" b="1">
                          <a:solidFill>
                            <a:srgbClr val="52514E"/>
                          </a:solidFill>
                          <a:latin typeface="Calibri"/>
                        </a:rPr>
                        <a:t>102.7</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English</a:t>
                      </a:r>
                    </a:p>
                  </a:txBody>
                  <a:tcPr marL="31750" marR="31750" marT="12700" marB="12700" anchor="ctr">
                    <a:solidFill>
                      <a:srgbClr val="FCFCFB"/>
                    </a:solidFill>
                  </a:tcPr>
                </a:tc>
                <a:tc>
                  <a:txBody>
                    <a:bodyPr wrap="square"/>
                    <a:lstStyle/>
                    <a:p>
                      <a:pPr algn="l"/>
                      <a:r>
                        <a:rPr sz="630" b="0">
                          <a:solidFill>
                            <a:srgbClr val="52514E"/>
                          </a:solidFill>
                          <a:latin typeface="Calibri"/>
                        </a:rPr>
                        <a:t>Email</a:t>
                      </a:r>
                    </a:p>
                  </a:txBody>
                  <a:tcPr marL="31750" marR="31750" marT="12700" marB="12700" anchor="ctr">
                    <a:solidFill>
                      <a:srgbClr val="FCFCFB"/>
                    </a:solidFill>
                  </a:tcPr>
                </a:tc>
                <a:tc>
                  <a:txBody>
                    <a:bodyPr wrap="square"/>
                    <a:lstStyle/>
                    <a:p>
                      <a:pPr algn="r"/>
                      <a:r>
                        <a:rPr sz="630" b="0">
                          <a:solidFill>
                            <a:srgbClr val="52514E"/>
                          </a:solidFill>
                          <a:latin typeface="Calibri"/>
                        </a:rPr>
                        <a:t>42,882</a:t>
                      </a:r>
                    </a:p>
                  </a:txBody>
                  <a:tcPr marL="31750" marR="31750" marT="12700" marB="12700" anchor="ctr">
                    <a:solidFill>
                      <a:srgbClr val="FCFCFB"/>
                    </a:solidFill>
                  </a:tcPr>
                </a:tc>
                <a:tc>
                  <a:txBody>
                    <a:bodyPr wrap="square"/>
                    <a:lstStyle/>
                    <a:p>
                      <a:pPr algn="r"/>
                      <a:r>
                        <a:rPr sz="630" b="0">
                          <a:solidFill>
                            <a:srgbClr val="52514E"/>
                          </a:solidFill>
                          <a:latin typeface="Calibri"/>
                        </a:rPr>
                        <a:t>1,150</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13,699</a:t>
                      </a:r>
                    </a:p>
                  </a:txBody>
                  <a:tcPr marL="31750" marR="31750" marT="12700" marB="12700" anchor="ctr">
                    <a:solidFill>
                      <a:srgbClr val="FCFCFB"/>
                    </a:solidFill>
                  </a:tcPr>
                </a:tc>
                <a:tc>
                  <a:txBody>
                    <a:bodyPr wrap="square"/>
                    <a:lstStyle/>
                    <a:p>
                      <a:pPr algn="r"/>
                      <a:r>
                        <a:rPr sz="630" b="0">
                          <a:solidFill>
                            <a:srgbClr val="52514E"/>
                          </a:solidFill>
                          <a:latin typeface="Calibri"/>
                        </a:rPr>
                        <a:t>16,116</a:t>
                      </a:r>
                    </a:p>
                  </a:txBody>
                  <a:tcPr marL="31750" marR="31750" marT="12700" marB="12700" anchor="ctr">
                    <a:solidFill>
                      <a:srgbClr val="FCFCFB"/>
                    </a:solidFill>
                  </a:tcPr>
                </a:tc>
                <a:tc>
                  <a:txBody>
                    <a:bodyPr wrap="square"/>
                    <a:lstStyle/>
                    <a:p>
                      <a:pPr algn="r"/>
                      <a:r>
                        <a:rPr sz="630" b="0">
                          <a:solidFill>
                            <a:srgbClr val="52514E"/>
                          </a:solidFill>
                          <a:latin typeface="Calibri"/>
                        </a:rPr>
                        <a:t>96.4</a:t>
                      </a:r>
                    </a:p>
                  </a:txBody>
                  <a:tcPr marL="31750" marR="31750" marT="12700" marB="12700" anchor="ctr">
                    <a:solidFill>
                      <a:srgbClr val="FCFCFB"/>
                    </a:solidFill>
                  </a:tcPr>
                </a:tc>
                <a:tc>
                  <a:txBody>
                    <a:bodyPr wrap="square"/>
                    <a:lstStyle/>
                    <a:p>
                      <a:pPr algn="r"/>
                      <a:r>
                        <a:rPr sz="630" b="1">
                          <a:solidFill>
                            <a:srgbClr val="52514E"/>
                          </a:solidFill>
                          <a:latin typeface="Calibri"/>
                        </a:rPr>
                        <a:t>113.4</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English</a:t>
                      </a:r>
                    </a:p>
                  </a:txBody>
                  <a:tcPr marL="31750" marR="31750" marT="12700" marB="12700" anchor="ctr">
                    <a:solidFill>
                      <a:srgbClr val="FCFCFB"/>
                    </a:solidFill>
                  </a:tcPr>
                </a:tc>
                <a:tc>
                  <a:txBody>
                    <a:bodyPr wrap="square"/>
                    <a:lstStyle/>
                    <a:p>
                      <a:pPr algn="l"/>
                      <a:r>
                        <a:rPr sz="630" b="0">
                          <a:solidFill>
                            <a:srgbClr val="52514E"/>
                          </a:solidFill>
                          <a:latin typeface="Calibri"/>
                        </a:rPr>
                        <a:t>Inbound</a:t>
                      </a:r>
                    </a:p>
                  </a:txBody>
                  <a:tcPr marL="31750" marR="31750" marT="12700" marB="12700" anchor="ctr">
                    <a:solidFill>
                      <a:srgbClr val="FCFCFB"/>
                    </a:solidFill>
                  </a:tcPr>
                </a:tc>
                <a:tc>
                  <a:txBody>
                    <a:bodyPr wrap="square"/>
                    <a:lstStyle/>
                    <a:p>
                      <a:pPr algn="r"/>
                      <a:r>
                        <a:rPr sz="630" b="0">
                          <a:solidFill>
                            <a:srgbClr val="52514E"/>
                          </a:solidFill>
                          <a:latin typeface="Calibri"/>
                        </a:rPr>
                        <a:t>44,182</a:t>
                      </a:r>
                    </a:p>
                  </a:txBody>
                  <a:tcPr marL="31750" marR="31750" marT="12700" marB="12700" anchor="ctr">
                    <a:solidFill>
                      <a:srgbClr val="FCFCFB"/>
                    </a:solidFill>
                  </a:tcPr>
                </a:tc>
                <a:tc>
                  <a:txBody>
                    <a:bodyPr wrap="square"/>
                    <a:lstStyle/>
                    <a:p>
                      <a:pPr algn="r"/>
                      <a:r>
                        <a:rPr sz="630" b="0">
                          <a:solidFill>
                            <a:srgbClr val="52514E"/>
                          </a:solidFill>
                          <a:latin typeface="Calibri"/>
                        </a:rPr>
                        <a:t>458</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7.69</a:t>
                      </a:r>
                    </a:p>
                  </a:txBody>
                  <a:tcPr marL="31750" marR="31750" marT="12700" marB="12700" anchor="ctr">
                    <a:solidFill>
                      <a:srgbClr val="FCFCFB"/>
                    </a:solidFill>
                  </a:tcPr>
                </a:tc>
                <a:tc>
                  <a:txBody>
                    <a:bodyPr wrap="square"/>
                    <a:lstStyle/>
                    <a:p>
                      <a:pPr algn="r"/>
                      <a:r>
                        <a:rPr sz="630" b="0">
                          <a:solidFill>
                            <a:srgbClr val="52514E"/>
                          </a:solidFill>
                          <a:latin typeface="Calibri"/>
                        </a:rPr>
                        <a:t>11</a:t>
                      </a:r>
                    </a:p>
                  </a:txBody>
                  <a:tcPr marL="31750" marR="31750" marT="12700" marB="12700" anchor="ctr">
                    <a:solidFill>
                      <a:srgbClr val="FCFCFB"/>
                    </a:solidFill>
                  </a:tcPr>
                </a:tc>
                <a:tc>
                  <a:txBody>
                    <a:bodyPr wrap="square"/>
                    <a:lstStyle/>
                    <a:p>
                      <a:pPr algn="r"/>
                      <a:r>
                        <a:rPr sz="630" b="0">
                          <a:solidFill>
                            <a:srgbClr val="52514E"/>
                          </a:solidFill>
                          <a:latin typeface="Calibri"/>
                        </a:rPr>
                        <a:t>70%</a:t>
                      </a:r>
                    </a:p>
                  </a:txBody>
                  <a:tcPr marL="31750" marR="31750" marT="12700" marB="12700" anchor="ctr">
                    <a:solidFill>
                      <a:srgbClr val="FCFCFB"/>
                    </a:solidFill>
                  </a:tcPr>
                </a:tc>
                <a:tc>
                  <a:txBody>
                    <a:bodyPr wrap="square"/>
                    <a:lstStyle/>
                    <a:p>
                      <a:pPr algn="r"/>
                      <a:r>
                        <a:rPr sz="630" b="0">
                          <a:solidFill>
                            <a:srgbClr val="52514E"/>
                          </a:solidFill>
                          <a:latin typeface="Calibri"/>
                        </a:rPr>
                        <a:t>82.6%</a:t>
                      </a:r>
                    </a:p>
                  </a:txBody>
                  <a:tcPr marL="31750" marR="31750" marT="12700" marB="12700" anchor="ctr">
                    <a:solidFill>
                      <a:srgbClr val="FCFCFB"/>
                    </a:solidFill>
                  </a:tcPr>
                </a:tc>
                <a:tc>
                  <a:txBody>
                    <a:bodyPr wrap="square"/>
                    <a:lstStyle/>
                    <a:p>
                      <a:pPr algn="r"/>
                      <a:r>
                        <a:rPr sz="630" b="0">
                          <a:solidFill>
                            <a:srgbClr val="52514E"/>
                          </a:solidFill>
                          <a:latin typeface="Calibri"/>
                        </a:rPr>
                        <a:t>5,615</a:t>
                      </a:r>
                    </a:p>
                  </a:txBody>
                  <a:tcPr marL="31750" marR="31750" marT="12700" marB="12700" anchor="ctr">
                    <a:solidFill>
                      <a:srgbClr val="FCFCFB"/>
                    </a:solidFill>
                  </a:tcPr>
                </a:tc>
                <a:tc>
                  <a:txBody>
                    <a:bodyPr wrap="square"/>
                    <a:lstStyle/>
                    <a:p>
                      <a:pPr algn="r"/>
                      <a:r>
                        <a:rPr sz="630" b="0">
                          <a:solidFill>
                            <a:srgbClr val="52514E"/>
                          </a:solidFill>
                          <a:latin typeface="Calibri"/>
                        </a:rPr>
                        <a:t>8,030</a:t>
                      </a:r>
                    </a:p>
                  </a:txBody>
                  <a:tcPr marL="31750" marR="31750" marT="12700" marB="12700" anchor="ctr">
                    <a:solidFill>
                      <a:srgbClr val="FCFCFB"/>
                    </a:solidFill>
                  </a:tcPr>
                </a:tc>
                <a:tc>
                  <a:txBody>
                    <a:bodyPr wrap="square"/>
                    <a:lstStyle/>
                    <a:p>
                      <a:pPr algn="r"/>
                      <a:r>
                        <a:rPr sz="630" b="0">
                          <a:solidFill>
                            <a:srgbClr val="52514E"/>
                          </a:solidFill>
                          <a:latin typeface="Calibri"/>
                        </a:rPr>
                        <a:t>39.5</a:t>
                      </a:r>
                    </a:p>
                  </a:txBody>
                  <a:tcPr marL="31750" marR="31750" marT="12700" marB="12700" anchor="ctr">
                    <a:solidFill>
                      <a:srgbClr val="FCFCFB"/>
                    </a:solidFill>
                  </a:tcPr>
                </a:tc>
                <a:tc>
                  <a:txBody>
                    <a:bodyPr wrap="square"/>
                    <a:lstStyle/>
                    <a:p>
                      <a:pPr algn="r"/>
                      <a:r>
                        <a:rPr sz="630" b="1">
                          <a:solidFill>
                            <a:srgbClr val="52514E"/>
                          </a:solidFill>
                          <a:latin typeface="Calibri"/>
                        </a:rPr>
                        <a:t>56.5</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English</a:t>
                      </a:r>
                    </a:p>
                  </a:txBody>
                  <a:tcPr marL="31750" marR="31750" marT="12700" marB="12700" anchor="ctr">
                    <a:solidFill>
                      <a:srgbClr val="FCFCFB"/>
                    </a:solidFill>
                  </a:tcPr>
                </a:tc>
                <a:tc>
                  <a:txBody>
                    <a:bodyPr wrap="square"/>
                    <a:lstStyle/>
                    <a:p>
                      <a:pPr algn="l"/>
                      <a:r>
                        <a:rPr sz="630" b="0">
                          <a:solidFill>
                            <a:srgbClr val="52514E"/>
                          </a:solidFill>
                          <a:latin typeface="Calibri"/>
                        </a:rPr>
                        <a:t>Outbound</a:t>
                      </a:r>
                    </a:p>
                  </a:txBody>
                  <a:tcPr marL="31750" marR="31750" marT="12700" marB="12700" anchor="ctr">
                    <a:solidFill>
                      <a:srgbClr val="FCFCFB"/>
                    </a:solidFill>
                  </a:tcPr>
                </a:tc>
                <a:tc>
                  <a:txBody>
                    <a:bodyPr wrap="square"/>
                    <a:lstStyle/>
                    <a:p>
                      <a:pPr algn="r"/>
                      <a:r>
                        <a:rPr sz="630" b="0">
                          <a:solidFill>
                            <a:srgbClr val="52514E"/>
                          </a:solidFill>
                          <a:latin typeface="Calibri"/>
                        </a:rPr>
                        <a:t>44,182</a:t>
                      </a:r>
                    </a:p>
                  </a:txBody>
                  <a:tcPr marL="31750" marR="31750" marT="12700" marB="12700" anchor="ctr">
                    <a:solidFill>
                      <a:srgbClr val="FCFCFB"/>
                    </a:solidFill>
                  </a:tcPr>
                </a:tc>
                <a:tc>
                  <a:txBody>
                    <a:bodyPr wrap="square"/>
                    <a:lstStyle/>
                    <a:p>
                      <a:pPr algn="r"/>
                      <a:r>
                        <a:rPr sz="630" b="0">
                          <a:solidFill>
                            <a:srgbClr val="52514E"/>
                          </a:solidFill>
                          <a:latin typeface="Calibri"/>
                        </a:rPr>
                        <a:t>108</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1,319</a:t>
                      </a:r>
                    </a:p>
                  </a:txBody>
                  <a:tcPr marL="31750" marR="31750" marT="12700" marB="12700" anchor="ctr">
                    <a:solidFill>
                      <a:srgbClr val="FCFCFB"/>
                    </a:solidFill>
                  </a:tcPr>
                </a:tc>
                <a:tc>
                  <a:txBody>
                    <a:bodyPr wrap="square"/>
                    <a:lstStyle/>
                    <a:p>
                      <a:pPr algn="r"/>
                      <a:r>
                        <a:rPr sz="630" b="0">
                          <a:solidFill>
                            <a:srgbClr val="52514E"/>
                          </a:solidFill>
                          <a:latin typeface="Calibri"/>
                        </a:rPr>
                        <a:t>1,552</a:t>
                      </a:r>
                    </a:p>
                  </a:txBody>
                  <a:tcPr marL="31750" marR="31750" marT="12700" marB="12700" anchor="ctr">
                    <a:solidFill>
                      <a:srgbClr val="FCFCFB"/>
                    </a:solidFill>
                  </a:tcPr>
                </a:tc>
                <a:tc>
                  <a:txBody>
                    <a:bodyPr wrap="square"/>
                    <a:lstStyle/>
                    <a:p>
                      <a:pPr algn="r"/>
                      <a:r>
                        <a:rPr sz="630" b="0">
                          <a:solidFill>
                            <a:srgbClr val="52514E"/>
                          </a:solidFill>
                          <a:latin typeface="Calibri"/>
                        </a:rPr>
                        <a:t>9.3</a:t>
                      </a:r>
                    </a:p>
                  </a:txBody>
                  <a:tcPr marL="31750" marR="31750" marT="12700" marB="12700" anchor="ctr">
                    <a:solidFill>
                      <a:srgbClr val="FCFCFB"/>
                    </a:solidFill>
                  </a:tcPr>
                </a:tc>
                <a:tc>
                  <a:txBody>
                    <a:bodyPr wrap="square"/>
                    <a:lstStyle/>
                    <a:p>
                      <a:pPr algn="r"/>
                      <a:r>
                        <a:rPr sz="630" b="1">
                          <a:solidFill>
                            <a:srgbClr val="52514E"/>
                          </a:solidFill>
                          <a:latin typeface="Calibri"/>
                        </a:rPr>
                        <a:t>10.9</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French</a:t>
                      </a:r>
                    </a:p>
                  </a:txBody>
                  <a:tcPr marL="31750" marR="31750" marT="12700" marB="12700" anchor="ctr">
                    <a:solidFill>
                      <a:srgbClr val="FCFCFB"/>
                    </a:solidFill>
                  </a:tcPr>
                </a:tc>
                <a:tc>
                  <a:txBody>
                    <a:bodyPr wrap="square"/>
                    <a:lstStyle/>
                    <a:p>
                      <a:pPr algn="l"/>
                      <a:r>
                        <a:rPr sz="630" b="0">
                          <a:solidFill>
                            <a:srgbClr val="52514E"/>
                          </a:solidFill>
                          <a:latin typeface="Calibri"/>
                        </a:rPr>
                        <a:t>Chat</a:t>
                      </a:r>
                    </a:p>
                  </a:txBody>
                  <a:tcPr marL="31750" marR="31750" marT="12700" marB="12700" anchor="ctr">
                    <a:solidFill>
                      <a:srgbClr val="FCFCFB"/>
                    </a:solidFill>
                  </a:tcPr>
                </a:tc>
                <a:tc>
                  <a:txBody>
                    <a:bodyPr wrap="square"/>
                    <a:lstStyle/>
                    <a:p>
                      <a:pPr algn="r"/>
                      <a:r>
                        <a:rPr sz="630" b="0">
                          <a:solidFill>
                            <a:srgbClr val="52514E"/>
                          </a:solidFill>
                          <a:latin typeface="Calibri"/>
                        </a:rPr>
                        <a:t>6,566</a:t>
                      </a:r>
                    </a:p>
                  </a:txBody>
                  <a:tcPr marL="31750" marR="31750" marT="12700" marB="12700" anchor="ctr">
                    <a:solidFill>
                      <a:srgbClr val="FCFCFB"/>
                    </a:solidFill>
                  </a:tcPr>
                </a:tc>
                <a:tc>
                  <a:txBody>
                    <a:bodyPr wrap="square"/>
                    <a:lstStyle/>
                    <a:p>
                      <a:pPr algn="r"/>
                      <a:r>
                        <a:rPr sz="630" b="0">
                          <a:solidFill>
                            <a:srgbClr val="52514E"/>
                          </a:solidFill>
                          <a:latin typeface="Calibri"/>
                        </a:rPr>
                        <a:t>900</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2.25</a:t>
                      </a:r>
                    </a:p>
                  </a:txBody>
                  <a:tcPr marL="31750" marR="31750" marT="12700" marB="12700" anchor="ctr">
                    <a:solidFill>
                      <a:srgbClr val="FCFCFB"/>
                    </a:solidFill>
                  </a:tcPr>
                </a:tc>
                <a:tc>
                  <a:txBody>
                    <a:bodyPr wrap="square"/>
                    <a:lstStyle/>
                    <a:p>
                      <a:pPr algn="r"/>
                      <a:r>
                        <a:rPr sz="630" b="0">
                          <a:solidFill>
                            <a:srgbClr val="52514E"/>
                          </a:solidFill>
                          <a:latin typeface="Calibri"/>
                        </a:rPr>
                        <a:t>5</a:t>
                      </a:r>
                    </a:p>
                  </a:txBody>
                  <a:tcPr marL="31750" marR="31750" marT="12700" marB="12700" anchor="ctr">
                    <a:solidFill>
                      <a:srgbClr val="FCFCFB"/>
                    </a:solidFill>
                  </a:tcPr>
                </a:tc>
                <a:tc>
                  <a:txBody>
                    <a:bodyPr wrap="square"/>
                    <a:lstStyle/>
                    <a:p>
                      <a:pPr algn="r"/>
                      <a:r>
                        <a:rPr sz="630" b="0">
                          <a:solidFill>
                            <a:srgbClr val="52514E"/>
                          </a:solidFill>
                          <a:latin typeface="Calibri"/>
                        </a:rPr>
                        <a:t>45%</a:t>
                      </a:r>
                    </a:p>
                  </a:txBody>
                  <a:tcPr marL="31750" marR="31750" marT="12700" marB="12700" anchor="ctr">
                    <a:solidFill>
                      <a:srgbClr val="FCFCFB"/>
                    </a:solidFill>
                  </a:tcPr>
                </a:tc>
                <a:tc>
                  <a:txBody>
                    <a:bodyPr wrap="square"/>
                    <a:lstStyle/>
                    <a:p>
                      <a:pPr algn="r"/>
                      <a:r>
                        <a:rPr sz="630" b="0">
                          <a:solidFill>
                            <a:srgbClr val="52514E"/>
                          </a:solidFill>
                          <a:latin typeface="Calibri"/>
                        </a:rPr>
                        <a:t>92.5%</a:t>
                      </a:r>
                    </a:p>
                  </a:txBody>
                  <a:tcPr marL="31750" marR="31750" marT="12700" marB="12700" anchor="ctr">
                    <a:solidFill>
                      <a:srgbClr val="FCFCFB"/>
                    </a:solidFill>
                  </a:tcPr>
                </a:tc>
                <a:tc>
                  <a:txBody>
                    <a:bodyPr wrap="square"/>
                    <a:lstStyle/>
                    <a:p>
                      <a:pPr algn="r"/>
                      <a:r>
                        <a:rPr sz="630" b="0">
                          <a:solidFill>
                            <a:srgbClr val="52514E"/>
                          </a:solidFill>
                          <a:latin typeface="Calibri"/>
                        </a:rPr>
                        <a:t>1,641</a:t>
                      </a:r>
                    </a:p>
                  </a:txBody>
                  <a:tcPr marL="31750" marR="31750" marT="12700" marB="12700" anchor="ctr">
                    <a:solidFill>
                      <a:srgbClr val="FCFCFB"/>
                    </a:solidFill>
                  </a:tcPr>
                </a:tc>
                <a:tc>
                  <a:txBody>
                    <a:bodyPr wrap="square"/>
                    <a:lstStyle/>
                    <a:p>
                      <a:pPr algn="r"/>
                      <a:r>
                        <a:rPr sz="630" b="0">
                          <a:solidFill>
                            <a:srgbClr val="52514E"/>
                          </a:solidFill>
                          <a:latin typeface="Calibri"/>
                        </a:rPr>
                        <a:t>3,042</a:t>
                      </a:r>
                    </a:p>
                  </a:txBody>
                  <a:tcPr marL="31750" marR="31750" marT="12700" marB="12700" anchor="ctr">
                    <a:solidFill>
                      <a:srgbClr val="FCFCFB"/>
                    </a:solidFill>
                  </a:tcPr>
                </a:tc>
                <a:tc>
                  <a:txBody>
                    <a:bodyPr wrap="square"/>
                    <a:lstStyle/>
                    <a:p>
                      <a:pPr algn="r"/>
                      <a:r>
                        <a:rPr sz="630" b="0">
                          <a:solidFill>
                            <a:srgbClr val="52514E"/>
                          </a:solidFill>
                          <a:latin typeface="Calibri"/>
                        </a:rPr>
                        <a:t>11.5</a:t>
                      </a:r>
                    </a:p>
                  </a:txBody>
                  <a:tcPr marL="31750" marR="31750" marT="12700" marB="12700" anchor="ctr">
                    <a:solidFill>
                      <a:srgbClr val="FCFCFB"/>
                    </a:solidFill>
                  </a:tcPr>
                </a:tc>
                <a:tc>
                  <a:txBody>
                    <a:bodyPr wrap="square"/>
                    <a:lstStyle/>
                    <a:p>
                      <a:pPr algn="r"/>
                      <a:r>
                        <a:rPr sz="630" b="1">
                          <a:solidFill>
                            <a:srgbClr val="52514E"/>
                          </a:solidFill>
                          <a:latin typeface="Calibri"/>
                        </a:rPr>
                        <a:t>21.4</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French</a:t>
                      </a:r>
                    </a:p>
                  </a:txBody>
                  <a:tcPr marL="31750" marR="31750" marT="12700" marB="12700" anchor="ctr">
                    <a:solidFill>
                      <a:srgbClr val="FCFCFB"/>
                    </a:solidFill>
                  </a:tcPr>
                </a:tc>
                <a:tc>
                  <a:txBody>
                    <a:bodyPr wrap="square"/>
                    <a:lstStyle/>
                    <a:p>
                      <a:pPr algn="l"/>
                      <a:r>
                        <a:rPr sz="630" b="0">
                          <a:solidFill>
                            <a:srgbClr val="52514E"/>
                          </a:solidFill>
                          <a:latin typeface="Calibri"/>
                        </a:rPr>
                        <a:t>Email</a:t>
                      </a:r>
                    </a:p>
                  </a:txBody>
                  <a:tcPr marL="31750" marR="31750" marT="12700" marB="12700" anchor="ctr">
                    <a:solidFill>
                      <a:srgbClr val="FCFCFB"/>
                    </a:solidFill>
                  </a:tcPr>
                </a:tc>
                <a:tc>
                  <a:txBody>
                    <a:bodyPr wrap="square"/>
                    <a:lstStyle/>
                    <a:p>
                      <a:pPr algn="r"/>
                      <a:r>
                        <a:rPr sz="630" b="0">
                          <a:solidFill>
                            <a:srgbClr val="52514E"/>
                          </a:solidFill>
                          <a:latin typeface="Calibri"/>
                        </a:rPr>
                        <a:t>6,566</a:t>
                      </a:r>
                    </a:p>
                  </a:txBody>
                  <a:tcPr marL="31750" marR="31750" marT="12700" marB="12700" anchor="ctr">
                    <a:solidFill>
                      <a:srgbClr val="FCFCFB"/>
                    </a:solidFill>
                  </a:tcPr>
                </a:tc>
                <a:tc>
                  <a:txBody>
                    <a:bodyPr wrap="square"/>
                    <a:lstStyle/>
                    <a:p>
                      <a:pPr algn="r"/>
                      <a:r>
                        <a:rPr sz="630" b="0">
                          <a:solidFill>
                            <a:srgbClr val="52514E"/>
                          </a:solidFill>
                          <a:latin typeface="Calibri"/>
                        </a:rPr>
                        <a:t>600</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1,094</a:t>
                      </a:r>
                    </a:p>
                  </a:txBody>
                  <a:tcPr marL="31750" marR="31750" marT="12700" marB="12700" anchor="ctr">
                    <a:solidFill>
                      <a:srgbClr val="FCFCFB"/>
                    </a:solidFill>
                  </a:tcPr>
                </a:tc>
                <a:tc>
                  <a:txBody>
                    <a:bodyPr wrap="square"/>
                    <a:lstStyle/>
                    <a:p>
                      <a:pPr algn="r"/>
                      <a:r>
                        <a:rPr sz="630" b="0">
                          <a:solidFill>
                            <a:srgbClr val="52514E"/>
                          </a:solidFill>
                          <a:latin typeface="Calibri"/>
                        </a:rPr>
                        <a:t>1,287</a:t>
                      </a:r>
                    </a:p>
                  </a:txBody>
                  <a:tcPr marL="31750" marR="31750" marT="12700" marB="12700" anchor="ctr">
                    <a:solidFill>
                      <a:srgbClr val="FCFCFB"/>
                    </a:solidFill>
                  </a:tcPr>
                </a:tc>
                <a:tc>
                  <a:txBody>
                    <a:bodyPr wrap="square"/>
                    <a:lstStyle/>
                    <a:p>
                      <a:pPr algn="r"/>
                      <a:r>
                        <a:rPr sz="630" b="0">
                          <a:solidFill>
                            <a:srgbClr val="52514E"/>
                          </a:solidFill>
                          <a:latin typeface="Calibri"/>
                        </a:rPr>
                        <a:t>7.7</a:t>
                      </a:r>
                    </a:p>
                  </a:txBody>
                  <a:tcPr marL="31750" marR="31750" marT="12700" marB="12700" anchor="ctr">
                    <a:solidFill>
                      <a:srgbClr val="FCFCFB"/>
                    </a:solidFill>
                  </a:tcPr>
                </a:tc>
                <a:tc>
                  <a:txBody>
                    <a:bodyPr wrap="square"/>
                    <a:lstStyle/>
                    <a:p>
                      <a:pPr algn="r"/>
                      <a:r>
                        <a:rPr sz="630" b="1">
                          <a:solidFill>
                            <a:srgbClr val="52514E"/>
                          </a:solidFill>
                          <a:latin typeface="Calibri"/>
                        </a:rPr>
                        <a:t>9.1</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French</a:t>
                      </a:r>
                    </a:p>
                  </a:txBody>
                  <a:tcPr marL="31750" marR="31750" marT="12700" marB="12700" anchor="ctr">
                    <a:solidFill>
                      <a:srgbClr val="FCFCFB"/>
                    </a:solidFill>
                  </a:tcPr>
                </a:tc>
                <a:tc>
                  <a:txBody>
                    <a:bodyPr wrap="square"/>
                    <a:lstStyle/>
                    <a:p>
                      <a:pPr algn="l"/>
                      <a:r>
                        <a:rPr sz="630" b="0">
                          <a:solidFill>
                            <a:srgbClr val="52514E"/>
                          </a:solidFill>
                          <a:latin typeface="Calibri"/>
                        </a:rPr>
                        <a:t>Inbound</a:t>
                      </a:r>
                    </a:p>
                  </a:txBody>
                  <a:tcPr marL="31750" marR="31750" marT="12700" marB="12700" anchor="ctr">
                    <a:solidFill>
                      <a:srgbClr val="FCFCFB"/>
                    </a:solidFill>
                  </a:tcPr>
                </a:tc>
                <a:tc>
                  <a:txBody>
                    <a:bodyPr wrap="square"/>
                    <a:lstStyle/>
                    <a:p>
                      <a:pPr algn="r"/>
                      <a:r>
                        <a:rPr sz="630" b="0">
                          <a:solidFill>
                            <a:srgbClr val="52514E"/>
                          </a:solidFill>
                          <a:latin typeface="Calibri"/>
                        </a:rPr>
                        <a:t>6,765</a:t>
                      </a:r>
                    </a:p>
                  </a:txBody>
                  <a:tcPr marL="31750" marR="31750" marT="12700" marB="12700" anchor="ctr">
                    <a:solidFill>
                      <a:srgbClr val="FCFCFB"/>
                    </a:solidFill>
                  </a:tcPr>
                </a:tc>
                <a:tc>
                  <a:txBody>
                    <a:bodyPr wrap="square"/>
                    <a:lstStyle/>
                    <a:p>
                      <a:pPr algn="r"/>
                      <a:r>
                        <a:rPr sz="630" b="0">
                          <a:solidFill>
                            <a:srgbClr val="52514E"/>
                          </a:solidFill>
                          <a:latin typeface="Calibri"/>
                        </a:rPr>
                        <a:t>360</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0.93</a:t>
                      </a:r>
                    </a:p>
                  </a:txBody>
                  <a:tcPr marL="31750" marR="31750" marT="12700" marB="12700" anchor="ctr">
                    <a:solidFill>
                      <a:srgbClr val="FCFCFB"/>
                    </a:solidFill>
                  </a:tcPr>
                </a:tc>
                <a:tc>
                  <a:txBody>
                    <a:bodyPr wrap="square"/>
                    <a:lstStyle/>
                    <a:p>
                      <a:pPr algn="r"/>
                      <a:r>
                        <a:rPr sz="630" b="0">
                          <a:solidFill>
                            <a:srgbClr val="52514E"/>
                          </a:solidFill>
                          <a:latin typeface="Calibri"/>
                        </a:rPr>
                        <a:t>3</a:t>
                      </a:r>
                    </a:p>
                  </a:txBody>
                  <a:tcPr marL="31750" marR="31750" marT="12700" marB="12700" anchor="ctr">
                    <a:solidFill>
                      <a:srgbClr val="FCFCFB"/>
                    </a:solidFill>
                  </a:tcPr>
                </a:tc>
                <a:tc>
                  <a:txBody>
                    <a:bodyPr wrap="square"/>
                    <a:lstStyle/>
                    <a:p>
                      <a:pPr algn="r"/>
                      <a:r>
                        <a:rPr sz="630" b="0">
                          <a:solidFill>
                            <a:srgbClr val="52514E"/>
                          </a:solidFill>
                          <a:latin typeface="Calibri"/>
                        </a:rPr>
                        <a:t>31%</a:t>
                      </a:r>
                    </a:p>
                  </a:txBody>
                  <a:tcPr marL="31750" marR="31750" marT="12700" marB="12700" anchor="ctr">
                    <a:solidFill>
                      <a:srgbClr val="FCFCFB"/>
                    </a:solidFill>
                  </a:tcPr>
                </a:tc>
                <a:tc>
                  <a:txBody>
                    <a:bodyPr wrap="square"/>
                    <a:lstStyle/>
                    <a:p>
                      <a:pPr algn="r"/>
                      <a:r>
                        <a:rPr sz="630" b="0">
                          <a:solidFill>
                            <a:srgbClr val="52514E"/>
                          </a:solidFill>
                          <a:latin typeface="Calibri"/>
                        </a:rPr>
                        <a:t>93.3%</a:t>
                      </a:r>
                    </a:p>
                  </a:txBody>
                  <a:tcPr marL="31750" marR="31750" marT="12700" marB="12700" anchor="ctr">
                    <a:solidFill>
                      <a:srgbClr val="FCFCFB"/>
                    </a:solidFill>
                  </a:tcPr>
                </a:tc>
                <a:tc>
                  <a:txBody>
                    <a:bodyPr wrap="square"/>
                    <a:lstStyle/>
                    <a:p>
                      <a:pPr algn="r"/>
                      <a:r>
                        <a:rPr sz="630" b="0">
                          <a:solidFill>
                            <a:srgbClr val="52514E"/>
                          </a:solidFill>
                          <a:latin typeface="Calibri"/>
                        </a:rPr>
                        <a:t>677</a:t>
                      </a:r>
                    </a:p>
                  </a:txBody>
                  <a:tcPr marL="31750" marR="31750" marT="12700" marB="12700" anchor="ctr">
                    <a:solidFill>
                      <a:srgbClr val="FCFCFB"/>
                    </a:solidFill>
                  </a:tcPr>
                </a:tc>
                <a:tc>
                  <a:txBody>
                    <a:bodyPr wrap="square"/>
                    <a:lstStyle/>
                    <a:p>
                      <a:pPr algn="r"/>
                      <a:r>
                        <a:rPr sz="630" b="0">
                          <a:solidFill>
                            <a:srgbClr val="52514E"/>
                          </a:solidFill>
                          <a:latin typeface="Calibri"/>
                        </a:rPr>
                        <a:t>2,190</a:t>
                      </a:r>
                    </a:p>
                  </a:txBody>
                  <a:tcPr marL="31750" marR="31750" marT="12700" marB="12700" anchor="ctr">
                    <a:solidFill>
                      <a:srgbClr val="FCFCFB"/>
                    </a:solidFill>
                  </a:tcPr>
                </a:tc>
                <a:tc>
                  <a:txBody>
                    <a:bodyPr wrap="square"/>
                    <a:lstStyle/>
                    <a:p>
                      <a:pPr algn="r"/>
                      <a:r>
                        <a:rPr sz="630" b="0">
                          <a:solidFill>
                            <a:srgbClr val="52514E"/>
                          </a:solidFill>
                          <a:latin typeface="Calibri"/>
                        </a:rPr>
                        <a:t>4.8</a:t>
                      </a:r>
                    </a:p>
                  </a:txBody>
                  <a:tcPr marL="31750" marR="31750" marT="12700" marB="12700" anchor="ctr">
                    <a:solidFill>
                      <a:srgbClr val="FCFCFB"/>
                    </a:solidFill>
                  </a:tcPr>
                </a:tc>
                <a:tc>
                  <a:txBody>
                    <a:bodyPr wrap="square"/>
                    <a:lstStyle/>
                    <a:p>
                      <a:pPr algn="r"/>
                      <a:r>
                        <a:rPr sz="630" b="1">
                          <a:solidFill>
                            <a:srgbClr val="52514E"/>
                          </a:solidFill>
                          <a:latin typeface="Calibri"/>
                        </a:rPr>
                        <a:t>15.4</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French</a:t>
                      </a:r>
                    </a:p>
                  </a:txBody>
                  <a:tcPr marL="31750" marR="31750" marT="12700" marB="12700" anchor="ctr">
                    <a:solidFill>
                      <a:srgbClr val="FCFCFB"/>
                    </a:solidFill>
                  </a:tcPr>
                </a:tc>
                <a:tc>
                  <a:txBody>
                    <a:bodyPr wrap="square"/>
                    <a:lstStyle/>
                    <a:p>
                      <a:pPr algn="l"/>
                      <a:r>
                        <a:rPr sz="630" b="0">
                          <a:solidFill>
                            <a:srgbClr val="52514E"/>
                          </a:solidFill>
                          <a:latin typeface="Calibri"/>
                        </a:rPr>
                        <a:t>Outbound</a:t>
                      </a:r>
                    </a:p>
                  </a:txBody>
                  <a:tcPr marL="31750" marR="31750" marT="12700" marB="12700" anchor="ctr">
                    <a:solidFill>
                      <a:srgbClr val="FCFCFB"/>
                    </a:solidFill>
                  </a:tcPr>
                </a:tc>
                <a:tc>
                  <a:txBody>
                    <a:bodyPr wrap="square"/>
                    <a:lstStyle/>
                    <a:p>
                      <a:pPr algn="r"/>
                      <a:r>
                        <a:rPr sz="630" b="0">
                          <a:solidFill>
                            <a:srgbClr val="52514E"/>
                          </a:solidFill>
                          <a:latin typeface="Calibri"/>
                        </a:rPr>
                        <a:t>6,765</a:t>
                      </a:r>
                    </a:p>
                  </a:txBody>
                  <a:tcPr marL="31750" marR="31750" marT="12700" marB="12700" anchor="ctr">
                    <a:solidFill>
                      <a:srgbClr val="FCFCFB"/>
                    </a:solidFill>
                  </a:tcPr>
                </a:tc>
                <a:tc>
                  <a:txBody>
                    <a:bodyPr wrap="square"/>
                    <a:lstStyle/>
                    <a:p>
                      <a:pPr algn="r"/>
                      <a:r>
                        <a:rPr sz="630" b="0">
                          <a:solidFill>
                            <a:srgbClr val="52514E"/>
                          </a:solidFill>
                          <a:latin typeface="Calibri"/>
                        </a:rPr>
                        <a:t>115</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216</a:t>
                      </a:r>
                    </a:p>
                  </a:txBody>
                  <a:tcPr marL="31750" marR="31750" marT="12700" marB="12700" anchor="ctr">
                    <a:solidFill>
                      <a:srgbClr val="FCFCFB"/>
                    </a:solidFill>
                  </a:tcPr>
                </a:tc>
                <a:tc>
                  <a:txBody>
                    <a:bodyPr wrap="square"/>
                    <a:lstStyle/>
                    <a:p>
                      <a:pPr algn="r"/>
                      <a:r>
                        <a:rPr sz="630" b="0">
                          <a:solidFill>
                            <a:srgbClr val="52514E"/>
                          </a:solidFill>
                          <a:latin typeface="Calibri"/>
                        </a:rPr>
                        <a:t>254</a:t>
                      </a:r>
                    </a:p>
                  </a:txBody>
                  <a:tcPr marL="31750" marR="31750" marT="12700" marB="12700" anchor="ctr">
                    <a:solidFill>
                      <a:srgbClr val="FCFCFB"/>
                    </a:solidFill>
                  </a:tcPr>
                </a:tc>
                <a:tc>
                  <a:txBody>
                    <a:bodyPr wrap="square"/>
                    <a:lstStyle/>
                    <a:p>
                      <a:pPr algn="r"/>
                      <a:r>
                        <a:rPr sz="630" b="0">
                          <a:solidFill>
                            <a:srgbClr val="52514E"/>
                          </a:solidFill>
                          <a:latin typeface="Calibri"/>
                        </a:rPr>
                        <a:t>1.5</a:t>
                      </a:r>
                    </a:p>
                  </a:txBody>
                  <a:tcPr marL="31750" marR="31750" marT="12700" marB="12700" anchor="ctr">
                    <a:solidFill>
                      <a:srgbClr val="FCFCFB"/>
                    </a:solidFill>
                  </a:tcPr>
                </a:tc>
                <a:tc>
                  <a:txBody>
                    <a:bodyPr wrap="square"/>
                    <a:lstStyle/>
                    <a:p>
                      <a:pPr algn="r"/>
                      <a:r>
                        <a:rPr sz="630" b="1">
                          <a:solidFill>
                            <a:srgbClr val="52514E"/>
                          </a:solidFill>
                          <a:latin typeface="Calibri"/>
                        </a:rPr>
                        <a:t>1.8</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German</a:t>
                      </a:r>
                    </a:p>
                  </a:txBody>
                  <a:tcPr marL="31750" marR="31750" marT="12700" marB="12700" anchor="ctr">
                    <a:solidFill>
                      <a:srgbClr val="FCFCFB"/>
                    </a:solidFill>
                  </a:tcPr>
                </a:tc>
                <a:tc>
                  <a:txBody>
                    <a:bodyPr wrap="square"/>
                    <a:lstStyle/>
                    <a:p>
                      <a:pPr algn="l"/>
                      <a:r>
                        <a:rPr sz="630" b="0">
                          <a:solidFill>
                            <a:srgbClr val="52514E"/>
                          </a:solidFill>
                          <a:latin typeface="Calibri"/>
                        </a:rPr>
                        <a:t>Chat</a:t>
                      </a:r>
                    </a:p>
                  </a:txBody>
                  <a:tcPr marL="31750" marR="31750" marT="12700" marB="12700" anchor="ctr">
                    <a:solidFill>
                      <a:srgbClr val="FCFCFB"/>
                    </a:solidFill>
                  </a:tcPr>
                </a:tc>
                <a:tc>
                  <a:txBody>
                    <a:bodyPr wrap="square"/>
                    <a:lstStyle/>
                    <a:p>
                      <a:pPr algn="r"/>
                      <a:r>
                        <a:rPr sz="630" b="0">
                          <a:solidFill>
                            <a:srgbClr val="52514E"/>
                          </a:solidFill>
                          <a:latin typeface="Calibri"/>
                        </a:rPr>
                        <a:t>8,899</a:t>
                      </a:r>
                    </a:p>
                  </a:txBody>
                  <a:tcPr marL="31750" marR="31750" marT="12700" marB="12700" anchor="ctr">
                    <a:solidFill>
                      <a:srgbClr val="FCFCFB"/>
                    </a:solidFill>
                  </a:tcPr>
                </a:tc>
                <a:tc>
                  <a:txBody>
                    <a:bodyPr wrap="square"/>
                    <a:lstStyle/>
                    <a:p>
                      <a:pPr algn="r"/>
                      <a:r>
                        <a:rPr sz="630" b="0">
                          <a:solidFill>
                            <a:srgbClr val="52514E"/>
                          </a:solidFill>
                          <a:latin typeface="Calibri"/>
                        </a:rPr>
                        <a:t>900</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3.05</a:t>
                      </a:r>
                    </a:p>
                  </a:txBody>
                  <a:tcPr marL="31750" marR="31750" marT="12700" marB="12700" anchor="ctr">
                    <a:solidFill>
                      <a:srgbClr val="FCFCFB"/>
                    </a:solidFill>
                  </a:tcPr>
                </a:tc>
                <a:tc>
                  <a:txBody>
                    <a:bodyPr wrap="square"/>
                    <a:lstStyle/>
                    <a:p>
                      <a:pPr algn="r"/>
                      <a:r>
                        <a:rPr sz="630" b="0">
                          <a:solidFill>
                            <a:srgbClr val="52514E"/>
                          </a:solidFill>
                          <a:latin typeface="Calibri"/>
                        </a:rPr>
                        <a:t>6</a:t>
                      </a:r>
                    </a:p>
                  </a:txBody>
                  <a:tcPr marL="31750" marR="31750" marT="12700" marB="12700" anchor="ctr">
                    <a:solidFill>
                      <a:srgbClr val="FCFCFB"/>
                    </a:solidFill>
                  </a:tcPr>
                </a:tc>
                <a:tc>
                  <a:txBody>
                    <a:bodyPr wrap="square"/>
                    <a:lstStyle/>
                    <a:p>
                      <a:pPr algn="r"/>
                      <a:r>
                        <a:rPr sz="630" b="0">
                          <a:solidFill>
                            <a:srgbClr val="52514E"/>
                          </a:solidFill>
                          <a:latin typeface="Calibri"/>
                        </a:rPr>
                        <a:t>51%</a:t>
                      </a:r>
                    </a:p>
                  </a:txBody>
                  <a:tcPr marL="31750" marR="31750" marT="12700" marB="12700" anchor="ctr">
                    <a:solidFill>
                      <a:srgbClr val="FCFCFB"/>
                    </a:solidFill>
                  </a:tcPr>
                </a:tc>
                <a:tc>
                  <a:txBody>
                    <a:bodyPr wrap="square"/>
                    <a:lstStyle/>
                    <a:p>
                      <a:pPr algn="r"/>
                      <a:r>
                        <a:rPr sz="630" b="0">
                          <a:solidFill>
                            <a:srgbClr val="52514E"/>
                          </a:solidFill>
                          <a:latin typeface="Calibri"/>
                        </a:rPr>
                        <a:t>91.3%</a:t>
                      </a:r>
                    </a:p>
                  </a:txBody>
                  <a:tcPr marL="31750" marR="31750" marT="12700" marB="12700" anchor="ctr">
                    <a:solidFill>
                      <a:srgbClr val="FCFCFB"/>
                    </a:solidFill>
                  </a:tcPr>
                </a:tc>
                <a:tc>
                  <a:txBody>
                    <a:bodyPr wrap="square"/>
                    <a:lstStyle/>
                    <a:p>
                      <a:pPr algn="r"/>
                      <a:r>
                        <a:rPr sz="630" b="0">
                          <a:solidFill>
                            <a:srgbClr val="52514E"/>
                          </a:solidFill>
                          <a:latin typeface="Calibri"/>
                        </a:rPr>
                        <a:t>2,225</a:t>
                      </a:r>
                    </a:p>
                  </a:txBody>
                  <a:tcPr marL="31750" marR="31750" marT="12700" marB="12700" anchor="ctr">
                    <a:solidFill>
                      <a:srgbClr val="FCFCFB"/>
                    </a:solidFill>
                  </a:tcPr>
                </a:tc>
                <a:tc>
                  <a:txBody>
                    <a:bodyPr wrap="square"/>
                    <a:lstStyle/>
                    <a:p>
                      <a:pPr algn="r"/>
                      <a:r>
                        <a:rPr sz="630" b="0">
                          <a:solidFill>
                            <a:srgbClr val="52514E"/>
                          </a:solidFill>
                          <a:latin typeface="Calibri"/>
                        </a:rPr>
                        <a:t>3,650</a:t>
                      </a:r>
                    </a:p>
                  </a:txBody>
                  <a:tcPr marL="31750" marR="31750" marT="12700" marB="12700" anchor="ctr">
                    <a:solidFill>
                      <a:srgbClr val="FCFCFB"/>
                    </a:solidFill>
                  </a:tcPr>
                </a:tc>
                <a:tc>
                  <a:txBody>
                    <a:bodyPr wrap="square"/>
                    <a:lstStyle/>
                    <a:p>
                      <a:pPr algn="r"/>
                      <a:r>
                        <a:rPr sz="630" b="0">
                          <a:solidFill>
                            <a:srgbClr val="52514E"/>
                          </a:solidFill>
                          <a:latin typeface="Calibri"/>
                        </a:rPr>
                        <a:t>15.7</a:t>
                      </a:r>
                    </a:p>
                  </a:txBody>
                  <a:tcPr marL="31750" marR="31750" marT="12700" marB="12700" anchor="ctr">
                    <a:solidFill>
                      <a:srgbClr val="FCFCFB"/>
                    </a:solidFill>
                  </a:tcPr>
                </a:tc>
                <a:tc>
                  <a:txBody>
                    <a:bodyPr wrap="square"/>
                    <a:lstStyle/>
                    <a:p>
                      <a:pPr algn="r"/>
                      <a:r>
                        <a:rPr sz="630" b="1">
                          <a:solidFill>
                            <a:srgbClr val="52514E"/>
                          </a:solidFill>
                          <a:latin typeface="Calibri"/>
                        </a:rPr>
                        <a:t>25.7</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German</a:t>
                      </a:r>
                    </a:p>
                  </a:txBody>
                  <a:tcPr marL="31750" marR="31750" marT="12700" marB="12700" anchor="ctr">
                    <a:solidFill>
                      <a:srgbClr val="FCFCFB"/>
                    </a:solidFill>
                  </a:tcPr>
                </a:tc>
                <a:tc>
                  <a:txBody>
                    <a:bodyPr wrap="square"/>
                    <a:lstStyle/>
                    <a:p>
                      <a:pPr algn="l"/>
                      <a:r>
                        <a:rPr sz="630" b="0">
                          <a:solidFill>
                            <a:srgbClr val="52514E"/>
                          </a:solidFill>
                          <a:latin typeface="Calibri"/>
                        </a:rPr>
                        <a:t>Email</a:t>
                      </a:r>
                    </a:p>
                  </a:txBody>
                  <a:tcPr marL="31750" marR="31750" marT="12700" marB="12700" anchor="ctr">
                    <a:solidFill>
                      <a:srgbClr val="FCFCFB"/>
                    </a:solidFill>
                  </a:tcPr>
                </a:tc>
                <a:tc>
                  <a:txBody>
                    <a:bodyPr wrap="square"/>
                    <a:lstStyle/>
                    <a:p>
                      <a:pPr algn="r"/>
                      <a:r>
                        <a:rPr sz="630" b="0">
                          <a:solidFill>
                            <a:srgbClr val="52514E"/>
                          </a:solidFill>
                          <a:latin typeface="Calibri"/>
                        </a:rPr>
                        <a:t>8,899</a:t>
                      </a:r>
                    </a:p>
                  </a:txBody>
                  <a:tcPr marL="31750" marR="31750" marT="12700" marB="12700" anchor="ctr">
                    <a:solidFill>
                      <a:srgbClr val="FCFCFB"/>
                    </a:solidFill>
                  </a:tcPr>
                </a:tc>
                <a:tc>
                  <a:txBody>
                    <a:bodyPr wrap="square"/>
                    <a:lstStyle/>
                    <a:p>
                      <a:pPr algn="r"/>
                      <a:r>
                        <a:rPr sz="630" b="0">
                          <a:solidFill>
                            <a:srgbClr val="52514E"/>
                          </a:solidFill>
                          <a:latin typeface="Calibri"/>
                        </a:rPr>
                        <a:t>700</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1,730</a:t>
                      </a:r>
                    </a:p>
                  </a:txBody>
                  <a:tcPr marL="31750" marR="31750" marT="12700" marB="12700" anchor="ctr">
                    <a:solidFill>
                      <a:srgbClr val="FCFCFB"/>
                    </a:solidFill>
                  </a:tcPr>
                </a:tc>
                <a:tc>
                  <a:txBody>
                    <a:bodyPr wrap="square"/>
                    <a:lstStyle/>
                    <a:p>
                      <a:pPr algn="r"/>
                      <a:r>
                        <a:rPr sz="630" b="0">
                          <a:solidFill>
                            <a:srgbClr val="52514E"/>
                          </a:solidFill>
                          <a:latin typeface="Calibri"/>
                        </a:rPr>
                        <a:t>2,036</a:t>
                      </a:r>
                    </a:p>
                  </a:txBody>
                  <a:tcPr marL="31750" marR="31750" marT="12700" marB="12700" anchor="ctr">
                    <a:solidFill>
                      <a:srgbClr val="FCFCFB"/>
                    </a:solidFill>
                  </a:tcPr>
                </a:tc>
                <a:tc>
                  <a:txBody>
                    <a:bodyPr wrap="square"/>
                    <a:lstStyle/>
                    <a:p>
                      <a:pPr algn="r"/>
                      <a:r>
                        <a:rPr sz="630" b="0">
                          <a:solidFill>
                            <a:srgbClr val="52514E"/>
                          </a:solidFill>
                          <a:latin typeface="Calibri"/>
                        </a:rPr>
                        <a:t>12.2</a:t>
                      </a:r>
                    </a:p>
                  </a:txBody>
                  <a:tcPr marL="31750" marR="31750" marT="12700" marB="12700" anchor="ctr">
                    <a:solidFill>
                      <a:srgbClr val="FCFCFB"/>
                    </a:solidFill>
                  </a:tcPr>
                </a:tc>
                <a:tc>
                  <a:txBody>
                    <a:bodyPr wrap="square"/>
                    <a:lstStyle/>
                    <a:p>
                      <a:pPr algn="r"/>
                      <a:r>
                        <a:rPr sz="630" b="1">
                          <a:solidFill>
                            <a:srgbClr val="52514E"/>
                          </a:solidFill>
                          <a:latin typeface="Calibri"/>
                        </a:rPr>
                        <a:t>14.3</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German</a:t>
                      </a:r>
                    </a:p>
                  </a:txBody>
                  <a:tcPr marL="31750" marR="31750" marT="12700" marB="12700" anchor="ctr">
                    <a:solidFill>
                      <a:srgbClr val="FCFCFB"/>
                    </a:solidFill>
                  </a:tcPr>
                </a:tc>
                <a:tc>
                  <a:txBody>
                    <a:bodyPr wrap="square"/>
                    <a:lstStyle/>
                    <a:p>
                      <a:pPr algn="l"/>
                      <a:r>
                        <a:rPr sz="630" b="0">
                          <a:solidFill>
                            <a:srgbClr val="52514E"/>
                          </a:solidFill>
                          <a:latin typeface="Calibri"/>
                        </a:rPr>
                        <a:t>Inbound</a:t>
                      </a:r>
                    </a:p>
                  </a:txBody>
                  <a:tcPr marL="31750" marR="31750" marT="12700" marB="12700" anchor="ctr">
                    <a:solidFill>
                      <a:srgbClr val="FCFCFB"/>
                    </a:solidFill>
                  </a:tcPr>
                </a:tc>
                <a:tc>
                  <a:txBody>
                    <a:bodyPr wrap="square"/>
                    <a:lstStyle/>
                    <a:p>
                      <a:pPr algn="r"/>
                      <a:r>
                        <a:rPr sz="630" b="0">
                          <a:solidFill>
                            <a:srgbClr val="52514E"/>
                          </a:solidFill>
                          <a:latin typeface="Calibri"/>
                        </a:rPr>
                        <a:t>9,168</a:t>
                      </a:r>
                    </a:p>
                  </a:txBody>
                  <a:tcPr marL="31750" marR="31750" marT="12700" marB="12700" anchor="ctr">
                    <a:solidFill>
                      <a:srgbClr val="FCFCFB"/>
                    </a:solidFill>
                  </a:tcPr>
                </a:tc>
                <a:tc>
                  <a:txBody>
                    <a:bodyPr wrap="square"/>
                    <a:lstStyle/>
                    <a:p>
                      <a:pPr algn="r"/>
                      <a:r>
                        <a:rPr sz="630" b="0">
                          <a:solidFill>
                            <a:srgbClr val="52514E"/>
                          </a:solidFill>
                          <a:latin typeface="Calibri"/>
                        </a:rPr>
                        <a:t>360</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1.26</a:t>
                      </a:r>
                    </a:p>
                  </a:txBody>
                  <a:tcPr marL="31750" marR="31750" marT="12700" marB="12700" anchor="ctr">
                    <a:solidFill>
                      <a:srgbClr val="FCFCFB"/>
                    </a:solidFill>
                  </a:tcPr>
                </a:tc>
                <a:tc>
                  <a:txBody>
                    <a:bodyPr wrap="square"/>
                    <a:lstStyle/>
                    <a:p>
                      <a:pPr algn="r"/>
                      <a:r>
                        <a:rPr sz="630" b="0">
                          <a:solidFill>
                            <a:srgbClr val="52514E"/>
                          </a:solidFill>
                          <a:latin typeface="Calibri"/>
                        </a:rPr>
                        <a:t>3</a:t>
                      </a:r>
                    </a:p>
                  </a:txBody>
                  <a:tcPr marL="31750" marR="31750" marT="12700" marB="12700" anchor="ctr">
                    <a:solidFill>
                      <a:srgbClr val="FCFCFB"/>
                    </a:solidFill>
                  </a:tcPr>
                </a:tc>
                <a:tc>
                  <a:txBody>
                    <a:bodyPr wrap="square"/>
                    <a:lstStyle/>
                    <a:p>
                      <a:pPr algn="r"/>
                      <a:r>
                        <a:rPr sz="630" b="0">
                          <a:solidFill>
                            <a:srgbClr val="52514E"/>
                          </a:solidFill>
                          <a:latin typeface="Calibri"/>
                        </a:rPr>
                        <a:t>42%</a:t>
                      </a:r>
                    </a:p>
                  </a:txBody>
                  <a:tcPr marL="31750" marR="31750" marT="12700" marB="12700" anchor="ctr">
                    <a:solidFill>
                      <a:srgbClr val="FCFCFB"/>
                    </a:solidFill>
                  </a:tcPr>
                </a:tc>
                <a:tc>
                  <a:txBody>
                    <a:bodyPr wrap="square"/>
                    <a:lstStyle/>
                    <a:p>
                      <a:pPr algn="r"/>
                      <a:r>
                        <a:rPr sz="630" b="0">
                          <a:solidFill>
                            <a:srgbClr val="52514E"/>
                          </a:solidFill>
                          <a:latin typeface="Calibri"/>
                        </a:rPr>
                        <a:t>85.7%</a:t>
                      </a:r>
                    </a:p>
                  </a:txBody>
                  <a:tcPr marL="31750" marR="31750" marT="12700" marB="12700" anchor="ctr">
                    <a:solidFill>
                      <a:srgbClr val="FCFCFB"/>
                    </a:solidFill>
                  </a:tcPr>
                </a:tc>
                <a:tc>
                  <a:txBody>
                    <a:bodyPr wrap="square"/>
                    <a:lstStyle/>
                    <a:p>
                      <a:pPr algn="r"/>
                      <a:r>
                        <a:rPr sz="630" b="0">
                          <a:solidFill>
                            <a:srgbClr val="52514E"/>
                          </a:solidFill>
                          <a:latin typeface="Calibri"/>
                        </a:rPr>
                        <a:t>917</a:t>
                      </a:r>
                    </a:p>
                  </a:txBody>
                  <a:tcPr marL="31750" marR="31750" marT="12700" marB="12700" anchor="ctr">
                    <a:solidFill>
                      <a:srgbClr val="FCFCFB"/>
                    </a:solidFill>
                  </a:tcPr>
                </a:tc>
                <a:tc>
                  <a:txBody>
                    <a:bodyPr wrap="square"/>
                    <a:lstStyle/>
                    <a:p>
                      <a:pPr algn="r"/>
                      <a:r>
                        <a:rPr sz="630" b="0">
                          <a:solidFill>
                            <a:srgbClr val="52514E"/>
                          </a:solidFill>
                          <a:latin typeface="Calibri"/>
                        </a:rPr>
                        <a:t>2,190</a:t>
                      </a:r>
                    </a:p>
                  </a:txBody>
                  <a:tcPr marL="31750" marR="31750" marT="12700" marB="12700" anchor="ctr">
                    <a:solidFill>
                      <a:srgbClr val="FCFCFB"/>
                    </a:solidFill>
                  </a:tcPr>
                </a:tc>
                <a:tc>
                  <a:txBody>
                    <a:bodyPr wrap="square"/>
                    <a:lstStyle/>
                    <a:p>
                      <a:pPr algn="r"/>
                      <a:r>
                        <a:rPr sz="630" b="0">
                          <a:solidFill>
                            <a:srgbClr val="52514E"/>
                          </a:solidFill>
                          <a:latin typeface="Calibri"/>
                        </a:rPr>
                        <a:t>6.5</a:t>
                      </a:r>
                    </a:p>
                  </a:txBody>
                  <a:tcPr marL="31750" marR="31750" marT="12700" marB="12700" anchor="ctr">
                    <a:solidFill>
                      <a:srgbClr val="FCFCFB"/>
                    </a:solidFill>
                  </a:tcPr>
                </a:tc>
                <a:tc>
                  <a:txBody>
                    <a:bodyPr wrap="square"/>
                    <a:lstStyle/>
                    <a:p>
                      <a:pPr algn="r"/>
                      <a:r>
                        <a:rPr sz="630" b="1">
                          <a:solidFill>
                            <a:srgbClr val="52514E"/>
                          </a:solidFill>
                          <a:latin typeface="Calibri"/>
                        </a:rPr>
                        <a:t>15.4</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German</a:t>
                      </a:r>
                    </a:p>
                  </a:txBody>
                  <a:tcPr marL="31750" marR="31750" marT="12700" marB="12700" anchor="ctr">
                    <a:solidFill>
                      <a:srgbClr val="FCFCFB"/>
                    </a:solidFill>
                  </a:tcPr>
                </a:tc>
                <a:tc>
                  <a:txBody>
                    <a:bodyPr wrap="square"/>
                    <a:lstStyle/>
                    <a:p>
                      <a:pPr algn="l"/>
                      <a:r>
                        <a:rPr sz="630" b="0">
                          <a:solidFill>
                            <a:srgbClr val="52514E"/>
                          </a:solidFill>
                          <a:latin typeface="Calibri"/>
                        </a:rPr>
                        <a:t>Outbound</a:t>
                      </a:r>
                    </a:p>
                  </a:txBody>
                  <a:tcPr marL="31750" marR="31750" marT="12700" marB="12700" anchor="ctr">
                    <a:solidFill>
                      <a:srgbClr val="FCFCFB"/>
                    </a:solidFill>
                  </a:tcPr>
                </a:tc>
                <a:tc>
                  <a:txBody>
                    <a:bodyPr wrap="square"/>
                    <a:lstStyle/>
                    <a:p>
                      <a:pPr algn="r"/>
                      <a:r>
                        <a:rPr sz="630" b="0">
                          <a:solidFill>
                            <a:srgbClr val="52514E"/>
                          </a:solidFill>
                          <a:latin typeface="Calibri"/>
                        </a:rPr>
                        <a:t>9,168</a:t>
                      </a:r>
                    </a:p>
                  </a:txBody>
                  <a:tcPr marL="31750" marR="31750" marT="12700" marB="12700" anchor="ctr">
                    <a:solidFill>
                      <a:srgbClr val="FCFCFB"/>
                    </a:solidFill>
                  </a:tcPr>
                </a:tc>
                <a:tc>
                  <a:txBody>
                    <a:bodyPr wrap="square"/>
                    <a:lstStyle/>
                    <a:p>
                      <a:pPr algn="r"/>
                      <a:r>
                        <a:rPr sz="630" b="0">
                          <a:solidFill>
                            <a:srgbClr val="52514E"/>
                          </a:solidFill>
                          <a:latin typeface="Calibri"/>
                        </a:rPr>
                        <a:t>115</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293</a:t>
                      </a:r>
                    </a:p>
                  </a:txBody>
                  <a:tcPr marL="31750" marR="31750" marT="12700" marB="12700" anchor="ctr">
                    <a:solidFill>
                      <a:srgbClr val="FCFCFB"/>
                    </a:solidFill>
                  </a:tcPr>
                </a:tc>
                <a:tc>
                  <a:txBody>
                    <a:bodyPr wrap="square"/>
                    <a:lstStyle/>
                    <a:p>
                      <a:pPr algn="r"/>
                      <a:r>
                        <a:rPr sz="630" b="0">
                          <a:solidFill>
                            <a:srgbClr val="52514E"/>
                          </a:solidFill>
                          <a:latin typeface="Calibri"/>
                        </a:rPr>
                        <a:t>345</a:t>
                      </a:r>
                    </a:p>
                  </a:txBody>
                  <a:tcPr marL="31750" marR="31750" marT="12700" marB="12700" anchor="ctr">
                    <a:solidFill>
                      <a:srgbClr val="FCFCFB"/>
                    </a:solidFill>
                  </a:tcPr>
                </a:tc>
                <a:tc>
                  <a:txBody>
                    <a:bodyPr wrap="square"/>
                    <a:lstStyle/>
                    <a:p>
                      <a:pPr algn="r"/>
                      <a:r>
                        <a:rPr sz="630" b="0">
                          <a:solidFill>
                            <a:srgbClr val="52514E"/>
                          </a:solidFill>
                          <a:latin typeface="Calibri"/>
                        </a:rPr>
                        <a:t>2.1</a:t>
                      </a:r>
                    </a:p>
                  </a:txBody>
                  <a:tcPr marL="31750" marR="31750" marT="12700" marB="12700" anchor="ctr">
                    <a:solidFill>
                      <a:srgbClr val="FCFCFB"/>
                    </a:solidFill>
                  </a:tcPr>
                </a:tc>
                <a:tc>
                  <a:txBody>
                    <a:bodyPr wrap="square"/>
                    <a:lstStyle/>
                    <a:p>
                      <a:pPr algn="r"/>
                      <a:r>
                        <a:rPr sz="630" b="1">
                          <a:solidFill>
                            <a:srgbClr val="52514E"/>
                          </a:solidFill>
                          <a:latin typeface="Calibri"/>
                        </a:rPr>
                        <a:t>2.4</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Italian</a:t>
                      </a:r>
                    </a:p>
                  </a:txBody>
                  <a:tcPr marL="31750" marR="31750" marT="12700" marB="12700" anchor="ctr">
                    <a:solidFill>
                      <a:srgbClr val="FCFCFB"/>
                    </a:solidFill>
                  </a:tcPr>
                </a:tc>
                <a:tc>
                  <a:txBody>
                    <a:bodyPr wrap="square"/>
                    <a:lstStyle/>
                    <a:p>
                      <a:pPr algn="l"/>
                      <a:r>
                        <a:rPr sz="630" b="0">
                          <a:solidFill>
                            <a:srgbClr val="52514E"/>
                          </a:solidFill>
                          <a:latin typeface="Calibri"/>
                        </a:rPr>
                        <a:t>Chat</a:t>
                      </a:r>
                    </a:p>
                  </a:txBody>
                  <a:tcPr marL="31750" marR="31750" marT="12700" marB="12700" anchor="ctr">
                    <a:solidFill>
                      <a:srgbClr val="FCFCFB"/>
                    </a:solidFill>
                  </a:tcPr>
                </a:tc>
                <a:tc>
                  <a:txBody>
                    <a:bodyPr wrap="square"/>
                    <a:lstStyle/>
                    <a:p>
                      <a:pPr algn="r"/>
                      <a:r>
                        <a:rPr sz="630" b="0">
                          <a:solidFill>
                            <a:srgbClr val="52514E"/>
                          </a:solidFill>
                          <a:latin typeface="Calibri"/>
                        </a:rPr>
                        <a:t>5,927</a:t>
                      </a:r>
                    </a:p>
                  </a:txBody>
                  <a:tcPr marL="31750" marR="31750" marT="12700" marB="12700" anchor="ctr">
                    <a:solidFill>
                      <a:srgbClr val="FCFCFB"/>
                    </a:solidFill>
                  </a:tcPr>
                </a:tc>
                <a:tc>
                  <a:txBody>
                    <a:bodyPr wrap="square"/>
                    <a:lstStyle/>
                    <a:p>
                      <a:pPr algn="r"/>
                      <a:r>
                        <a:rPr sz="630" b="0">
                          <a:solidFill>
                            <a:srgbClr val="52514E"/>
                          </a:solidFill>
                          <a:latin typeface="Calibri"/>
                        </a:rPr>
                        <a:t>900</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2.03</a:t>
                      </a:r>
                    </a:p>
                  </a:txBody>
                  <a:tcPr marL="31750" marR="31750" marT="12700" marB="12700" anchor="ctr">
                    <a:solidFill>
                      <a:srgbClr val="FCFCFB"/>
                    </a:solidFill>
                  </a:tcPr>
                </a:tc>
                <a:tc>
                  <a:txBody>
                    <a:bodyPr wrap="square"/>
                    <a:lstStyle/>
                    <a:p>
                      <a:pPr algn="r"/>
                      <a:r>
                        <a:rPr sz="630" b="0">
                          <a:solidFill>
                            <a:srgbClr val="52514E"/>
                          </a:solidFill>
                          <a:latin typeface="Calibri"/>
                        </a:rPr>
                        <a:t>4</a:t>
                      </a:r>
                    </a:p>
                  </a:txBody>
                  <a:tcPr marL="31750" marR="31750" marT="12700" marB="12700" anchor="ctr">
                    <a:solidFill>
                      <a:srgbClr val="FCFCFB"/>
                    </a:solidFill>
                  </a:tcPr>
                </a:tc>
                <a:tc>
                  <a:txBody>
                    <a:bodyPr wrap="square"/>
                    <a:lstStyle/>
                    <a:p>
                      <a:pPr algn="r"/>
                      <a:r>
                        <a:rPr sz="630" b="0">
                          <a:solidFill>
                            <a:srgbClr val="52514E"/>
                          </a:solidFill>
                          <a:latin typeface="Calibri"/>
                        </a:rPr>
                        <a:t>51%</a:t>
                      </a:r>
                    </a:p>
                  </a:txBody>
                  <a:tcPr marL="31750" marR="31750" marT="12700" marB="12700" anchor="ctr">
                    <a:solidFill>
                      <a:srgbClr val="FCFCFB"/>
                    </a:solidFill>
                  </a:tcPr>
                </a:tc>
                <a:tc>
                  <a:txBody>
                    <a:bodyPr wrap="square"/>
                    <a:lstStyle/>
                    <a:p>
                      <a:pPr algn="r"/>
                      <a:r>
                        <a:rPr sz="630" b="0">
                          <a:solidFill>
                            <a:srgbClr val="52514E"/>
                          </a:solidFill>
                          <a:latin typeface="Calibri"/>
                        </a:rPr>
                        <a:t>84.1%</a:t>
                      </a:r>
                    </a:p>
                  </a:txBody>
                  <a:tcPr marL="31750" marR="31750" marT="12700" marB="12700" anchor="ctr">
                    <a:solidFill>
                      <a:srgbClr val="FCFCFB"/>
                    </a:solidFill>
                  </a:tcPr>
                </a:tc>
                <a:tc>
                  <a:txBody>
                    <a:bodyPr wrap="square"/>
                    <a:lstStyle/>
                    <a:p>
                      <a:pPr algn="r"/>
                      <a:r>
                        <a:rPr sz="630" b="0">
                          <a:solidFill>
                            <a:srgbClr val="52514E"/>
                          </a:solidFill>
                          <a:latin typeface="Calibri"/>
                        </a:rPr>
                        <a:t>1,482</a:t>
                      </a:r>
                    </a:p>
                  </a:txBody>
                  <a:tcPr marL="31750" marR="31750" marT="12700" marB="12700" anchor="ctr">
                    <a:solidFill>
                      <a:srgbClr val="FCFCFB"/>
                    </a:solidFill>
                  </a:tcPr>
                </a:tc>
                <a:tc>
                  <a:txBody>
                    <a:bodyPr wrap="square"/>
                    <a:lstStyle/>
                    <a:p>
                      <a:pPr algn="r"/>
                      <a:r>
                        <a:rPr sz="630" b="0">
                          <a:solidFill>
                            <a:srgbClr val="52514E"/>
                          </a:solidFill>
                          <a:latin typeface="Calibri"/>
                        </a:rPr>
                        <a:t>2,433</a:t>
                      </a:r>
                    </a:p>
                  </a:txBody>
                  <a:tcPr marL="31750" marR="31750" marT="12700" marB="12700" anchor="ctr">
                    <a:solidFill>
                      <a:srgbClr val="FCFCFB"/>
                    </a:solidFill>
                  </a:tcPr>
                </a:tc>
                <a:tc>
                  <a:txBody>
                    <a:bodyPr wrap="square"/>
                    <a:lstStyle/>
                    <a:p>
                      <a:pPr algn="r"/>
                      <a:r>
                        <a:rPr sz="630" b="0">
                          <a:solidFill>
                            <a:srgbClr val="52514E"/>
                          </a:solidFill>
                          <a:latin typeface="Calibri"/>
                        </a:rPr>
                        <a:t>10.4</a:t>
                      </a:r>
                    </a:p>
                  </a:txBody>
                  <a:tcPr marL="31750" marR="31750" marT="12700" marB="12700" anchor="ctr">
                    <a:solidFill>
                      <a:srgbClr val="FCFCFB"/>
                    </a:solidFill>
                  </a:tcPr>
                </a:tc>
                <a:tc>
                  <a:txBody>
                    <a:bodyPr wrap="square"/>
                    <a:lstStyle/>
                    <a:p>
                      <a:pPr algn="r"/>
                      <a:r>
                        <a:rPr sz="630" b="1">
                          <a:solidFill>
                            <a:srgbClr val="52514E"/>
                          </a:solidFill>
                          <a:latin typeface="Calibri"/>
                        </a:rPr>
                        <a:t>17.1</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Italian</a:t>
                      </a:r>
                    </a:p>
                  </a:txBody>
                  <a:tcPr marL="31750" marR="31750" marT="12700" marB="12700" anchor="ctr">
                    <a:solidFill>
                      <a:srgbClr val="FCFCFB"/>
                    </a:solidFill>
                  </a:tcPr>
                </a:tc>
                <a:tc>
                  <a:txBody>
                    <a:bodyPr wrap="square"/>
                    <a:lstStyle/>
                    <a:p>
                      <a:pPr algn="l"/>
                      <a:r>
                        <a:rPr sz="630" b="0">
                          <a:solidFill>
                            <a:srgbClr val="52514E"/>
                          </a:solidFill>
                          <a:latin typeface="Calibri"/>
                        </a:rPr>
                        <a:t>Email</a:t>
                      </a:r>
                    </a:p>
                  </a:txBody>
                  <a:tcPr marL="31750" marR="31750" marT="12700" marB="12700" anchor="ctr">
                    <a:solidFill>
                      <a:srgbClr val="FCFCFB"/>
                    </a:solidFill>
                  </a:tcPr>
                </a:tc>
                <a:tc>
                  <a:txBody>
                    <a:bodyPr wrap="square"/>
                    <a:lstStyle/>
                    <a:p>
                      <a:pPr algn="r"/>
                      <a:r>
                        <a:rPr sz="630" b="0">
                          <a:solidFill>
                            <a:srgbClr val="52514E"/>
                          </a:solidFill>
                          <a:latin typeface="Calibri"/>
                        </a:rPr>
                        <a:t>5,927</a:t>
                      </a:r>
                    </a:p>
                  </a:txBody>
                  <a:tcPr marL="31750" marR="31750" marT="12700" marB="12700" anchor="ctr">
                    <a:solidFill>
                      <a:srgbClr val="FCFCFB"/>
                    </a:solidFill>
                  </a:tcPr>
                </a:tc>
                <a:tc>
                  <a:txBody>
                    <a:bodyPr wrap="square"/>
                    <a:lstStyle/>
                    <a:p>
                      <a:pPr algn="r"/>
                      <a:r>
                        <a:rPr sz="630" b="0">
                          <a:solidFill>
                            <a:srgbClr val="52514E"/>
                          </a:solidFill>
                          <a:latin typeface="Calibri"/>
                        </a:rPr>
                        <a:t>800</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1,317</a:t>
                      </a:r>
                    </a:p>
                  </a:txBody>
                  <a:tcPr marL="31750" marR="31750" marT="12700" marB="12700" anchor="ctr">
                    <a:solidFill>
                      <a:srgbClr val="FCFCFB"/>
                    </a:solidFill>
                  </a:tcPr>
                </a:tc>
                <a:tc>
                  <a:txBody>
                    <a:bodyPr wrap="square"/>
                    <a:lstStyle/>
                    <a:p>
                      <a:pPr algn="r"/>
                      <a:r>
                        <a:rPr sz="630" b="0">
                          <a:solidFill>
                            <a:srgbClr val="52514E"/>
                          </a:solidFill>
                          <a:latin typeface="Calibri"/>
                        </a:rPr>
                        <a:t>1,549</a:t>
                      </a:r>
                    </a:p>
                  </a:txBody>
                  <a:tcPr marL="31750" marR="31750" marT="12700" marB="12700" anchor="ctr">
                    <a:solidFill>
                      <a:srgbClr val="FCFCFB"/>
                    </a:solidFill>
                  </a:tcPr>
                </a:tc>
                <a:tc>
                  <a:txBody>
                    <a:bodyPr wrap="square"/>
                    <a:lstStyle/>
                    <a:p>
                      <a:pPr algn="r"/>
                      <a:r>
                        <a:rPr sz="630" b="0">
                          <a:solidFill>
                            <a:srgbClr val="52514E"/>
                          </a:solidFill>
                          <a:latin typeface="Calibri"/>
                        </a:rPr>
                        <a:t>9.3</a:t>
                      </a:r>
                    </a:p>
                  </a:txBody>
                  <a:tcPr marL="31750" marR="31750" marT="12700" marB="12700" anchor="ctr">
                    <a:solidFill>
                      <a:srgbClr val="FCFCFB"/>
                    </a:solidFill>
                  </a:tcPr>
                </a:tc>
                <a:tc>
                  <a:txBody>
                    <a:bodyPr wrap="square"/>
                    <a:lstStyle/>
                    <a:p>
                      <a:pPr algn="r"/>
                      <a:r>
                        <a:rPr sz="630" b="1">
                          <a:solidFill>
                            <a:srgbClr val="52514E"/>
                          </a:solidFill>
                          <a:latin typeface="Calibri"/>
                        </a:rPr>
                        <a:t>10.9</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Italian</a:t>
                      </a:r>
                    </a:p>
                  </a:txBody>
                  <a:tcPr marL="31750" marR="31750" marT="12700" marB="12700" anchor="ctr">
                    <a:solidFill>
                      <a:srgbClr val="FCFCFB"/>
                    </a:solidFill>
                  </a:tcPr>
                </a:tc>
                <a:tc>
                  <a:txBody>
                    <a:bodyPr wrap="square"/>
                    <a:lstStyle/>
                    <a:p>
                      <a:pPr algn="l"/>
                      <a:r>
                        <a:rPr sz="630" b="0">
                          <a:solidFill>
                            <a:srgbClr val="52514E"/>
                          </a:solidFill>
                          <a:latin typeface="Calibri"/>
                        </a:rPr>
                        <a:t>Inbound</a:t>
                      </a:r>
                    </a:p>
                  </a:txBody>
                  <a:tcPr marL="31750" marR="31750" marT="12700" marB="12700" anchor="ctr">
                    <a:solidFill>
                      <a:srgbClr val="FCFCFB"/>
                    </a:solidFill>
                  </a:tcPr>
                </a:tc>
                <a:tc>
                  <a:txBody>
                    <a:bodyPr wrap="square"/>
                    <a:lstStyle/>
                    <a:p>
                      <a:pPr algn="r"/>
                      <a:r>
                        <a:rPr sz="630" b="0">
                          <a:solidFill>
                            <a:srgbClr val="52514E"/>
                          </a:solidFill>
                          <a:latin typeface="Calibri"/>
                        </a:rPr>
                        <a:t>6,106</a:t>
                      </a:r>
                    </a:p>
                  </a:txBody>
                  <a:tcPr marL="31750" marR="31750" marT="12700" marB="12700" anchor="ctr">
                    <a:solidFill>
                      <a:srgbClr val="FCFCFB"/>
                    </a:solidFill>
                  </a:tcPr>
                </a:tc>
                <a:tc>
                  <a:txBody>
                    <a:bodyPr wrap="square"/>
                    <a:lstStyle/>
                    <a:p>
                      <a:pPr algn="r"/>
                      <a:r>
                        <a:rPr sz="630" b="0">
                          <a:solidFill>
                            <a:srgbClr val="52514E"/>
                          </a:solidFill>
                          <a:latin typeface="Calibri"/>
                        </a:rPr>
                        <a:t>360</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0.84</a:t>
                      </a:r>
                    </a:p>
                  </a:txBody>
                  <a:tcPr marL="31750" marR="31750" marT="12700" marB="12700" anchor="ctr">
                    <a:solidFill>
                      <a:srgbClr val="FCFCFB"/>
                    </a:solidFill>
                  </a:tcPr>
                </a:tc>
                <a:tc>
                  <a:txBody>
                    <a:bodyPr wrap="square"/>
                    <a:lstStyle/>
                    <a:p>
                      <a:pPr algn="r"/>
                      <a:r>
                        <a:rPr sz="630" b="0">
                          <a:solidFill>
                            <a:srgbClr val="52514E"/>
                          </a:solidFill>
                          <a:latin typeface="Calibri"/>
                        </a:rPr>
                        <a:t>3</a:t>
                      </a:r>
                    </a:p>
                  </a:txBody>
                  <a:tcPr marL="31750" marR="31750" marT="12700" marB="12700" anchor="ctr">
                    <a:solidFill>
                      <a:srgbClr val="FCFCFB"/>
                    </a:solidFill>
                  </a:tcPr>
                </a:tc>
                <a:tc>
                  <a:txBody>
                    <a:bodyPr wrap="square"/>
                    <a:lstStyle/>
                    <a:p>
                      <a:pPr algn="r"/>
                      <a:r>
                        <a:rPr sz="630" b="0">
                          <a:solidFill>
                            <a:srgbClr val="52514E"/>
                          </a:solidFill>
                          <a:latin typeface="Calibri"/>
                        </a:rPr>
                        <a:t>28%</a:t>
                      </a:r>
                    </a:p>
                  </a:txBody>
                  <a:tcPr marL="31750" marR="31750" marT="12700" marB="12700" anchor="ctr">
                    <a:solidFill>
                      <a:srgbClr val="FCFCFB"/>
                    </a:solidFill>
                  </a:tcPr>
                </a:tc>
                <a:tc>
                  <a:txBody>
                    <a:bodyPr wrap="square"/>
                    <a:lstStyle/>
                    <a:p>
                      <a:pPr algn="r"/>
                      <a:r>
                        <a:rPr sz="630" b="0">
                          <a:solidFill>
                            <a:srgbClr val="52514E"/>
                          </a:solidFill>
                          <a:latin typeface="Calibri"/>
                        </a:rPr>
                        <a:t>94.8%</a:t>
                      </a:r>
                    </a:p>
                  </a:txBody>
                  <a:tcPr marL="31750" marR="31750" marT="12700" marB="12700" anchor="ctr">
                    <a:solidFill>
                      <a:srgbClr val="FCFCFB"/>
                    </a:solidFill>
                  </a:tcPr>
                </a:tc>
                <a:tc>
                  <a:txBody>
                    <a:bodyPr wrap="square"/>
                    <a:lstStyle/>
                    <a:p>
                      <a:pPr algn="r"/>
                      <a:r>
                        <a:rPr sz="630" b="0">
                          <a:solidFill>
                            <a:srgbClr val="52514E"/>
                          </a:solidFill>
                          <a:latin typeface="Calibri"/>
                        </a:rPr>
                        <a:t>611</a:t>
                      </a:r>
                    </a:p>
                  </a:txBody>
                  <a:tcPr marL="31750" marR="31750" marT="12700" marB="12700" anchor="ctr">
                    <a:solidFill>
                      <a:srgbClr val="FCFCFB"/>
                    </a:solidFill>
                  </a:tcPr>
                </a:tc>
                <a:tc>
                  <a:txBody>
                    <a:bodyPr wrap="square"/>
                    <a:lstStyle/>
                    <a:p>
                      <a:pPr algn="r"/>
                      <a:r>
                        <a:rPr sz="630" b="0">
                          <a:solidFill>
                            <a:srgbClr val="52514E"/>
                          </a:solidFill>
                          <a:latin typeface="Calibri"/>
                        </a:rPr>
                        <a:t>2,190</a:t>
                      </a:r>
                    </a:p>
                  </a:txBody>
                  <a:tcPr marL="31750" marR="31750" marT="12700" marB="12700" anchor="ctr">
                    <a:solidFill>
                      <a:srgbClr val="FCFCFB"/>
                    </a:solidFill>
                  </a:tcPr>
                </a:tc>
                <a:tc>
                  <a:txBody>
                    <a:bodyPr wrap="square"/>
                    <a:lstStyle/>
                    <a:p>
                      <a:pPr algn="r"/>
                      <a:r>
                        <a:rPr sz="630" b="0">
                          <a:solidFill>
                            <a:srgbClr val="52514E"/>
                          </a:solidFill>
                          <a:latin typeface="Calibri"/>
                        </a:rPr>
                        <a:t>4.3</a:t>
                      </a:r>
                    </a:p>
                  </a:txBody>
                  <a:tcPr marL="31750" marR="31750" marT="12700" marB="12700" anchor="ctr">
                    <a:solidFill>
                      <a:srgbClr val="FCFCFB"/>
                    </a:solidFill>
                  </a:tcPr>
                </a:tc>
                <a:tc>
                  <a:txBody>
                    <a:bodyPr wrap="square"/>
                    <a:lstStyle/>
                    <a:p>
                      <a:pPr algn="r"/>
                      <a:r>
                        <a:rPr sz="630" b="1">
                          <a:solidFill>
                            <a:srgbClr val="52514E"/>
                          </a:solidFill>
                          <a:latin typeface="Calibri"/>
                        </a:rPr>
                        <a:t>15.4</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Italian</a:t>
                      </a:r>
                    </a:p>
                  </a:txBody>
                  <a:tcPr marL="31750" marR="31750" marT="12700" marB="12700" anchor="ctr">
                    <a:solidFill>
                      <a:srgbClr val="FCFCFB"/>
                    </a:solidFill>
                  </a:tcPr>
                </a:tc>
                <a:tc>
                  <a:txBody>
                    <a:bodyPr wrap="square"/>
                    <a:lstStyle/>
                    <a:p>
                      <a:pPr algn="l"/>
                      <a:r>
                        <a:rPr sz="630" b="0">
                          <a:solidFill>
                            <a:srgbClr val="52514E"/>
                          </a:solidFill>
                          <a:latin typeface="Calibri"/>
                        </a:rPr>
                        <a:t>Outbound</a:t>
                      </a:r>
                    </a:p>
                  </a:txBody>
                  <a:tcPr marL="31750" marR="31750" marT="12700" marB="12700" anchor="ctr">
                    <a:solidFill>
                      <a:srgbClr val="FCFCFB"/>
                    </a:solidFill>
                  </a:tcPr>
                </a:tc>
                <a:tc>
                  <a:txBody>
                    <a:bodyPr wrap="square"/>
                    <a:lstStyle/>
                    <a:p>
                      <a:pPr algn="r"/>
                      <a:r>
                        <a:rPr sz="630" b="0">
                          <a:solidFill>
                            <a:srgbClr val="52514E"/>
                          </a:solidFill>
                          <a:latin typeface="Calibri"/>
                        </a:rPr>
                        <a:t>6,106</a:t>
                      </a:r>
                    </a:p>
                  </a:txBody>
                  <a:tcPr marL="31750" marR="31750" marT="12700" marB="12700" anchor="ctr">
                    <a:solidFill>
                      <a:srgbClr val="FCFCFB"/>
                    </a:solidFill>
                  </a:tcPr>
                </a:tc>
                <a:tc>
                  <a:txBody>
                    <a:bodyPr wrap="square"/>
                    <a:lstStyle/>
                    <a:p>
                      <a:pPr algn="r"/>
                      <a:r>
                        <a:rPr sz="630" b="0">
                          <a:solidFill>
                            <a:srgbClr val="52514E"/>
                          </a:solidFill>
                          <a:latin typeface="Calibri"/>
                        </a:rPr>
                        <a:t>115</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195</a:t>
                      </a:r>
                    </a:p>
                  </a:txBody>
                  <a:tcPr marL="31750" marR="31750" marT="12700" marB="12700" anchor="ctr">
                    <a:solidFill>
                      <a:srgbClr val="FCFCFB"/>
                    </a:solidFill>
                  </a:tcPr>
                </a:tc>
                <a:tc>
                  <a:txBody>
                    <a:bodyPr wrap="square"/>
                    <a:lstStyle/>
                    <a:p>
                      <a:pPr algn="r"/>
                      <a:r>
                        <a:rPr sz="630" b="0">
                          <a:solidFill>
                            <a:srgbClr val="52514E"/>
                          </a:solidFill>
                          <a:latin typeface="Calibri"/>
                        </a:rPr>
                        <a:t>229</a:t>
                      </a:r>
                    </a:p>
                  </a:txBody>
                  <a:tcPr marL="31750" marR="31750" marT="12700" marB="12700" anchor="ctr">
                    <a:solidFill>
                      <a:srgbClr val="FCFCFB"/>
                    </a:solidFill>
                  </a:tcPr>
                </a:tc>
                <a:tc>
                  <a:txBody>
                    <a:bodyPr wrap="square"/>
                    <a:lstStyle/>
                    <a:p>
                      <a:pPr algn="r"/>
                      <a:r>
                        <a:rPr sz="630" b="0">
                          <a:solidFill>
                            <a:srgbClr val="52514E"/>
                          </a:solidFill>
                          <a:latin typeface="Calibri"/>
                        </a:rPr>
                        <a:t>1.4</a:t>
                      </a:r>
                    </a:p>
                  </a:txBody>
                  <a:tcPr marL="31750" marR="31750" marT="12700" marB="12700" anchor="ctr">
                    <a:solidFill>
                      <a:srgbClr val="FCFCFB"/>
                    </a:solidFill>
                  </a:tcPr>
                </a:tc>
                <a:tc>
                  <a:txBody>
                    <a:bodyPr wrap="square"/>
                    <a:lstStyle/>
                    <a:p>
                      <a:pPr algn="r"/>
                      <a:r>
                        <a:rPr sz="630" b="1">
                          <a:solidFill>
                            <a:srgbClr val="52514E"/>
                          </a:solidFill>
                          <a:latin typeface="Calibri"/>
                        </a:rPr>
                        <a:t>1.6</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Spanish</a:t>
                      </a:r>
                    </a:p>
                  </a:txBody>
                  <a:tcPr marL="31750" marR="31750" marT="12700" marB="12700" anchor="ctr">
                    <a:solidFill>
                      <a:srgbClr val="FCFCFB"/>
                    </a:solidFill>
                  </a:tcPr>
                </a:tc>
                <a:tc>
                  <a:txBody>
                    <a:bodyPr wrap="square"/>
                    <a:lstStyle/>
                    <a:p>
                      <a:pPr algn="l"/>
                      <a:r>
                        <a:rPr sz="630" b="0">
                          <a:solidFill>
                            <a:srgbClr val="52514E"/>
                          </a:solidFill>
                          <a:latin typeface="Calibri"/>
                        </a:rPr>
                        <a:t>Chat</a:t>
                      </a:r>
                    </a:p>
                  </a:txBody>
                  <a:tcPr marL="31750" marR="31750" marT="12700" marB="12700" anchor="ctr">
                    <a:solidFill>
                      <a:srgbClr val="FCFCFB"/>
                    </a:solidFill>
                  </a:tcPr>
                </a:tc>
                <a:tc>
                  <a:txBody>
                    <a:bodyPr wrap="square"/>
                    <a:lstStyle/>
                    <a:p>
                      <a:pPr algn="r"/>
                      <a:r>
                        <a:rPr sz="630" b="0">
                          <a:solidFill>
                            <a:srgbClr val="52514E"/>
                          </a:solidFill>
                          <a:latin typeface="Calibri"/>
                        </a:rPr>
                        <a:t>8,097</a:t>
                      </a:r>
                    </a:p>
                  </a:txBody>
                  <a:tcPr marL="31750" marR="31750" marT="12700" marB="12700" anchor="ctr">
                    <a:solidFill>
                      <a:srgbClr val="FCFCFB"/>
                    </a:solidFill>
                  </a:tcPr>
                </a:tc>
                <a:tc>
                  <a:txBody>
                    <a:bodyPr wrap="square"/>
                    <a:lstStyle/>
                    <a:p>
                      <a:pPr algn="r"/>
                      <a:r>
                        <a:rPr sz="630" b="0">
                          <a:solidFill>
                            <a:srgbClr val="52514E"/>
                          </a:solidFill>
                          <a:latin typeface="Calibri"/>
                        </a:rPr>
                        <a:t>900</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2.77</a:t>
                      </a:r>
                    </a:p>
                  </a:txBody>
                  <a:tcPr marL="31750" marR="31750" marT="12700" marB="12700" anchor="ctr">
                    <a:solidFill>
                      <a:srgbClr val="FCFCFB"/>
                    </a:solidFill>
                  </a:tcPr>
                </a:tc>
                <a:tc>
                  <a:txBody>
                    <a:bodyPr wrap="square"/>
                    <a:lstStyle/>
                    <a:p>
                      <a:pPr algn="r"/>
                      <a:r>
                        <a:rPr sz="630" b="0">
                          <a:solidFill>
                            <a:srgbClr val="52514E"/>
                          </a:solidFill>
                          <a:latin typeface="Calibri"/>
                        </a:rPr>
                        <a:t>5</a:t>
                      </a:r>
                    </a:p>
                  </a:txBody>
                  <a:tcPr marL="31750" marR="31750" marT="12700" marB="12700" anchor="ctr">
                    <a:solidFill>
                      <a:srgbClr val="FCFCFB"/>
                    </a:solidFill>
                  </a:tcPr>
                </a:tc>
                <a:tc>
                  <a:txBody>
                    <a:bodyPr wrap="square"/>
                    <a:lstStyle/>
                    <a:p>
                      <a:pPr algn="r"/>
                      <a:r>
                        <a:rPr sz="630" b="0">
                          <a:solidFill>
                            <a:srgbClr val="52514E"/>
                          </a:solidFill>
                          <a:latin typeface="Calibri"/>
                        </a:rPr>
                        <a:t>55%</a:t>
                      </a:r>
                    </a:p>
                  </a:txBody>
                  <a:tcPr marL="31750" marR="31750" marT="12700" marB="12700" anchor="ctr">
                    <a:solidFill>
                      <a:srgbClr val="FCFCFB"/>
                    </a:solidFill>
                  </a:tcPr>
                </a:tc>
                <a:tc>
                  <a:txBody>
                    <a:bodyPr wrap="square"/>
                    <a:lstStyle/>
                    <a:p>
                      <a:pPr algn="r"/>
                      <a:r>
                        <a:rPr sz="630" b="0">
                          <a:solidFill>
                            <a:srgbClr val="52514E"/>
                          </a:solidFill>
                          <a:latin typeface="Calibri"/>
                        </a:rPr>
                        <a:t>84.2%</a:t>
                      </a:r>
                    </a:p>
                  </a:txBody>
                  <a:tcPr marL="31750" marR="31750" marT="12700" marB="12700" anchor="ctr">
                    <a:solidFill>
                      <a:srgbClr val="FCFCFB"/>
                    </a:solidFill>
                  </a:tcPr>
                </a:tc>
                <a:tc>
                  <a:txBody>
                    <a:bodyPr wrap="square"/>
                    <a:lstStyle/>
                    <a:p>
                      <a:pPr algn="r"/>
                      <a:r>
                        <a:rPr sz="630" b="0">
                          <a:solidFill>
                            <a:srgbClr val="52514E"/>
                          </a:solidFill>
                          <a:latin typeface="Calibri"/>
                        </a:rPr>
                        <a:t>2,024</a:t>
                      </a:r>
                    </a:p>
                  </a:txBody>
                  <a:tcPr marL="31750" marR="31750" marT="12700" marB="12700" anchor="ctr">
                    <a:solidFill>
                      <a:srgbClr val="FCFCFB"/>
                    </a:solidFill>
                  </a:tcPr>
                </a:tc>
                <a:tc>
                  <a:txBody>
                    <a:bodyPr wrap="square"/>
                    <a:lstStyle/>
                    <a:p>
                      <a:pPr algn="r"/>
                      <a:r>
                        <a:rPr sz="630" b="0">
                          <a:solidFill>
                            <a:srgbClr val="52514E"/>
                          </a:solidFill>
                          <a:latin typeface="Calibri"/>
                        </a:rPr>
                        <a:t>3,042</a:t>
                      </a:r>
                    </a:p>
                  </a:txBody>
                  <a:tcPr marL="31750" marR="31750" marT="12700" marB="12700" anchor="ctr">
                    <a:solidFill>
                      <a:srgbClr val="FCFCFB"/>
                    </a:solidFill>
                  </a:tcPr>
                </a:tc>
                <a:tc>
                  <a:txBody>
                    <a:bodyPr wrap="square"/>
                    <a:lstStyle/>
                    <a:p>
                      <a:pPr algn="r"/>
                      <a:r>
                        <a:rPr sz="630" b="0">
                          <a:solidFill>
                            <a:srgbClr val="52514E"/>
                          </a:solidFill>
                          <a:latin typeface="Calibri"/>
                        </a:rPr>
                        <a:t>14.2</a:t>
                      </a:r>
                    </a:p>
                  </a:txBody>
                  <a:tcPr marL="31750" marR="31750" marT="12700" marB="12700" anchor="ctr">
                    <a:solidFill>
                      <a:srgbClr val="FCFCFB"/>
                    </a:solidFill>
                  </a:tcPr>
                </a:tc>
                <a:tc>
                  <a:txBody>
                    <a:bodyPr wrap="square"/>
                    <a:lstStyle/>
                    <a:p>
                      <a:pPr algn="r"/>
                      <a:r>
                        <a:rPr sz="630" b="1">
                          <a:solidFill>
                            <a:srgbClr val="52514E"/>
                          </a:solidFill>
                          <a:latin typeface="Calibri"/>
                        </a:rPr>
                        <a:t>21.4</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Spanish</a:t>
                      </a:r>
                    </a:p>
                  </a:txBody>
                  <a:tcPr marL="31750" marR="31750" marT="12700" marB="12700" anchor="ctr">
                    <a:solidFill>
                      <a:srgbClr val="FCFCFB"/>
                    </a:solidFill>
                  </a:tcPr>
                </a:tc>
                <a:tc>
                  <a:txBody>
                    <a:bodyPr wrap="square"/>
                    <a:lstStyle/>
                    <a:p>
                      <a:pPr algn="l"/>
                      <a:r>
                        <a:rPr sz="630" b="0">
                          <a:solidFill>
                            <a:srgbClr val="52514E"/>
                          </a:solidFill>
                          <a:latin typeface="Calibri"/>
                        </a:rPr>
                        <a:t>Email</a:t>
                      </a:r>
                    </a:p>
                  </a:txBody>
                  <a:tcPr marL="31750" marR="31750" marT="12700" marB="12700" anchor="ctr">
                    <a:solidFill>
                      <a:srgbClr val="FCFCFB"/>
                    </a:solidFill>
                  </a:tcPr>
                </a:tc>
                <a:tc>
                  <a:txBody>
                    <a:bodyPr wrap="square"/>
                    <a:lstStyle/>
                    <a:p>
                      <a:pPr algn="r"/>
                      <a:r>
                        <a:rPr sz="630" b="0">
                          <a:solidFill>
                            <a:srgbClr val="52514E"/>
                          </a:solidFill>
                          <a:latin typeface="Calibri"/>
                        </a:rPr>
                        <a:t>8,097</a:t>
                      </a:r>
                    </a:p>
                  </a:txBody>
                  <a:tcPr marL="31750" marR="31750" marT="12700" marB="12700" anchor="ctr">
                    <a:solidFill>
                      <a:srgbClr val="FCFCFB"/>
                    </a:solidFill>
                  </a:tcPr>
                </a:tc>
                <a:tc>
                  <a:txBody>
                    <a:bodyPr wrap="square"/>
                    <a:lstStyle/>
                    <a:p>
                      <a:pPr algn="r"/>
                      <a:r>
                        <a:rPr sz="630" b="0">
                          <a:solidFill>
                            <a:srgbClr val="52514E"/>
                          </a:solidFill>
                          <a:latin typeface="Calibri"/>
                        </a:rPr>
                        <a:t>600</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1,350</a:t>
                      </a:r>
                    </a:p>
                  </a:txBody>
                  <a:tcPr marL="31750" marR="31750" marT="12700" marB="12700" anchor="ctr">
                    <a:solidFill>
                      <a:srgbClr val="FCFCFB"/>
                    </a:solidFill>
                  </a:tcPr>
                </a:tc>
                <a:tc>
                  <a:txBody>
                    <a:bodyPr wrap="square"/>
                    <a:lstStyle/>
                    <a:p>
                      <a:pPr algn="r"/>
                      <a:r>
                        <a:rPr sz="630" b="0">
                          <a:solidFill>
                            <a:srgbClr val="52514E"/>
                          </a:solidFill>
                          <a:latin typeface="Calibri"/>
                        </a:rPr>
                        <a:t>1,588</a:t>
                      </a:r>
                    </a:p>
                  </a:txBody>
                  <a:tcPr marL="31750" marR="31750" marT="12700" marB="12700" anchor="ctr">
                    <a:solidFill>
                      <a:srgbClr val="FCFCFB"/>
                    </a:solidFill>
                  </a:tcPr>
                </a:tc>
                <a:tc>
                  <a:txBody>
                    <a:bodyPr wrap="square"/>
                    <a:lstStyle/>
                    <a:p>
                      <a:pPr algn="r"/>
                      <a:r>
                        <a:rPr sz="630" b="0">
                          <a:solidFill>
                            <a:srgbClr val="52514E"/>
                          </a:solidFill>
                          <a:latin typeface="Calibri"/>
                        </a:rPr>
                        <a:t>9.5</a:t>
                      </a:r>
                    </a:p>
                  </a:txBody>
                  <a:tcPr marL="31750" marR="31750" marT="12700" marB="12700" anchor="ctr">
                    <a:solidFill>
                      <a:srgbClr val="FCFCFB"/>
                    </a:solidFill>
                  </a:tcPr>
                </a:tc>
                <a:tc>
                  <a:txBody>
                    <a:bodyPr wrap="square"/>
                    <a:lstStyle/>
                    <a:p>
                      <a:pPr algn="r"/>
                      <a:r>
                        <a:rPr sz="630" b="1">
                          <a:solidFill>
                            <a:srgbClr val="52514E"/>
                          </a:solidFill>
                          <a:latin typeface="Calibri"/>
                        </a:rPr>
                        <a:t>11.2</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Spanish</a:t>
                      </a:r>
                    </a:p>
                  </a:txBody>
                  <a:tcPr marL="31750" marR="31750" marT="12700" marB="12700" anchor="ctr">
                    <a:solidFill>
                      <a:srgbClr val="FCFCFB"/>
                    </a:solidFill>
                  </a:tcPr>
                </a:tc>
                <a:tc>
                  <a:txBody>
                    <a:bodyPr wrap="square"/>
                    <a:lstStyle/>
                    <a:p>
                      <a:pPr algn="l"/>
                      <a:r>
                        <a:rPr sz="630" b="0">
                          <a:solidFill>
                            <a:srgbClr val="52514E"/>
                          </a:solidFill>
                          <a:latin typeface="Calibri"/>
                        </a:rPr>
                        <a:t>Inbound</a:t>
                      </a:r>
                    </a:p>
                  </a:txBody>
                  <a:tcPr marL="31750" marR="31750" marT="12700" marB="12700" anchor="ctr">
                    <a:solidFill>
                      <a:srgbClr val="FCFCFB"/>
                    </a:solidFill>
                  </a:tcPr>
                </a:tc>
                <a:tc>
                  <a:txBody>
                    <a:bodyPr wrap="square"/>
                    <a:lstStyle/>
                    <a:p>
                      <a:pPr algn="r"/>
                      <a:r>
                        <a:rPr sz="630" b="0">
                          <a:solidFill>
                            <a:srgbClr val="52514E"/>
                          </a:solidFill>
                          <a:latin typeface="Calibri"/>
                        </a:rPr>
                        <a:t>8,342</a:t>
                      </a:r>
                    </a:p>
                  </a:txBody>
                  <a:tcPr marL="31750" marR="31750" marT="12700" marB="12700" anchor="ctr">
                    <a:solidFill>
                      <a:srgbClr val="FCFCFB"/>
                    </a:solidFill>
                  </a:tcPr>
                </a:tc>
                <a:tc>
                  <a:txBody>
                    <a:bodyPr wrap="square"/>
                    <a:lstStyle/>
                    <a:p>
                      <a:pPr algn="r"/>
                      <a:r>
                        <a:rPr sz="630" b="0">
                          <a:solidFill>
                            <a:srgbClr val="52514E"/>
                          </a:solidFill>
                          <a:latin typeface="Calibri"/>
                        </a:rPr>
                        <a:t>360</a:t>
                      </a:r>
                    </a:p>
                  </a:txBody>
                  <a:tcPr marL="31750" marR="31750" marT="12700" marB="12700" anchor="ctr">
                    <a:solidFill>
                      <a:srgbClr val="FCFCFB"/>
                    </a:solidFill>
                  </a:tcPr>
                </a:tc>
                <a:tc>
                  <a:txBody>
                    <a:bodyPr wrap="square"/>
                    <a:lstStyle/>
                    <a:p>
                      <a:pPr algn="l"/>
                      <a:r>
                        <a:rPr sz="630" b="0">
                          <a:solidFill>
                            <a:srgbClr val="898781"/>
                          </a:solidFill>
                          <a:latin typeface="Calibri"/>
                        </a:rPr>
                        <a:t>Erlang C</a:t>
                      </a:r>
                    </a:p>
                  </a:txBody>
                  <a:tcPr marL="31750" marR="31750" marT="12700" marB="12700" anchor="ctr">
                    <a:solidFill>
                      <a:srgbClr val="FCFCFB"/>
                    </a:solidFill>
                  </a:tcPr>
                </a:tc>
                <a:tc>
                  <a:txBody>
                    <a:bodyPr wrap="square"/>
                    <a:lstStyle/>
                    <a:p>
                      <a:pPr algn="r"/>
                      <a:r>
                        <a:rPr sz="630" b="0">
                          <a:solidFill>
                            <a:srgbClr val="52514E"/>
                          </a:solidFill>
                          <a:latin typeface="Calibri"/>
                        </a:rPr>
                        <a:t>1.14</a:t>
                      </a:r>
                    </a:p>
                  </a:txBody>
                  <a:tcPr marL="31750" marR="31750" marT="12700" marB="12700" anchor="ctr">
                    <a:solidFill>
                      <a:srgbClr val="FCFCFB"/>
                    </a:solidFill>
                  </a:tcPr>
                </a:tc>
                <a:tc>
                  <a:txBody>
                    <a:bodyPr wrap="square"/>
                    <a:lstStyle/>
                    <a:p>
                      <a:pPr algn="r"/>
                      <a:r>
                        <a:rPr sz="630" b="0">
                          <a:solidFill>
                            <a:srgbClr val="52514E"/>
                          </a:solidFill>
                          <a:latin typeface="Calibri"/>
                        </a:rPr>
                        <a:t>3</a:t>
                      </a:r>
                    </a:p>
                  </a:txBody>
                  <a:tcPr marL="31750" marR="31750" marT="12700" marB="12700" anchor="ctr">
                    <a:solidFill>
                      <a:srgbClr val="FCFCFB"/>
                    </a:solidFill>
                  </a:tcPr>
                </a:tc>
                <a:tc>
                  <a:txBody>
                    <a:bodyPr wrap="square"/>
                    <a:lstStyle/>
                    <a:p>
                      <a:pPr algn="r"/>
                      <a:r>
                        <a:rPr sz="630" b="0">
                          <a:solidFill>
                            <a:srgbClr val="52514E"/>
                          </a:solidFill>
                          <a:latin typeface="Calibri"/>
                        </a:rPr>
                        <a:t>38%</a:t>
                      </a:r>
                    </a:p>
                  </a:txBody>
                  <a:tcPr marL="31750" marR="31750" marT="12700" marB="12700" anchor="ctr">
                    <a:solidFill>
                      <a:srgbClr val="FCFCFB"/>
                    </a:solidFill>
                  </a:tcPr>
                </a:tc>
                <a:tc>
                  <a:txBody>
                    <a:bodyPr wrap="square"/>
                    <a:lstStyle/>
                    <a:p>
                      <a:pPr algn="r"/>
                      <a:r>
                        <a:rPr sz="630" b="0">
                          <a:solidFill>
                            <a:srgbClr val="52514E"/>
                          </a:solidFill>
                          <a:latin typeface="Calibri"/>
                        </a:rPr>
                        <a:t>88.7%</a:t>
                      </a:r>
                    </a:p>
                  </a:txBody>
                  <a:tcPr marL="31750" marR="31750" marT="12700" marB="12700" anchor="ctr">
                    <a:solidFill>
                      <a:srgbClr val="FCFCFB"/>
                    </a:solidFill>
                  </a:tcPr>
                </a:tc>
                <a:tc>
                  <a:txBody>
                    <a:bodyPr wrap="square"/>
                    <a:lstStyle/>
                    <a:p>
                      <a:pPr algn="r"/>
                      <a:r>
                        <a:rPr sz="630" b="0">
                          <a:solidFill>
                            <a:srgbClr val="52514E"/>
                          </a:solidFill>
                          <a:latin typeface="Calibri"/>
                        </a:rPr>
                        <a:t>834</a:t>
                      </a:r>
                    </a:p>
                  </a:txBody>
                  <a:tcPr marL="31750" marR="31750" marT="12700" marB="12700" anchor="ctr">
                    <a:solidFill>
                      <a:srgbClr val="FCFCFB"/>
                    </a:solidFill>
                  </a:tcPr>
                </a:tc>
                <a:tc>
                  <a:txBody>
                    <a:bodyPr wrap="square"/>
                    <a:lstStyle/>
                    <a:p>
                      <a:pPr algn="r"/>
                      <a:r>
                        <a:rPr sz="630" b="0">
                          <a:solidFill>
                            <a:srgbClr val="52514E"/>
                          </a:solidFill>
                          <a:latin typeface="Calibri"/>
                        </a:rPr>
                        <a:t>2,190</a:t>
                      </a:r>
                    </a:p>
                  </a:txBody>
                  <a:tcPr marL="31750" marR="31750" marT="12700" marB="12700" anchor="ctr">
                    <a:solidFill>
                      <a:srgbClr val="FCFCFB"/>
                    </a:solidFill>
                  </a:tcPr>
                </a:tc>
                <a:tc>
                  <a:txBody>
                    <a:bodyPr wrap="square"/>
                    <a:lstStyle/>
                    <a:p>
                      <a:pPr algn="r"/>
                      <a:r>
                        <a:rPr sz="630" b="0">
                          <a:solidFill>
                            <a:srgbClr val="52514E"/>
                          </a:solidFill>
                          <a:latin typeface="Calibri"/>
                        </a:rPr>
                        <a:t>5.9</a:t>
                      </a:r>
                    </a:p>
                  </a:txBody>
                  <a:tcPr marL="31750" marR="31750" marT="12700" marB="12700" anchor="ctr">
                    <a:solidFill>
                      <a:srgbClr val="FCFCFB"/>
                    </a:solidFill>
                  </a:tcPr>
                </a:tc>
                <a:tc>
                  <a:txBody>
                    <a:bodyPr wrap="square"/>
                    <a:lstStyle/>
                    <a:p>
                      <a:pPr algn="r"/>
                      <a:r>
                        <a:rPr sz="630" b="1">
                          <a:solidFill>
                            <a:srgbClr val="52514E"/>
                          </a:solidFill>
                          <a:latin typeface="Calibri"/>
                        </a:rPr>
                        <a:t>15.4</a:t>
                      </a:r>
                    </a:p>
                  </a:txBody>
                  <a:tcPr marL="31750" marR="31750" marT="12700" marB="12700" anchor="ctr">
                    <a:solidFill>
                      <a:srgbClr val="FCFCFB"/>
                    </a:solidFill>
                  </a:tcPr>
                </a:tc>
              </a:tr>
              <a:tr h="152704">
                <a:tc>
                  <a:txBody>
                    <a:bodyPr wrap="square"/>
                    <a:lstStyle/>
                    <a:p>
                      <a:pPr algn="l"/>
                      <a:r>
                        <a:rPr sz="630" b="1">
                          <a:solidFill>
                            <a:srgbClr val="52514E"/>
                          </a:solidFill>
                          <a:latin typeface="Calibri"/>
                        </a:rPr>
                        <a:t>Spanish</a:t>
                      </a:r>
                    </a:p>
                  </a:txBody>
                  <a:tcPr marL="31750" marR="31750" marT="12700" marB="12700" anchor="ctr">
                    <a:solidFill>
                      <a:srgbClr val="FCFCFB"/>
                    </a:solidFill>
                  </a:tcPr>
                </a:tc>
                <a:tc>
                  <a:txBody>
                    <a:bodyPr wrap="square"/>
                    <a:lstStyle/>
                    <a:p>
                      <a:pPr algn="l"/>
                      <a:r>
                        <a:rPr sz="630" b="0">
                          <a:solidFill>
                            <a:srgbClr val="52514E"/>
                          </a:solidFill>
                          <a:latin typeface="Calibri"/>
                        </a:rPr>
                        <a:t>Outbound</a:t>
                      </a:r>
                    </a:p>
                  </a:txBody>
                  <a:tcPr marL="31750" marR="31750" marT="12700" marB="12700" anchor="ctr">
                    <a:solidFill>
                      <a:srgbClr val="FCFCFB"/>
                    </a:solidFill>
                  </a:tcPr>
                </a:tc>
                <a:tc>
                  <a:txBody>
                    <a:bodyPr wrap="square"/>
                    <a:lstStyle/>
                    <a:p>
                      <a:pPr algn="r"/>
                      <a:r>
                        <a:rPr sz="630" b="0">
                          <a:solidFill>
                            <a:srgbClr val="52514E"/>
                          </a:solidFill>
                          <a:latin typeface="Calibri"/>
                        </a:rPr>
                        <a:t>8,342</a:t>
                      </a:r>
                    </a:p>
                  </a:txBody>
                  <a:tcPr marL="31750" marR="31750" marT="12700" marB="12700" anchor="ctr">
                    <a:solidFill>
                      <a:srgbClr val="FCFCFB"/>
                    </a:solidFill>
                  </a:tcPr>
                </a:tc>
                <a:tc>
                  <a:txBody>
                    <a:bodyPr wrap="square"/>
                    <a:lstStyle/>
                    <a:p>
                      <a:pPr algn="r"/>
                      <a:r>
                        <a:rPr sz="630" b="0">
                          <a:solidFill>
                            <a:srgbClr val="52514E"/>
                          </a:solidFill>
                          <a:latin typeface="Calibri"/>
                        </a:rPr>
                        <a:t>115</a:t>
                      </a:r>
                    </a:p>
                  </a:txBody>
                  <a:tcPr marL="31750" marR="31750" marT="12700" marB="12700" anchor="ctr">
                    <a:solidFill>
                      <a:srgbClr val="FCFCFB"/>
                    </a:solidFill>
                  </a:tcPr>
                </a:tc>
                <a:tc>
                  <a:txBody>
                    <a:bodyPr wrap="square"/>
                    <a:lstStyle/>
                    <a:p>
                      <a:pPr algn="l"/>
                      <a:r>
                        <a:rPr sz="630" b="0">
                          <a:solidFill>
                            <a:srgbClr val="898781"/>
                          </a:solidFill>
                          <a:latin typeface="Calibri"/>
                        </a:rPr>
                        <a:t>deferred</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85%</a:t>
                      </a:r>
                    </a:p>
                  </a:txBody>
                  <a:tcPr marL="31750" marR="31750" marT="12700" marB="12700" anchor="ctr">
                    <a:solidFill>
                      <a:srgbClr val="FCFCFB"/>
                    </a:solidFill>
                  </a:tcPr>
                </a:tc>
                <a:tc>
                  <a:txBody>
                    <a:bodyPr wrap="square"/>
                    <a:lstStyle/>
                    <a:p>
                      <a:pPr algn="r"/>
                      <a:r>
                        <a:rPr sz="630" b="0">
                          <a:solidFill>
                            <a:srgbClr val="52514E"/>
                          </a:solidFill>
                          <a:latin typeface="Calibri"/>
                        </a:rPr>
                        <a:t>—</a:t>
                      </a:r>
                    </a:p>
                  </a:txBody>
                  <a:tcPr marL="31750" marR="31750" marT="12700" marB="12700" anchor="ctr">
                    <a:solidFill>
                      <a:srgbClr val="FCFCFB"/>
                    </a:solidFill>
                  </a:tcPr>
                </a:tc>
                <a:tc>
                  <a:txBody>
                    <a:bodyPr wrap="square"/>
                    <a:lstStyle/>
                    <a:p>
                      <a:pPr algn="r"/>
                      <a:r>
                        <a:rPr sz="630" b="0">
                          <a:solidFill>
                            <a:srgbClr val="52514E"/>
                          </a:solidFill>
                          <a:latin typeface="Calibri"/>
                        </a:rPr>
                        <a:t>266</a:t>
                      </a:r>
                    </a:p>
                  </a:txBody>
                  <a:tcPr marL="31750" marR="31750" marT="12700" marB="12700" anchor="ctr">
                    <a:solidFill>
                      <a:srgbClr val="FCFCFB"/>
                    </a:solidFill>
                  </a:tcPr>
                </a:tc>
                <a:tc>
                  <a:txBody>
                    <a:bodyPr wrap="square"/>
                    <a:lstStyle/>
                    <a:p>
                      <a:pPr algn="r"/>
                      <a:r>
                        <a:rPr sz="630" b="0">
                          <a:solidFill>
                            <a:srgbClr val="52514E"/>
                          </a:solidFill>
                          <a:latin typeface="Calibri"/>
                        </a:rPr>
                        <a:t>314</a:t>
                      </a:r>
                    </a:p>
                  </a:txBody>
                  <a:tcPr marL="31750" marR="31750" marT="12700" marB="12700" anchor="ctr">
                    <a:solidFill>
                      <a:srgbClr val="FCFCFB"/>
                    </a:solidFill>
                  </a:tcPr>
                </a:tc>
                <a:tc>
                  <a:txBody>
                    <a:bodyPr wrap="square"/>
                    <a:lstStyle/>
                    <a:p>
                      <a:pPr algn="r"/>
                      <a:r>
                        <a:rPr sz="630" b="0">
                          <a:solidFill>
                            <a:srgbClr val="52514E"/>
                          </a:solidFill>
                          <a:latin typeface="Calibri"/>
                        </a:rPr>
                        <a:t>1.9</a:t>
                      </a:r>
                    </a:p>
                  </a:txBody>
                  <a:tcPr marL="31750" marR="31750" marT="12700" marB="12700" anchor="ctr">
                    <a:solidFill>
                      <a:srgbClr val="FCFCFB"/>
                    </a:solidFill>
                  </a:tcPr>
                </a:tc>
                <a:tc>
                  <a:txBody>
                    <a:bodyPr wrap="square"/>
                    <a:lstStyle/>
                    <a:p>
                      <a:pPr algn="r"/>
                      <a:r>
                        <a:rPr sz="630" b="1">
                          <a:solidFill>
                            <a:srgbClr val="52514E"/>
                          </a:solidFill>
                          <a:latin typeface="Calibri"/>
                        </a:rPr>
                        <a:t>2.2</a:t>
                      </a:r>
                    </a:p>
                  </a:txBody>
                  <a:tcPr marL="31750" marR="31750" marT="12700" marB="12700" anchor="ctr">
                    <a:solidFill>
                      <a:srgbClr val="FCFCFB"/>
                    </a:solidFill>
                  </a:tcPr>
                </a:tc>
              </a:tr>
              <a:tr h="152704">
                <a:tc>
                  <a:txBody>
                    <a:bodyPr wrap="square"/>
                    <a:lstStyle/>
                    <a:p>
                      <a:pPr algn="l"/>
                      <a:r>
                        <a:rPr sz="630" b="1">
                          <a:solidFill>
                            <a:srgbClr val="0B0B0B"/>
                          </a:solidFill>
                          <a:latin typeface="Calibri"/>
                        </a:rPr>
                        <a:t>Total</a:t>
                      </a:r>
                    </a:p>
                  </a:txBody>
                  <a:tcPr marL="31750" marR="31750" marT="12700" marB="12700" anchor="ctr">
                    <a:solidFill>
                      <a:srgbClr val="FCFCFB"/>
                    </a:solidFill>
                  </a:tcPr>
                </a:tc>
                <a:tc>
                  <a:txBody>
                    <a:bodyPr wrap="square"/>
                    <a:lstStyle/>
                    <a:p>
                      <a:pPr algn="l"/>
                      <a:r>
                        <a:rPr sz="630" b="1">
                          <a:solidFill>
                            <a:srgbClr val="0B0B0B"/>
                          </a:solidFill>
                          <a:latin typeface="Calibri"/>
                        </a:rPr>
                        <a:t/>
                      </a:r>
                    </a:p>
                  </a:txBody>
                  <a:tcPr marL="31750" marR="31750" marT="12700" marB="12700" anchor="ctr">
                    <a:solidFill>
                      <a:srgbClr val="FCFCFB"/>
                    </a:solidFill>
                  </a:tcPr>
                </a:tc>
                <a:tc>
                  <a:txBody>
                    <a:bodyPr wrap="square"/>
                    <a:lstStyle/>
                    <a:p>
                      <a:pPr algn="r"/>
                      <a:r>
                        <a:rPr sz="630" b="1">
                          <a:solidFill>
                            <a:srgbClr val="0B0B0B"/>
                          </a:solidFill>
                          <a:latin typeface="Calibri"/>
                        </a:rPr>
                        <a:t>293,869</a:t>
                      </a:r>
                    </a:p>
                  </a:txBody>
                  <a:tcPr marL="31750" marR="31750" marT="12700" marB="12700" anchor="ctr">
                    <a:solidFill>
                      <a:srgbClr val="FCFCFB"/>
                    </a:solidFill>
                  </a:tcPr>
                </a:tc>
                <a:tc>
                  <a:txBody>
                    <a:bodyPr wrap="square"/>
                    <a:lstStyle/>
                    <a:p>
                      <a:pPr algn="r"/>
                      <a:r>
                        <a:rPr sz="630" b="1">
                          <a:solidFill>
                            <a:srgbClr val="0B0B0B"/>
                          </a:solidFill>
                          <a:latin typeface="Calibri"/>
                        </a:rPr>
                        <a:t/>
                      </a:r>
                    </a:p>
                  </a:txBody>
                  <a:tcPr marL="31750" marR="31750" marT="12700" marB="12700" anchor="ctr">
                    <a:solidFill>
                      <a:srgbClr val="FCFCFB"/>
                    </a:solidFill>
                  </a:tcPr>
                </a:tc>
                <a:tc>
                  <a:txBody>
                    <a:bodyPr wrap="square"/>
                    <a:lstStyle/>
                    <a:p>
                      <a:pPr algn="l"/>
                      <a:r>
                        <a:rPr sz="630" b="1">
                          <a:solidFill>
                            <a:srgbClr val="0B0B0B"/>
                          </a:solidFill>
                          <a:latin typeface="Calibri"/>
                        </a:rPr>
                        <a:t/>
                      </a:r>
                    </a:p>
                  </a:txBody>
                  <a:tcPr marL="31750" marR="31750" marT="12700" marB="12700" anchor="ctr">
                    <a:solidFill>
                      <a:srgbClr val="FCFCFB"/>
                    </a:solidFill>
                  </a:tcPr>
                </a:tc>
                <a:tc>
                  <a:txBody>
                    <a:bodyPr wrap="square"/>
                    <a:lstStyle/>
                    <a:p>
                      <a:pPr algn="r"/>
                      <a:r>
                        <a:rPr sz="630" b="1">
                          <a:solidFill>
                            <a:srgbClr val="0B0B0B"/>
                          </a:solidFill>
                          <a:latin typeface="Calibri"/>
                        </a:rPr>
                        <a:t/>
                      </a:r>
                    </a:p>
                  </a:txBody>
                  <a:tcPr marL="31750" marR="31750" marT="12700" marB="12700" anchor="ctr">
                    <a:solidFill>
                      <a:srgbClr val="FCFCFB"/>
                    </a:solidFill>
                  </a:tcPr>
                </a:tc>
                <a:tc>
                  <a:txBody>
                    <a:bodyPr wrap="square"/>
                    <a:lstStyle/>
                    <a:p>
                      <a:pPr algn="r"/>
                      <a:r>
                        <a:rPr sz="630" b="1">
                          <a:solidFill>
                            <a:srgbClr val="0B0B0B"/>
                          </a:solidFill>
                          <a:latin typeface="Calibri"/>
                        </a:rPr>
                        <a:t/>
                      </a:r>
                    </a:p>
                  </a:txBody>
                  <a:tcPr marL="31750" marR="31750" marT="12700" marB="12700" anchor="ctr">
                    <a:solidFill>
                      <a:srgbClr val="FCFCFB"/>
                    </a:solidFill>
                  </a:tcPr>
                </a:tc>
                <a:tc>
                  <a:txBody>
                    <a:bodyPr wrap="square"/>
                    <a:lstStyle/>
                    <a:p>
                      <a:pPr algn="r"/>
                      <a:r>
                        <a:rPr sz="630" b="1">
                          <a:solidFill>
                            <a:srgbClr val="0B0B0B"/>
                          </a:solidFill>
                          <a:latin typeface="Calibri"/>
                        </a:rPr>
                        <a:t/>
                      </a:r>
                    </a:p>
                  </a:txBody>
                  <a:tcPr marL="31750" marR="31750" marT="12700" marB="12700" anchor="ctr">
                    <a:solidFill>
                      <a:srgbClr val="FCFCFB"/>
                    </a:solidFill>
                  </a:tcPr>
                </a:tc>
                <a:tc>
                  <a:txBody>
                    <a:bodyPr wrap="square"/>
                    <a:lstStyle/>
                    <a:p>
                      <a:pPr algn="r"/>
                      <a:r>
                        <a:rPr sz="630" b="1">
                          <a:solidFill>
                            <a:srgbClr val="0B0B0B"/>
                          </a:solidFill>
                          <a:latin typeface="Calibri"/>
                        </a:rPr>
                        <a:t/>
                      </a:r>
                    </a:p>
                  </a:txBody>
                  <a:tcPr marL="31750" marR="31750" marT="12700" marB="12700" anchor="ctr">
                    <a:solidFill>
                      <a:srgbClr val="FCFCFB"/>
                    </a:solidFill>
                  </a:tcPr>
                </a:tc>
                <a:tc>
                  <a:txBody>
                    <a:bodyPr wrap="square"/>
                    <a:lstStyle/>
                    <a:p>
                      <a:pPr algn="r"/>
                      <a:r>
                        <a:rPr sz="630" b="1">
                          <a:solidFill>
                            <a:srgbClr val="0B0B0B"/>
                          </a:solidFill>
                          <a:latin typeface="Calibri"/>
                        </a:rPr>
                        <a:t>51,203</a:t>
                      </a:r>
                    </a:p>
                  </a:txBody>
                  <a:tcPr marL="31750" marR="31750" marT="12700" marB="12700" anchor="ctr">
                    <a:solidFill>
                      <a:srgbClr val="FCFCFB"/>
                    </a:solidFill>
                  </a:tcPr>
                </a:tc>
                <a:tc>
                  <a:txBody>
                    <a:bodyPr wrap="square"/>
                    <a:lstStyle/>
                    <a:p>
                      <a:pPr algn="r"/>
                      <a:r>
                        <a:rPr sz="630" b="1">
                          <a:solidFill>
                            <a:srgbClr val="0B0B0B"/>
                          </a:solidFill>
                          <a:latin typeface="Calibri"/>
                        </a:rPr>
                        <a:t>68,827</a:t>
                      </a:r>
                    </a:p>
                  </a:txBody>
                  <a:tcPr marL="31750" marR="31750" marT="12700" marB="12700" anchor="ctr">
                    <a:solidFill>
                      <a:srgbClr val="FCFCFB"/>
                    </a:solidFill>
                  </a:tcPr>
                </a:tc>
                <a:tc>
                  <a:txBody>
                    <a:bodyPr wrap="square"/>
                    <a:lstStyle/>
                    <a:p>
                      <a:pPr algn="r"/>
                      <a:r>
                        <a:rPr sz="630" b="1">
                          <a:solidFill>
                            <a:srgbClr val="0B0B0B"/>
                          </a:solidFill>
                          <a:latin typeface="Calibri"/>
                        </a:rPr>
                        <a:t>360.2</a:t>
                      </a:r>
                    </a:p>
                  </a:txBody>
                  <a:tcPr marL="31750" marR="31750" marT="12700" marB="12700" anchor="ctr">
                    <a:solidFill>
                      <a:srgbClr val="FCFCFB"/>
                    </a:solidFill>
                  </a:tcPr>
                </a:tc>
                <a:tc>
                  <a:txBody>
                    <a:bodyPr wrap="square"/>
                    <a:lstStyle/>
                    <a:p>
                      <a:pPr algn="r"/>
                      <a:r>
                        <a:rPr sz="630" b="1">
                          <a:solidFill>
                            <a:srgbClr val="0B0B0B"/>
                          </a:solidFill>
                          <a:latin typeface="Calibri"/>
                        </a:rPr>
                        <a:t>484.2</a:t>
                      </a:r>
                    </a:p>
                  </a:txBody>
                  <a:tcPr marL="31750" marR="31750" marT="12700" marB="12700" anchor="ctr">
                    <a:solidFill>
                      <a:srgbClr val="FCFCFB"/>
                    </a:solidFill>
                  </a:tcPr>
                </a:tc>
              </a:tr>
            </a:tbl>
          </a:graphicData>
        </a:graphic>
      </p:graphicFrame>
      <p:sp>
        <p:nvSpPr>
          <p:cNvPr id="7" name="TextBox 6"/>
          <p:cNvSpPr txBox="1"/>
          <p:nvPr/>
        </p:nvSpPr>
        <p:spPr>
          <a:xfrm>
            <a:off x="8179527" y="1216152"/>
            <a:ext cx="3509247" cy="146304"/>
          </a:xfrm>
          <a:prstGeom prst="rect">
            <a:avLst/>
          </a:prstGeom>
          <a:noFill/>
        </p:spPr>
        <p:txBody>
          <a:bodyPr wrap="square" lIns="0" rIns="0" tIns="0" bIns="0">
            <a:noAutofit/>
          </a:bodyPr>
          <a:lstStyle/>
          <a:p>
            <a:r>
              <a:rPr sz="819" b="1" spc="60">
                <a:solidFill>
                  <a:srgbClr val="898781"/>
                </a:solidFill>
                <a:latin typeface="Calibri"/>
              </a:rPr>
              <a:t>WHERE THE 484 FTE SITS</a:t>
            </a:r>
          </a:p>
        </p:txBody>
      </p:sp>
      <p:graphicFrame>
        <p:nvGraphicFramePr>
          <p:cNvPr id="8" name="Chart 7"/>
          <p:cNvGraphicFramePr>
            <a:graphicFrameLocks noGrp="1"/>
          </p:cNvGraphicFramePr>
          <p:nvPr/>
        </p:nvGraphicFramePr>
        <p:xfrm>
          <a:off x="8179527" y="1463040"/>
          <a:ext cx="3509247" cy="502920"/>
        </p:xfrm>
        <a:graphic>
          <a:graphicData uri="http://schemas.openxmlformats.org/drawingml/2006/chart">
            <c:chart xmlns:c="http://schemas.openxmlformats.org/drawingml/2006/chart" r:id="rId2"/>
          </a:graphicData>
        </a:graphic>
      </p:graphicFrame>
      <p:sp>
        <p:nvSpPr>
          <p:cNvPr id="9" name="TextBox 8"/>
          <p:cNvSpPr txBox="1"/>
          <p:nvPr/>
        </p:nvSpPr>
        <p:spPr>
          <a:xfrm>
            <a:off x="8179527" y="2084831"/>
            <a:ext cx="3509247" cy="264160"/>
          </a:xfrm>
          <a:prstGeom prst="rect">
            <a:avLst/>
          </a:prstGeom>
          <a:noFill/>
        </p:spPr>
        <p:txBody>
          <a:bodyPr wrap="square" lIns="0" rIns="0" tIns="0" bIns="0">
            <a:noAutofit/>
          </a:bodyPr>
          <a:lstStyle/>
          <a:p>
            <a:r>
              <a:rPr sz="800" b="1" i="0">
                <a:solidFill>
                  <a:srgbClr val="52514E"/>
                </a:solidFill>
                <a:latin typeface="Calibri"/>
              </a:rPr>
              <a:t>Chat is the single largest line at 39%</a:t>
            </a:r>
            <a:r>
              <a:rPr sz="800" b="0" i="0">
                <a:solidFill>
                  <a:srgbClr val="52514E"/>
                </a:solidFill>
                <a:latin typeface="Calibri"/>
              </a:rPr>
              <a:t>, which is why concurrency is the biggest available lever.</a:t>
            </a:r>
          </a:p>
        </p:txBody>
      </p:sp>
      <p:sp>
        <p:nvSpPr>
          <p:cNvPr id="10" name="TextBox 9"/>
          <p:cNvSpPr txBox="1"/>
          <p:nvPr/>
        </p:nvSpPr>
        <p:spPr>
          <a:xfrm>
            <a:off x="8179527" y="2394711"/>
            <a:ext cx="3509247" cy="264160"/>
          </a:xfrm>
          <a:prstGeom prst="rect">
            <a:avLst/>
          </a:prstGeom>
          <a:noFill/>
        </p:spPr>
        <p:txBody>
          <a:bodyPr wrap="square" lIns="0" rIns="0" tIns="0" bIns="0">
            <a:noAutofit/>
          </a:bodyPr>
          <a:lstStyle/>
          <a:p>
            <a:r>
              <a:rPr sz="800" b="1" i="0">
                <a:solidFill>
                  <a:srgbClr val="52514E"/>
                </a:solidFill>
                <a:latin typeface="Calibri"/>
              </a:rPr>
              <a:t>Outbound is 4%</a:t>
            </a:r>
            <a:r>
              <a:rPr sz="800" b="0" i="0">
                <a:solidFill>
                  <a:srgbClr val="52514E"/>
                </a:solidFill>
                <a:latin typeface="Calibri"/>
              </a:rPr>
              <a:t> despite carrying a quarter of all contacts — its AHT is 107s against email's 1,150s.</a:t>
            </a:r>
          </a:p>
        </p:txBody>
      </p:sp>
      <p:sp>
        <p:nvSpPr>
          <p:cNvPr id="11" name="TextBox 10"/>
          <p:cNvSpPr txBox="1"/>
          <p:nvPr/>
        </p:nvSpPr>
        <p:spPr>
          <a:xfrm>
            <a:off x="8179527" y="2704591"/>
            <a:ext cx="3509247" cy="264160"/>
          </a:xfrm>
          <a:prstGeom prst="rect">
            <a:avLst/>
          </a:prstGeom>
          <a:noFill/>
        </p:spPr>
        <p:txBody>
          <a:bodyPr wrap="square" lIns="0" rIns="0" tIns="0" bIns="0">
            <a:noAutofit/>
          </a:bodyPr>
          <a:lstStyle/>
          <a:p>
            <a:r>
              <a:rPr sz="800" b="1" i="0">
                <a:solidFill>
                  <a:srgbClr val="52514E"/>
                </a:solidFill>
                <a:latin typeface="Calibri"/>
              </a:rPr>
              <a:t>Email at 159 FTE is modelled as deferred work</a:t>
            </a:r>
            <a:r>
              <a:rPr sz="800" b="0" i="0">
                <a:solidFill>
                  <a:srgbClr val="52514E"/>
                </a:solidFill>
                <a:latin typeface="Calibri"/>
              </a:rPr>
              <a:t> at 85% planned occupancy — an explicit assumption, not from the workbook.</a:t>
            </a:r>
          </a:p>
        </p:txBody>
      </p:sp>
      <p:cxnSp>
        <p:nvCxnSpPr>
          <p:cNvPr id="12" name="Connector 11"/>
          <p:cNvCxnSpPr/>
          <p:nvPr/>
        </p:nvCxnSpPr>
        <p:spPr>
          <a:xfrm>
            <a:off x="8179527" y="3041903"/>
            <a:ext cx="0" cy="434721"/>
          </a:xfrm>
          <a:prstGeom prst="line">
            <a:avLst/>
          </a:prstGeom>
          <a:ln w="28575">
            <a:solidFill>
              <a:srgbClr val="C3C2B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98399" y="3069335"/>
            <a:ext cx="3390375" cy="361569"/>
          </a:xfrm>
          <a:prstGeom prst="rect">
            <a:avLst/>
          </a:prstGeom>
          <a:noFill/>
        </p:spPr>
        <p:txBody>
          <a:bodyPr wrap="square" lIns="0" rIns="0" tIns="0" bIns="0">
            <a:noAutofit/>
          </a:bodyPr>
          <a:lstStyle/>
          <a:p>
            <a:r>
              <a:rPr sz="730" b="0" i="0">
                <a:solidFill>
                  <a:srgbClr val="52514E"/>
                </a:solidFill>
                <a:latin typeface="Calibri"/>
              </a:rPr>
              <a:t>The </a:t>
            </a:r>
            <a:r>
              <a:rPr sz="730" b="1" i="0">
                <a:solidFill>
                  <a:srgbClr val="52514E"/>
                </a:solidFill>
                <a:latin typeface="Calibri"/>
              </a:rPr>
              <a:t>deferred</a:t>
            </a:r>
            <a:r>
              <a:rPr sz="730" b="0" i="0">
                <a:solidFill>
                  <a:srgbClr val="52514E"/>
                </a:solidFill>
                <a:latin typeface="Calibri"/>
              </a:rPr>
              <a:t> rows carry no Erlang figures by design: a 120-minute target is a backlog commitment, not a queue discipline, so seats are derived from hours and planned occupancy instead.</a:t>
            </a:r>
          </a:p>
        </p:txBody>
      </p:sp>
      <p:cxnSp>
        <p:nvCxnSpPr>
          <p:cNvPr id="14" name="Connector 13"/>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 all figures reproduced by run_model.py, verified by crosscheck.py (72/72)</a:t>
            </a:r>
          </a:p>
        </p:txBody>
      </p:sp>
      <p:sp>
        <p:nvSpPr>
          <p:cNvPr id="16" name="TextBox 15"/>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A1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898781"/>
                </a:solidFill>
                <a:latin typeface="Calibri"/>
              </a:rPr>
              <a:t>Appendix A2</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700" b="1">
                <a:solidFill>
                  <a:srgbClr val="0B0B0B"/>
                </a:solidFill>
                <a:latin typeface="Calibri"/>
              </a:rPr>
              <a:t>Data-quality log — all 12 checks</a:t>
            </a:r>
          </a:p>
        </p:txBody>
      </p:sp>
      <p:sp>
        <p:nvSpPr>
          <p:cNvPr id="4" name="TextBox 3"/>
          <p:cNvSpPr txBox="1"/>
          <p:nvPr/>
        </p:nvSpPr>
        <p:spPr>
          <a:xfrm>
            <a:off x="502920" y="822960"/>
            <a:ext cx="11185855" cy="237744"/>
          </a:xfrm>
          <a:prstGeom prst="rect">
            <a:avLst/>
          </a:prstGeom>
          <a:noFill/>
        </p:spPr>
        <p:txBody>
          <a:bodyPr wrap="square" lIns="0" rIns="0" tIns="0" bIns="0">
            <a:noAutofit/>
          </a:bodyPr>
          <a:lstStyle/>
          <a:p>
            <a:r>
              <a:rPr sz="1050" b="0" i="0">
                <a:solidFill>
                  <a:srgbClr val="52514E"/>
                </a:solidFill>
                <a:latin typeface="Calibri"/>
              </a:rPr>
              <a:t>Condensed to five rows on slide 3. This is the full log, including the checks that passed.</a:t>
            </a:r>
          </a:p>
        </p:txBody>
      </p:sp>
      <p:cxnSp>
        <p:nvCxnSpPr>
          <p:cNvPr id="5" name="Connector 4"/>
          <p:cNvCxnSpPr/>
          <p:nvPr/>
        </p:nvCxnSpPr>
        <p:spPr>
          <a:xfrm>
            <a:off x="502920" y="1078992"/>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261872"/>
          <a:ext cx="11185855" cy="3447288"/>
        </p:xfrm>
        <a:graphic>
          <a:graphicData uri="http://schemas.openxmlformats.org/drawingml/2006/table">
            <a:tbl>
              <a:tblPr firstRow="0" bandRow="0">
                <a:tableStyleId>{5C22544A-7EE6-4342-B048-85BDC9FD1C3A}</a:tableStyleId>
              </a:tblPr>
              <a:tblGrid>
                <a:gridCol w="332253"/>
                <a:gridCol w="775257"/>
                <a:gridCol w="2879527"/>
                <a:gridCol w="3654784"/>
                <a:gridCol w="3544034"/>
              </a:tblGrid>
              <a:tr h="265176">
                <a:tc>
                  <a:txBody>
                    <a:bodyPr wrap="square"/>
                    <a:lstStyle/>
                    <a:p>
                      <a:pPr algn="r"/>
                      <a:r>
                        <a:rPr sz="650" b="1">
                          <a:solidFill>
                            <a:srgbClr val="898781"/>
                          </a:solidFill>
                          <a:latin typeface="Calibri"/>
                        </a:rPr>
                        <a:t>#</a:t>
                      </a:r>
                    </a:p>
                  </a:txBody>
                  <a:tcPr marL="31750" marR="31750" marT="12700" marB="12700" anchor="b">
                    <a:solidFill>
                      <a:srgbClr val="FCFCFB"/>
                    </a:solidFill>
                  </a:tcPr>
                </a:tc>
                <a:tc>
                  <a:txBody>
                    <a:bodyPr wrap="square"/>
                    <a:lstStyle/>
                    <a:p>
                      <a:pPr algn="l"/>
                      <a:r>
                        <a:rPr sz="650" b="1">
                          <a:solidFill>
                            <a:srgbClr val="898781"/>
                          </a:solidFill>
                          <a:latin typeface="Calibri"/>
                        </a:rPr>
                        <a:t>STATUS</a:t>
                      </a:r>
                    </a:p>
                  </a:txBody>
                  <a:tcPr marL="31750" marR="31750" marT="12700" marB="12700" anchor="b">
                    <a:solidFill>
                      <a:srgbClr val="FCFCFB"/>
                    </a:solidFill>
                  </a:tcPr>
                </a:tc>
                <a:tc>
                  <a:txBody>
                    <a:bodyPr wrap="square"/>
                    <a:lstStyle/>
                    <a:p>
                      <a:pPr algn="l"/>
                      <a:r>
                        <a:rPr sz="650" b="1">
                          <a:solidFill>
                            <a:srgbClr val="898781"/>
                          </a:solidFill>
                          <a:latin typeface="Calibri"/>
                        </a:rPr>
                        <a:t>CHECK</a:t>
                      </a:r>
                    </a:p>
                  </a:txBody>
                  <a:tcPr marL="31750" marR="31750" marT="12700" marB="12700" anchor="b">
                    <a:solidFill>
                      <a:srgbClr val="FCFCFB"/>
                    </a:solidFill>
                  </a:tcPr>
                </a:tc>
                <a:tc>
                  <a:txBody>
                    <a:bodyPr wrap="square"/>
                    <a:lstStyle/>
                    <a:p>
                      <a:pPr algn="l"/>
                      <a:r>
                        <a:rPr sz="650" b="1">
                          <a:solidFill>
                            <a:srgbClr val="898781"/>
                          </a:solidFill>
                          <a:latin typeface="Calibri"/>
                        </a:rPr>
                        <a:t>FINDING</a:t>
                      </a:r>
                    </a:p>
                  </a:txBody>
                  <a:tcPr marL="31750" marR="31750" marT="12700" marB="12700" anchor="b">
                    <a:solidFill>
                      <a:srgbClr val="FCFCFB"/>
                    </a:solidFill>
                  </a:tcPr>
                </a:tc>
                <a:tc>
                  <a:txBody>
                    <a:bodyPr wrap="square"/>
                    <a:lstStyle/>
                    <a:p>
                      <a:pPr algn="l"/>
                      <a:r>
                        <a:rPr sz="650" b="1">
                          <a:solidFill>
                            <a:srgbClr val="898781"/>
                          </a:solidFill>
                          <a:latin typeface="Calibri"/>
                        </a:rPr>
                        <a:t>DECISION</a:t>
                      </a:r>
                    </a:p>
                  </a:txBody>
                  <a:tcPr marL="31750" marR="31750" marT="12700" marB="12700" anchor="b">
                    <a:solidFill>
                      <a:srgbClr val="FCFCFB"/>
                    </a:solidFill>
                  </a:tcPr>
                </a:tc>
              </a:tr>
              <a:tr h="265176">
                <a:tc>
                  <a:txBody>
                    <a:bodyPr wrap="square"/>
                    <a:lstStyle/>
                    <a:p>
                      <a:pPr algn="r"/>
                      <a:r>
                        <a:rPr sz="760" b="0">
                          <a:solidFill>
                            <a:srgbClr val="898781"/>
                          </a:solidFill>
                          <a:latin typeface="Calibri"/>
                        </a:rPr>
                        <a:t>1</a:t>
                      </a:r>
                    </a:p>
                  </a:txBody>
                  <a:tcPr marL="31750" marR="31750" marT="12700" marB="12700" anchor="ctr">
                    <a:solidFill>
                      <a:srgbClr val="FCFCFB"/>
                    </a:solidFill>
                  </a:tcPr>
                </a:tc>
                <a:tc>
                  <a:txBody>
                    <a:bodyPr wrap="square"/>
                    <a:lstStyle/>
                    <a:p>
                      <a:pPr algn="l"/>
                      <a:r>
                        <a:rPr sz="760" b="1">
                          <a:solidFill>
                            <a:srgbClr val="9C4A18"/>
                          </a:solidFill>
                          <a:latin typeface="Calibri"/>
                        </a:rPr>
                        <a:t>WARN</a:t>
                      </a:r>
                    </a:p>
                  </a:txBody>
                  <a:tcPr marL="31750" marR="31750" marT="12700" marB="12700" anchor="ctr">
                    <a:solidFill>
                      <a:srgbClr val="FCFCFB"/>
                    </a:solidFill>
                  </a:tcPr>
                </a:tc>
                <a:tc>
                  <a:txBody>
                    <a:bodyPr wrap="square"/>
                    <a:lstStyle/>
                    <a:p>
                      <a:pPr algn="l"/>
                      <a:r>
                        <a:rPr sz="760" b="1">
                          <a:solidFill>
                            <a:srgbClr val="52514E"/>
                          </a:solidFill>
                          <a:latin typeface="Calibri"/>
                        </a:rPr>
                        <a:t>channel rows sum to language total</a:t>
                      </a:r>
                    </a:p>
                  </a:txBody>
                  <a:tcPr marL="31750" marR="31750" marT="12700" marB="12700" anchor="ctr">
                    <a:solidFill>
                      <a:srgbClr val="FCFCFB"/>
                    </a:solidFill>
                  </a:tcPr>
                </a:tc>
                <a:tc>
                  <a:txBody>
                    <a:bodyPr wrap="square"/>
                    <a:lstStyle/>
                    <a:p>
                      <a:pPr algn="l"/>
                      <a:r>
                        <a:rPr sz="760" b="0">
                          <a:solidFill>
                            <a:srgbClr val="898781"/>
                          </a:solidFill>
                          <a:latin typeface="Calibri"/>
                        </a:rPr>
                        <a:t>17/30 language-months disagree; max 2 contacts (0.012%)</a:t>
                      </a:r>
                    </a:p>
                  </a:txBody>
                  <a:tcPr marL="31750" marR="31750" marT="12700" marB="12700" anchor="ctr">
                    <a:solidFill>
                      <a:srgbClr val="FCFCFB"/>
                    </a:solidFill>
                  </a:tcPr>
                </a:tc>
                <a:tc>
                  <a:txBody>
                    <a:bodyPr wrap="square"/>
                    <a:lstStyle/>
                    <a:p>
                      <a:pPr algn="l"/>
                      <a:r>
                        <a:rPr sz="760" b="0">
                          <a:solidFill>
                            <a:srgbClr val="52514E"/>
                          </a:solidFill>
                          <a:latin typeface="Calibri"/>
                        </a:rPr>
                        <a:t>rounding residue; channel rows are the source of truth</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2</a:t>
                      </a:r>
                    </a:p>
                  </a:txBody>
                  <a:tcPr marL="31750" marR="31750" marT="12700" marB="12700" anchor="ctr">
                    <a:solidFill>
                      <a:srgbClr val="FCFCFB"/>
                    </a:solidFill>
                  </a:tcPr>
                </a:tc>
                <a:tc>
                  <a:txBody>
                    <a:bodyPr wrap="square"/>
                    <a:lstStyle/>
                    <a:p>
                      <a:pPr algn="l"/>
                      <a:r>
                        <a:rPr sz="760" b="1">
                          <a:solidFill>
                            <a:srgbClr val="0A6B0A"/>
                          </a:solidFill>
                          <a:latin typeface="Calibri"/>
                        </a:rPr>
                        <a:t>PASS</a:t>
                      </a:r>
                    </a:p>
                  </a:txBody>
                  <a:tcPr marL="31750" marR="31750" marT="12700" marB="12700" anchor="ctr">
                    <a:solidFill>
                      <a:srgbClr val="FCFCFB"/>
                    </a:solidFill>
                  </a:tcPr>
                </a:tc>
                <a:tc>
                  <a:txBody>
                    <a:bodyPr wrap="square"/>
                    <a:lstStyle/>
                    <a:p>
                      <a:pPr algn="l"/>
                      <a:r>
                        <a:rPr sz="760" b="1">
                          <a:solidFill>
                            <a:srgbClr val="52514E"/>
                          </a:solidFill>
                          <a:latin typeface="Calibri"/>
                        </a:rPr>
                        <a:t>EN CSAT reason tickets tie to Contact Volume</a:t>
                      </a:r>
                    </a:p>
                  </a:txBody>
                  <a:tcPr marL="31750" marR="31750" marT="12700" marB="12700" anchor="ctr">
                    <a:solidFill>
                      <a:srgbClr val="FCFCFB"/>
                    </a:solidFill>
                  </a:tcPr>
                </a:tc>
                <a:tc>
                  <a:txBody>
                    <a:bodyPr wrap="square"/>
                    <a:lstStyle/>
                    <a:p>
                      <a:pPr algn="l"/>
                      <a:r>
                        <a:rPr sz="760" b="0">
                          <a:solidFill>
                            <a:srgbClr val="898781"/>
                          </a:solidFill>
                          <a:latin typeface="Calibri"/>
                        </a:rPr>
                        <a:t>max |ratio-1| = 0.00e+00 across 6 months</a:t>
                      </a:r>
                    </a:p>
                  </a:txBody>
                  <a:tcPr marL="31750" marR="31750" marT="12700" marB="12700" anchor="ctr">
                    <a:solidFill>
                      <a:srgbClr val="FCFCFB"/>
                    </a:solidFill>
                  </a:tcPr>
                </a:tc>
                <a:tc>
                  <a:txBody>
                    <a:bodyPr wrap="square"/>
                    <a:lstStyle/>
                    <a:p>
                      <a:pPr algn="l"/>
                      <a:r>
                        <a:rPr sz="760" b="0">
                          <a:solidFill>
                            <a:srgbClr val="52514E"/>
                          </a:solidFill>
                          <a:latin typeface="Calibri"/>
                        </a:rPr>
                        <a:t>the two sheets describe the same population — safe to join</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3</a:t>
                      </a:r>
                    </a:p>
                  </a:txBody>
                  <a:tcPr marL="31750" marR="31750" marT="12700" marB="12700" anchor="ctr">
                    <a:solidFill>
                      <a:srgbClr val="FCFCFB"/>
                    </a:solidFill>
                  </a:tcPr>
                </a:tc>
                <a:tc>
                  <a:txBody>
                    <a:bodyPr wrap="square"/>
                    <a:lstStyle/>
                    <a:p>
                      <a:pPr algn="l"/>
                      <a:r>
                        <a:rPr sz="760" b="1">
                          <a:solidFill>
                            <a:srgbClr val="1C5CAB"/>
                          </a:solidFill>
                          <a:latin typeface="Calibri"/>
                        </a:rPr>
                        <a:t>FIX</a:t>
                      </a:r>
                    </a:p>
                  </a:txBody>
                  <a:tcPr marL="31750" marR="31750" marT="12700" marB="12700" anchor="ctr">
                    <a:solidFill>
                      <a:srgbClr val="FCFCFB"/>
                    </a:solidFill>
                  </a:tcPr>
                </a:tc>
                <a:tc>
                  <a:txBody>
                    <a:bodyPr wrap="square"/>
                    <a:lstStyle/>
                    <a:p>
                      <a:pPr algn="l"/>
                      <a:r>
                        <a:rPr sz="760" b="1">
                          <a:solidFill>
                            <a:srgbClr val="52514E"/>
                          </a:solidFill>
                          <a:latin typeface="Calibri"/>
                        </a:rPr>
                        <a:t>CSAT reported against zero tickets</a:t>
                      </a:r>
                    </a:p>
                  </a:txBody>
                  <a:tcPr marL="31750" marR="31750" marT="12700" marB="12700" anchor="ctr">
                    <a:solidFill>
                      <a:srgbClr val="FCFCFB"/>
                    </a:solidFill>
                  </a:tcPr>
                </a:tc>
                <a:tc>
                  <a:txBody>
                    <a:bodyPr wrap="square"/>
                    <a:lstStyle/>
                    <a:p>
                      <a:pPr algn="l"/>
                      <a:r>
                        <a:rPr sz="760" b="0">
                          <a:solidFill>
                            <a:srgbClr val="898781"/>
                          </a:solidFill>
                          <a:latin typeface="Calibri"/>
                        </a:rPr>
                        <a:t>3 reason-months carry a CSAT score with 0 tickets</a:t>
                      </a:r>
                    </a:p>
                  </a:txBody>
                  <a:tcPr marL="31750" marR="31750" marT="12700" marB="12700" anchor="ctr">
                    <a:solidFill>
                      <a:srgbClr val="FCFCFB"/>
                    </a:solidFill>
                  </a:tcPr>
                </a:tc>
                <a:tc>
                  <a:txBody>
                    <a:bodyPr wrap="square"/>
                    <a:lstStyle/>
                    <a:p>
                      <a:pPr algn="l"/>
                      <a:r>
                        <a:rPr sz="760" b="0">
                          <a:solidFill>
                            <a:srgbClr val="52514E"/>
                          </a:solidFill>
                          <a:latin typeface="Calibri"/>
                        </a:rPr>
                        <a:t>null the CSAT; keep the row</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4</a:t>
                      </a:r>
                    </a:p>
                  </a:txBody>
                  <a:tcPr marL="31750" marR="31750" marT="12700" marB="12700" anchor="ctr">
                    <a:solidFill>
                      <a:srgbClr val="FCFCFB"/>
                    </a:solidFill>
                  </a:tcPr>
                </a:tc>
                <a:tc>
                  <a:txBody>
                    <a:bodyPr wrap="square"/>
                    <a:lstStyle/>
                    <a:p>
                      <a:pPr algn="l"/>
                      <a:r>
                        <a:rPr sz="760" b="1">
                          <a:solidFill>
                            <a:srgbClr val="1C5CAB"/>
                          </a:solidFill>
                          <a:latin typeface="Calibri"/>
                        </a:rPr>
                        <a:t>FIX</a:t>
                      </a:r>
                    </a:p>
                  </a:txBody>
                  <a:tcPr marL="31750" marR="31750" marT="12700" marB="12700" anchor="ctr">
                    <a:solidFill>
                      <a:srgbClr val="FCFCFB"/>
                    </a:solidFill>
                  </a:tcPr>
                </a:tc>
                <a:tc>
                  <a:txBody>
                    <a:bodyPr wrap="square"/>
                    <a:lstStyle/>
                    <a:p>
                      <a:pPr algn="l"/>
                      <a:r>
                        <a:rPr sz="760" b="1">
                          <a:solidFill>
                            <a:srgbClr val="52514E"/>
                          </a:solidFill>
                          <a:latin typeface="Calibri"/>
                        </a:rPr>
                        <a:t>reason label missing</a:t>
                      </a:r>
                    </a:p>
                  </a:txBody>
                  <a:tcPr marL="31750" marR="31750" marT="12700" marB="12700" anchor="ctr">
                    <a:solidFill>
                      <a:srgbClr val="FCFCFB"/>
                    </a:solidFill>
                  </a:tcPr>
                </a:tc>
                <a:tc>
                  <a:txBody>
                    <a:bodyPr wrap="square"/>
                    <a:lstStyle/>
                    <a:p>
                      <a:pPr algn="l"/>
                      <a:r>
                        <a:rPr sz="760" b="0">
                          <a:solidFill>
                            <a:srgbClr val="898781"/>
                          </a:solidFill>
                          <a:latin typeface="Calibri"/>
                        </a:rPr>
                        <a:t>blank label carrying 3,729 tickets (0.63% of EN volume)</a:t>
                      </a:r>
                    </a:p>
                  </a:txBody>
                  <a:tcPr marL="31750" marR="31750" marT="12700" marB="12700" anchor="ctr">
                    <a:solidFill>
                      <a:srgbClr val="FCFCFB"/>
                    </a:solidFill>
                  </a:tcPr>
                </a:tc>
                <a:tc>
                  <a:txBody>
                    <a:bodyPr wrap="square"/>
                    <a:lstStyle/>
                    <a:p>
                      <a:pPr algn="l"/>
                      <a:r>
                        <a:rPr sz="760" b="0">
                          <a:solidFill>
                            <a:srgbClr val="52514E"/>
                          </a:solidFill>
                          <a:latin typeface="Calibri"/>
                        </a:rPr>
                        <a:t>relabel 'UNMAPPED' and keep the volume</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5</a:t>
                      </a:r>
                    </a:p>
                  </a:txBody>
                  <a:tcPr marL="31750" marR="31750" marT="12700" marB="12700" anchor="ctr">
                    <a:solidFill>
                      <a:srgbClr val="FCFCFB"/>
                    </a:solidFill>
                  </a:tcPr>
                </a:tc>
                <a:tc>
                  <a:txBody>
                    <a:bodyPr wrap="square"/>
                    <a:lstStyle/>
                    <a:p>
                      <a:pPr algn="l"/>
                      <a:r>
                        <a:rPr sz="760" b="1">
                          <a:solidFill>
                            <a:srgbClr val="1C5CAB"/>
                          </a:solidFill>
                          <a:latin typeface="Calibri"/>
                        </a:rPr>
                        <a:t>FIX</a:t>
                      </a:r>
                    </a:p>
                  </a:txBody>
                  <a:tcPr marL="31750" marR="31750" marT="12700" marB="12700" anchor="ctr">
                    <a:solidFill>
                      <a:srgbClr val="FCFCFB"/>
                    </a:solidFill>
                  </a:tcPr>
                </a:tc>
                <a:tc>
                  <a:txBody>
                    <a:bodyPr wrap="square"/>
                    <a:lstStyle/>
                    <a:p>
                      <a:pPr algn="l"/>
                      <a:r>
                        <a:rPr sz="760" b="1">
                          <a:solidFill>
                            <a:srgbClr val="52514E"/>
                          </a:solidFill>
                          <a:latin typeface="Calibri"/>
                        </a:rPr>
                        <a:t>AHT outliers vs reason median</a:t>
                      </a:r>
                    </a:p>
                  </a:txBody>
                  <a:tcPr marL="31750" marR="31750" marT="12700" marB="12700" anchor="ctr">
                    <a:solidFill>
                      <a:srgbClr val="FCFCFB"/>
                    </a:solidFill>
                  </a:tcPr>
                </a:tc>
                <a:tc>
                  <a:txBody>
                    <a:bodyPr wrap="square"/>
                    <a:lstStyle/>
                    <a:p>
                      <a:pPr algn="l"/>
                      <a:r>
                        <a:rPr sz="760" b="0">
                          <a:solidFill>
                            <a:srgbClr val="898781"/>
                          </a:solidFill>
                          <a:latin typeface="Calibri"/>
                        </a:rPr>
                        <a:t>1 reason-month outside 0.5x–2.0x its median</a:t>
                      </a:r>
                    </a:p>
                  </a:txBody>
                  <a:tcPr marL="31750" marR="31750" marT="12700" marB="12700" anchor="ctr">
                    <a:solidFill>
                      <a:srgbClr val="FCFCFB"/>
                    </a:solidFill>
                  </a:tcPr>
                </a:tc>
                <a:tc>
                  <a:txBody>
                    <a:bodyPr wrap="square"/>
                    <a:lstStyle/>
                    <a:p>
                      <a:pPr algn="l"/>
                      <a:r>
                        <a:rPr sz="760" b="0">
                          <a:solidFill>
                            <a:srgbClr val="52514E"/>
                          </a:solidFill>
                          <a:latin typeface="Calibri"/>
                        </a:rPr>
                        <a:t>replace with the reason's own median</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6</a:t>
                      </a:r>
                    </a:p>
                  </a:txBody>
                  <a:tcPr marL="31750" marR="31750" marT="12700" marB="12700" anchor="ctr">
                    <a:solidFill>
                      <a:srgbClr val="FCFCFB"/>
                    </a:solidFill>
                  </a:tcPr>
                </a:tc>
                <a:tc>
                  <a:txBody>
                    <a:bodyPr wrap="square"/>
                    <a:lstStyle/>
                    <a:p>
                      <a:pPr algn="l"/>
                      <a:r>
                        <a:rPr sz="760" b="1">
                          <a:solidFill>
                            <a:srgbClr val="9C4A18"/>
                          </a:solidFill>
                          <a:latin typeface="Calibri"/>
                        </a:rPr>
                        <a:t>WARN</a:t>
                      </a:r>
                    </a:p>
                  </a:txBody>
                  <a:tcPr marL="31750" marR="31750" marT="12700" marB="12700" anchor="ctr">
                    <a:solidFill>
                      <a:srgbClr val="FCFCFB"/>
                    </a:solidFill>
                  </a:tcPr>
                </a:tc>
                <a:tc>
                  <a:txBody>
                    <a:bodyPr wrap="square"/>
                    <a:lstStyle/>
                    <a:p>
                      <a:pPr algn="l"/>
                      <a:r>
                        <a:rPr sz="760" b="1">
                          <a:solidFill>
                            <a:srgbClr val="52514E"/>
                          </a:solidFill>
                          <a:latin typeface="Calibri"/>
                        </a:rPr>
                        <a:t>channel pair Inbound == Outbound</a:t>
                      </a:r>
                    </a:p>
                  </a:txBody>
                  <a:tcPr marL="31750" marR="31750" marT="12700" marB="12700" anchor="ctr">
                    <a:solidFill>
                      <a:srgbClr val="FCFCFB"/>
                    </a:solidFill>
                  </a:tcPr>
                </a:tc>
                <a:tc>
                  <a:txBody>
                    <a:bodyPr wrap="square"/>
                    <a:lstStyle/>
                    <a:p>
                      <a:pPr algn="l"/>
                      <a:r>
                        <a:rPr sz="760" b="0">
                          <a:solidFill>
                            <a:srgbClr val="898781"/>
                          </a:solidFill>
                          <a:latin typeface="Calibri"/>
                        </a:rPr>
                        <a:t>identical in 29/30 language-months</a:t>
                      </a:r>
                    </a:p>
                  </a:txBody>
                  <a:tcPr marL="31750" marR="31750" marT="12700" marB="12700" anchor="ctr">
                    <a:solidFill>
                      <a:srgbClr val="FCFCFB"/>
                    </a:solidFill>
                  </a:tcPr>
                </a:tc>
                <a:tc>
                  <a:txBody>
                    <a:bodyPr wrap="square"/>
                    <a:lstStyle/>
                    <a:p>
                      <a:pPr algn="l"/>
                      <a:r>
                        <a:rPr sz="760" b="0">
                          <a:solidFill>
                            <a:srgbClr val="52514E"/>
                          </a:solidFill>
                          <a:latin typeface="Calibri"/>
                        </a:rPr>
                        <a:t>synthetic mirror — kept conservatively, flagged</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7</a:t>
                      </a:r>
                    </a:p>
                  </a:txBody>
                  <a:tcPr marL="31750" marR="31750" marT="12700" marB="12700" anchor="ctr">
                    <a:solidFill>
                      <a:srgbClr val="FCFCFB"/>
                    </a:solidFill>
                  </a:tcPr>
                </a:tc>
                <a:tc>
                  <a:txBody>
                    <a:bodyPr wrap="square"/>
                    <a:lstStyle/>
                    <a:p>
                      <a:pPr algn="l"/>
                      <a:r>
                        <a:rPr sz="760" b="1">
                          <a:solidFill>
                            <a:srgbClr val="9C4A18"/>
                          </a:solidFill>
                          <a:latin typeface="Calibri"/>
                        </a:rPr>
                        <a:t>WARN</a:t>
                      </a:r>
                    </a:p>
                  </a:txBody>
                  <a:tcPr marL="31750" marR="31750" marT="12700" marB="12700" anchor="ctr">
                    <a:solidFill>
                      <a:srgbClr val="FCFCFB"/>
                    </a:solidFill>
                  </a:tcPr>
                </a:tc>
                <a:tc>
                  <a:txBody>
                    <a:bodyPr wrap="square"/>
                    <a:lstStyle/>
                    <a:p>
                      <a:pPr algn="l"/>
                      <a:r>
                        <a:rPr sz="760" b="1">
                          <a:solidFill>
                            <a:srgbClr val="52514E"/>
                          </a:solidFill>
                          <a:latin typeface="Calibri"/>
                        </a:rPr>
                        <a:t>channel pair Email == Chat</a:t>
                      </a:r>
                    </a:p>
                  </a:txBody>
                  <a:tcPr marL="31750" marR="31750" marT="12700" marB="12700" anchor="ctr">
                    <a:solidFill>
                      <a:srgbClr val="FCFCFB"/>
                    </a:solidFill>
                  </a:tcPr>
                </a:tc>
                <a:tc>
                  <a:txBody>
                    <a:bodyPr wrap="square"/>
                    <a:lstStyle/>
                    <a:p>
                      <a:pPr algn="l"/>
                      <a:r>
                        <a:rPr sz="760" b="0">
                          <a:solidFill>
                            <a:srgbClr val="898781"/>
                          </a:solidFill>
                          <a:latin typeface="Calibri"/>
                        </a:rPr>
                        <a:t>identical in 23/30 language-months</a:t>
                      </a:r>
                    </a:p>
                  </a:txBody>
                  <a:tcPr marL="31750" marR="31750" marT="12700" marB="12700" anchor="ctr">
                    <a:solidFill>
                      <a:srgbClr val="FCFCFB"/>
                    </a:solidFill>
                  </a:tcPr>
                </a:tc>
                <a:tc>
                  <a:txBody>
                    <a:bodyPr wrap="square"/>
                    <a:lstStyle/>
                    <a:p>
                      <a:pPr algn="l"/>
                      <a:r>
                        <a:rPr sz="760" b="0">
                          <a:solidFill>
                            <a:srgbClr val="52514E"/>
                          </a:solidFill>
                          <a:latin typeface="Calibri"/>
                        </a:rPr>
                        <a:t>synthetic mirror — kept conservatively, flagged</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8</a:t>
                      </a:r>
                    </a:p>
                  </a:txBody>
                  <a:tcPr marL="31750" marR="31750" marT="12700" marB="12700" anchor="ctr">
                    <a:solidFill>
                      <a:srgbClr val="FCFCFB"/>
                    </a:solidFill>
                  </a:tcPr>
                </a:tc>
                <a:tc>
                  <a:txBody>
                    <a:bodyPr wrap="square"/>
                    <a:lstStyle/>
                    <a:p>
                      <a:pPr algn="l"/>
                      <a:r>
                        <a:rPr sz="760" b="1">
                          <a:solidFill>
                            <a:srgbClr val="9C4A18"/>
                          </a:solidFill>
                          <a:latin typeface="Calibri"/>
                        </a:rPr>
                        <a:t>WARN</a:t>
                      </a:r>
                    </a:p>
                  </a:txBody>
                  <a:tcPr marL="31750" marR="31750" marT="12700" marB="12700" anchor="ctr">
                    <a:solidFill>
                      <a:srgbClr val="FCFCFB"/>
                    </a:solidFill>
                  </a:tcPr>
                </a:tc>
                <a:tc>
                  <a:txBody>
                    <a:bodyPr wrap="square"/>
                    <a:lstStyle/>
                    <a:p>
                      <a:pPr algn="l"/>
                      <a:r>
                        <a:rPr sz="760" b="1">
                          <a:solidFill>
                            <a:srgbClr val="52514E"/>
                          </a:solidFill>
                          <a:latin typeface="Calibri"/>
                        </a:rPr>
                        <a:t>BPO x language routing constraint</a:t>
                      </a:r>
                    </a:p>
                  </a:txBody>
                  <a:tcPr marL="31750" marR="31750" marT="12700" marB="12700" anchor="ctr">
                    <a:solidFill>
                      <a:srgbClr val="FCFCFB"/>
                    </a:solidFill>
                  </a:tcPr>
                </a:tc>
                <a:tc>
                  <a:txBody>
                    <a:bodyPr wrap="square"/>
                    <a:lstStyle/>
                    <a:p>
                      <a:pPr algn="l"/>
                      <a:r>
                        <a:rPr sz="760" b="0">
                          <a:solidFill>
                            <a:srgbClr val="898781"/>
                          </a:solidFill>
                          <a:latin typeface="Calibri"/>
                        </a:rPr>
                        <a:t>9 of 15 rows violate the routing brief</a:t>
                      </a:r>
                    </a:p>
                  </a:txBody>
                  <a:tcPr marL="31750" marR="31750" marT="12700" marB="12700" anchor="ctr">
                    <a:solidFill>
                      <a:srgbClr val="FCFCFB"/>
                    </a:solidFill>
                  </a:tcPr>
                </a:tc>
                <a:tc>
                  <a:txBody>
                    <a:bodyPr wrap="square"/>
                    <a:lstStyle/>
                    <a:p>
                      <a:pPr algn="l"/>
                      <a:r>
                        <a:rPr sz="760" b="0">
                          <a:solidFill>
                            <a:srgbClr val="52514E"/>
                          </a:solidFill>
                          <a:latin typeface="Calibri"/>
                        </a:rPr>
                        <a:t>drop unroutable rows before any AHT lookup</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9</a:t>
                      </a:r>
                    </a:p>
                  </a:txBody>
                  <a:tcPr marL="31750" marR="31750" marT="12700" marB="12700" anchor="ctr">
                    <a:solidFill>
                      <a:srgbClr val="FCFCFB"/>
                    </a:solidFill>
                  </a:tcPr>
                </a:tc>
                <a:tc>
                  <a:txBody>
                    <a:bodyPr wrap="square"/>
                    <a:lstStyle/>
                    <a:p>
                      <a:pPr algn="l"/>
                      <a:r>
                        <a:rPr sz="760" b="1">
                          <a:solidFill>
                            <a:srgbClr val="0A6B0A"/>
                          </a:solidFill>
                          <a:latin typeface="Calibri"/>
                        </a:rPr>
                        <a:t>PASS</a:t>
                      </a:r>
                    </a:p>
                  </a:txBody>
                  <a:tcPr marL="31750" marR="31750" marT="12700" marB="12700" anchor="ctr">
                    <a:solidFill>
                      <a:srgbClr val="FCFCFB"/>
                    </a:solidFill>
                  </a:tcPr>
                </a:tc>
                <a:tc>
                  <a:txBody>
                    <a:bodyPr wrap="square"/>
                    <a:lstStyle/>
                    <a:p>
                      <a:pPr algn="l"/>
                      <a:r>
                        <a:rPr sz="760" b="1">
                          <a:solidFill>
                            <a:srgbClr val="52514E"/>
                          </a:solidFill>
                          <a:latin typeface="Calibri"/>
                        </a:rPr>
                        <a:t>shrinkage components sum to Tot Shrink</a:t>
                      </a:r>
                    </a:p>
                  </a:txBody>
                  <a:tcPr marL="31750" marR="31750" marT="12700" marB="12700" anchor="ctr">
                    <a:solidFill>
                      <a:srgbClr val="FCFCFB"/>
                    </a:solidFill>
                  </a:tcPr>
                </a:tc>
                <a:tc>
                  <a:txBody>
                    <a:bodyPr wrap="square"/>
                    <a:lstStyle/>
                    <a:p>
                      <a:pPr algn="l"/>
                      <a:r>
                        <a:rPr sz="760" b="0">
                          <a:solidFill>
                            <a:srgbClr val="898781"/>
                          </a:solidFill>
                          <a:latin typeface="Calibri"/>
                        </a:rPr>
                        <a:t>max diff = 0.00e+00 over 15 pairs</a:t>
                      </a:r>
                    </a:p>
                  </a:txBody>
                  <a:tcPr marL="31750" marR="31750" marT="12700" marB="12700" anchor="ctr">
                    <a:solidFill>
                      <a:srgbClr val="FCFCFB"/>
                    </a:solidFill>
                  </a:tcPr>
                </a:tc>
                <a:tc>
                  <a:txBody>
                    <a:bodyPr wrap="square"/>
                    <a:lstStyle/>
                    <a:p>
                      <a:pPr algn="l"/>
                      <a:r>
                        <a:rPr sz="760" b="0">
                          <a:solidFill>
                            <a:srgbClr val="52514E"/>
                          </a:solidFill>
                          <a:latin typeface="Calibri"/>
                        </a:rPr>
                        <a:t>use Tot Shrink = 18%</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10</a:t>
                      </a:r>
                    </a:p>
                  </a:txBody>
                  <a:tcPr marL="31750" marR="31750" marT="12700" marB="12700" anchor="ctr">
                    <a:solidFill>
                      <a:srgbClr val="FCFCFB"/>
                    </a:solidFill>
                  </a:tcPr>
                </a:tc>
                <a:tc>
                  <a:txBody>
                    <a:bodyPr wrap="square"/>
                    <a:lstStyle/>
                    <a:p>
                      <a:pPr algn="l"/>
                      <a:r>
                        <a:rPr sz="760" b="1">
                          <a:solidFill>
                            <a:srgbClr val="9C4A18"/>
                          </a:solidFill>
                          <a:latin typeface="Calibri"/>
                        </a:rPr>
                        <a:t>WARN</a:t>
                      </a:r>
                    </a:p>
                  </a:txBody>
                  <a:tcPr marL="31750" marR="31750" marT="12700" marB="12700" anchor="ctr">
                    <a:solidFill>
                      <a:srgbClr val="FCFCFB"/>
                    </a:solidFill>
                  </a:tcPr>
                </a:tc>
                <a:tc>
                  <a:txBody>
                    <a:bodyPr wrap="square"/>
                    <a:lstStyle/>
                    <a:p>
                      <a:pPr algn="l"/>
                      <a:r>
                        <a:rPr sz="760" b="1">
                          <a:solidFill>
                            <a:srgbClr val="52514E"/>
                          </a:solidFill>
                          <a:latin typeface="Calibri"/>
                        </a:rPr>
                        <a:t>structural break in the volume series</a:t>
                      </a:r>
                    </a:p>
                  </a:txBody>
                  <a:tcPr marL="31750" marR="31750" marT="12700" marB="12700" anchor="ctr">
                    <a:solidFill>
                      <a:srgbClr val="FCFCFB"/>
                    </a:solidFill>
                  </a:tcPr>
                </a:tc>
                <a:tc>
                  <a:txBody>
                    <a:bodyPr wrap="square"/>
                    <a:lstStyle/>
                    <a:p>
                      <a:pPr algn="l"/>
                      <a:r>
                        <a:rPr sz="760" b="0">
                          <a:solidFill>
                            <a:srgbClr val="898781"/>
                          </a:solidFill>
                          <a:latin typeface="Calibri"/>
                        </a:rPr>
                        <a:t>March +87% MoM; all 5 languages move together</a:t>
                      </a:r>
                    </a:p>
                  </a:txBody>
                  <a:tcPr marL="31750" marR="31750" marT="12700" marB="12700" anchor="ctr">
                    <a:solidFill>
                      <a:srgbClr val="FCFCFB"/>
                    </a:solidFill>
                  </a:tcPr>
                </a:tc>
                <a:tc>
                  <a:txBody>
                    <a:bodyPr wrap="square"/>
                    <a:lstStyle/>
                    <a:p>
                      <a:pPr algn="l"/>
                      <a:r>
                        <a:rPr sz="760" b="0">
                          <a:solidFill>
                            <a:srgbClr val="52514E"/>
                          </a:solidFill>
                          <a:latin typeface="Calibri"/>
                        </a:rPr>
                        <a:t>treat as a level shift, anchor post-break</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11</a:t>
                      </a:r>
                    </a:p>
                  </a:txBody>
                  <a:tcPr marL="31750" marR="31750" marT="12700" marB="12700" anchor="ctr">
                    <a:solidFill>
                      <a:srgbClr val="FCFCFB"/>
                    </a:solidFill>
                  </a:tcPr>
                </a:tc>
                <a:tc>
                  <a:txBody>
                    <a:bodyPr wrap="square"/>
                    <a:lstStyle/>
                    <a:p>
                      <a:pPr algn="l"/>
                      <a:r>
                        <a:rPr sz="760" b="1">
                          <a:solidFill>
                            <a:srgbClr val="1C5CAB"/>
                          </a:solidFill>
                          <a:latin typeface="Calibri"/>
                        </a:rPr>
                        <a:t>FIX</a:t>
                      </a:r>
                    </a:p>
                  </a:txBody>
                  <a:tcPr marL="31750" marR="31750" marT="12700" marB="12700" anchor="ctr">
                    <a:solidFill>
                      <a:srgbClr val="FCFCFB"/>
                    </a:solidFill>
                  </a:tcPr>
                </a:tc>
                <a:tc>
                  <a:txBody>
                    <a:bodyPr wrap="square"/>
                    <a:lstStyle/>
                    <a:p>
                      <a:pPr algn="l"/>
                      <a:r>
                        <a:rPr sz="760" b="1">
                          <a:solidFill>
                            <a:srgbClr val="52514E"/>
                          </a:solidFill>
                          <a:latin typeface="Calibri"/>
                        </a:rPr>
                        <a:t>SLA attainment series within [0,1]</a:t>
                      </a:r>
                    </a:p>
                  </a:txBody>
                  <a:tcPr marL="31750" marR="31750" marT="12700" marB="12700" anchor="ctr">
                    <a:solidFill>
                      <a:srgbClr val="FCFCFB"/>
                    </a:solidFill>
                  </a:tcPr>
                </a:tc>
                <a:tc>
                  <a:txBody>
                    <a:bodyPr wrap="square"/>
                    <a:lstStyle/>
                    <a:p>
                      <a:pPr algn="l"/>
                      <a:r>
                        <a:rPr sz="760" b="0">
                          <a:solidFill>
                            <a:srgbClr val="898781"/>
                          </a:solidFill>
                          <a:latin typeface="Calibri"/>
                        </a:rPr>
                        <a:t>February reports 110% attainment</a:t>
                      </a:r>
                    </a:p>
                  </a:txBody>
                  <a:tcPr marL="31750" marR="31750" marT="12700" marB="12700" anchor="ctr">
                    <a:solidFill>
                      <a:srgbClr val="FCFCFB"/>
                    </a:solidFill>
                  </a:tcPr>
                </a:tc>
                <a:tc>
                  <a:txBody>
                    <a:bodyPr wrap="square"/>
                    <a:lstStyle/>
                    <a:p>
                      <a:pPr algn="l"/>
                      <a:r>
                        <a:rPr sz="760" b="0">
                          <a:solidFill>
                            <a:srgbClr val="52514E"/>
                          </a:solidFill>
                          <a:latin typeface="Calibri"/>
                        </a:rPr>
                        <a:t>exclude the impossible month</a:t>
                      </a:r>
                    </a:p>
                  </a:txBody>
                  <a:tcPr marL="31750" marR="31750" marT="12700" marB="12700" anchor="ctr">
                    <a:solidFill>
                      <a:srgbClr val="FCFCFB"/>
                    </a:solidFill>
                  </a:tcPr>
                </a:tc>
              </a:tr>
              <a:tr h="265176">
                <a:tc>
                  <a:txBody>
                    <a:bodyPr wrap="square"/>
                    <a:lstStyle/>
                    <a:p>
                      <a:pPr algn="r"/>
                      <a:r>
                        <a:rPr sz="760" b="0">
                          <a:solidFill>
                            <a:srgbClr val="898781"/>
                          </a:solidFill>
                          <a:latin typeface="Calibri"/>
                        </a:rPr>
                        <a:t>12</a:t>
                      </a:r>
                    </a:p>
                  </a:txBody>
                  <a:tcPr marL="31750" marR="31750" marT="12700" marB="12700" anchor="ctr">
                    <a:solidFill>
                      <a:srgbClr val="FCFCFB"/>
                    </a:solidFill>
                  </a:tcPr>
                </a:tc>
                <a:tc>
                  <a:txBody>
                    <a:bodyPr wrap="square"/>
                    <a:lstStyle/>
                    <a:p>
                      <a:pPr algn="l"/>
                      <a:r>
                        <a:rPr sz="760" b="1">
                          <a:solidFill>
                            <a:srgbClr val="9C4A18"/>
                          </a:solidFill>
                          <a:latin typeface="Calibri"/>
                        </a:rPr>
                        <a:t>WARN</a:t>
                      </a:r>
                    </a:p>
                  </a:txBody>
                  <a:tcPr marL="31750" marR="31750" marT="12700" marB="12700" anchor="ctr">
                    <a:solidFill>
                      <a:srgbClr val="FCFCFB"/>
                    </a:solidFill>
                  </a:tcPr>
                </a:tc>
                <a:tc>
                  <a:txBody>
                    <a:bodyPr wrap="square"/>
                    <a:lstStyle/>
                    <a:p>
                      <a:pPr algn="l"/>
                      <a:r>
                        <a:rPr sz="760" b="1">
                          <a:solidFill>
                            <a:srgbClr val="52514E"/>
                          </a:solidFill>
                          <a:latin typeface="Calibri"/>
                        </a:rPr>
                        <a:t>SLA attainment trend</a:t>
                      </a:r>
                    </a:p>
                  </a:txBody>
                  <a:tcPr marL="31750" marR="31750" marT="12700" marB="12700" anchor="ctr">
                    <a:solidFill>
                      <a:srgbClr val="FCFCFB"/>
                    </a:solidFill>
                  </a:tcPr>
                </a:tc>
                <a:tc>
                  <a:txBody>
                    <a:bodyPr wrap="square"/>
                    <a:lstStyle/>
                    <a:p>
                      <a:pPr algn="l"/>
                      <a:r>
                        <a:rPr sz="760" b="0">
                          <a:solidFill>
                            <a:srgbClr val="898781"/>
                          </a:solidFill>
                          <a:latin typeface="Calibri"/>
                        </a:rPr>
                        <a:t>95%→92% while volume grows</a:t>
                      </a:r>
                    </a:p>
                  </a:txBody>
                  <a:tcPr marL="31750" marR="31750" marT="12700" marB="12700" anchor="ctr">
                    <a:solidFill>
                      <a:srgbClr val="FCFCFB"/>
                    </a:solidFill>
                  </a:tcPr>
                </a:tc>
                <a:tc>
                  <a:txBody>
                    <a:bodyPr wrap="square"/>
                    <a:lstStyle/>
                    <a:p>
                      <a:pPr algn="l"/>
                      <a:r>
                        <a:rPr sz="760" b="0">
                          <a:solidFill>
                            <a:srgbClr val="52514E"/>
                          </a:solidFill>
                          <a:latin typeface="Calibri"/>
                        </a:rPr>
                        <a:t>use as the business case for the transformation</a:t>
                      </a:r>
                    </a:p>
                  </a:txBody>
                  <a:tcPr marL="31750" marR="31750" marT="12700" marB="12700" anchor="ctr">
                    <a:solidFill>
                      <a:srgbClr val="FCFCFB"/>
                    </a:solidFill>
                  </a:tcPr>
                </a:tc>
              </a:tr>
            </a:tbl>
          </a:graphicData>
        </a:graphic>
      </p:graphicFrame>
      <p:sp>
        <p:nvSpPr>
          <p:cNvPr id="7" name="TextBox 6"/>
          <p:cNvSpPr txBox="1"/>
          <p:nvPr/>
        </p:nvSpPr>
        <p:spPr>
          <a:xfrm>
            <a:off x="502920" y="4828031"/>
            <a:ext cx="11185855" cy="137033"/>
          </a:xfrm>
          <a:prstGeom prst="rect">
            <a:avLst/>
          </a:prstGeom>
          <a:noFill/>
        </p:spPr>
        <p:txBody>
          <a:bodyPr wrap="square" lIns="0" rIns="0" tIns="0" bIns="0">
            <a:noAutofit/>
          </a:bodyPr>
          <a:lstStyle/>
          <a:p>
            <a:r>
              <a:rPr sz="830" b="1" i="0">
                <a:solidFill>
                  <a:srgbClr val="52514E"/>
                </a:solidFill>
                <a:latin typeface="Calibri"/>
              </a:rPr>
              <a:t>Grading matters.</a:t>
            </a:r>
            <a:r>
              <a:rPr sz="830" b="0" i="0">
                <a:solidFill>
                  <a:srgbClr val="52514E"/>
                </a:solidFill>
                <a:latin typeface="Calibri"/>
              </a:rPr>
              <a:t> A ±2-contact rounding residue and a 110% SLA reading are both “wrong”, but only one changes a decision. Every row above carries its own materiality.</a:t>
            </a:r>
          </a:p>
        </p:txBody>
      </p:sp>
      <p:cxnSp>
        <p:nvCxnSpPr>
          <p:cNvPr id="8" name="Connector 7"/>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 all figures reproduced by run_model.py, verified by crosscheck.py (72/72)</a:t>
            </a:r>
          </a:p>
        </p:txBody>
      </p:sp>
      <p:sp>
        <p:nvSpPr>
          <p:cNvPr id="10" name="TextBox 9"/>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A2 /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898781"/>
                </a:solidFill>
                <a:latin typeface="Calibri"/>
              </a:rPr>
              <a:t>Appendix A3</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700" b="1">
                <a:solidFill>
                  <a:srgbClr val="0B0B0B"/>
                </a:solidFill>
                <a:latin typeface="Calibri"/>
              </a:rPr>
              <a:t>Forecast detail — why only English gets a trend</a:t>
            </a:r>
          </a:p>
        </p:txBody>
      </p:sp>
      <p:cxnSp>
        <p:nvCxnSpPr>
          <p:cNvPr id="4" name="Connector 3"/>
          <p:cNvCxnSpPr/>
          <p:nvPr/>
        </p:nvCxnSpPr>
        <p:spPr>
          <a:xfrm>
            <a:off x="502920" y="82296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960120"/>
            <a:ext cx="2149388" cy="137160"/>
          </a:xfrm>
          <a:prstGeom prst="rect">
            <a:avLst/>
          </a:prstGeom>
          <a:noFill/>
        </p:spPr>
        <p:txBody>
          <a:bodyPr wrap="square" lIns="0" rIns="0" tIns="0" bIns="0">
            <a:noAutofit/>
          </a:bodyPr>
          <a:lstStyle/>
          <a:p>
            <a:r>
              <a:rPr sz="800" b="1">
                <a:solidFill>
                  <a:srgbClr val="0B0B0B"/>
                </a:solidFill>
                <a:latin typeface="Calibri"/>
              </a:rPr>
              <a:t>English</a:t>
            </a:r>
          </a:p>
        </p:txBody>
      </p:sp>
      <p:sp>
        <p:nvSpPr>
          <p:cNvPr id="6" name="TextBox 5"/>
          <p:cNvSpPr txBox="1"/>
          <p:nvPr/>
        </p:nvSpPr>
        <p:spPr>
          <a:xfrm>
            <a:off x="502920" y="1097280"/>
            <a:ext cx="2149388" cy="118872"/>
          </a:xfrm>
          <a:prstGeom prst="rect">
            <a:avLst/>
          </a:prstGeom>
          <a:noFill/>
        </p:spPr>
        <p:txBody>
          <a:bodyPr wrap="square" lIns="0" rIns="0" tIns="0" bIns="0">
            <a:noAutofit/>
          </a:bodyPr>
          <a:lstStyle/>
          <a:p>
            <a:r>
              <a:rPr sz="700" b="1">
                <a:solidFill>
                  <a:srgbClr val="2A78D6"/>
                </a:solidFill>
                <a:latin typeface="Calibri"/>
              </a:rPr>
              <a:t>+16,870/mo</a:t>
            </a:r>
          </a:p>
        </p:txBody>
      </p:sp>
      <p:graphicFrame>
        <p:nvGraphicFramePr>
          <p:cNvPr id="7" name="Chart 6"/>
          <p:cNvGraphicFramePr>
            <a:graphicFrameLocks noGrp="1"/>
          </p:cNvGraphicFramePr>
          <p:nvPr/>
        </p:nvGraphicFramePr>
        <p:xfrm>
          <a:off x="502920" y="1234440"/>
          <a:ext cx="2149388" cy="594359"/>
        </p:xfrm>
        <a:graphic>
          <a:graphicData uri="http://schemas.openxmlformats.org/drawingml/2006/chart">
            <c:chart xmlns:c="http://schemas.openxmlformats.org/drawingml/2006/chart" r:id="rId2"/>
          </a:graphicData>
        </a:graphic>
      </p:graphicFrame>
      <p:sp>
        <p:nvSpPr>
          <p:cNvPr id="8" name="TextBox 7"/>
          <p:cNvSpPr txBox="1"/>
          <p:nvPr/>
        </p:nvSpPr>
        <p:spPr>
          <a:xfrm>
            <a:off x="2762036" y="960120"/>
            <a:ext cx="2149388" cy="137160"/>
          </a:xfrm>
          <a:prstGeom prst="rect">
            <a:avLst/>
          </a:prstGeom>
          <a:noFill/>
        </p:spPr>
        <p:txBody>
          <a:bodyPr wrap="square" lIns="0" rIns="0" tIns="0" bIns="0">
            <a:noAutofit/>
          </a:bodyPr>
          <a:lstStyle/>
          <a:p>
            <a:r>
              <a:rPr sz="800" b="1">
                <a:solidFill>
                  <a:srgbClr val="52514E"/>
                </a:solidFill>
                <a:latin typeface="Calibri"/>
              </a:rPr>
              <a:t>German</a:t>
            </a:r>
          </a:p>
        </p:txBody>
      </p:sp>
      <p:sp>
        <p:nvSpPr>
          <p:cNvPr id="9" name="TextBox 8"/>
          <p:cNvSpPr txBox="1"/>
          <p:nvPr/>
        </p:nvSpPr>
        <p:spPr>
          <a:xfrm>
            <a:off x="2762036" y="1097280"/>
            <a:ext cx="2149388" cy="118872"/>
          </a:xfrm>
          <a:prstGeom prst="rect">
            <a:avLst/>
          </a:prstGeom>
          <a:noFill/>
        </p:spPr>
        <p:txBody>
          <a:bodyPr wrap="square" lIns="0" rIns="0" tIns="0" bIns="0">
            <a:noAutofit/>
          </a:bodyPr>
          <a:lstStyle/>
          <a:p>
            <a:r>
              <a:rPr sz="700" b="1">
                <a:solidFill>
                  <a:srgbClr val="52514E"/>
                </a:solidFill>
                <a:latin typeface="Calibri"/>
              </a:rPr>
              <a:t>−1,904/mo</a:t>
            </a:r>
          </a:p>
        </p:txBody>
      </p:sp>
      <p:graphicFrame>
        <p:nvGraphicFramePr>
          <p:cNvPr id="10" name="Chart 9"/>
          <p:cNvGraphicFramePr>
            <a:graphicFrameLocks noGrp="1"/>
          </p:cNvGraphicFramePr>
          <p:nvPr/>
        </p:nvGraphicFramePr>
        <p:xfrm>
          <a:off x="2762036" y="1234440"/>
          <a:ext cx="2149388" cy="594359"/>
        </p:xfrm>
        <a:graphic>
          <a:graphicData uri="http://schemas.openxmlformats.org/drawingml/2006/chart">
            <c:chart xmlns:c="http://schemas.openxmlformats.org/drawingml/2006/chart" r:id="rId3"/>
          </a:graphicData>
        </a:graphic>
      </p:graphicFrame>
      <p:sp>
        <p:nvSpPr>
          <p:cNvPr id="11" name="TextBox 10"/>
          <p:cNvSpPr txBox="1"/>
          <p:nvPr/>
        </p:nvSpPr>
        <p:spPr>
          <a:xfrm>
            <a:off x="5021153" y="960120"/>
            <a:ext cx="2149388" cy="137160"/>
          </a:xfrm>
          <a:prstGeom prst="rect">
            <a:avLst/>
          </a:prstGeom>
          <a:noFill/>
        </p:spPr>
        <p:txBody>
          <a:bodyPr wrap="square" lIns="0" rIns="0" tIns="0" bIns="0">
            <a:noAutofit/>
          </a:bodyPr>
          <a:lstStyle/>
          <a:p>
            <a:r>
              <a:rPr sz="800" b="1">
                <a:solidFill>
                  <a:srgbClr val="52514E"/>
                </a:solidFill>
                <a:latin typeface="Calibri"/>
              </a:rPr>
              <a:t>Spanish</a:t>
            </a:r>
          </a:p>
        </p:txBody>
      </p:sp>
      <p:sp>
        <p:nvSpPr>
          <p:cNvPr id="12" name="TextBox 11"/>
          <p:cNvSpPr txBox="1"/>
          <p:nvPr/>
        </p:nvSpPr>
        <p:spPr>
          <a:xfrm>
            <a:off x="5021153" y="1097280"/>
            <a:ext cx="2149388" cy="118872"/>
          </a:xfrm>
          <a:prstGeom prst="rect">
            <a:avLst/>
          </a:prstGeom>
          <a:noFill/>
        </p:spPr>
        <p:txBody>
          <a:bodyPr wrap="square" lIns="0" rIns="0" tIns="0" bIns="0">
            <a:noAutofit/>
          </a:bodyPr>
          <a:lstStyle/>
          <a:p>
            <a:r>
              <a:rPr sz="700" b="1">
                <a:solidFill>
                  <a:srgbClr val="52514E"/>
                </a:solidFill>
                <a:latin typeface="Calibri"/>
              </a:rPr>
              <a:t>+282/mo</a:t>
            </a:r>
          </a:p>
        </p:txBody>
      </p:sp>
      <p:graphicFrame>
        <p:nvGraphicFramePr>
          <p:cNvPr id="13" name="Chart 12"/>
          <p:cNvGraphicFramePr>
            <a:graphicFrameLocks noGrp="1"/>
          </p:cNvGraphicFramePr>
          <p:nvPr/>
        </p:nvGraphicFramePr>
        <p:xfrm>
          <a:off x="5021153" y="1234440"/>
          <a:ext cx="2149388" cy="594359"/>
        </p:xfrm>
        <a:graphic>
          <a:graphicData uri="http://schemas.openxmlformats.org/drawingml/2006/chart">
            <c:chart xmlns:c="http://schemas.openxmlformats.org/drawingml/2006/chart" r:id="rId4"/>
          </a:graphicData>
        </a:graphic>
      </p:graphicFrame>
      <p:sp>
        <p:nvSpPr>
          <p:cNvPr id="14" name="TextBox 13"/>
          <p:cNvSpPr txBox="1"/>
          <p:nvPr/>
        </p:nvSpPr>
        <p:spPr>
          <a:xfrm>
            <a:off x="7280269" y="960120"/>
            <a:ext cx="2149388" cy="137160"/>
          </a:xfrm>
          <a:prstGeom prst="rect">
            <a:avLst/>
          </a:prstGeom>
          <a:noFill/>
        </p:spPr>
        <p:txBody>
          <a:bodyPr wrap="square" lIns="0" rIns="0" tIns="0" bIns="0">
            <a:noAutofit/>
          </a:bodyPr>
          <a:lstStyle/>
          <a:p>
            <a:r>
              <a:rPr sz="800" b="1">
                <a:solidFill>
                  <a:srgbClr val="52514E"/>
                </a:solidFill>
                <a:latin typeface="Calibri"/>
              </a:rPr>
              <a:t>French</a:t>
            </a:r>
          </a:p>
        </p:txBody>
      </p:sp>
      <p:sp>
        <p:nvSpPr>
          <p:cNvPr id="15" name="TextBox 14"/>
          <p:cNvSpPr txBox="1"/>
          <p:nvPr/>
        </p:nvSpPr>
        <p:spPr>
          <a:xfrm>
            <a:off x="7280269" y="1097280"/>
            <a:ext cx="2149388" cy="118872"/>
          </a:xfrm>
          <a:prstGeom prst="rect">
            <a:avLst/>
          </a:prstGeom>
          <a:noFill/>
        </p:spPr>
        <p:txBody>
          <a:bodyPr wrap="square" lIns="0" rIns="0" tIns="0" bIns="0">
            <a:noAutofit/>
          </a:bodyPr>
          <a:lstStyle/>
          <a:p>
            <a:r>
              <a:rPr sz="700" b="1">
                <a:solidFill>
                  <a:srgbClr val="52514E"/>
                </a:solidFill>
                <a:latin typeface="Calibri"/>
              </a:rPr>
              <a:t>−363/mo</a:t>
            </a:r>
          </a:p>
        </p:txBody>
      </p:sp>
      <p:graphicFrame>
        <p:nvGraphicFramePr>
          <p:cNvPr id="16" name="Chart 15"/>
          <p:cNvGraphicFramePr>
            <a:graphicFrameLocks noGrp="1"/>
          </p:cNvGraphicFramePr>
          <p:nvPr/>
        </p:nvGraphicFramePr>
        <p:xfrm>
          <a:off x="7280269" y="1234440"/>
          <a:ext cx="2149388" cy="594359"/>
        </p:xfrm>
        <a:graphic>
          <a:graphicData uri="http://schemas.openxmlformats.org/drawingml/2006/chart">
            <c:chart xmlns:c="http://schemas.openxmlformats.org/drawingml/2006/chart" r:id="rId5"/>
          </a:graphicData>
        </a:graphic>
      </p:graphicFrame>
      <p:sp>
        <p:nvSpPr>
          <p:cNvPr id="17" name="TextBox 16"/>
          <p:cNvSpPr txBox="1"/>
          <p:nvPr/>
        </p:nvSpPr>
        <p:spPr>
          <a:xfrm>
            <a:off x="9539386" y="960120"/>
            <a:ext cx="2149388" cy="137160"/>
          </a:xfrm>
          <a:prstGeom prst="rect">
            <a:avLst/>
          </a:prstGeom>
          <a:noFill/>
        </p:spPr>
        <p:txBody>
          <a:bodyPr wrap="square" lIns="0" rIns="0" tIns="0" bIns="0">
            <a:noAutofit/>
          </a:bodyPr>
          <a:lstStyle/>
          <a:p>
            <a:r>
              <a:rPr sz="800" b="1">
                <a:solidFill>
                  <a:srgbClr val="52514E"/>
                </a:solidFill>
                <a:latin typeface="Calibri"/>
              </a:rPr>
              <a:t>Italian</a:t>
            </a:r>
          </a:p>
        </p:txBody>
      </p:sp>
      <p:sp>
        <p:nvSpPr>
          <p:cNvPr id="18" name="TextBox 17"/>
          <p:cNvSpPr txBox="1"/>
          <p:nvPr/>
        </p:nvSpPr>
        <p:spPr>
          <a:xfrm>
            <a:off x="9539386" y="1097280"/>
            <a:ext cx="2149388" cy="118872"/>
          </a:xfrm>
          <a:prstGeom prst="rect">
            <a:avLst/>
          </a:prstGeom>
          <a:noFill/>
        </p:spPr>
        <p:txBody>
          <a:bodyPr wrap="square" lIns="0" rIns="0" tIns="0" bIns="0">
            <a:noAutofit/>
          </a:bodyPr>
          <a:lstStyle/>
          <a:p>
            <a:r>
              <a:rPr sz="700" b="1">
                <a:solidFill>
                  <a:srgbClr val="52514E"/>
                </a:solidFill>
                <a:latin typeface="Calibri"/>
              </a:rPr>
              <a:t>−474/mo</a:t>
            </a:r>
          </a:p>
        </p:txBody>
      </p:sp>
      <p:graphicFrame>
        <p:nvGraphicFramePr>
          <p:cNvPr id="19" name="Chart 18"/>
          <p:cNvGraphicFramePr>
            <a:graphicFrameLocks noGrp="1"/>
          </p:cNvGraphicFramePr>
          <p:nvPr/>
        </p:nvGraphicFramePr>
        <p:xfrm>
          <a:off x="9539386" y="1234440"/>
          <a:ext cx="2149388" cy="594359"/>
        </p:xfrm>
        <a:graphic>
          <a:graphicData uri="http://schemas.openxmlformats.org/drawingml/2006/chart">
            <c:chart xmlns:c="http://schemas.openxmlformats.org/drawingml/2006/chart" r:id="rId6"/>
          </a:graphicData>
        </a:graphic>
      </p:graphicFrame>
      <p:sp>
        <p:nvSpPr>
          <p:cNvPr id="20" name="TextBox 19"/>
          <p:cNvSpPr txBox="1"/>
          <p:nvPr/>
        </p:nvSpPr>
        <p:spPr>
          <a:xfrm>
            <a:off x="502920" y="1920240"/>
            <a:ext cx="4943593" cy="146304"/>
          </a:xfrm>
          <a:prstGeom prst="rect">
            <a:avLst/>
          </a:prstGeom>
          <a:noFill/>
        </p:spPr>
        <p:txBody>
          <a:bodyPr wrap="square" lIns="0" rIns="0" tIns="0" bIns="0">
            <a:noAutofit/>
          </a:bodyPr>
          <a:lstStyle/>
          <a:p>
            <a:r>
              <a:rPr sz="819" b="1" spc="60">
                <a:solidFill>
                  <a:srgbClr val="898781"/>
                </a:solidFill>
                <a:latin typeface="Calibri"/>
              </a:rPr>
              <a:t>PER-LANGUAGE GROWTH TEST — POST-BREAK WINDOW</a:t>
            </a:r>
          </a:p>
        </p:txBody>
      </p:sp>
      <p:graphicFrame>
        <p:nvGraphicFramePr>
          <p:cNvPr id="21" name="Table 20"/>
          <p:cNvGraphicFramePr>
            <a:graphicFrameLocks noGrp="1"/>
          </p:cNvGraphicFramePr>
          <p:nvPr/>
        </p:nvGraphicFramePr>
        <p:xfrm>
          <a:off x="502920" y="2157984"/>
          <a:ext cx="4943593" cy="1207008"/>
        </p:xfrm>
        <a:graphic>
          <a:graphicData uri="http://schemas.openxmlformats.org/drawingml/2006/table">
            <a:tbl>
              <a:tblPr firstRow="0" bandRow="0">
                <a:tableStyleId>{5C22544A-7EE6-4342-B048-85BDC9FD1C3A}</a:tableStyleId>
              </a:tblPr>
              <a:tblGrid>
                <a:gridCol w="872398"/>
                <a:gridCol w="823932"/>
                <a:gridCol w="726998"/>
                <a:gridCol w="726998"/>
                <a:gridCol w="484665"/>
                <a:gridCol w="581599"/>
                <a:gridCol w="727003"/>
              </a:tblGrid>
              <a:tr h="201168">
                <a:tc>
                  <a:txBody>
                    <a:bodyPr wrap="square"/>
                    <a:lstStyle/>
                    <a:p>
                      <a:pPr algn="l"/>
                      <a:r>
                        <a:rPr sz="680" b="1">
                          <a:solidFill>
                            <a:srgbClr val="898781"/>
                          </a:solidFill>
                          <a:latin typeface="Calibri"/>
                        </a:rPr>
                        <a:t>LANGUAGE</a:t>
                      </a:r>
                    </a:p>
                  </a:txBody>
                  <a:tcPr marL="31750" marR="31750" marT="12700" marB="12700" anchor="b">
                    <a:solidFill>
                      <a:srgbClr val="FCFCFB"/>
                    </a:solidFill>
                  </a:tcPr>
                </a:tc>
                <a:tc>
                  <a:txBody>
                    <a:bodyPr wrap="square"/>
                    <a:lstStyle/>
                    <a:p>
                      <a:pPr algn="r"/>
                      <a:r>
                        <a:rPr sz="680" b="1">
                          <a:solidFill>
                            <a:srgbClr val="898781"/>
                          </a:solidFill>
                          <a:latin typeface="Calibri"/>
                        </a:rPr>
                        <a:t>JUNE</a:t>
                      </a:r>
                    </a:p>
                  </a:txBody>
                  <a:tcPr marL="31750" marR="31750" marT="12700" marB="12700" anchor="b">
                    <a:solidFill>
                      <a:srgbClr val="FCFCFB"/>
                    </a:solidFill>
                  </a:tcPr>
                </a:tc>
                <a:tc>
                  <a:txBody>
                    <a:bodyPr wrap="square"/>
                    <a:lstStyle/>
                    <a:p>
                      <a:pPr algn="r"/>
                      <a:r>
                        <a:rPr sz="680" b="1">
                          <a:solidFill>
                            <a:srgbClr val="898781"/>
                          </a:solidFill>
                          <a:latin typeface="Calibri"/>
                        </a:rPr>
                        <a:t>MAR→JUN</a:t>
                      </a:r>
                    </a:p>
                  </a:txBody>
                  <a:tcPr marL="31750" marR="31750" marT="12700" marB="12700" anchor="b">
                    <a:solidFill>
                      <a:srgbClr val="FCFCFB"/>
                    </a:solidFill>
                  </a:tcPr>
                </a:tc>
                <a:tc>
                  <a:txBody>
                    <a:bodyPr wrap="square"/>
                    <a:lstStyle/>
                    <a:p>
                      <a:pPr algn="r"/>
                      <a:r>
                        <a:rPr sz="680" b="1">
                          <a:solidFill>
                            <a:srgbClr val="898781"/>
                          </a:solidFill>
                          <a:latin typeface="Calibri"/>
                        </a:rPr>
                        <a:t>OLS/MO</a:t>
                      </a:r>
                    </a:p>
                  </a:txBody>
                  <a:tcPr marL="31750" marR="31750" marT="12700" marB="12700" anchor="b">
                    <a:solidFill>
                      <a:srgbClr val="FCFCFB"/>
                    </a:solidFill>
                  </a:tcPr>
                </a:tc>
                <a:tc>
                  <a:txBody>
                    <a:bodyPr wrap="square"/>
                    <a:lstStyle/>
                    <a:p>
                      <a:pPr algn="r"/>
                      <a:r>
                        <a:rPr sz="680" b="1">
                          <a:solidFill>
                            <a:srgbClr val="898781"/>
                          </a:solidFill>
                          <a:latin typeface="Calibri"/>
                        </a:rPr>
                        <a:t>R²</a:t>
                      </a:r>
                    </a:p>
                  </a:txBody>
                  <a:tcPr marL="31750" marR="31750" marT="12700" marB="12700" anchor="b">
                    <a:solidFill>
                      <a:srgbClr val="FCFCFB"/>
                    </a:solidFill>
                  </a:tcPr>
                </a:tc>
                <a:tc>
                  <a:txBody>
                    <a:bodyPr wrap="square"/>
                    <a:lstStyle/>
                    <a:p>
                      <a:pPr algn="r"/>
                      <a:r>
                        <a:rPr sz="680" b="1">
                          <a:solidFill>
                            <a:srgbClr val="898781"/>
                          </a:solidFill>
                          <a:latin typeface="Calibri"/>
                        </a:rPr>
                        <a:t>Σ</a:t>
                      </a:r>
                    </a:p>
                  </a:txBody>
                  <a:tcPr marL="31750" marR="31750" marT="12700" marB="12700" anchor="b">
                    <a:solidFill>
                      <a:srgbClr val="FCFCFB"/>
                    </a:solidFill>
                  </a:tcPr>
                </a:tc>
                <a:tc>
                  <a:txBody>
                    <a:bodyPr wrap="square"/>
                    <a:lstStyle/>
                    <a:p>
                      <a:pPr algn="l"/>
                      <a:r>
                        <a:rPr sz="680" b="1">
                          <a:solidFill>
                            <a:srgbClr val="898781"/>
                          </a:solidFill>
                          <a:latin typeface="Calibri"/>
                        </a:rPr>
                        <a:t>GROWING?</a:t>
                      </a:r>
                    </a:p>
                  </a:txBody>
                  <a:tcPr marL="31750" marR="31750" marT="12700" marB="12700" anchor="b">
                    <a:solidFill>
                      <a:srgbClr val="FCFCFB"/>
                    </a:solidFill>
                  </a:tcPr>
                </a:tc>
              </a:tr>
              <a:tr h="201168">
                <a:tc>
                  <a:txBody>
                    <a:bodyPr wrap="square"/>
                    <a:lstStyle/>
                    <a:p>
                      <a:pPr algn="l"/>
                      <a:r>
                        <a:rPr sz="780" b="1">
                          <a:solidFill>
                            <a:srgbClr val="52514E"/>
                          </a:solidFill>
                          <a:latin typeface="Calibri"/>
                        </a:rPr>
                        <a:t>English</a:t>
                      </a:r>
                    </a:p>
                  </a:txBody>
                  <a:tcPr marL="31750" marR="31750" marT="12700" marB="12700" anchor="ctr">
                    <a:solidFill>
                      <a:srgbClr val="FCFCFB"/>
                    </a:solidFill>
                  </a:tcPr>
                </a:tc>
                <a:tc>
                  <a:txBody>
                    <a:bodyPr wrap="square"/>
                    <a:lstStyle/>
                    <a:p>
                      <a:pPr algn="r"/>
                      <a:r>
                        <a:rPr sz="780" b="0">
                          <a:solidFill>
                            <a:srgbClr val="52514E"/>
                          </a:solidFill>
                          <a:latin typeface="Calibri"/>
                        </a:rPr>
                        <a:t>158,298</a:t>
                      </a:r>
                    </a:p>
                  </a:txBody>
                  <a:tcPr marL="31750" marR="31750" marT="12700" marB="12700" anchor="ctr">
                    <a:solidFill>
                      <a:srgbClr val="FCFCFB"/>
                    </a:solidFill>
                  </a:tcPr>
                </a:tc>
                <a:tc>
                  <a:txBody>
                    <a:bodyPr wrap="square"/>
                    <a:lstStyle/>
                    <a:p>
                      <a:pPr algn="r"/>
                      <a:r>
                        <a:rPr sz="780" b="0">
                          <a:solidFill>
                            <a:srgbClr val="52514E"/>
                          </a:solidFill>
                          <a:latin typeface="Calibri"/>
                        </a:rPr>
                        <a:t>+59.3%</a:t>
                      </a:r>
                    </a:p>
                  </a:txBody>
                  <a:tcPr marL="31750" marR="31750" marT="12700" marB="12700" anchor="ctr">
                    <a:solidFill>
                      <a:srgbClr val="FCFCFB"/>
                    </a:solidFill>
                  </a:tcPr>
                </a:tc>
                <a:tc>
                  <a:txBody>
                    <a:bodyPr wrap="square"/>
                    <a:lstStyle/>
                    <a:p>
                      <a:pPr algn="r"/>
                      <a:r>
                        <a:rPr sz="780" b="0">
                          <a:solidFill>
                            <a:srgbClr val="52514E"/>
                          </a:solidFill>
                          <a:latin typeface="Calibri"/>
                        </a:rPr>
                        <a:t>+16,870</a:t>
                      </a:r>
                    </a:p>
                  </a:txBody>
                  <a:tcPr marL="31750" marR="31750" marT="12700" marB="12700" anchor="ctr">
                    <a:solidFill>
                      <a:srgbClr val="FCFCFB"/>
                    </a:solidFill>
                  </a:tcPr>
                </a:tc>
                <a:tc>
                  <a:txBody>
                    <a:bodyPr wrap="square"/>
                    <a:lstStyle/>
                    <a:p>
                      <a:pPr algn="r"/>
                      <a:r>
                        <a:rPr sz="780" b="0">
                          <a:solidFill>
                            <a:srgbClr val="52514E"/>
                          </a:solidFill>
                          <a:latin typeface="Calibri"/>
                        </a:rPr>
                        <a:t>0.74</a:t>
                      </a:r>
                    </a:p>
                  </a:txBody>
                  <a:tcPr marL="31750" marR="31750" marT="12700" marB="12700" anchor="ctr">
                    <a:solidFill>
                      <a:srgbClr val="FCFCFB"/>
                    </a:solidFill>
                  </a:tcPr>
                </a:tc>
                <a:tc>
                  <a:txBody>
                    <a:bodyPr wrap="square"/>
                    <a:lstStyle/>
                    <a:p>
                      <a:pPr algn="r"/>
                      <a:r>
                        <a:rPr sz="780" b="0">
                          <a:solidFill>
                            <a:srgbClr val="52514E"/>
                          </a:solidFill>
                          <a:latin typeface="Calibri"/>
                        </a:rPr>
                        <a:t>19.5%</a:t>
                      </a:r>
                    </a:p>
                  </a:txBody>
                  <a:tcPr marL="31750" marR="31750" marT="12700" marB="12700" anchor="ctr">
                    <a:solidFill>
                      <a:srgbClr val="FCFCFB"/>
                    </a:solidFill>
                  </a:tcPr>
                </a:tc>
                <a:tc>
                  <a:txBody>
                    <a:bodyPr wrap="square"/>
                    <a:lstStyle/>
                    <a:p>
                      <a:pPr algn="l"/>
                      <a:r>
                        <a:rPr sz="780" b="0">
                          <a:solidFill>
                            <a:srgbClr val="52514E"/>
                          </a:solidFill>
                          <a:latin typeface="Calibri"/>
                        </a:rPr>
                        <a:t>yes</a:t>
                      </a:r>
                    </a:p>
                  </a:txBody>
                  <a:tcPr marL="31750" marR="31750" marT="12700" marB="12700" anchor="ctr">
                    <a:solidFill>
                      <a:srgbClr val="FCFCFB"/>
                    </a:solidFill>
                  </a:tcPr>
                </a:tc>
              </a:tr>
              <a:tr h="201168">
                <a:tc>
                  <a:txBody>
                    <a:bodyPr wrap="square"/>
                    <a:lstStyle/>
                    <a:p>
                      <a:pPr algn="l"/>
                      <a:r>
                        <a:rPr sz="780" b="1">
                          <a:solidFill>
                            <a:srgbClr val="52514E"/>
                          </a:solidFill>
                          <a:latin typeface="Calibri"/>
                        </a:rPr>
                        <a:t>German</a:t>
                      </a:r>
                    </a:p>
                  </a:txBody>
                  <a:tcPr marL="31750" marR="31750" marT="12700" marB="12700" anchor="ctr">
                    <a:solidFill>
                      <a:srgbClr val="FCFCFB"/>
                    </a:solidFill>
                  </a:tcPr>
                </a:tc>
                <a:tc>
                  <a:txBody>
                    <a:bodyPr wrap="square"/>
                    <a:lstStyle/>
                    <a:p>
                      <a:pPr algn="r"/>
                      <a:r>
                        <a:rPr sz="780" b="0">
                          <a:solidFill>
                            <a:srgbClr val="52514E"/>
                          </a:solidFill>
                          <a:latin typeface="Calibri"/>
                        </a:rPr>
                        <a:t>32,850</a:t>
                      </a:r>
                    </a:p>
                  </a:txBody>
                  <a:tcPr marL="31750" marR="31750" marT="12700" marB="12700" anchor="ctr">
                    <a:solidFill>
                      <a:srgbClr val="FCFCFB"/>
                    </a:solidFill>
                  </a:tcPr>
                </a:tc>
                <a:tc>
                  <a:txBody>
                    <a:bodyPr wrap="square"/>
                    <a:lstStyle/>
                    <a:p>
                      <a:pPr algn="r"/>
                      <a:r>
                        <a:rPr sz="780" b="0">
                          <a:solidFill>
                            <a:srgbClr val="52514E"/>
                          </a:solidFill>
                          <a:latin typeface="Calibri"/>
                        </a:rPr>
                        <a:t>-15.7%</a:t>
                      </a:r>
                    </a:p>
                  </a:txBody>
                  <a:tcPr marL="31750" marR="31750" marT="12700" marB="12700" anchor="ctr">
                    <a:solidFill>
                      <a:srgbClr val="FCFCFB"/>
                    </a:solidFill>
                  </a:tcPr>
                </a:tc>
                <a:tc>
                  <a:txBody>
                    <a:bodyPr wrap="square"/>
                    <a:lstStyle/>
                    <a:p>
                      <a:pPr algn="r"/>
                      <a:r>
                        <a:rPr sz="780" b="0">
                          <a:solidFill>
                            <a:srgbClr val="52514E"/>
                          </a:solidFill>
                          <a:latin typeface="Calibri"/>
                        </a:rPr>
                        <a:t>-1,904</a:t>
                      </a:r>
                    </a:p>
                  </a:txBody>
                  <a:tcPr marL="31750" marR="31750" marT="12700" marB="12700" anchor="ctr">
                    <a:solidFill>
                      <a:srgbClr val="FCFCFB"/>
                    </a:solidFill>
                  </a:tcPr>
                </a:tc>
                <a:tc>
                  <a:txBody>
                    <a:bodyPr wrap="square"/>
                    <a:lstStyle/>
                    <a:p>
                      <a:pPr algn="r"/>
                      <a:r>
                        <a:rPr sz="780" b="0">
                          <a:solidFill>
                            <a:srgbClr val="52514E"/>
                          </a:solidFill>
                          <a:latin typeface="Calibri"/>
                        </a:rPr>
                        <a:t>0.68</a:t>
                      </a:r>
                    </a:p>
                  </a:txBody>
                  <a:tcPr marL="31750" marR="31750" marT="12700" marB="12700" anchor="ctr">
                    <a:solidFill>
                      <a:srgbClr val="FCFCFB"/>
                    </a:solidFill>
                  </a:tcPr>
                </a:tc>
                <a:tc>
                  <a:txBody>
                    <a:bodyPr wrap="square"/>
                    <a:lstStyle/>
                    <a:p>
                      <a:pPr algn="r"/>
                      <a:r>
                        <a:rPr sz="780" b="0">
                          <a:solidFill>
                            <a:srgbClr val="52514E"/>
                          </a:solidFill>
                          <a:latin typeface="Calibri"/>
                        </a:rPr>
                        <a:t>6.9%</a:t>
                      </a:r>
                    </a:p>
                  </a:txBody>
                  <a:tcPr marL="31750" marR="31750" marT="12700" marB="12700" anchor="ctr">
                    <a:solidFill>
                      <a:srgbClr val="FCFCFB"/>
                    </a:solidFill>
                  </a:tcPr>
                </a:tc>
                <a:tc>
                  <a:txBody>
                    <a:bodyPr wrap="square"/>
                    <a:lstStyle/>
                    <a:p>
                      <a:pPr algn="l"/>
                      <a:r>
                        <a:rPr sz="780" b="0">
                          <a:solidFill>
                            <a:srgbClr val="898781"/>
                          </a:solidFill>
                          <a:latin typeface="Calibri"/>
                        </a:rPr>
                        <a:t>no</a:t>
                      </a:r>
                    </a:p>
                  </a:txBody>
                  <a:tcPr marL="31750" marR="31750" marT="12700" marB="12700" anchor="ctr">
                    <a:solidFill>
                      <a:srgbClr val="FCFCFB"/>
                    </a:solidFill>
                  </a:tcPr>
                </a:tc>
              </a:tr>
              <a:tr h="201168">
                <a:tc>
                  <a:txBody>
                    <a:bodyPr wrap="square"/>
                    <a:lstStyle/>
                    <a:p>
                      <a:pPr algn="l"/>
                      <a:r>
                        <a:rPr sz="780" b="1">
                          <a:solidFill>
                            <a:srgbClr val="52514E"/>
                          </a:solidFill>
                          <a:latin typeface="Calibri"/>
                        </a:rPr>
                        <a:t>Spanish</a:t>
                      </a:r>
                    </a:p>
                  </a:txBody>
                  <a:tcPr marL="31750" marR="31750" marT="12700" marB="12700" anchor="ctr">
                    <a:solidFill>
                      <a:srgbClr val="FCFCFB"/>
                    </a:solidFill>
                  </a:tcPr>
                </a:tc>
                <a:tc>
                  <a:txBody>
                    <a:bodyPr wrap="square"/>
                    <a:lstStyle/>
                    <a:p>
                      <a:pPr algn="r"/>
                      <a:r>
                        <a:rPr sz="780" b="0">
                          <a:solidFill>
                            <a:srgbClr val="52514E"/>
                          </a:solidFill>
                          <a:latin typeface="Calibri"/>
                        </a:rPr>
                        <a:t>29,890</a:t>
                      </a:r>
                    </a:p>
                  </a:txBody>
                  <a:tcPr marL="31750" marR="31750" marT="12700" marB="12700" anchor="ctr">
                    <a:solidFill>
                      <a:srgbClr val="FCFCFB"/>
                    </a:solidFill>
                  </a:tcPr>
                </a:tc>
                <a:tc>
                  <a:txBody>
                    <a:bodyPr wrap="square"/>
                    <a:lstStyle/>
                    <a:p>
                      <a:pPr algn="r"/>
                      <a:r>
                        <a:rPr sz="780" b="0">
                          <a:solidFill>
                            <a:srgbClr val="52514E"/>
                          </a:solidFill>
                          <a:latin typeface="Calibri"/>
                        </a:rPr>
                        <a:t>+5.1%</a:t>
                      </a:r>
                    </a:p>
                  </a:txBody>
                  <a:tcPr marL="31750" marR="31750" marT="12700" marB="12700" anchor="ctr">
                    <a:solidFill>
                      <a:srgbClr val="FCFCFB"/>
                    </a:solidFill>
                  </a:tcPr>
                </a:tc>
                <a:tc>
                  <a:txBody>
                    <a:bodyPr wrap="square"/>
                    <a:lstStyle/>
                    <a:p>
                      <a:pPr algn="r"/>
                      <a:r>
                        <a:rPr sz="780" b="0">
                          <a:solidFill>
                            <a:srgbClr val="52514E"/>
                          </a:solidFill>
                          <a:latin typeface="Calibri"/>
                        </a:rPr>
                        <a:t>+282</a:t>
                      </a:r>
                    </a:p>
                  </a:txBody>
                  <a:tcPr marL="31750" marR="31750" marT="12700" marB="12700" anchor="ctr">
                    <a:solidFill>
                      <a:srgbClr val="FCFCFB"/>
                    </a:solidFill>
                  </a:tcPr>
                </a:tc>
                <a:tc>
                  <a:txBody>
                    <a:bodyPr wrap="square"/>
                    <a:lstStyle/>
                    <a:p>
                      <a:pPr algn="r"/>
                      <a:r>
                        <a:rPr sz="780" b="0">
                          <a:solidFill>
                            <a:srgbClr val="52514E"/>
                          </a:solidFill>
                          <a:latin typeface="Calibri"/>
                        </a:rPr>
                        <a:t>0.15</a:t>
                      </a:r>
                    </a:p>
                  </a:txBody>
                  <a:tcPr marL="31750" marR="31750" marT="12700" marB="12700" anchor="ctr">
                    <a:solidFill>
                      <a:srgbClr val="FCFCFB"/>
                    </a:solidFill>
                  </a:tcPr>
                </a:tc>
                <a:tc>
                  <a:txBody>
                    <a:bodyPr wrap="square"/>
                    <a:lstStyle/>
                    <a:p>
                      <a:pPr algn="r"/>
                      <a:r>
                        <a:rPr sz="780" b="0">
                          <a:solidFill>
                            <a:srgbClr val="52514E"/>
                          </a:solidFill>
                          <a:latin typeface="Calibri"/>
                        </a:rPr>
                        <a:t>8.3%</a:t>
                      </a:r>
                    </a:p>
                  </a:txBody>
                  <a:tcPr marL="31750" marR="31750" marT="12700" marB="12700" anchor="ctr">
                    <a:solidFill>
                      <a:srgbClr val="FCFCFB"/>
                    </a:solidFill>
                  </a:tcPr>
                </a:tc>
                <a:tc>
                  <a:txBody>
                    <a:bodyPr wrap="square"/>
                    <a:lstStyle/>
                    <a:p>
                      <a:pPr algn="l"/>
                      <a:r>
                        <a:rPr sz="780" b="0">
                          <a:solidFill>
                            <a:srgbClr val="898781"/>
                          </a:solidFill>
                          <a:latin typeface="Calibri"/>
                        </a:rPr>
                        <a:t>no</a:t>
                      </a:r>
                    </a:p>
                  </a:txBody>
                  <a:tcPr marL="31750" marR="31750" marT="12700" marB="12700" anchor="ctr">
                    <a:solidFill>
                      <a:srgbClr val="FCFCFB"/>
                    </a:solidFill>
                  </a:tcPr>
                </a:tc>
              </a:tr>
              <a:tr h="201168">
                <a:tc>
                  <a:txBody>
                    <a:bodyPr wrap="square"/>
                    <a:lstStyle/>
                    <a:p>
                      <a:pPr algn="l"/>
                      <a:r>
                        <a:rPr sz="780" b="1">
                          <a:solidFill>
                            <a:srgbClr val="52514E"/>
                          </a:solidFill>
                          <a:latin typeface="Calibri"/>
                        </a:rPr>
                        <a:t>French</a:t>
                      </a:r>
                    </a:p>
                  </a:txBody>
                  <a:tcPr marL="31750" marR="31750" marT="12700" marB="12700" anchor="ctr">
                    <a:solidFill>
                      <a:srgbClr val="FCFCFB"/>
                    </a:solidFill>
                  </a:tcPr>
                </a:tc>
                <a:tc>
                  <a:txBody>
                    <a:bodyPr wrap="square"/>
                    <a:lstStyle/>
                    <a:p>
                      <a:pPr algn="r"/>
                      <a:r>
                        <a:rPr sz="780" b="0">
                          <a:solidFill>
                            <a:srgbClr val="52514E"/>
                          </a:solidFill>
                          <a:latin typeface="Calibri"/>
                        </a:rPr>
                        <a:t>24,238</a:t>
                      </a:r>
                    </a:p>
                  </a:txBody>
                  <a:tcPr marL="31750" marR="31750" marT="12700" marB="12700" anchor="ctr">
                    <a:solidFill>
                      <a:srgbClr val="FCFCFB"/>
                    </a:solidFill>
                  </a:tcPr>
                </a:tc>
                <a:tc>
                  <a:txBody>
                    <a:bodyPr wrap="square"/>
                    <a:lstStyle/>
                    <a:p>
                      <a:pPr algn="r"/>
                      <a:r>
                        <a:rPr sz="780" b="0">
                          <a:solidFill>
                            <a:srgbClr val="52514E"/>
                          </a:solidFill>
                          <a:latin typeface="Calibri"/>
                        </a:rPr>
                        <a:t>-3.2%</a:t>
                      </a:r>
                    </a:p>
                  </a:txBody>
                  <a:tcPr marL="31750" marR="31750" marT="12700" marB="12700" anchor="ctr">
                    <a:solidFill>
                      <a:srgbClr val="FCFCFB"/>
                    </a:solidFill>
                  </a:tcPr>
                </a:tc>
                <a:tc>
                  <a:txBody>
                    <a:bodyPr wrap="square"/>
                    <a:lstStyle/>
                    <a:p>
                      <a:pPr algn="r"/>
                      <a:r>
                        <a:rPr sz="780" b="0">
                          <a:solidFill>
                            <a:srgbClr val="52514E"/>
                          </a:solidFill>
                          <a:latin typeface="Calibri"/>
                        </a:rPr>
                        <a:t>-363</a:t>
                      </a:r>
                    </a:p>
                  </a:txBody>
                  <a:tcPr marL="31750" marR="31750" marT="12700" marB="12700" anchor="ctr">
                    <a:solidFill>
                      <a:srgbClr val="FCFCFB"/>
                    </a:solidFill>
                  </a:tcPr>
                </a:tc>
                <a:tc>
                  <a:txBody>
                    <a:bodyPr wrap="square"/>
                    <a:lstStyle/>
                    <a:p>
                      <a:pPr algn="r"/>
                      <a:r>
                        <a:rPr sz="780" b="0">
                          <a:solidFill>
                            <a:srgbClr val="52514E"/>
                          </a:solidFill>
                          <a:latin typeface="Calibri"/>
                        </a:rPr>
                        <a:t>0.19</a:t>
                      </a:r>
                    </a:p>
                  </a:txBody>
                  <a:tcPr marL="31750" marR="31750" marT="12700" marB="12700" anchor="ctr">
                    <a:solidFill>
                      <a:srgbClr val="FCFCFB"/>
                    </a:solidFill>
                  </a:tcPr>
                </a:tc>
                <a:tc>
                  <a:txBody>
                    <a:bodyPr wrap="square"/>
                    <a:lstStyle/>
                    <a:p>
                      <a:pPr algn="r"/>
                      <a:r>
                        <a:rPr sz="780" b="0">
                          <a:solidFill>
                            <a:srgbClr val="52514E"/>
                          </a:solidFill>
                          <a:latin typeface="Calibri"/>
                        </a:rPr>
                        <a:t>5.6%</a:t>
                      </a:r>
                    </a:p>
                  </a:txBody>
                  <a:tcPr marL="31750" marR="31750" marT="12700" marB="12700" anchor="ctr">
                    <a:solidFill>
                      <a:srgbClr val="FCFCFB"/>
                    </a:solidFill>
                  </a:tcPr>
                </a:tc>
                <a:tc>
                  <a:txBody>
                    <a:bodyPr wrap="square"/>
                    <a:lstStyle/>
                    <a:p>
                      <a:pPr algn="l"/>
                      <a:r>
                        <a:rPr sz="780" b="0">
                          <a:solidFill>
                            <a:srgbClr val="898781"/>
                          </a:solidFill>
                          <a:latin typeface="Calibri"/>
                        </a:rPr>
                        <a:t>no</a:t>
                      </a:r>
                    </a:p>
                  </a:txBody>
                  <a:tcPr marL="31750" marR="31750" marT="12700" marB="12700" anchor="ctr">
                    <a:solidFill>
                      <a:srgbClr val="FCFCFB"/>
                    </a:solidFill>
                  </a:tcPr>
                </a:tc>
              </a:tr>
              <a:tr h="201168">
                <a:tc>
                  <a:txBody>
                    <a:bodyPr wrap="square"/>
                    <a:lstStyle/>
                    <a:p>
                      <a:pPr algn="l"/>
                      <a:r>
                        <a:rPr sz="780" b="1">
                          <a:solidFill>
                            <a:srgbClr val="52514E"/>
                          </a:solidFill>
                          <a:latin typeface="Calibri"/>
                        </a:rPr>
                        <a:t>Italian</a:t>
                      </a:r>
                    </a:p>
                  </a:txBody>
                  <a:tcPr marL="31750" marR="31750" marT="12700" marB="12700" anchor="ctr">
                    <a:solidFill>
                      <a:srgbClr val="FCFCFB"/>
                    </a:solidFill>
                  </a:tcPr>
                </a:tc>
                <a:tc>
                  <a:txBody>
                    <a:bodyPr wrap="square"/>
                    <a:lstStyle/>
                    <a:p>
                      <a:pPr algn="r"/>
                      <a:r>
                        <a:rPr sz="780" b="0">
                          <a:solidFill>
                            <a:srgbClr val="52514E"/>
                          </a:solidFill>
                          <a:latin typeface="Calibri"/>
                        </a:rPr>
                        <a:t>21,878</a:t>
                      </a:r>
                    </a:p>
                  </a:txBody>
                  <a:tcPr marL="31750" marR="31750" marT="12700" marB="12700" anchor="ctr">
                    <a:solidFill>
                      <a:srgbClr val="FCFCFB"/>
                    </a:solidFill>
                  </a:tcPr>
                </a:tc>
                <a:tc>
                  <a:txBody>
                    <a:bodyPr wrap="square"/>
                    <a:lstStyle/>
                    <a:p>
                      <a:pPr algn="r"/>
                      <a:r>
                        <a:rPr sz="780" b="0">
                          <a:solidFill>
                            <a:srgbClr val="52514E"/>
                          </a:solidFill>
                          <a:latin typeface="Calibri"/>
                        </a:rPr>
                        <a:t>+4.6%</a:t>
                      </a:r>
                    </a:p>
                  </a:txBody>
                  <a:tcPr marL="31750" marR="31750" marT="12700" marB="12700" anchor="ctr">
                    <a:solidFill>
                      <a:srgbClr val="FCFCFB"/>
                    </a:solidFill>
                  </a:tcPr>
                </a:tc>
                <a:tc>
                  <a:txBody>
                    <a:bodyPr wrap="square"/>
                    <a:lstStyle/>
                    <a:p>
                      <a:pPr algn="r"/>
                      <a:r>
                        <a:rPr sz="780" b="0">
                          <a:solidFill>
                            <a:srgbClr val="52514E"/>
                          </a:solidFill>
                          <a:latin typeface="Calibri"/>
                        </a:rPr>
                        <a:t>-474</a:t>
                      </a:r>
                    </a:p>
                  </a:txBody>
                  <a:tcPr marL="31750" marR="31750" marT="12700" marB="12700" anchor="ctr">
                    <a:solidFill>
                      <a:srgbClr val="FCFCFB"/>
                    </a:solidFill>
                  </a:tcPr>
                </a:tc>
                <a:tc>
                  <a:txBody>
                    <a:bodyPr wrap="square"/>
                    <a:lstStyle/>
                    <a:p>
                      <a:pPr algn="r"/>
                      <a:r>
                        <a:rPr sz="780" b="0">
                          <a:solidFill>
                            <a:srgbClr val="52514E"/>
                          </a:solidFill>
                          <a:latin typeface="Calibri"/>
                        </a:rPr>
                        <a:t>0.03</a:t>
                      </a:r>
                    </a:p>
                  </a:txBody>
                  <a:tcPr marL="31750" marR="31750" marT="12700" marB="12700" anchor="ctr">
                    <a:solidFill>
                      <a:srgbClr val="FCFCFB"/>
                    </a:solidFill>
                  </a:tcPr>
                </a:tc>
                <a:tc>
                  <a:txBody>
                    <a:bodyPr wrap="square"/>
                    <a:lstStyle/>
                    <a:p>
                      <a:pPr algn="r"/>
                      <a:r>
                        <a:rPr sz="780" b="0">
                          <a:solidFill>
                            <a:srgbClr val="52514E"/>
                          </a:solidFill>
                          <a:latin typeface="Calibri"/>
                        </a:rPr>
                        <a:t>27.1%</a:t>
                      </a:r>
                    </a:p>
                  </a:txBody>
                  <a:tcPr marL="31750" marR="31750" marT="12700" marB="12700" anchor="ctr">
                    <a:solidFill>
                      <a:srgbClr val="FCFCFB"/>
                    </a:solidFill>
                  </a:tcPr>
                </a:tc>
                <a:tc>
                  <a:txBody>
                    <a:bodyPr wrap="square"/>
                    <a:lstStyle/>
                    <a:p>
                      <a:pPr algn="l"/>
                      <a:r>
                        <a:rPr sz="780" b="0">
                          <a:solidFill>
                            <a:srgbClr val="898781"/>
                          </a:solidFill>
                          <a:latin typeface="Calibri"/>
                        </a:rPr>
                        <a:t>no</a:t>
                      </a:r>
                    </a:p>
                  </a:txBody>
                  <a:tcPr marL="31750" marR="31750" marT="12700" marB="12700" anchor="ctr">
                    <a:solidFill>
                      <a:srgbClr val="FCFCFB"/>
                    </a:solidFill>
                  </a:tcPr>
                </a:tc>
              </a:tr>
            </a:tbl>
          </a:graphicData>
        </a:graphic>
      </p:graphicFrame>
      <p:sp>
        <p:nvSpPr>
          <p:cNvPr id="22" name="TextBox 21"/>
          <p:cNvSpPr txBox="1"/>
          <p:nvPr/>
        </p:nvSpPr>
        <p:spPr>
          <a:xfrm>
            <a:off x="502920" y="3465576"/>
            <a:ext cx="4943593" cy="264160"/>
          </a:xfrm>
          <a:prstGeom prst="rect">
            <a:avLst/>
          </a:prstGeom>
          <a:noFill/>
        </p:spPr>
        <p:txBody>
          <a:bodyPr wrap="square" lIns="0" rIns="0" tIns="0" bIns="0">
            <a:noAutofit/>
          </a:bodyPr>
          <a:lstStyle/>
          <a:p>
            <a:r>
              <a:rPr sz="800" b="0" i="0">
                <a:solidFill>
                  <a:srgbClr val="52514E"/>
                </a:solidFill>
                <a:latin typeface="Calibri"/>
              </a:rPr>
              <a:t>A language earns the trend extrapolation in HIGH only if its slope is </a:t>
            </a:r>
            <a:r>
              <a:rPr sz="800" b="1" i="0">
                <a:solidFill>
                  <a:srgbClr val="52514E"/>
                </a:solidFill>
                <a:latin typeface="Calibri"/>
              </a:rPr>
              <a:t>positive</a:t>
            </a:r>
            <a:r>
              <a:rPr sz="800" b="0" i="0">
                <a:solidFill>
                  <a:srgbClr val="52514E"/>
                </a:solidFill>
                <a:latin typeface="Calibri"/>
              </a:rPr>
              <a:t>, exceeds 3% of baseline, and fits at R² &gt; 0.4. Only English qualifies.</a:t>
            </a:r>
          </a:p>
        </p:txBody>
      </p:sp>
      <p:sp>
        <p:nvSpPr>
          <p:cNvPr id="23" name="TextBox 22"/>
          <p:cNvSpPr txBox="1"/>
          <p:nvPr/>
        </p:nvSpPr>
        <p:spPr>
          <a:xfrm>
            <a:off x="5665969" y="1920240"/>
            <a:ext cx="2794205" cy="146304"/>
          </a:xfrm>
          <a:prstGeom prst="rect">
            <a:avLst/>
          </a:prstGeom>
          <a:noFill/>
        </p:spPr>
        <p:txBody>
          <a:bodyPr wrap="square" lIns="0" rIns="0" tIns="0" bIns="0">
            <a:noAutofit/>
          </a:bodyPr>
          <a:lstStyle/>
          <a:p>
            <a:r>
              <a:rPr sz="819" b="1" spc="60">
                <a:solidFill>
                  <a:srgbClr val="898781"/>
                </a:solidFill>
                <a:latin typeface="Calibri"/>
              </a:rPr>
              <a:t>CONFIDENCE BAND — JULY</a:t>
            </a:r>
          </a:p>
        </p:txBody>
      </p:sp>
      <p:graphicFrame>
        <p:nvGraphicFramePr>
          <p:cNvPr id="24" name="Table 23"/>
          <p:cNvGraphicFramePr>
            <a:graphicFrameLocks noGrp="1"/>
          </p:cNvGraphicFramePr>
          <p:nvPr/>
        </p:nvGraphicFramePr>
        <p:xfrm>
          <a:off x="5665969" y="2157984"/>
          <a:ext cx="2794205" cy="1386023"/>
        </p:xfrm>
        <a:graphic>
          <a:graphicData uri="http://schemas.openxmlformats.org/drawingml/2006/table">
            <a:tbl>
              <a:tblPr firstRow="0" bandRow="0">
                <a:tableStyleId>{5C22544A-7EE6-4342-B048-85BDC9FD1C3A}</a:tableStyleId>
              </a:tblPr>
              <a:tblGrid>
                <a:gridCol w="598758"/>
                <a:gridCol w="598758"/>
                <a:gridCol w="848240"/>
                <a:gridCol w="748449"/>
              </a:tblGrid>
              <a:tr h="169164">
                <a:tc>
                  <a:txBody>
                    <a:bodyPr wrap="square"/>
                    <a:lstStyle/>
                    <a:p>
                      <a:pPr algn="l"/>
                      <a:r>
                        <a:rPr sz="680" b="1">
                          <a:solidFill>
                            <a:srgbClr val="898781"/>
                          </a:solidFill>
                          <a:latin typeface="Calibri"/>
                        </a:rPr>
                        <a:t>PCTILE</a:t>
                      </a:r>
                    </a:p>
                  </a:txBody>
                  <a:tcPr marL="31750" marR="31750" marT="12700" marB="12700" anchor="b">
                    <a:solidFill>
                      <a:srgbClr val="FCFCFB"/>
                    </a:solidFill>
                  </a:tcPr>
                </a:tc>
                <a:tc>
                  <a:txBody>
                    <a:bodyPr wrap="square"/>
                    <a:lstStyle/>
                    <a:p>
                      <a:pPr algn="r"/>
                      <a:r>
                        <a:rPr sz="680" b="1">
                          <a:solidFill>
                            <a:srgbClr val="898781"/>
                          </a:solidFill>
                          <a:latin typeface="Calibri"/>
                        </a:rPr>
                        <a:t>MULT</a:t>
                      </a:r>
                    </a:p>
                  </a:txBody>
                  <a:tcPr marL="31750" marR="31750" marT="12700" marB="12700" anchor="b">
                    <a:solidFill>
                      <a:srgbClr val="FCFCFB"/>
                    </a:solidFill>
                  </a:tcPr>
                </a:tc>
                <a:tc>
                  <a:txBody>
                    <a:bodyPr wrap="square"/>
                    <a:lstStyle/>
                    <a:p>
                      <a:pPr algn="r"/>
                      <a:r>
                        <a:rPr sz="680" b="1">
                          <a:solidFill>
                            <a:srgbClr val="898781"/>
                          </a:solidFill>
                          <a:latin typeface="Calibri"/>
                        </a:rPr>
                        <a:t>CONTACTS</a:t>
                      </a:r>
                    </a:p>
                  </a:txBody>
                  <a:tcPr marL="31750" marR="31750" marT="12700" marB="12700" anchor="b">
                    <a:solidFill>
                      <a:srgbClr val="FCFCFB"/>
                    </a:solidFill>
                  </a:tcPr>
                </a:tc>
                <a:tc>
                  <a:txBody>
                    <a:bodyPr wrap="square"/>
                    <a:lstStyle/>
                    <a:p>
                      <a:pPr algn="r"/>
                      <a:r>
                        <a:rPr sz="680" b="1">
                          <a:solidFill>
                            <a:srgbClr val="898781"/>
                          </a:solidFill>
                          <a:latin typeface="Calibri"/>
                        </a:rPr>
                        <a:t>PAID FTE</a:t>
                      </a:r>
                    </a:p>
                  </a:txBody>
                  <a:tcPr marL="31750" marR="31750" marT="12700" marB="12700" anchor="b">
                    <a:solidFill>
                      <a:srgbClr val="FCFCFB"/>
                    </a:solidFill>
                  </a:tcPr>
                </a:tc>
              </a:tr>
              <a:tr h="173837">
                <a:tc>
                  <a:txBody>
                    <a:bodyPr wrap="square"/>
                    <a:lstStyle/>
                    <a:p>
                      <a:pPr algn="l"/>
                      <a:r>
                        <a:rPr sz="760" b="0">
                          <a:solidFill>
                            <a:srgbClr val="52514E"/>
                          </a:solidFill>
                          <a:latin typeface="Calibri"/>
                        </a:rPr>
                        <a:t>P5</a:t>
                      </a:r>
                    </a:p>
                  </a:txBody>
                  <a:tcPr marL="31750" marR="31750" marT="12700" marB="12700" anchor="ctr">
                    <a:solidFill>
                      <a:srgbClr val="FCFCFB"/>
                    </a:solidFill>
                  </a:tcPr>
                </a:tc>
                <a:tc>
                  <a:txBody>
                    <a:bodyPr wrap="square"/>
                    <a:lstStyle/>
                    <a:p>
                      <a:pPr algn="r"/>
                      <a:r>
                        <a:rPr sz="760" b="0">
                          <a:solidFill>
                            <a:srgbClr val="52514E"/>
                          </a:solidFill>
                          <a:latin typeface="Calibri"/>
                        </a:rPr>
                        <a:t>0.797</a:t>
                      </a:r>
                    </a:p>
                  </a:txBody>
                  <a:tcPr marL="31750" marR="31750" marT="12700" marB="12700" anchor="ctr">
                    <a:solidFill>
                      <a:srgbClr val="FCFCFB"/>
                    </a:solidFill>
                  </a:tcPr>
                </a:tc>
                <a:tc>
                  <a:txBody>
                    <a:bodyPr wrap="square"/>
                    <a:lstStyle/>
                    <a:p>
                      <a:pPr algn="r"/>
                      <a:r>
                        <a:rPr sz="760" b="0">
                          <a:solidFill>
                            <a:srgbClr val="52514E"/>
                          </a:solidFill>
                          <a:latin typeface="Calibri"/>
                        </a:rPr>
                        <a:t>234,264</a:t>
                      </a:r>
                    </a:p>
                  </a:txBody>
                  <a:tcPr marL="31750" marR="31750" marT="12700" marB="12700" anchor="ctr">
                    <a:solidFill>
                      <a:srgbClr val="FCFCFB"/>
                    </a:solidFill>
                  </a:tcPr>
                </a:tc>
                <a:tc>
                  <a:txBody>
                    <a:bodyPr wrap="square"/>
                    <a:lstStyle/>
                    <a:p>
                      <a:pPr algn="r"/>
                      <a:r>
                        <a:rPr sz="760" b="0">
                          <a:solidFill>
                            <a:srgbClr val="52514E"/>
                          </a:solidFill>
                          <a:latin typeface="Calibri"/>
                        </a:rPr>
                        <a:t>405</a:t>
                      </a:r>
                    </a:p>
                  </a:txBody>
                  <a:tcPr marL="31750" marR="31750" marT="12700" marB="12700" anchor="ctr">
                    <a:solidFill>
                      <a:srgbClr val="FCFCFB"/>
                    </a:solidFill>
                  </a:tcPr>
                </a:tc>
              </a:tr>
              <a:tr h="173837">
                <a:tc>
                  <a:txBody>
                    <a:bodyPr wrap="square"/>
                    <a:lstStyle/>
                    <a:p>
                      <a:pPr algn="l"/>
                      <a:r>
                        <a:rPr sz="760" b="0">
                          <a:solidFill>
                            <a:srgbClr val="52514E"/>
                          </a:solidFill>
                          <a:latin typeface="Calibri"/>
                        </a:rPr>
                        <a:t>P10</a:t>
                      </a:r>
                    </a:p>
                  </a:txBody>
                  <a:tcPr marL="31750" marR="31750" marT="12700" marB="12700" anchor="ctr">
                    <a:solidFill>
                      <a:srgbClr val="FCFCFB"/>
                    </a:solidFill>
                  </a:tcPr>
                </a:tc>
                <a:tc>
                  <a:txBody>
                    <a:bodyPr wrap="square"/>
                    <a:lstStyle/>
                    <a:p>
                      <a:pPr algn="r"/>
                      <a:r>
                        <a:rPr sz="760" b="0">
                          <a:solidFill>
                            <a:srgbClr val="52514E"/>
                          </a:solidFill>
                          <a:latin typeface="Calibri"/>
                        </a:rPr>
                        <a:t>0.838</a:t>
                      </a:r>
                    </a:p>
                  </a:txBody>
                  <a:tcPr marL="31750" marR="31750" marT="12700" marB="12700" anchor="ctr">
                    <a:solidFill>
                      <a:srgbClr val="FCFCFB"/>
                    </a:solidFill>
                  </a:tcPr>
                </a:tc>
                <a:tc>
                  <a:txBody>
                    <a:bodyPr wrap="square"/>
                    <a:lstStyle/>
                    <a:p>
                      <a:pPr algn="r"/>
                      <a:r>
                        <a:rPr sz="760" b="0">
                          <a:solidFill>
                            <a:srgbClr val="52514E"/>
                          </a:solidFill>
                          <a:latin typeface="Calibri"/>
                        </a:rPr>
                        <a:t>246,292</a:t>
                      </a:r>
                    </a:p>
                  </a:txBody>
                  <a:tcPr marL="31750" marR="31750" marT="12700" marB="12700" anchor="ctr">
                    <a:solidFill>
                      <a:srgbClr val="FCFCFB"/>
                    </a:solidFill>
                  </a:tcPr>
                </a:tc>
                <a:tc>
                  <a:txBody>
                    <a:bodyPr wrap="square"/>
                    <a:lstStyle/>
                    <a:p>
                      <a:pPr algn="r"/>
                      <a:r>
                        <a:rPr sz="760" b="0">
                          <a:solidFill>
                            <a:srgbClr val="52514E"/>
                          </a:solidFill>
                          <a:latin typeface="Calibri"/>
                        </a:rPr>
                        <a:t>425</a:t>
                      </a:r>
                    </a:p>
                  </a:txBody>
                  <a:tcPr marL="31750" marR="31750" marT="12700" marB="12700" anchor="ctr">
                    <a:solidFill>
                      <a:srgbClr val="FCFCFB"/>
                    </a:solidFill>
                  </a:tcPr>
                </a:tc>
              </a:tr>
              <a:tr h="173837">
                <a:tc>
                  <a:txBody>
                    <a:bodyPr wrap="square"/>
                    <a:lstStyle/>
                    <a:p>
                      <a:pPr algn="l"/>
                      <a:r>
                        <a:rPr sz="760" b="0">
                          <a:solidFill>
                            <a:srgbClr val="52514E"/>
                          </a:solidFill>
                          <a:latin typeface="Calibri"/>
                        </a:rPr>
                        <a:t>P25</a:t>
                      </a:r>
                    </a:p>
                  </a:txBody>
                  <a:tcPr marL="31750" marR="31750" marT="12700" marB="12700" anchor="ctr">
                    <a:solidFill>
                      <a:srgbClr val="FCFCFB"/>
                    </a:solidFill>
                  </a:tcPr>
                </a:tc>
                <a:tc>
                  <a:txBody>
                    <a:bodyPr wrap="square"/>
                    <a:lstStyle/>
                    <a:p>
                      <a:pPr algn="r"/>
                      <a:r>
                        <a:rPr sz="760" b="0">
                          <a:solidFill>
                            <a:srgbClr val="52514E"/>
                          </a:solidFill>
                          <a:latin typeface="Calibri"/>
                        </a:rPr>
                        <a:t>0.911</a:t>
                      </a:r>
                    </a:p>
                  </a:txBody>
                  <a:tcPr marL="31750" marR="31750" marT="12700" marB="12700" anchor="ctr">
                    <a:solidFill>
                      <a:srgbClr val="FCFCFB"/>
                    </a:solidFill>
                  </a:tcPr>
                </a:tc>
                <a:tc>
                  <a:txBody>
                    <a:bodyPr wrap="square"/>
                    <a:lstStyle/>
                    <a:p>
                      <a:pPr algn="r"/>
                      <a:r>
                        <a:rPr sz="760" b="0">
                          <a:solidFill>
                            <a:srgbClr val="52514E"/>
                          </a:solidFill>
                          <a:latin typeface="Calibri"/>
                        </a:rPr>
                        <a:t>267,784</a:t>
                      </a:r>
                    </a:p>
                  </a:txBody>
                  <a:tcPr marL="31750" marR="31750" marT="12700" marB="12700" anchor="ctr">
                    <a:solidFill>
                      <a:srgbClr val="FCFCFB"/>
                    </a:solidFill>
                  </a:tcPr>
                </a:tc>
                <a:tc>
                  <a:txBody>
                    <a:bodyPr wrap="square"/>
                    <a:lstStyle/>
                    <a:p>
                      <a:pPr algn="r"/>
                      <a:r>
                        <a:rPr sz="760" b="0">
                          <a:solidFill>
                            <a:srgbClr val="52514E"/>
                          </a:solidFill>
                          <a:latin typeface="Calibri"/>
                        </a:rPr>
                        <a:t>463</a:t>
                      </a:r>
                    </a:p>
                  </a:txBody>
                  <a:tcPr marL="31750" marR="31750" marT="12700" marB="12700" anchor="ctr">
                    <a:solidFill>
                      <a:srgbClr val="FCFCFB"/>
                    </a:solidFill>
                  </a:tcPr>
                </a:tc>
              </a:tr>
              <a:tr h="173837">
                <a:tc>
                  <a:txBody>
                    <a:bodyPr wrap="square"/>
                    <a:lstStyle/>
                    <a:p>
                      <a:pPr algn="l"/>
                      <a:r>
                        <a:rPr sz="760" b="0">
                          <a:solidFill>
                            <a:srgbClr val="52514E"/>
                          </a:solidFill>
                          <a:latin typeface="Calibri"/>
                        </a:rPr>
                        <a:t>P50</a:t>
                      </a:r>
                    </a:p>
                  </a:txBody>
                  <a:tcPr marL="31750" marR="31750" marT="12700" marB="12700" anchor="ctr">
                    <a:solidFill>
                      <a:srgbClr val="FCFCFB"/>
                    </a:solidFill>
                  </a:tcPr>
                </a:tc>
                <a:tc>
                  <a:txBody>
                    <a:bodyPr wrap="square"/>
                    <a:lstStyle/>
                    <a:p>
                      <a:pPr algn="r"/>
                      <a:r>
                        <a:rPr sz="760" b="0">
                          <a:solidFill>
                            <a:srgbClr val="52514E"/>
                          </a:solidFill>
                          <a:latin typeface="Calibri"/>
                        </a:rPr>
                        <a:t>1.000</a:t>
                      </a:r>
                    </a:p>
                  </a:txBody>
                  <a:tcPr marL="31750" marR="31750" marT="12700" marB="12700" anchor="ctr">
                    <a:solidFill>
                      <a:srgbClr val="FCFCFB"/>
                    </a:solidFill>
                  </a:tcPr>
                </a:tc>
                <a:tc>
                  <a:txBody>
                    <a:bodyPr wrap="square"/>
                    <a:lstStyle/>
                    <a:p>
                      <a:pPr algn="r"/>
                      <a:r>
                        <a:rPr sz="760" b="0">
                          <a:solidFill>
                            <a:srgbClr val="52514E"/>
                          </a:solidFill>
                          <a:latin typeface="Calibri"/>
                        </a:rPr>
                        <a:t>293,869</a:t>
                      </a:r>
                    </a:p>
                  </a:txBody>
                  <a:tcPr marL="31750" marR="31750" marT="12700" marB="12700" anchor="ctr">
                    <a:solidFill>
                      <a:srgbClr val="FCFCFB"/>
                    </a:solidFill>
                  </a:tcPr>
                </a:tc>
                <a:tc>
                  <a:txBody>
                    <a:bodyPr wrap="square"/>
                    <a:lstStyle/>
                    <a:p>
                      <a:pPr algn="r"/>
                      <a:r>
                        <a:rPr sz="760" b="1">
                          <a:solidFill>
                            <a:srgbClr val="52514E"/>
                          </a:solidFill>
                          <a:latin typeface="Calibri"/>
                        </a:rPr>
                        <a:t>508</a:t>
                      </a:r>
                    </a:p>
                  </a:txBody>
                  <a:tcPr marL="31750" marR="31750" marT="12700" marB="12700" anchor="ctr">
                    <a:solidFill>
                      <a:srgbClr val="FCFCFB"/>
                    </a:solidFill>
                  </a:tcPr>
                </a:tc>
              </a:tr>
              <a:tr h="173837">
                <a:tc>
                  <a:txBody>
                    <a:bodyPr wrap="square"/>
                    <a:lstStyle/>
                    <a:p>
                      <a:pPr algn="l"/>
                      <a:r>
                        <a:rPr sz="760" b="0">
                          <a:solidFill>
                            <a:srgbClr val="52514E"/>
                          </a:solidFill>
                          <a:latin typeface="Calibri"/>
                        </a:rPr>
                        <a:t>P75</a:t>
                      </a:r>
                    </a:p>
                  </a:txBody>
                  <a:tcPr marL="31750" marR="31750" marT="12700" marB="12700" anchor="ctr">
                    <a:solidFill>
                      <a:srgbClr val="FCFCFB"/>
                    </a:solidFill>
                  </a:tcPr>
                </a:tc>
                <a:tc>
                  <a:txBody>
                    <a:bodyPr wrap="square"/>
                    <a:lstStyle/>
                    <a:p>
                      <a:pPr algn="r"/>
                      <a:r>
                        <a:rPr sz="760" b="0">
                          <a:solidFill>
                            <a:srgbClr val="52514E"/>
                          </a:solidFill>
                          <a:latin typeface="Calibri"/>
                        </a:rPr>
                        <a:t>1.097</a:t>
                      </a:r>
                    </a:p>
                  </a:txBody>
                  <a:tcPr marL="31750" marR="31750" marT="12700" marB="12700" anchor="ctr">
                    <a:solidFill>
                      <a:srgbClr val="FCFCFB"/>
                    </a:solidFill>
                  </a:tcPr>
                </a:tc>
                <a:tc>
                  <a:txBody>
                    <a:bodyPr wrap="square"/>
                    <a:lstStyle/>
                    <a:p>
                      <a:pPr algn="r"/>
                      <a:r>
                        <a:rPr sz="760" b="0">
                          <a:solidFill>
                            <a:srgbClr val="52514E"/>
                          </a:solidFill>
                          <a:latin typeface="Calibri"/>
                        </a:rPr>
                        <a:t>322,496</a:t>
                      </a:r>
                    </a:p>
                  </a:txBody>
                  <a:tcPr marL="31750" marR="31750" marT="12700" marB="12700" anchor="ctr">
                    <a:solidFill>
                      <a:srgbClr val="FCFCFB"/>
                    </a:solidFill>
                  </a:tcPr>
                </a:tc>
                <a:tc>
                  <a:txBody>
                    <a:bodyPr wrap="square"/>
                    <a:lstStyle/>
                    <a:p>
                      <a:pPr algn="r"/>
                      <a:r>
                        <a:rPr sz="760" b="0">
                          <a:solidFill>
                            <a:srgbClr val="52514E"/>
                          </a:solidFill>
                          <a:latin typeface="Calibri"/>
                        </a:rPr>
                        <a:t>557</a:t>
                      </a:r>
                    </a:p>
                  </a:txBody>
                  <a:tcPr marL="31750" marR="31750" marT="12700" marB="12700" anchor="ctr">
                    <a:solidFill>
                      <a:srgbClr val="FCFCFB"/>
                    </a:solidFill>
                  </a:tcPr>
                </a:tc>
              </a:tr>
              <a:tr h="173837">
                <a:tc>
                  <a:txBody>
                    <a:bodyPr wrap="square"/>
                    <a:lstStyle/>
                    <a:p>
                      <a:pPr algn="l"/>
                      <a:r>
                        <a:rPr sz="760" b="0">
                          <a:solidFill>
                            <a:srgbClr val="52514E"/>
                          </a:solidFill>
                          <a:latin typeface="Calibri"/>
                        </a:rPr>
                        <a:t>P90</a:t>
                      </a:r>
                    </a:p>
                  </a:txBody>
                  <a:tcPr marL="31750" marR="31750" marT="12700" marB="12700" anchor="ctr">
                    <a:solidFill>
                      <a:srgbClr val="FCFCFB"/>
                    </a:solidFill>
                  </a:tcPr>
                </a:tc>
                <a:tc>
                  <a:txBody>
                    <a:bodyPr wrap="square"/>
                    <a:lstStyle/>
                    <a:p>
                      <a:pPr algn="r"/>
                      <a:r>
                        <a:rPr sz="760" b="0">
                          <a:solidFill>
                            <a:srgbClr val="52514E"/>
                          </a:solidFill>
                          <a:latin typeface="Calibri"/>
                        </a:rPr>
                        <a:t>1.193</a:t>
                      </a:r>
                    </a:p>
                  </a:txBody>
                  <a:tcPr marL="31750" marR="31750" marT="12700" marB="12700" anchor="ctr">
                    <a:solidFill>
                      <a:srgbClr val="FCFCFB"/>
                    </a:solidFill>
                  </a:tcPr>
                </a:tc>
                <a:tc>
                  <a:txBody>
                    <a:bodyPr wrap="square"/>
                    <a:lstStyle/>
                    <a:p>
                      <a:pPr algn="r"/>
                      <a:r>
                        <a:rPr sz="760" b="0">
                          <a:solidFill>
                            <a:srgbClr val="52514E"/>
                          </a:solidFill>
                          <a:latin typeface="Calibri"/>
                        </a:rPr>
                        <a:t>350,638</a:t>
                      </a:r>
                    </a:p>
                  </a:txBody>
                  <a:tcPr marL="31750" marR="31750" marT="12700" marB="12700" anchor="ctr">
                    <a:solidFill>
                      <a:srgbClr val="FCFCFB"/>
                    </a:solidFill>
                  </a:tcPr>
                </a:tc>
                <a:tc>
                  <a:txBody>
                    <a:bodyPr wrap="square"/>
                    <a:lstStyle/>
                    <a:p>
                      <a:pPr algn="r"/>
                      <a:r>
                        <a:rPr sz="760" b="0">
                          <a:solidFill>
                            <a:srgbClr val="52514E"/>
                          </a:solidFill>
                          <a:latin typeface="Calibri"/>
                        </a:rPr>
                        <a:t>606</a:t>
                      </a:r>
                    </a:p>
                  </a:txBody>
                  <a:tcPr marL="31750" marR="31750" marT="12700" marB="12700" anchor="ctr">
                    <a:solidFill>
                      <a:srgbClr val="FCFCFB"/>
                    </a:solidFill>
                  </a:tcPr>
                </a:tc>
              </a:tr>
              <a:tr h="173837">
                <a:tc>
                  <a:txBody>
                    <a:bodyPr wrap="square"/>
                    <a:lstStyle/>
                    <a:p>
                      <a:pPr algn="l"/>
                      <a:r>
                        <a:rPr sz="760" b="0">
                          <a:solidFill>
                            <a:srgbClr val="52514E"/>
                          </a:solidFill>
                          <a:latin typeface="Calibri"/>
                        </a:rPr>
                        <a:t>P95</a:t>
                      </a:r>
                    </a:p>
                  </a:txBody>
                  <a:tcPr marL="31750" marR="31750" marT="12700" marB="12700" anchor="ctr">
                    <a:solidFill>
                      <a:srgbClr val="FCFCFB"/>
                    </a:solidFill>
                  </a:tcPr>
                </a:tc>
                <a:tc>
                  <a:txBody>
                    <a:bodyPr wrap="square"/>
                    <a:lstStyle/>
                    <a:p>
                      <a:pPr algn="r"/>
                      <a:r>
                        <a:rPr sz="760" b="0">
                          <a:solidFill>
                            <a:srgbClr val="52514E"/>
                          </a:solidFill>
                          <a:latin typeface="Calibri"/>
                        </a:rPr>
                        <a:t>1.254</a:t>
                      </a:r>
                    </a:p>
                  </a:txBody>
                  <a:tcPr marL="31750" marR="31750" marT="12700" marB="12700" anchor="ctr">
                    <a:solidFill>
                      <a:srgbClr val="FCFCFB"/>
                    </a:solidFill>
                  </a:tcPr>
                </a:tc>
                <a:tc>
                  <a:txBody>
                    <a:bodyPr wrap="square"/>
                    <a:lstStyle/>
                    <a:p>
                      <a:pPr algn="r"/>
                      <a:r>
                        <a:rPr sz="760" b="0">
                          <a:solidFill>
                            <a:srgbClr val="52514E"/>
                          </a:solidFill>
                          <a:latin typeface="Calibri"/>
                        </a:rPr>
                        <a:t>368,641</a:t>
                      </a:r>
                    </a:p>
                  </a:txBody>
                  <a:tcPr marL="31750" marR="31750" marT="12700" marB="12700" anchor="ctr">
                    <a:solidFill>
                      <a:srgbClr val="FCFCFB"/>
                    </a:solidFill>
                  </a:tcPr>
                </a:tc>
                <a:tc>
                  <a:txBody>
                    <a:bodyPr wrap="square"/>
                    <a:lstStyle/>
                    <a:p>
                      <a:pPr algn="r"/>
                      <a:r>
                        <a:rPr sz="760" b="0">
                          <a:solidFill>
                            <a:srgbClr val="52514E"/>
                          </a:solidFill>
                          <a:latin typeface="Calibri"/>
                        </a:rPr>
                        <a:t>637</a:t>
                      </a:r>
                    </a:p>
                  </a:txBody>
                  <a:tcPr marL="31750" marR="31750" marT="12700" marB="12700" anchor="ctr">
                    <a:solidFill>
                      <a:srgbClr val="FCFCFB"/>
                    </a:solidFill>
                  </a:tcPr>
                </a:tc>
              </a:tr>
            </a:tbl>
          </a:graphicData>
        </a:graphic>
      </p:graphicFrame>
      <p:sp>
        <p:nvSpPr>
          <p:cNvPr id="25" name="TextBox 24"/>
          <p:cNvSpPr txBox="1"/>
          <p:nvPr/>
        </p:nvSpPr>
        <p:spPr>
          <a:xfrm>
            <a:off x="5665969" y="3635451"/>
            <a:ext cx="2794205" cy="224536"/>
          </a:xfrm>
          <a:prstGeom prst="rect">
            <a:avLst/>
          </a:prstGeom>
          <a:noFill/>
        </p:spPr>
        <p:txBody>
          <a:bodyPr wrap="square" lIns="0" rIns="0" tIns="0" bIns="0">
            <a:noAutofit/>
          </a:bodyPr>
          <a:lstStyle/>
          <a:p>
            <a:r>
              <a:rPr sz="680" b="0" i="0">
                <a:solidFill>
                  <a:srgbClr val="898781"/>
                </a:solidFill>
                <a:latin typeface="Calibri"/>
              </a:rPr>
              <a:t>Log-normal around the BASE median, σ = 13.8% from month-over-month log returns with the March break excluded.</a:t>
            </a:r>
          </a:p>
        </p:txBody>
      </p:sp>
      <p:sp>
        <p:nvSpPr>
          <p:cNvPr id="26" name="TextBox 25"/>
          <p:cNvSpPr txBox="1"/>
          <p:nvPr/>
        </p:nvSpPr>
        <p:spPr>
          <a:xfrm>
            <a:off x="8679631" y="1920240"/>
            <a:ext cx="3009144" cy="146304"/>
          </a:xfrm>
          <a:prstGeom prst="rect">
            <a:avLst/>
          </a:prstGeom>
          <a:noFill/>
        </p:spPr>
        <p:txBody>
          <a:bodyPr wrap="square" lIns="0" rIns="0" tIns="0" bIns="0">
            <a:noAutofit/>
          </a:bodyPr>
          <a:lstStyle/>
          <a:p>
            <a:r>
              <a:rPr sz="819" b="1" spc="60">
                <a:solidFill>
                  <a:srgbClr val="898781"/>
                </a:solidFill>
                <a:latin typeface="Calibri"/>
              </a:rPr>
              <a:t>MONTHLY RE-FORECAST TRIGGER</a:t>
            </a:r>
          </a:p>
        </p:txBody>
      </p:sp>
      <p:graphicFrame>
        <p:nvGraphicFramePr>
          <p:cNvPr id="27" name="Table 26"/>
          <p:cNvGraphicFramePr>
            <a:graphicFrameLocks noGrp="1"/>
          </p:cNvGraphicFramePr>
          <p:nvPr/>
        </p:nvGraphicFramePr>
        <p:xfrm>
          <a:off x="8679631" y="2157984"/>
          <a:ext cx="3009144" cy="1097280"/>
        </p:xfrm>
        <a:graphic>
          <a:graphicData uri="http://schemas.openxmlformats.org/drawingml/2006/table">
            <a:tbl>
              <a:tblPr firstRow="0" bandRow="0">
                <a:tableStyleId>{5C22544A-7EE6-4342-B048-85BDC9FD1C3A}</a:tableStyleId>
              </a:tblPr>
              <a:tblGrid>
                <a:gridCol w="838613"/>
                <a:gridCol w="838613"/>
                <a:gridCol w="1331918"/>
              </a:tblGrid>
              <a:tr h="219456">
                <a:tc>
                  <a:txBody>
                    <a:bodyPr wrap="square"/>
                    <a:lstStyle/>
                    <a:p>
                      <a:pPr algn="l"/>
                      <a:r>
                        <a:rPr sz="680" b="1">
                          <a:solidFill>
                            <a:srgbClr val="898781"/>
                          </a:solidFill>
                          <a:latin typeface="Calibri"/>
                        </a:rPr>
                        <a:t>SIGNAL</a:t>
                      </a:r>
                    </a:p>
                  </a:txBody>
                  <a:tcPr marL="31750" marR="31750" marT="12700" marB="12700" anchor="b">
                    <a:solidFill>
                      <a:srgbClr val="FCFCFB"/>
                    </a:solidFill>
                  </a:tcPr>
                </a:tc>
                <a:tc>
                  <a:txBody>
                    <a:bodyPr wrap="square"/>
                    <a:lstStyle/>
                    <a:p>
                      <a:pPr algn="l"/>
                      <a:r>
                        <a:rPr sz="680" b="1">
                          <a:solidFill>
                            <a:srgbClr val="898781"/>
                          </a:solidFill>
                          <a:latin typeface="Calibri"/>
                        </a:rPr>
                        <a:t>THRESHOLD</a:t>
                      </a:r>
                    </a:p>
                  </a:txBody>
                  <a:tcPr marL="31750" marR="31750" marT="12700" marB="12700" anchor="b">
                    <a:solidFill>
                      <a:srgbClr val="FCFCFB"/>
                    </a:solidFill>
                  </a:tcPr>
                </a:tc>
                <a:tc>
                  <a:txBody>
                    <a:bodyPr wrap="square"/>
                    <a:lstStyle/>
                    <a:p>
                      <a:pPr algn="l"/>
                      <a:r>
                        <a:rPr sz="680" b="1">
                          <a:solidFill>
                            <a:srgbClr val="898781"/>
                          </a:solidFill>
                          <a:latin typeface="Calibri"/>
                        </a:rPr>
                        <a:t>ACTION</a:t>
                      </a:r>
                    </a:p>
                  </a:txBody>
                  <a:tcPr marL="31750" marR="31750" marT="12700" marB="12700" anchor="b">
                    <a:solidFill>
                      <a:srgbClr val="FCFCFB"/>
                    </a:solidFill>
                  </a:tcPr>
                </a:tc>
              </a:tr>
              <a:tr h="219456">
                <a:tc>
                  <a:txBody>
                    <a:bodyPr wrap="square"/>
                    <a:lstStyle/>
                    <a:p>
                      <a:pPr algn="l"/>
                      <a:r>
                        <a:rPr sz="760" b="0">
                          <a:solidFill>
                            <a:srgbClr val="52514E"/>
                          </a:solidFill>
                          <a:latin typeface="Calibri"/>
                        </a:rPr>
                        <a:t>EN vs BASE</a:t>
                      </a:r>
                    </a:p>
                  </a:txBody>
                  <a:tcPr marL="31750" marR="31750" marT="12700" marB="12700" anchor="ctr">
                    <a:solidFill>
                      <a:srgbClr val="FCFCFB"/>
                    </a:solidFill>
                  </a:tcPr>
                </a:tc>
                <a:tc>
                  <a:txBody>
                    <a:bodyPr wrap="square"/>
                    <a:lstStyle/>
                    <a:p>
                      <a:pPr algn="l"/>
                      <a:r>
                        <a:rPr sz="760" b="0">
                          <a:solidFill>
                            <a:srgbClr val="898781"/>
                          </a:solidFill>
                          <a:latin typeface="Calibri"/>
                        </a:rPr>
                        <a:t>&gt; +8%, 2wk</a:t>
                      </a:r>
                    </a:p>
                  </a:txBody>
                  <a:tcPr marL="31750" marR="31750" marT="12700" marB="12700" anchor="ctr">
                    <a:solidFill>
                      <a:srgbClr val="FCFCFB"/>
                    </a:solidFill>
                  </a:tcPr>
                </a:tc>
                <a:tc>
                  <a:txBody>
                    <a:bodyPr wrap="square"/>
                    <a:lstStyle/>
                    <a:p>
                      <a:pPr algn="l"/>
                      <a:r>
                        <a:rPr sz="760" b="0">
                          <a:solidFill>
                            <a:srgbClr val="52514E"/>
                          </a:solidFill>
                          <a:latin typeface="Calibri"/>
                        </a:rPr>
                        <a:t>Switch to HIGH</a:t>
                      </a:r>
                    </a:p>
                  </a:txBody>
                  <a:tcPr marL="31750" marR="31750" marT="12700" marB="12700" anchor="ctr">
                    <a:solidFill>
                      <a:srgbClr val="FCFCFB"/>
                    </a:solidFill>
                  </a:tcPr>
                </a:tc>
              </a:tr>
              <a:tr h="219456">
                <a:tc>
                  <a:txBody>
                    <a:bodyPr wrap="square"/>
                    <a:lstStyle/>
                    <a:p>
                      <a:pPr algn="l"/>
                      <a:r>
                        <a:rPr sz="760" b="0">
                          <a:solidFill>
                            <a:srgbClr val="52514E"/>
                          </a:solidFill>
                          <a:latin typeface="Calibri"/>
                        </a:rPr>
                        <a:t>EN vs BASE</a:t>
                      </a:r>
                    </a:p>
                  </a:txBody>
                  <a:tcPr marL="31750" marR="31750" marT="12700" marB="12700" anchor="ctr">
                    <a:solidFill>
                      <a:srgbClr val="FCFCFB"/>
                    </a:solidFill>
                  </a:tcPr>
                </a:tc>
                <a:tc>
                  <a:txBody>
                    <a:bodyPr wrap="square"/>
                    <a:lstStyle/>
                    <a:p>
                      <a:pPr algn="l"/>
                      <a:r>
                        <a:rPr sz="760" b="0">
                          <a:solidFill>
                            <a:srgbClr val="898781"/>
                          </a:solidFill>
                          <a:latin typeface="Calibri"/>
                        </a:rPr>
                        <a:t>&lt; −8%, 2wk</a:t>
                      </a:r>
                    </a:p>
                  </a:txBody>
                  <a:tcPr marL="31750" marR="31750" marT="12700" marB="12700" anchor="ctr">
                    <a:solidFill>
                      <a:srgbClr val="FCFCFB"/>
                    </a:solidFill>
                  </a:tcPr>
                </a:tc>
                <a:tc>
                  <a:txBody>
                    <a:bodyPr wrap="square"/>
                    <a:lstStyle/>
                    <a:p>
                      <a:pPr algn="l"/>
                      <a:r>
                        <a:rPr sz="760" b="0">
                          <a:solidFill>
                            <a:srgbClr val="52514E"/>
                          </a:solidFill>
                          <a:latin typeface="Calibri"/>
                        </a:rPr>
                        <a:t>Switch to LOW</a:t>
                      </a:r>
                    </a:p>
                  </a:txBody>
                  <a:tcPr marL="31750" marR="31750" marT="12700" marB="12700" anchor="ctr">
                    <a:solidFill>
                      <a:srgbClr val="FCFCFB"/>
                    </a:solidFill>
                  </a:tcPr>
                </a:tc>
              </a:tr>
              <a:tr h="219456">
                <a:tc>
                  <a:txBody>
                    <a:bodyPr wrap="square"/>
                    <a:lstStyle/>
                    <a:p>
                      <a:pPr algn="l"/>
                      <a:r>
                        <a:rPr sz="760" b="0">
                          <a:solidFill>
                            <a:srgbClr val="52514E"/>
                          </a:solidFill>
                          <a:latin typeface="Calibri"/>
                        </a:rPr>
                        <a:t>SLA attain.</a:t>
                      </a:r>
                    </a:p>
                  </a:txBody>
                  <a:tcPr marL="31750" marR="31750" marT="12700" marB="12700" anchor="ctr">
                    <a:solidFill>
                      <a:srgbClr val="FCFCFB"/>
                    </a:solidFill>
                  </a:tcPr>
                </a:tc>
                <a:tc>
                  <a:txBody>
                    <a:bodyPr wrap="square"/>
                    <a:lstStyle/>
                    <a:p>
                      <a:pPr algn="l"/>
                      <a:r>
                        <a:rPr sz="760" b="0">
                          <a:solidFill>
                            <a:srgbClr val="898781"/>
                          </a:solidFill>
                          <a:latin typeface="Calibri"/>
                        </a:rPr>
                        <a:t>&lt; 90%, 2wk</a:t>
                      </a:r>
                    </a:p>
                  </a:txBody>
                  <a:tcPr marL="31750" marR="31750" marT="12700" marB="12700" anchor="ctr">
                    <a:solidFill>
                      <a:srgbClr val="FCFCFB"/>
                    </a:solidFill>
                  </a:tcPr>
                </a:tc>
                <a:tc>
                  <a:txBody>
                    <a:bodyPr wrap="square"/>
                    <a:lstStyle/>
                    <a:p>
                      <a:pPr algn="l"/>
                      <a:r>
                        <a:rPr sz="760" b="0">
                          <a:solidFill>
                            <a:srgbClr val="52514E"/>
                          </a:solidFill>
                          <a:latin typeface="Calibri"/>
                        </a:rPr>
                        <a:t>Immediate re-forecast</a:t>
                      </a:r>
                    </a:p>
                  </a:txBody>
                  <a:tcPr marL="31750" marR="31750" marT="12700" marB="12700" anchor="ctr">
                    <a:solidFill>
                      <a:srgbClr val="FCFCFB"/>
                    </a:solidFill>
                  </a:tcPr>
                </a:tc>
              </a:tr>
              <a:tr h="219456">
                <a:tc>
                  <a:txBody>
                    <a:bodyPr wrap="square"/>
                    <a:lstStyle/>
                    <a:p>
                      <a:pPr algn="l"/>
                      <a:r>
                        <a:rPr sz="760" b="0">
                          <a:solidFill>
                            <a:srgbClr val="52514E"/>
                          </a:solidFill>
                          <a:latin typeface="Calibri"/>
                        </a:rPr>
                        <a:t>AHT drift</a:t>
                      </a:r>
                    </a:p>
                  </a:txBody>
                  <a:tcPr marL="31750" marR="31750" marT="12700" marB="12700" anchor="ctr">
                    <a:solidFill>
                      <a:srgbClr val="FCFCFB"/>
                    </a:solidFill>
                  </a:tcPr>
                </a:tc>
                <a:tc>
                  <a:txBody>
                    <a:bodyPr wrap="square"/>
                    <a:lstStyle/>
                    <a:p>
                      <a:pPr algn="l"/>
                      <a:r>
                        <a:rPr sz="760" b="0">
                          <a:solidFill>
                            <a:srgbClr val="898781"/>
                          </a:solidFill>
                          <a:latin typeface="Calibri"/>
                        </a:rPr>
                        <a:t>±5% vs plan</a:t>
                      </a:r>
                    </a:p>
                  </a:txBody>
                  <a:tcPr marL="31750" marR="31750" marT="12700" marB="12700" anchor="ctr">
                    <a:solidFill>
                      <a:srgbClr val="FCFCFB"/>
                    </a:solidFill>
                  </a:tcPr>
                </a:tc>
                <a:tc>
                  <a:txBody>
                    <a:bodyPr wrap="square"/>
                    <a:lstStyle/>
                    <a:p>
                      <a:pPr algn="l"/>
                      <a:r>
                        <a:rPr sz="760" b="0">
                          <a:solidFill>
                            <a:srgbClr val="52514E"/>
                          </a:solidFill>
                          <a:latin typeface="Calibri"/>
                        </a:rPr>
                        <a:t>Re-baseline AHT</a:t>
                      </a:r>
                    </a:p>
                  </a:txBody>
                  <a:tcPr marL="31750" marR="31750" marT="12700" marB="12700" anchor="ctr">
                    <a:solidFill>
                      <a:srgbClr val="FCFCFB"/>
                    </a:solidFill>
                  </a:tcPr>
                </a:tc>
              </a:tr>
            </a:tbl>
          </a:graphicData>
        </a:graphic>
      </p:graphicFrame>
      <p:cxnSp>
        <p:nvCxnSpPr>
          <p:cNvPr id="28" name="Connector 27"/>
          <p:cNvCxnSpPr/>
          <p:nvPr/>
        </p:nvCxnSpPr>
        <p:spPr>
          <a:xfrm>
            <a:off x="8679631" y="3374136"/>
            <a:ext cx="0" cy="449580"/>
          </a:xfrm>
          <a:prstGeom prst="line">
            <a:avLst/>
          </a:prstGeom>
          <a:ln w="28575">
            <a:solidFill>
              <a:srgbClr val="D03B3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8503" y="3401568"/>
            <a:ext cx="2890272" cy="376427"/>
          </a:xfrm>
          <a:prstGeom prst="rect">
            <a:avLst/>
          </a:prstGeom>
          <a:noFill/>
        </p:spPr>
        <p:txBody>
          <a:bodyPr wrap="square" lIns="0" rIns="0" tIns="0" bIns="0">
            <a:noAutofit/>
          </a:bodyPr>
          <a:lstStyle/>
          <a:p>
            <a:r>
              <a:rPr sz="760" b="0" i="0">
                <a:solidFill>
                  <a:srgbClr val="52514E"/>
                </a:solidFill>
                <a:latin typeface="Calibri"/>
              </a:rPr>
              <a:t>The SLA trigger already fired — </a:t>
            </a:r>
            <a:r>
              <a:rPr sz="760" b="1" i="0">
                <a:solidFill>
                  <a:srgbClr val="52514E"/>
                </a:solidFill>
                <a:latin typeface="Calibri"/>
              </a:rPr>
              <a:t>May came in at 90%</a:t>
            </a:r>
            <a:r>
              <a:rPr sz="760" b="0" i="0">
                <a:solidFill>
                  <a:srgbClr val="52514E"/>
                </a:solidFill>
                <a:latin typeface="Calibri"/>
              </a:rPr>
              <a:t>. A model that only produces a number, without the rule for when it’s wrong, is not operational.</a:t>
            </a:r>
          </a:p>
        </p:txBody>
      </p:sp>
      <p:cxnSp>
        <p:nvCxnSpPr>
          <p:cNvPr id="30" name="Connector 29"/>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 all figures reproduced by run_model.py, verified by crosscheck.py (72/72)</a:t>
            </a:r>
          </a:p>
        </p:txBody>
      </p:sp>
      <p:sp>
        <p:nvSpPr>
          <p:cNvPr id="32" name="TextBox 31"/>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A3 /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898781"/>
                </a:solidFill>
                <a:latin typeface="Calibri"/>
              </a:rPr>
              <a:t>Appendix A4</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700" b="1">
                <a:solidFill>
                  <a:srgbClr val="0B0B0B"/>
                </a:solidFill>
                <a:latin typeface="Calibri"/>
              </a:rPr>
              <a:t>Why service level costs 34% — the Erlang mechanics</a:t>
            </a:r>
          </a:p>
        </p:txBody>
      </p:sp>
      <p:cxnSp>
        <p:nvCxnSpPr>
          <p:cNvPr id="4" name="Connector 3"/>
          <p:cNvCxnSpPr/>
          <p:nvPr/>
        </p:nvCxnSpPr>
        <p:spPr>
          <a:xfrm>
            <a:off x="502920" y="82296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960120"/>
            <a:ext cx="3653960" cy="146304"/>
          </a:xfrm>
          <a:prstGeom prst="rect">
            <a:avLst/>
          </a:prstGeom>
          <a:noFill/>
        </p:spPr>
        <p:txBody>
          <a:bodyPr wrap="square" lIns="0" rIns="0" tIns="0" bIns="0">
            <a:noAutofit/>
          </a:bodyPr>
          <a:lstStyle/>
          <a:p>
            <a:r>
              <a:rPr sz="819" b="1" spc="60">
                <a:solidFill>
                  <a:srgbClr val="898781"/>
                </a:solidFill>
                <a:latin typeface="Calibri"/>
              </a:rPr>
              <a:t>THE MISTAKE WORTH UNDERSTANDING</a:t>
            </a:r>
          </a:p>
        </p:txBody>
      </p:sp>
      <p:sp>
        <p:nvSpPr>
          <p:cNvPr id="6" name="TextBox 5"/>
          <p:cNvSpPr txBox="1"/>
          <p:nvPr/>
        </p:nvSpPr>
        <p:spPr>
          <a:xfrm>
            <a:off x="502920" y="1197864"/>
            <a:ext cx="3653960" cy="541528"/>
          </a:xfrm>
          <a:prstGeom prst="rect">
            <a:avLst/>
          </a:prstGeom>
          <a:noFill/>
        </p:spPr>
        <p:txBody>
          <a:bodyPr wrap="square" lIns="0" rIns="0" tIns="0" bIns="0">
            <a:noAutofit/>
          </a:bodyPr>
          <a:lstStyle/>
          <a:p>
            <a:r>
              <a:rPr sz="819" b="0" i="0">
                <a:solidFill>
                  <a:srgbClr val="52514E"/>
                </a:solidFill>
                <a:latin typeface="Calibri"/>
              </a:rPr>
              <a:t>A workload model divides work by time and calls the result headcount. </a:t>
            </a:r>
            <a:r>
              <a:rPr sz="819" b="1" i="0">
                <a:solidFill>
                  <a:srgbClr val="52514E"/>
                </a:solidFill>
                <a:latin typeface="Calibri"/>
              </a:rPr>
              <a:t>No queue with a service-level target can run that way</a:t>
            </a:r>
            <a:r>
              <a:rPr sz="819" b="0" i="0">
                <a:solidFill>
                  <a:srgbClr val="52514E"/>
                </a:solidFill>
                <a:latin typeface="Calibri"/>
              </a:rPr>
              <a:t> — somebody has to be free when the call lands. The idle time is not waste; it is the product.</a:t>
            </a:r>
          </a:p>
        </p:txBody>
      </p:sp>
      <p:graphicFrame>
        <p:nvGraphicFramePr>
          <p:cNvPr id="7" name="Table 6"/>
          <p:cNvGraphicFramePr>
            <a:graphicFrameLocks noGrp="1"/>
          </p:cNvGraphicFramePr>
          <p:nvPr/>
        </p:nvGraphicFramePr>
        <p:xfrm>
          <a:off x="502920" y="1812544"/>
          <a:ext cx="3653960" cy="1762956"/>
        </p:xfrm>
        <a:graphic>
          <a:graphicData uri="http://schemas.openxmlformats.org/drawingml/2006/table">
            <a:tbl>
              <a:tblPr firstRow="0" bandRow="0">
                <a:tableStyleId>{5C22544A-7EE6-4342-B048-85BDC9FD1C3A}</a:tableStyleId>
              </a:tblPr>
              <a:tblGrid>
                <a:gridCol w="2619820"/>
                <a:gridCol w="1034140"/>
              </a:tblGrid>
              <a:tr h="169164">
                <a:tc>
                  <a:txBody>
                    <a:bodyPr wrap="square"/>
                    <a:lstStyle/>
                    <a:p>
                      <a:pPr algn="l"/>
                      <a:r>
                        <a:rPr sz="680" b="1">
                          <a:solidFill>
                            <a:srgbClr val="898781"/>
                          </a:solidFill>
                          <a:latin typeface="Calibri"/>
                        </a:rPr>
                        <a:t>ENGLISH INBOUND, BASE JULY</a:t>
                      </a:r>
                    </a:p>
                  </a:txBody>
                  <a:tcPr marL="31750" marR="31750" marT="12700" marB="12700" anchor="b">
                    <a:solidFill>
                      <a:srgbClr val="FCFCFB"/>
                    </a:solidFill>
                  </a:tcPr>
                </a:tc>
                <a:tc>
                  <a:txBody>
                    <a:bodyPr wrap="square"/>
                    <a:lstStyle/>
                    <a:p>
                      <a:pPr algn="r"/>
                      <a:r>
                        <a:rPr sz="680" b="1">
                          <a:solidFill>
                            <a:srgbClr val="898781"/>
                          </a:solidFill>
                          <a:latin typeface="Calibri"/>
                        </a:rPr>
                        <a:t/>
                      </a:r>
                    </a:p>
                  </a:txBody>
                  <a:tcPr marL="31750" marR="31750" marT="12700" marB="12700" anchor="b">
                    <a:solidFill>
                      <a:srgbClr val="FCFCFB"/>
                    </a:solidFill>
                  </a:tcPr>
                </a:tc>
              </a:tr>
              <a:tr h="177088">
                <a:tc>
                  <a:txBody>
                    <a:bodyPr wrap="square"/>
                    <a:lstStyle/>
                    <a:p>
                      <a:pPr algn="l"/>
                      <a:r>
                        <a:rPr sz="780" b="0">
                          <a:solidFill>
                            <a:srgbClr val="52514E"/>
                          </a:solidFill>
                          <a:latin typeface="Calibri"/>
                        </a:rPr>
                        <a:t>Contacts</a:t>
                      </a:r>
                    </a:p>
                  </a:txBody>
                  <a:tcPr marL="31750" marR="31750" marT="12700" marB="12700" anchor="ctr">
                    <a:solidFill>
                      <a:srgbClr val="FCFCFB"/>
                    </a:solidFill>
                  </a:tcPr>
                </a:tc>
                <a:tc>
                  <a:txBody>
                    <a:bodyPr wrap="square"/>
                    <a:lstStyle/>
                    <a:p>
                      <a:pPr algn="r"/>
                      <a:r>
                        <a:rPr sz="780" b="0">
                          <a:solidFill>
                            <a:srgbClr val="52514E"/>
                          </a:solidFill>
                          <a:latin typeface="Calibri"/>
                        </a:rPr>
                        <a:t>44,182</a:t>
                      </a:r>
                    </a:p>
                  </a:txBody>
                  <a:tcPr marL="31750" marR="31750" marT="12700" marB="12700" anchor="ctr">
                    <a:solidFill>
                      <a:srgbClr val="FCFCFB"/>
                    </a:solidFill>
                  </a:tcPr>
                </a:tc>
              </a:tr>
              <a:tr h="177088">
                <a:tc>
                  <a:txBody>
                    <a:bodyPr wrap="square"/>
                    <a:lstStyle/>
                    <a:p>
                      <a:pPr algn="l"/>
                      <a:r>
                        <a:rPr sz="780" b="0">
                          <a:solidFill>
                            <a:srgbClr val="52514E"/>
                          </a:solidFill>
                          <a:latin typeface="Calibri"/>
                        </a:rPr>
                        <a:t>AHT (BPO1/2 blend)</a:t>
                      </a:r>
                    </a:p>
                  </a:txBody>
                  <a:tcPr marL="31750" marR="31750" marT="12700" marB="12700" anchor="ctr">
                    <a:solidFill>
                      <a:srgbClr val="FCFCFB"/>
                    </a:solidFill>
                  </a:tcPr>
                </a:tc>
                <a:tc>
                  <a:txBody>
                    <a:bodyPr wrap="square"/>
                    <a:lstStyle/>
                    <a:p>
                      <a:pPr algn="r"/>
                      <a:r>
                        <a:rPr sz="780" b="0">
                          <a:solidFill>
                            <a:srgbClr val="52514E"/>
                          </a:solidFill>
                          <a:latin typeface="Calibri"/>
                        </a:rPr>
                        <a:t>457.5 s</a:t>
                      </a:r>
                    </a:p>
                  </a:txBody>
                  <a:tcPr marL="31750" marR="31750" marT="12700" marB="12700" anchor="ctr">
                    <a:solidFill>
                      <a:srgbClr val="FCFCFB"/>
                    </a:solidFill>
                  </a:tcPr>
                </a:tc>
              </a:tr>
              <a:tr h="177088">
                <a:tc>
                  <a:txBody>
                    <a:bodyPr wrap="square"/>
                    <a:lstStyle/>
                    <a:p>
                      <a:pPr algn="l"/>
                      <a:r>
                        <a:rPr sz="780" b="0">
                          <a:solidFill>
                            <a:srgbClr val="52514E"/>
                          </a:solidFill>
                          <a:latin typeface="Calibri"/>
                        </a:rPr>
                        <a:t>Workload hours</a:t>
                      </a:r>
                    </a:p>
                  </a:txBody>
                  <a:tcPr marL="31750" marR="31750" marT="12700" marB="12700" anchor="ctr">
                    <a:solidFill>
                      <a:srgbClr val="FCFCFB"/>
                    </a:solidFill>
                  </a:tcPr>
                </a:tc>
                <a:tc>
                  <a:txBody>
                    <a:bodyPr wrap="square"/>
                    <a:lstStyle/>
                    <a:p>
                      <a:pPr algn="r"/>
                      <a:r>
                        <a:rPr sz="780" b="0">
                          <a:solidFill>
                            <a:srgbClr val="52514E"/>
                          </a:solidFill>
                          <a:latin typeface="Calibri"/>
                        </a:rPr>
                        <a:t>5,615</a:t>
                      </a:r>
                    </a:p>
                  </a:txBody>
                  <a:tcPr marL="31750" marR="31750" marT="12700" marB="12700" anchor="ctr">
                    <a:solidFill>
                      <a:srgbClr val="FCFCFB"/>
                    </a:solidFill>
                  </a:tcPr>
                </a:tc>
              </a:tr>
              <a:tr h="177088">
                <a:tc>
                  <a:txBody>
                    <a:bodyPr wrap="square"/>
                    <a:lstStyle/>
                    <a:p>
                      <a:pPr algn="l"/>
                      <a:r>
                        <a:rPr sz="780" b="0">
                          <a:solidFill>
                            <a:srgbClr val="52514E"/>
                          </a:solidFill>
                          <a:latin typeface="Calibri"/>
                        </a:rPr>
                        <a:t>Offered load</a:t>
                      </a:r>
                    </a:p>
                  </a:txBody>
                  <a:tcPr marL="31750" marR="31750" marT="12700" marB="12700" anchor="ctr">
                    <a:solidFill>
                      <a:srgbClr val="FCFCFB"/>
                    </a:solidFill>
                  </a:tcPr>
                </a:tc>
                <a:tc>
                  <a:txBody>
                    <a:bodyPr wrap="square"/>
                    <a:lstStyle/>
                    <a:p>
                      <a:pPr algn="r"/>
                      <a:r>
                        <a:rPr sz="780" b="0">
                          <a:solidFill>
                            <a:srgbClr val="52514E"/>
                          </a:solidFill>
                          <a:latin typeface="Calibri"/>
                        </a:rPr>
                        <a:t>7.69 erlangs</a:t>
                      </a:r>
                    </a:p>
                  </a:txBody>
                  <a:tcPr marL="31750" marR="31750" marT="12700" marB="12700" anchor="ctr">
                    <a:solidFill>
                      <a:srgbClr val="FCFCFB"/>
                    </a:solidFill>
                  </a:tcPr>
                </a:tc>
              </a:tr>
              <a:tr h="177088">
                <a:tc>
                  <a:txBody>
                    <a:bodyPr wrap="square"/>
                    <a:lstStyle/>
                    <a:p>
                      <a:pPr algn="l"/>
                      <a:r>
                        <a:rPr sz="780" b="0">
                          <a:solidFill>
                            <a:srgbClr val="52514E"/>
                          </a:solidFill>
                          <a:latin typeface="Calibri"/>
                        </a:rPr>
                        <a:t>Seats for 80/20</a:t>
                      </a:r>
                    </a:p>
                  </a:txBody>
                  <a:tcPr marL="31750" marR="31750" marT="12700" marB="12700" anchor="ctr">
                    <a:solidFill>
                      <a:srgbClr val="FCFCFB"/>
                    </a:solidFill>
                  </a:tcPr>
                </a:tc>
                <a:tc>
                  <a:txBody>
                    <a:bodyPr wrap="square"/>
                    <a:lstStyle/>
                    <a:p>
                      <a:pPr algn="r"/>
                      <a:r>
                        <a:rPr sz="780" b="1">
                          <a:solidFill>
                            <a:srgbClr val="52514E"/>
                          </a:solidFill>
                          <a:latin typeface="Calibri"/>
                        </a:rPr>
                        <a:t>11</a:t>
                      </a:r>
                    </a:p>
                  </a:txBody>
                  <a:tcPr marL="31750" marR="31750" marT="12700" marB="12700" anchor="ctr">
                    <a:solidFill>
                      <a:srgbClr val="FCFCFB"/>
                    </a:solidFill>
                  </a:tcPr>
                </a:tc>
              </a:tr>
              <a:tr h="177088">
                <a:tc>
                  <a:txBody>
                    <a:bodyPr wrap="square"/>
                    <a:lstStyle/>
                    <a:p>
                      <a:pPr algn="l"/>
                      <a:r>
                        <a:rPr sz="780" b="0">
                          <a:solidFill>
                            <a:srgbClr val="52514E"/>
                          </a:solidFill>
                          <a:latin typeface="Calibri"/>
                        </a:rPr>
                        <a:t>Achieved service level</a:t>
                      </a:r>
                    </a:p>
                  </a:txBody>
                  <a:tcPr marL="31750" marR="31750" marT="12700" marB="12700" anchor="ctr">
                    <a:solidFill>
                      <a:srgbClr val="FCFCFB"/>
                    </a:solidFill>
                  </a:tcPr>
                </a:tc>
                <a:tc>
                  <a:txBody>
                    <a:bodyPr wrap="square"/>
                    <a:lstStyle/>
                    <a:p>
                      <a:pPr algn="r"/>
                      <a:r>
                        <a:rPr sz="780" b="0">
                          <a:solidFill>
                            <a:srgbClr val="0CA30C"/>
                          </a:solidFill>
                          <a:latin typeface="Calibri"/>
                        </a:rPr>
                        <a:t>82.6%</a:t>
                      </a:r>
                    </a:p>
                  </a:txBody>
                  <a:tcPr marL="31750" marR="31750" marT="12700" marB="12700" anchor="ctr">
                    <a:solidFill>
                      <a:srgbClr val="FCFCFB"/>
                    </a:solidFill>
                  </a:tcPr>
                </a:tc>
              </a:tr>
              <a:tr h="177088">
                <a:tc>
                  <a:txBody>
                    <a:bodyPr wrap="square"/>
                    <a:lstStyle/>
                    <a:p>
                      <a:pPr algn="l"/>
                      <a:r>
                        <a:rPr sz="780" b="0">
                          <a:solidFill>
                            <a:srgbClr val="52514E"/>
                          </a:solidFill>
                          <a:latin typeface="Calibri"/>
                        </a:rPr>
                        <a:t>Occupancy at 11 seats</a:t>
                      </a:r>
                    </a:p>
                  </a:txBody>
                  <a:tcPr marL="31750" marR="31750" marT="12700" marB="12700" anchor="ctr">
                    <a:solidFill>
                      <a:srgbClr val="FCFCFB"/>
                    </a:solidFill>
                  </a:tcPr>
                </a:tc>
                <a:tc>
                  <a:txBody>
                    <a:bodyPr wrap="square"/>
                    <a:lstStyle/>
                    <a:p>
                      <a:pPr algn="r"/>
                      <a:r>
                        <a:rPr sz="780" b="1">
                          <a:solidFill>
                            <a:srgbClr val="52514E"/>
                          </a:solidFill>
                          <a:latin typeface="Calibri"/>
                        </a:rPr>
                        <a:t>69.9%</a:t>
                      </a:r>
                    </a:p>
                  </a:txBody>
                  <a:tcPr marL="31750" marR="31750" marT="12700" marB="12700" anchor="ctr">
                    <a:solidFill>
                      <a:srgbClr val="FCFCFB"/>
                    </a:solidFill>
                  </a:tcPr>
                </a:tc>
              </a:tr>
              <a:tr h="177088">
                <a:tc>
                  <a:txBody>
                    <a:bodyPr wrap="square"/>
                    <a:lstStyle/>
                    <a:p>
                      <a:pPr algn="l"/>
                      <a:r>
                        <a:rPr sz="780" b="0">
                          <a:solidFill>
                            <a:srgbClr val="898781"/>
                          </a:solidFill>
                          <a:latin typeface="Calibri"/>
                        </a:rPr>
                        <a:t>Workload FTE (÷ shrinkage only)</a:t>
                      </a:r>
                    </a:p>
                  </a:txBody>
                  <a:tcPr marL="31750" marR="31750" marT="12700" marB="12700" anchor="ctr">
                    <a:solidFill>
                      <a:srgbClr val="FCFCFB"/>
                    </a:solidFill>
                  </a:tcPr>
                </a:tc>
                <a:tc>
                  <a:txBody>
                    <a:bodyPr wrap="square"/>
                    <a:lstStyle/>
                    <a:p>
                      <a:pPr algn="r"/>
                      <a:r>
                        <a:rPr sz="780" b="0">
                          <a:solidFill>
                            <a:srgbClr val="898781"/>
                          </a:solidFill>
                          <a:latin typeface="Calibri"/>
                        </a:rPr>
                        <a:t>39.5</a:t>
                      </a:r>
                    </a:p>
                  </a:txBody>
                  <a:tcPr marL="31750" marR="31750" marT="12700" marB="12700" anchor="ctr">
                    <a:solidFill>
                      <a:srgbClr val="FCFCFB"/>
                    </a:solidFill>
                  </a:tcPr>
                </a:tc>
              </a:tr>
              <a:tr h="177088">
                <a:tc>
                  <a:txBody>
                    <a:bodyPr wrap="square"/>
                    <a:lstStyle/>
                    <a:p>
                      <a:pPr algn="l"/>
                      <a:r>
                        <a:rPr sz="780" b="1">
                          <a:solidFill>
                            <a:srgbClr val="0B0B0B"/>
                          </a:solidFill>
                          <a:latin typeface="Calibri"/>
                        </a:rPr>
                        <a:t>FTE that actually meets SLA</a:t>
                      </a:r>
                    </a:p>
                  </a:txBody>
                  <a:tcPr marL="31750" marR="31750" marT="12700" marB="12700" anchor="ctr">
                    <a:solidFill>
                      <a:srgbClr val="FCFCFB"/>
                    </a:solidFill>
                  </a:tcPr>
                </a:tc>
                <a:tc>
                  <a:txBody>
                    <a:bodyPr wrap="square"/>
                    <a:lstStyle/>
                    <a:p>
                      <a:pPr algn="r"/>
                      <a:r>
                        <a:rPr sz="780" b="1">
                          <a:solidFill>
                            <a:srgbClr val="0B0B0B"/>
                          </a:solidFill>
                          <a:latin typeface="Calibri"/>
                        </a:rPr>
                        <a:t>56.5</a:t>
                      </a:r>
                    </a:p>
                  </a:txBody>
                  <a:tcPr marL="31750" marR="31750" marT="12700" marB="12700" anchor="ctr">
                    <a:solidFill>
                      <a:srgbClr val="FCFCFB"/>
                    </a:solidFill>
                  </a:tcPr>
                </a:tc>
              </a:tr>
            </a:tbl>
          </a:graphicData>
        </a:graphic>
      </p:graphicFrame>
      <p:sp>
        <p:nvSpPr>
          <p:cNvPr id="8" name="TextBox 7"/>
          <p:cNvSpPr txBox="1"/>
          <p:nvPr/>
        </p:nvSpPr>
        <p:spPr>
          <a:xfrm>
            <a:off x="502920" y="3676091"/>
            <a:ext cx="3653960" cy="264160"/>
          </a:xfrm>
          <a:prstGeom prst="rect">
            <a:avLst/>
          </a:prstGeom>
          <a:noFill/>
        </p:spPr>
        <p:txBody>
          <a:bodyPr wrap="square" lIns="0" rIns="0" tIns="0" bIns="0">
            <a:noAutofit/>
          </a:bodyPr>
          <a:lstStyle/>
          <a:p>
            <a:r>
              <a:rPr sz="800" b="1" i="0">
                <a:solidFill>
                  <a:srgbClr val="52514E"/>
                </a:solidFill>
                <a:latin typeface="Calibri"/>
              </a:rPr>
              <a:t>+43% on one queue.</a:t>
            </a:r>
            <a:r>
              <a:rPr sz="800" b="0" i="0">
                <a:solidFill>
                  <a:srgbClr val="52514E"/>
                </a:solidFill>
                <a:latin typeface="Calibri"/>
              </a:rPr>
              <a:t> Across all ten real-time queues it is +34% on the total.</a:t>
            </a:r>
          </a:p>
        </p:txBody>
      </p:sp>
      <p:sp>
        <p:nvSpPr>
          <p:cNvPr id="9" name="TextBox 8"/>
          <p:cNvSpPr txBox="1"/>
          <p:nvPr/>
        </p:nvSpPr>
        <p:spPr>
          <a:xfrm>
            <a:off x="4376336" y="960120"/>
            <a:ext cx="3546491" cy="146304"/>
          </a:xfrm>
          <a:prstGeom prst="rect">
            <a:avLst/>
          </a:prstGeom>
          <a:noFill/>
        </p:spPr>
        <p:txBody>
          <a:bodyPr wrap="square" lIns="0" rIns="0" tIns="0" bIns="0">
            <a:noAutofit/>
          </a:bodyPr>
          <a:lstStyle/>
          <a:p>
            <a:r>
              <a:rPr sz="819" b="1" spc="60">
                <a:solidFill>
                  <a:srgbClr val="898781"/>
                </a:solidFill>
                <a:latin typeface="Calibri"/>
              </a:rPr>
              <a:t>WHY SMALL QUEUES COST SO MUCH MORE</a:t>
            </a:r>
          </a:p>
        </p:txBody>
      </p:sp>
      <p:sp>
        <p:nvSpPr>
          <p:cNvPr id="10" name="TextBox 9"/>
          <p:cNvSpPr txBox="1"/>
          <p:nvPr/>
        </p:nvSpPr>
        <p:spPr>
          <a:xfrm>
            <a:off x="4376336" y="1197864"/>
            <a:ext cx="3546491" cy="406146"/>
          </a:xfrm>
          <a:prstGeom prst="rect">
            <a:avLst/>
          </a:prstGeom>
          <a:noFill/>
        </p:spPr>
        <p:txBody>
          <a:bodyPr wrap="square" lIns="0" rIns="0" tIns="0" bIns="0">
            <a:noAutofit/>
          </a:bodyPr>
          <a:lstStyle/>
          <a:p>
            <a:r>
              <a:rPr sz="819" b="0" i="0">
                <a:solidFill>
                  <a:srgbClr val="52514E"/>
                </a:solidFill>
                <a:latin typeface="Calibri"/>
              </a:rPr>
              <a:t>Occupancy is a property of </a:t>
            </a:r>
            <a:r>
              <a:rPr sz="819" b="0" i="1">
                <a:solidFill>
                  <a:srgbClr val="52514E"/>
                </a:solidFill>
                <a:latin typeface="Calibri"/>
              </a:rPr>
              <a:t>queue size</a:t>
            </a:r>
            <a:r>
              <a:rPr sz="819" b="0" i="0">
                <a:solidFill>
                  <a:srgbClr val="52514E"/>
                </a:solidFill>
                <a:latin typeface="Calibri"/>
              </a:rPr>
              <a:t>. A large queue smooths its own arrivals; a small one must hold spare seats against randomness a bigger pool would absorb.</a:t>
            </a:r>
          </a:p>
        </p:txBody>
      </p:sp>
      <p:graphicFrame>
        <p:nvGraphicFramePr>
          <p:cNvPr id="11" name="Table 10"/>
          <p:cNvGraphicFramePr>
            <a:graphicFrameLocks noGrp="1"/>
          </p:cNvGraphicFramePr>
          <p:nvPr/>
        </p:nvGraphicFramePr>
        <p:xfrm>
          <a:off x="4376336" y="1677162"/>
          <a:ext cx="3546491" cy="1280160"/>
        </p:xfrm>
        <a:graphic>
          <a:graphicData uri="http://schemas.openxmlformats.org/drawingml/2006/table">
            <a:tbl>
              <a:tblPr firstRow="0" bandRow="0">
                <a:tableStyleId>{5C22544A-7EE6-4342-B048-85BDC9FD1C3A}</a:tableStyleId>
              </a:tblPr>
              <a:tblGrid>
                <a:gridCol w="1336358"/>
                <a:gridCol w="719577"/>
                <a:gridCol w="616781"/>
                <a:gridCol w="873775"/>
              </a:tblGrid>
              <a:tr h="182880">
                <a:tc>
                  <a:txBody>
                    <a:bodyPr wrap="square"/>
                    <a:lstStyle/>
                    <a:p>
                      <a:pPr algn="l"/>
                      <a:r>
                        <a:rPr sz="680" b="1">
                          <a:solidFill>
                            <a:srgbClr val="898781"/>
                          </a:solidFill>
                          <a:latin typeface="Calibri"/>
                        </a:rPr>
                        <a:t>QUEUE</a:t>
                      </a:r>
                    </a:p>
                  </a:txBody>
                  <a:tcPr marL="31750" marR="31750" marT="12700" marB="12700" anchor="b">
                    <a:solidFill>
                      <a:srgbClr val="FCFCFB"/>
                    </a:solidFill>
                  </a:tcPr>
                </a:tc>
                <a:tc>
                  <a:txBody>
                    <a:bodyPr wrap="square"/>
                    <a:lstStyle/>
                    <a:p>
                      <a:pPr algn="r"/>
                      <a:r>
                        <a:rPr sz="680" b="1">
                          <a:solidFill>
                            <a:srgbClr val="898781"/>
                          </a:solidFill>
                          <a:latin typeface="Calibri"/>
                        </a:rPr>
                        <a:t>ERLANGS</a:t>
                      </a:r>
                    </a:p>
                  </a:txBody>
                  <a:tcPr marL="31750" marR="31750" marT="12700" marB="12700" anchor="b">
                    <a:solidFill>
                      <a:srgbClr val="FCFCFB"/>
                    </a:solidFill>
                  </a:tcPr>
                </a:tc>
                <a:tc>
                  <a:txBody>
                    <a:bodyPr wrap="square"/>
                    <a:lstStyle/>
                    <a:p>
                      <a:pPr algn="r"/>
                      <a:r>
                        <a:rPr sz="680" b="1">
                          <a:solidFill>
                            <a:srgbClr val="898781"/>
                          </a:solidFill>
                          <a:latin typeface="Calibri"/>
                        </a:rPr>
                        <a:t>SEATS</a:t>
                      </a:r>
                    </a:p>
                  </a:txBody>
                  <a:tcPr marL="31750" marR="31750" marT="12700" marB="12700" anchor="b">
                    <a:solidFill>
                      <a:srgbClr val="FCFCFB"/>
                    </a:solidFill>
                  </a:tcPr>
                </a:tc>
                <a:tc>
                  <a:txBody>
                    <a:bodyPr wrap="square"/>
                    <a:lstStyle/>
                    <a:p>
                      <a:pPr algn="r"/>
                      <a:r>
                        <a:rPr sz="680" b="1">
                          <a:solidFill>
                            <a:srgbClr val="898781"/>
                          </a:solidFill>
                          <a:latin typeface="Calibri"/>
                        </a:rPr>
                        <a:t>OCCUPANCY</a:t>
                      </a:r>
                    </a:p>
                  </a:txBody>
                  <a:tcPr marL="31750" marR="31750" marT="12700" marB="12700" anchor="b">
                    <a:solidFill>
                      <a:srgbClr val="FCFCFB"/>
                    </a:solidFill>
                  </a:tcPr>
                </a:tc>
              </a:tr>
              <a:tr h="182880">
                <a:tc>
                  <a:txBody>
                    <a:bodyPr wrap="square"/>
                    <a:lstStyle/>
                    <a:p>
                      <a:pPr algn="l"/>
                      <a:r>
                        <a:rPr sz="780" b="0">
                          <a:solidFill>
                            <a:srgbClr val="52514E"/>
                          </a:solidFill>
                          <a:latin typeface="Calibri"/>
                        </a:rPr>
                        <a:t>Italian inbound</a:t>
                      </a:r>
                    </a:p>
                  </a:txBody>
                  <a:tcPr marL="31750" marR="31750" marT="12700" marB="12700" anchor="ctr">
                    <a:solidFill>
                      <a:srgbClr val="FCFCFB"/>
                    </a:solidFill>
                  </a:tcPr>
                </a:tc>
                <a:tc>
                  <a:txBody>
                    <a:bodyPr wrap="square"/>
                    <a:lstStyle/>
                    <a:p>
                      <a:pPr algn="r"/>
                      <a:r>
                        <a:rPr sz="780" b="0">
                          <a:solidFill>
                            <a:srgbClr val="52514E"/>
                          </a:solidFill>
                          <a:latin typeface="Calibri"/>
                        </a:rPr>
                        <a:t>0.84</a:t>
                      </a:r>
                    </a:p>
                  </a:txBody>
                  <a:tcPr marL="31750" marR="31750" marT="12700" marB="12700" anchor="ctr">
                    <a:solidFill>
                      <a:srgbClr val="FCFCFB"/>
                    </a:solidFill>
                  </a:tcPr>
                </a:tc>
                <a:tc>
                  <a:txBody>
                    <a:bodyPr wrap="square"/>
                    <a:lstStyle/>
                    <a:p>
                      <a:pPr algn="r"/>
                      <a:r>
                        <a:rPr sz="780" b="0">
                          <a:solidFill>
                            <a:srgbClr val="52514E"/>
                          </a:solidFill>
                          <a:latin typeface="Calibri"/>
                        </a:rPr>
                        <a:t>3</a:t>
                      </a:r>
                    </a:p>
                  </a:txBody>
                  <a:tcPr marL="31750" marR="31750" marT="12700" marB="12700" anchor="ctr">
                    <a:solidFill>
                      <a:srgbClr val="FCFCFB"/>
                    </a:solidFill>
                  </a:tcPr>
                </a:tc>
                <a:tc>
                  <a:txBody>
                    <a:bodyPr wrap="square"/>
                    <a:lstStyle/>
                    <a:p>
                      <a:pPr algn="r"/>
                      <a:r>
                        <a:rPr sz="780" b="0">
                          <a:solidFill>
                            <a:srgbClr val="D03B3B"/>
                          </a:solidFill>
                          <a:latin typeface="Calibri"/>
                        </a:rPr>
                        <a:t>27.9%</a:t>
                      </a:r>
                    </a:p>
                  </a:txBody>
                  <a:tcPr marL="31750" marR="31750" marT="12700" marB="12700" anchor="ctr">
                    <a:solidFill>
                      <a:srgbClr val="FCFCFB"/>
                    </a:solidFill>
                  </a:tcPr>
                </a:tc>
              </a:tr>
              <a:tr h="182880">
                <a:tc>
                  <a:txBody>
                    <a:bodyPr wrap="square"/>
                    <a:lstStyle/>
                    <a:p>
                      <a:pPr algn="l"/>
                      <a:r>
                        <a:rPr sz="780" b="0">
                          <a:solidFill>
                            <a:srgbClr val="52514E"/>
                          </a:solidFill>
                          <a:latin typeface="Calibri"/>
                        </a:rPr>
                        <a:t>French inbound</a:t>
                      </a:r>
                    </a:p>
                  </a:txBody>
                  <a:tcPr marL="31750" marR="31750" marT="12700" marB="12700" anchor="ctr">
                    <a:solidFill>
                      <a:srgbClr val="FCFCFB"/>
                    </a:solidFill>
                  </a:tcPr>
                </a:tc>
                <a:tc>
                  <a:txBody>
                    <a:bodyPr wrap="square"/>
                    <a:lstStyle/>
                    <a:p>
                      <a:pPr algn="r"/>
                      <a:r>
                        <a:rPr sz="780" b="0">
                          <a:solidFill>
                            <a:srgbClr val="52514E"/>
                          </a:solidFill>
                          <a:latin typeface="Calibri"/>
                        </a:rPr>
                        <a:t>0.93</a:t>
                      </a:r>
                    </a:p>
                  </a:txBody>
                  <a:tcPr marL="31750" marR="31750" marT="12700" marB="12700" anchor="ctr">
                    <a:solidFill>
                      <a:srgbClr val="FCFCFB"/>
                    </a:solidFill>
                  </a:tcPr>
                </a:tc>
                <a:tc>
                  <a:txBody>
                    <a:bodyPr wrap="square"/>
                    <a:lstStyle/>
                    <a:p>
                      <a:pPr algn="r"/>
                      <a:r>
                        <a:rPr sz="780" b="0">
                          <a:solidFill>
                            <a:srgbClr val="52514E"/>
                          </a:solidFill>
                          <a:latin typeface="Calibri"/>
                        </a:rPr>
                        <a:t>3</a:t>
                      </a:r>
                    </a:p>
                  </a:txBody>
                  <a:tcPr marL="31750" marR="31750" marT="12700" marB="12700" anchor="ctr">
                    <a:solidFill>
                      <a:srgbClr val="FCFCFB"/>
                    </a:solidFill>
                  </a:tcPr>
                </a:tc>
                <a:tc>
                  <a:txBody>
                    <a:bodyPr wrap="square"/>
                    <a:lstStyle/>
                    <a:p>
                      <a:pPr algn="r"/>
                      <a:r>
                        <a:rPr sz="780" b="0">
                          <a:solidFill>
                            <a:srgbClr val="D03B3B"/>
                          </a:solidFill>
                          <a:latin typeface="Calibri"/>
                        </a:rPr>
                        <a:t>30.9%</a:t>
                      </a:r>
                    </a:p>
                  </a:txBody>
                  <a:tcPr marL="31750" marR="31750" marT="12700" marB="12700" anchor="ctr">
                    <a:solidFill>
                      <a:srgbClr val="FCFCFB"/>
                    </a:solidFill>
                  </a:tcPr>
                </a:tc>
              </a:tr>
              <a:tr h="182880">
                <a:tc>
                  <a:txBody>
                    <a:bodyPr wrap="square"/>
                    <a:lstStyle/>
                    <a:p>
                      <a:pPr algn="l"/>
                      <a:r>
                        <a:rPr sz="780" b="0">
                          <a:solidFill>
                            <a:srgbClr val="52514E"/>
                          </a:solidFill>
                          <a:latin typeface="Calibri"/>
                        </a:rPr>
                        <a:t>Spanish inbound</a:t>
                      </a:r>
                    </a:p>
                  </a:txBody>
                  <a:tcPr marL="31750" marR="31750" marT="12700" marB="12700" anchor="ctr">
                    <a:solidFill>
                      <a:srgbClr val="FCFCFB"/>
                    </a:solidFill>
                  </a:tcPr>
                </a:tc>
                <a:tc>
                  <a:txBody>
                    <a:bodyPr wrap="square"/>
                    <a:lstStyle/>
                    <a:p>
                      <a:pPr algn="r"/>
                      <a:r>
                        <a:rPr sz="780" b="0">
                          <a:solidFill>
                            <a:srgbClr val="52514E"/>
                          </a:solidFill>
                          <a:latin typeface="Calibri"/>
                        </a:rPr>
                        <a:t>1.14</a:t>
                      </a:r>
                    </a:p>
                  </a:txBody>
                  <a:tcPr marL="31750" marR="31750" marT="12700" marB="12700" anchor="ctr">
                    <a:solidFill>
                      <a:srgbClr val="FCFCFB"/>
                    </a:solidFill>
                  </a:tcPr>
                </a:tc>
                <a:tc>
                  <a:txBody>
                    <a:bodyPr wrap="square"/>
                    <a:lstStyle/>
                    <a:p>
                      <a:pPr algn="r"/>
                      <a:r>
                        <a:rPr sz="780" b="0">
                          <a:solidFill>
                            <a:srgbClr val="52514E"/>
                          </a:solidFill>
                          <a:latin typeface="Calibri"/>
                        </a:rPr>
                        <a:t>3</a:t>
                      </a:r>
                    </a:p>
                  </a:txBody>
                  <a:tcPr marL="31750" marR="31750" marT="12700" marB="12700" anchor="ctr">
                    <a:solidFill>
                      <a:srgbClr val="FCFCFB"/>
                    </a:solidFill>
                  </a:tcPr>
                </a:tc>
                <a:tc>
                  <a:txBody>
                    <a:bodyPr wrap="square"/>
                    <a:lstStyle/>
                    <a:p>
                      <a:pPr algn="r"/>
                      <a:r>
                        <a:rPr sz="780" b="0">
                          <a:solidFill>
                            <a:srgbClr val="52514E"/>
                          </a:solidFill>
                          <a:latin typeface="Calibri"/>
                        </a:rPr>
                        <a:t>38.1%</a:t>
                      </a:r>
                    </a:p>
                  </a:txBody>
                  <a:tcPr marL="31750" marR="31750" marT="12700" marB="12700" anchor="ctr">
                    <a:solidFill>
                      <a:srgbClr val="FCFCFB"/>
                    </a:solidFill>
                  </a:tcPr>
                </a:tc>
              </a:tr>
              <a:tr h="182880">
                <a:tc>
                  <a:txBody>
                    <a:bodyPr wrap="square"/>
                    <a:lstStyle/>
                    <a:p>
                      <a:pPr algn="l"/>
                      <a:r>
                        <a:rPr sz="780" b="0">
                          <a:solidFill>
                            <a:srgbClr val="52514E"/>
                          </a:solidFill>
                          <a:latin typeface="Calibri"/>
                        </a:rPr>
                        <a:t>German inbound</a:t>
                      </a:r>
                    </a:p>
                  </a:txBody>
                  <a:tcPr marL="31750" marR="31750" marT="12700" marB="12700" anchor="ctr">
                    <a:solidFill>
                      <a:srgbClr val="FCFCFB"/>
                    </a:solidFill>
                  </a:tcPr>
                </a:tc>
                <a:tc>
                  <a:txBody>
                    <a:bodyPr wrap="square"/>
                    <a:lstStyle/>
                    <a:p>
                      <a:pPr algn="r"/>
                      <a:r>
                        <a:rPr sz="780" b="0">
                          <a:solidFill>
                            <a:srgbClr val="52514E"/>
                          </a:solidFill>
                          <a:latin typeface="Calibri"/>
                        </a:rPr>
                        <a:t>1.26</a:t>
                      </a:r>
                    </a:p>
                  </a:txBody>
                  <a:tcPr marL="31750" marR="31750" marT="12700" marB="12700" anchor="ctr">
                    <a:solidFill>
                      <a:srgbClr val="FCFCFB"/>
                    </a:solidFill>
                  </a:tcPr>
                </a:tc>
                <a:tc>
                  <a:txBody>
                    <a:bodyPr wrap="square"/>
                    <a:lstStyle/>
                    <a:p>
                      <a:pPr algn="r"/>
                      <a:r>
                        <a:rPr sz="780" b="0">
                          <a:solidFill>
                            <a:srgbClr val="52514E"/>
                          </a:solidFill>
                          <a:latin typeface="Calibri"/>
                        </a:rPr>
                        <a:t>3</a:t>
                      </a:r>
                    </a:p>
                  </a:txBody>
                  <a:tcPr marL="31750" marR="31750" marT="12700" marB="12700" anchor="ctr">
                    <a:solidFill>
                      <a:srgbClr val="FCFCFB"/>
                    </a:solidFill>
                  </a:tcPr>
                </a:tc>
                <a:tc>
                  <a:txBody>
                    <a:bodyPr wrap="square"/>
                    <a:lstStyle/>
                    <a:p>
                      <a:pPr algn="r"/>
                      <a:r>
                        <a:rPr sz="780" b="0">
                          <a:solidFill>
                            <a:srgbClr val="52514E"/>
                          </a:solidFill>
                          <a:latin typeface="Calibri"/>
                        </a:rPr>
                        <a:t>41.9%</a:t>
                      </a:r>
                    </a:p>
                  </a:txBody>
                  <a:tcPr marL="31750" marR="31750" marT="12700" marB="12700" anchor="ctr">
                    <a:solidFill>
                      <a:srgbClr val="FCFCFB"/>
                    </a:solidFill>
                  </a:tcPr>
                </a:tc>
              </a:tr>
              <a:tr h="182880">
                <a:tc>
                  <a:txBody>
                    <a:bodyPr wrap="square"/>
                    <a:lstStyle/>
                    <a:p>
                      <a:pPr algn="l"/>
                      <a:r>
                        <a:rPr sz="780" b="1">
                          <a:solidFill>
                            <a:srgbClr val="0B0B0B"/>
                          </a:solidFill>
                          <a:latin typeface="Calibri"/>
                        </a:rPr>
                        <a:t>All four, pooled</a:t>
                      </a:r>
                    </a:p>
                  </a:txBody>
                  <a:tcPr marL="31750" marR="31750" marT="12700" marB="12700" anchor="ctr">
                    <a:solidFill>
                      <a:srgbClr val="FCFCFB"/>
                    </a:solidFill>
                  </a:tcPr>
                </a:tc>
                <a:tc>
                  <a:txBody>
                    <a:bodyPr wrap="square"/>
                    <a:lstStyle/>
                    <a:p>
                      <a:pPr algn="r"/>
                      <a:r>
                        <a:rPr sz="780" b="1">
                          <a:solidFill>
                            <a:srgbClr val="0B0B0B"/>
                          </a:solidFill>
                          <a:latin typeface="Calibri"/>
                        </a:rPr>
                        <a:t>4.16</a:t>
                      </a:r>
                    </a:p>
                  </a:txBody>
                  <a:tcPr marL="31750" marR="31750" marT="12700" marB="12700" anchor="ctr">
                    <a:solidFill>
                      <a:srgbClr val="FCFCFB"/>
                    </a:solidFill>
                  </a:tcPr>
                </a:tc>
                <a:tc>
                  <a:txBody>
                    <a:bodyPr wrap="square"/>
                    <a:lstStyle/>
                    <a:p>
                      <a:pPr algn="r"/>
                      <a:r>
                        <a:rPr sz="780" b="1">
                          <a:solidFill>
                            <a:srgbClr val="0B0B0B"/>
                          </a:solidFill>
                          <a:latin typeface="Calibri"/>
                        </a:rPr>
                        <a:t>7</a:t>
                      </a:r>
                    </a:p>
                  </a:txBody>
                  <a:tcPr marL="31750" marR="31750" marT="12700" marB="12700" anchor="ctr">
                    <a:solidFill>
                      <a:srgbClr val="FCFCFB"/>
                    </a:solidFill>
                  </a:tcPr>
                </a:tc>
                <a:tc>
                  <a:txBody>
                    <a:bodyPr wrap="square"/>
                    <a:lstStyle/>
                    <a:p>
                      <a:pPr algn="r"/>
                      <a:r>
                        <a:rPr sz="780" b="1">
                          <a:solidFill>
                            <a:srgbClr val="0CA30C"/>
                          </a:solidFill>
                          <a:latin typeface="Calibri"/>
                        </a:rPr>
                        <a:t>59.5%</a:t>
                      </a:r>
                    </a:p>
                  </a:txBody>
                  <a:tcPr marL="31750" marR="31750" marT="12700" marB="12700" anchor="ctr">
                    <a:solidFill>
                      <a:srgbClr val="FCFCFB"/>
                    </a:solidFill>
                  </a:tcPr>
                </a:tc>
              </a:tr>
              <a:tr h="182880">
                <a:tc>
                  <a:txBody>
                    <a:bodyPr wrap="square"/>
                    <a:lstStyle/>
                    <a:p>
                      <a:pPr algn="l"/>
                      <a:r>
                        <a:rPr sz="780" b="0">
                          <a:solidFill>
                            <a:srgbClr val="52514E"/>
                          </a:solidFill>
                          <a:latin typeface="Calibri"/>
                        </a:rPr>
                        <a:t>English inbound</a:t>
                      </a:r>
                    </a:p>
                  </a:txBody>
                  <a:tcPr marL="31750" marR="31750" marT="12700" marB="12700" anchor="ctr">
                    <a:solidFill>
                      <a:srgbClr val="FCFCFB"/>
                    </a:solidFill>
                  </a:tcPr>
                </a:tc>
                <a:tc>
                  <a:txBody>
                    <a:bodyPr wrap="square"/>
                    <a:lstStyle/>
                    <a:p>
                      <a:pPr algn="r"/>
                      <a:r>
                        <a:rPr sz="780" b="0">
                          <a:solidFill>
                            <a:srgbClr val="52514E"/>
                          </a:solidFill>
                          <a:latin typeface="Calibri"/>
                        </a:rPr>
                        <a:t>7.69</a:t>
                      </a:r>
                    </a:p>
                  </a:txBody>
                  <a:tcPr marL="31750" marR="31750" marT="12700" marB="12700" anchor="ctr">
                    <a:solidFill>
                      <a:srgbClr val="FCFCFB"/>
                    </a:solidFill>
                  </a:tcPr>
                </a:tc>
                <a:tc>
                  <a:txBody>
                    <a:bodyPr wrap="square"/>
                    <a:lstStyle/>
                    <a:p>
                      <a:pPr algn="r"/>
                      <a:r>
                        <a:rPr sz="780" b="0">
                          <a:solidFill>
                            <a:srgbClr val="52514E"/>
                          </a:solidFill>
                          <a:latin typeface="Calibri"/>
                        </a:rPr>
                        <a:t>11</a:t>
                      </a:r>
                    </a:p>
                  </a:txBody>
                  <a:tcPr marL="31750" marR="31750" marT="12700" marB="12700" anchor="ctr">
                    <a:solidFill>
                      <a:srgbClr val="FCFCFB"/>
                    </a:solidFill>
                  </a:tcPr>
                </a:tc>
                <a:tc>
                  <a:txBody>
                    <a:bodyPr wrap="square"/>
                    <a:lstStyle/>
                    <a:p>
                      <a:pPr algn="r"/>
                      <a:r>
                        <a:rPr sz="780" b="0">
                          <a:solidFill>
                            <a:srgbClr val="52514E"/>
                          </a:solidFill>
                          <a:latin typeface="Calibri"/>
                        </a:rPr>
                        <a:t>69.9%</a:t>
                      </a:r>
                    </a:p>
                  </a:txBody>
                  <a:tcPr marL="31750" marR="31750" marT="12700" marB="12700" anchor="ctr">
                    <a:solidFill>
                      <a:srgbClr val="FCFCFB"/>
                    </a:solidFill>
                  </a:tcPr>
                </a:tc>
              </a:tr>
            </a:tbl>
          </a:graphicData>
        </a:graphic>
      </p:graphicFrame>
      <p:cxnSp>
        <p:nvCxnSpPr>
          <p:cNvPr id="12" name="Connector 11"/>
          <p:cNvCxnSpPr/>
          <p:nvPr/>
        </p:nvCxnSpPr>
        <p:spPr>
          <a:xfrm>
            <a:off x="4376336" y="3076194"/>
            <a:ext cx="0" cy="324104"/>
          </a:xfrm>
          <a:prstGeom prst="line">
            <a:avLst/>
          </a:prstGeom>
          <a:ln w="28575">
            <a:solidFill>
              <a:srgbClr val="2A78D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95208" y="3103626"/>
            <a:ext cx="3427619" cy="250952"/>
          </a:xfrm>
          <a:prstGeom prst="rect">
            <a:avLst/>
          </a:prstGeom>
          <a:noFill/>
        </p:spPr>
        <p:txBody>
          <a:bodyPr wrap="square" lIns="0" rIns="0" tIns="0" bIns="0">
            <a:noAutofit/>
          </a:bodyPr>
          <a:lstStyle/>
          <a:p>
            <a:r>
              <a:rPr sz="760" b="1" i="0">
                <a:solidFill>
                  <a:srgbClr val="52514E"/>
                </a:solidFill>
                <a:latin typeface="Calibri"/>
              </a:rPr>
              <a:t>Doubling volume does not double FTE.</a:t>
            </a:r>
            <a:r>
              <a:rPr sz="760" b="0" i="0">
                <a:solidFill>
                  <a:srgbClr val="52514E"/>
                </a:solidFill>
                <a:latin typeface="Calibri"/>
              </a:rPr>
              <a:t> 2× the contacts needs </a:t>
            </a:r>
            <a:r>
              <a:rPr sz="760" b="1" i="0">
                <a:solidFill>
                  <a:srgbClr val="52514E"/>
                </a:solidFill>
                <a:latin typeface="Calibri"/>
              </a:rPr>
              <a:t>1.81×</a:t>
            </a:r>
            <a:r>
              <a:rPr sz="760" b="0" i="0">
                <a:solidFill>
                  <a:srgbClr val="52514E"/>
                </a:solidFill>
                <a:latin typeface="Calibri"/>
              </a:rPr>
              <a:t> the FTE — the real economy behind pooling.</a:t>
            </a:r>
          </a:p>
        </p:txBody>
      </p:sp>
      <p:sp>
        <p:nvSpPr>
          <p:cNvPr id="14" name="TextBox 13"/>
          <p:cNvSpPr txBox="1"/>
          <p:nvPr/>
        </p:nvSpPr>
        <p:spPr>
          <a:xfrm>
            <a:off x="8142283" y="960120"/>
            <a:ext cx="3546491" cy="146304"/>
          </a:xfrm>
          <a:prstGeom prst="rect">
            <a:avLst/>
          </a:prstGeom>
          <a:noFill/>
        </p:spPr>
        <p:txBody>
          <a:bodyPr wrap="square" lIns="0" rIns="0" tIns="0" bIns="0">
            <a:noAutofit/>
          </a:bodyPr>
          <a:lstStyle/>
          <a:p>
            <a:r>
              <a:rPr sz="819" b="1" spc="60">
                <a:solidFill>
                  <a:srgbClr val="898781"/>
                </a:solidFill>
                <a:latin typeface="Calibri"/>
              </a:rPr>
              <a:t>WHERE THIS MODEL IS DELIBERATELY CONSERVATIVE</a:t>
            </a:r>
          </a:p>
        </p:txBody>
      </p:sp>
      <p:sp>
        <p:nvSpPr>
          <p:cNvPr id="15" name="TextBox 14"/>
          <p:cNvSpPr txBox="1"/>
          <p:nvPr/>
        </p:nvSpPr>
        <p:spPr>
          <a:xfrm>
            <a:off x="8142283" y="1197864"/>
            <a:ext cx="3546491" cy="709675"/>
          </a:xfrm>
          <a:prstGeom prst="rect">
            <a:avLst/>
          </a:prstGeom>
          <a:noFill/>
        </p:spPr>
        <p:txBody>
          <a:bodyPr wrap="square" lIns="0" rIns="0" tIns="0" bIns="0">
            <a:noAutofit/>
          </a:bodyPr>
          <a:lstStyle/>
          <a:p>
            <a:r>
              <a:rPr sz="760" b="0" i="0">
                <a:solidFill>
                  <a:srgbClr val="52514E"/>
                </a:solidFill>
                <a:latin typeface="Calibri"/>
              </a:rPr>
              <a:t>•  </a:t>
            </a:r>
            <a:r>
              <a:rPr sz="760" b="1" i="0">
                <a:solidFill>
                  <a:srgbClr val="52514E"/>
                </a:solidFill>
                <a:latin typeface="Calibri"/>
              </a:rPr>
              <a:t>Monthly-average arrival rates.</a:t>
            </a:r>
            <a:r>
              <a:rPr sz="760" b="0" i="0">
                <a:solidFill>
                  <a:srgbClr val="52514E"/>
                </a:solidFill>
                <a:latin typeface="Calibri"/>
              </a:rPr>
              <a:t> Real intraday peaks push staffing </a:t>
            </a:r>
            <a:r>
              <a:rPr sz="760" b="0" i="1">
                <a:solidFill>
                  <a:srgbClr val="52514E"/>
                </a:solidFill>
                <a:latin typeface="Calibri"/>
              </a:rPr>
              <a:t>higher</a:t>
            </a:r>
            <a:r>
              <a:rPr sz="760" b="0" i="0">
                <a:solidFill>
                  <a:srgbClr val="52514E"/>
                </a:solidFill>
                <a:latin typeface="Calibri"/>
              </a:rPr>
              <a:t>, never lower. </a:t>
            </a:r>
            <a:r>
              <a:rPr sz="760" b="1" i="0">
                <a:solidFill>
                  <a:srgbClr val="52514E"/>
                </a:solidFill>
                <a:latin typeface="Calibri"/>
              </a:rPr>
              <a:t>508 is a floor.</a:t>
            </a:r>
          </a:p>
          <a:p>
            <a:pPr>
              <a:spcBef>
                <a:spcPts val="216"/>
              </a:spcBef>
            </a:pPr>
            <a:r>
              <a:rPr sz="760" b="0" i="0">
                <a:solidFill>
                  <a:srgbClr val="52514E"/>
                </a:solidFill>
                <a:latin typeface="Calibri"/>
              </a:rPr>
              <a:t>•  </a:t>
            </a:r>
            <a:r>
              <a:rPr sz="760" b="1" i="0">
                <a:solidFill>
                  <a:srgbClr val="52514E"/>
                </a:solidFill>
                <a:latin typeface="Calibri"/>
              </a:rPr>
              <a:t>Shrinkage held flat at 18%.</a:t>
            </a:r>
            <a:r>
              <a:rPr sz="760" b="0" i="0">
                <a:solidFill>
                  <a:srgbClr val="52514E"/>
                </a:solidFill>
                <a:latin typeface="Calibri"/>
              </a:rPr>
              <a:t> A +1–2pt summer adjustment adds 6–12 FTE.</a:t>
            </a:r>
          </a:p>
          <a:p>
            <a:pPr>
              <a:spcBef>
                <a:spcPts val="216"/>
              </a:spcBef>
            </a:pPr>
            <a:r>
              <a:rPr sz="760" b="0" i="0">
                <a:solidFill>
                  <a:srgbClr val="52514E"/>
                </a:solidFill>
                <a:latin typeface="Calibri"/>
              </a:rPr>
              <a:t>•  </a:t>
            </a:r>
            <a:r>
              <a:rPr sz="760" b="1" i="0">
                <a:solidFill>
                  <a:srgbClr val="52514E"/>
                </a:solidFill>
                <a:latin typeface="Calibri"/>
              </a:rPr>
              <a:t>Outbound kept at face value</a:t>
            </a:r>
            <a:r>
              <a:rPr sz="760" b="0" i="0">
                <a:solidFill>
                  <a:srgbClr val="52514E"/>
                </a:solidFill>
                <a:latin typeface="Calibri"/>
              </a:rPr>
              <a:t> despite mirroring inbound exactly.</a:t>
            </a:r>
          </a:p>
          <a:p>
            <a:pPr>
              <a:spcBef>
                <a:spcPts val="216"/>
              </a:spcBef>
            </a:pPr>
            <a:r>
              <a:rPr sz="760" b="0" i="0">
                <a:solidFill>
                  <a:srgbClr val="52514E"/>
                </a:solidFill>
                <a:latin typeface="Calibri"/>
              </a:rPr>
              <a:t>•  </a:t>
            </a:r>
            <a:r>
              <a:rPr sz="760" b="1" i="0">
                <a:solidFill>
                  <a:srgbClr val="52514E"/>
                </a:solidFill>
                <a:latin typeface="Calibri"/>
              </a:rPr>
              <a:t>Email at 85% planned occupancy</a:t>
            </a:r>
            <a:r>
              <a:rPr sz="760" b="0" i="0">
                <a:solidFill>
                  <a:srgbClr val="52514E"/>
                </a:solidFill>
                <a:latin typeface="Calibri"/>
              </a:rPr>
              <a:t> — an assumption, not from the data.</a:t>
            </a:r>
          </a:p>
        </p:txBody>
      </p:sp>
      <p:sp>
        <p:nvSpPr>
          <p:cNvPr id="16" name="TextBox 15"/>
          <p:cNvSpPr txBox="1"/>
          <p:nvPr/>
        </p:nvSpPr>
        <p:spPr>
          <a:xfrm>
            <a:off x="8142283" y="2017267"/>
            <a:ext cx="3546491" cy="146304"/>
          </a:xfrm>
          <a:prstGeom prst="rect">
            <a:avLst/>
          </a:prstGeom>
          <a:noFill/>
        </p:spPr>
        <p:txBody>
          <a:bodyPr wrap="square" lIns="0" rIns="0" tIns="0" bIns="0">
            <a:noAutofit/>
          </a:bodyPr>
          <a:lstStyle/>
          <a:p>
            <a:r>
              <a:rPr sz="819" b="1" spc="60">
                <a:solidFill>
                  <a:srgbClr val="898781"/>
                </a:solidFill>
                <a:latin typeface="Calibri"/>
              </a:rPr>
              <a:t>SHRINKAGE SENSITIVITY</a:t>
            </a:r>
          </a:p>
        </p:txBody>
      </p:sp>
      <p:graphicFrame>
        <p:nvGraphicFramePr>
          <p:cNvPr id="17" name="Table 16"/>
          <p:cNvGraphicFramePr>
            <a:graphicFrameLocks noGrp="1"/>
          </p:cNvGraphicFramePr>
          <p:nvPr/>
        </p:nvGraphicFramePr>
        <p:xfrm>
          <a:off x="8142283" y="2255011"/>
          <a:ext cx="3546491" cy="1054604"/>
        </p:xfrm>
        <a:graphic>
          <a:graphicData uri="http://schemas.openxmlformats.org/drawingml/2006/table">
            <a:tbl>
              <a:tblPr firstRow="0" bandRow="0">
                <a:tableStyleId>{5C22544A-7EE6-4342-B048-85BDC9FD1C3A}</a:tableStyleId>
              </a:tblPr>
              <a:tblGrid>
                <a:gridCol w="1560456"/>
                <a:gridCol w="993017"/>
                <a:gridCol w="993018"/>
              </a:tblGrid>
              <a:tr h="169164">
                <a:tc>
                  <a:txBody>
                    <a:bodyPr wrap="square"/>
                    <a:lstStyle/>
                    <a:p>
                      <a:pPr algn="l"/>
                      <a:r>
                        <a:rPr sz="680" b="1">
                          <a:solidFill>
                            <a:srgbClr val="898781"/>
                          </a:solidFill>
                          <a:latin typeface="Calibri"/>
                        </a:rPr>
                        <a:t>SHRINKAGE</a:t>
                      </a:r>
                    </a:p>
                  </a:txBody>
                  <a:tcPr marL="31750" marR="31750" marT="12700" marB="12700" anchor="b">
                    <a:solidFill>
                      <a:srgbClr val="FCFCFB"/>
                    </a:solidFill>
                  </a:tcPr>
                </a:tc>
                <a:tc>
                  <a:txBody>
                    <a:bodyPr wrap="square"/>
                    <a:lstStyle/>
                    <a:p>
                      <a:pPr algn="r"/>
                      <a:r>
                        <a:rPr sz="680" b="1">
                          <a:solidFill>
                            <a:srgbClr val="898781"/>
                          </a:solidFill>
                          <a:latin typeface="Calibri"/>
                        </a:rPr>
                        <a:t>SLA FTE</a:t>
                      </a:r>
                    </a:p>
                  </a:txBody>
                  <a:tcPr marL="31750" marR="31750" marT="12700" marB="12700" anchor="b">
                    <a:solidFill>
                      <a:srgbClr val="FCFCFB"/>
                    </a:solidFill>
                  </a:tcPr>
                </a:tc>
                <a:tc>
                  <a:txBody>
                    <a:bodyPr wrap="square"/>
                    <a:lstStyle/>
                    <a:p>
                      <a:pPr algn="r"/>
                      <a:r>
                        <a:rPr sz="680" b="1">
                          <a:solidFill>
                            <a:srgbClr val="898781"/>
                          </a:solidFill>
                          <a:latin typeface="Calibri"/>
                        </a:rPr>
                        <a:t>Δ</a:t>
                      </a:r>
                    </a:p>
                  </a:txBody>
                  <a:tcPr marL="31750" marR="31750" marT="12700" marB="12700" anchor="b">
                    <a:solidFill>
                      <a:srgbClr val="FCFCFB"/>
                    </a:solidFill>
                  </a:tcPr>
                </a:tc>
              </a:tr>
              <a:tr h="177088">
                <a:tc>
                  <a:txBody>
                    <a:bodyPr wrap="square"/>
                    <a:lstStyle/>
                    <a:p>
                      <a:pPr algn="l"/>
                      <a:r>
                        <a:rPr sz="780" b="0">
                          <a:solidFill>
                            <a:srgbClr val="52514E"/>
                          </a:solidFill>
                          <a:latin typeface="Calibri"/>
                        </a:rPr>
                        <a:t>16%</a:t>
                      </a:r>
                    </a:p>
                  </a:txBody>
                  <a:tcPr marL="31750" marR="31750" marT="12700" marB="12700" anchor="ctr">
                    <a:solidFill>
                      <a:srgbClr val="FCFCFB"/>
                    </a:solidFill>
                  </a:tcPr>
                </a:tc>
                <a:tc>
                  <a:txBody>
                    <a:bodyPr wrap="square"/>
                    <a:lstStyle/>
                    <a:p>
                      <a:pPr algn="r"/>
                      <a:r>
                        <a:rPr sz="780" b="0">
                          <a:solidFill>
                            <a:srgbClr val="52514E"/>
                          </a:solidFill>
                          <a:latin typeface="Calibri"/>
                        </a:rPr>
                        <a:t>472.7</a:t>
                      </a:r>
                    </a:p>
                  </a:txBody>
                  <a:tcPr marL="31750" marR="31750" marT="12700" marB="12700" anchor="ctr">
                    <a:solidFill>
                      <a:srgbClr val="FCFCFB"/>
                    </a:solidFill>
                  </a:tcPr>
                </a:tc>
                <a:tc>
                  <a:txBody>
                    <a:bodyPr wrap="square"/>
                    <a:lstStyle/>
                    <a:p>
                      <a:pPr algn="r"/>
                      <a:r>
                        <a:rPr sz="780" b="0">
                          <a:solidFill>
                            <a:srgbClr val="898781"/>
                          </a:solidFill>
                          <a:latin typeface="Calibri"/>
                        </a:rPr>
                        <a:t>−11.5</a:t>
                      </a:r>
                    </a:p>
                  </a:txBody>
                  <a:tcPr marL="31750" marR="31750" marT="12700" marB="12700" anchor="ctr">
                    <a:solidFill>
                      <a:srgbClr val="FCFCFB"/>
                    </a:solidFill>
                  </a:tcPr>
                </a:tc>
              </a:tr>
              <a:tr h="177088">
                <a:tc>
                  <a:txBody>
                    <a:bodyPr wrap="square"/>
                    <a:lstStyle/>
                    <a:p>
                      <a:pPr algn="l"/>
                      <a:r>
                        <a:rPr sz="780" b="0">
                          <a:solidFill>
                            <a:srgbClr val="52514E"/>
                          </a:solidFill>
                          <a:latin typeface="Calibri"/>
                        </a:rPr>
                        <a:t>17%</a:t>
                      </a:r>
                    </a:p>
                  </a:txBody>
                  <a:tcPr marL="31750" marR="31750" marT="12700" marB="12700" anchor="ctr">
                    <a:solidFill>
                      <a:srgbClr val="FCFCFB"/>
                    </a:solidFill>
                  </a:tcPr>
                </a:tc>
                <a:tc>
                  <a:txBody>
                    <a:bodyPr wrap="square"/>
                    <a:lstStyle/>
                    <a:p>
                      <a:pPr algn="r"/>
                      <a:r>
                        <a:rPr sz="780" b="0">
                          <a:solidFill>
                            <a:srgbClr val="52514E"/>
                          </a:solidFill>
                          <a:latin typeface="Calibri"/>
                        </a:rPr>
                        <a:t>478.4</a:t>
                      </a:r>
                    </a:p>
                  </a:txBody>
                  <a:tcPr marL="31750" marR="31750" marT="12700" marB="12700" anchor="ctr">
                    <a:solidFill>
                      <a:srgbClr val="FCFCFB"/>
                    </a:solidFill>
                  </a:tcPr>
                </a:tc>
                <a:tc>
                  <a:txBody>
                    <a:bodyPr wrap="square"/>
                    <a:lstStyle/>
                    <a:p>
                      <a:pPr algn="r"/>
                      <a:r>
                        <a:rPr sz="780" b="0">
                          <a:solidFill>
                            <a:srgbClr val="898781"/>
                          </a:solidFill>
                          <a:latin typeface="Calibri"/>
                        </a:rPr>
                        <a:t>−5.8</a:t>
                      </a:r>
                    </a:p>
                  </a:txBody>
                  <a:tcPr marL="31750" marR="31750" marT="12700" marB="12700" anchor="ctr">
                    <a:solidFill>
                      <a:srgbClr val="FCFCFB"/>
                    </a:solidFill>
                  </a:tcPr>
                </a:tc>
              </a:tr>
              <a:tr h="177088">
                <a:tc>
                  <a:txBody>
                    <a:bodyPr wrap="square"/>
                    <a:lstStyle/>
                    <a:p>
                      <a:pPr algn="l"/>
                      <a:r>
                        <a:rPr sz="780" b="1">
                          <a:solidFill>
                            <a:srgbClr val="0B0B0B"/>
                          </a:solidFill>
                          <a:latin typeface="Calibri"/>
                        </a:rPr>
                        <a:t>18% — as given</a:t>
                      </a:r>
                    </a:p>
                  </a:txBody>
                  <a:tcPr marL="31750" marR="31750" marT="12700" marB="12700" anchor="ctr">
                    <a:solidFill>
                      <a:srgbClr val="FCFCFB"/>
                    </a:solidFill>
                  </a:tcPr>
                </a:tc>
                <a:tc>
                  <a:txBody>
                    <a:bodyPr wrap="square"/>
                    <a:lstStyle/>
                    <a:p>
                      <a:pPr algn="r"/>
                      <a:r>
                        <a:rPr sz="780" b="1">
                          <a:solidFill>
                            <a:srgbClr val="0B0B0B"/>
                          </a:solidFill>
                          <a:latin typeface="Calibri"/>
                        </a:rPr>
                        <a:t>484.2</a:t>
                      </a:r>
                    </a:p>
                  </a:txBody>
                  <a:tcPr marL="31750" marR="31750" marT="12700" marB="12700" anchor="ctr">
                    <a:solidFill>
                      <a:srgbClr val="FCFCFB"/>
                    </a:solidFill>
                  </a:tcPr>
                </a:tc>
                <a:tc>
                  <a:txBody>
                    <a:bodyPr wrap="square"/>
                    <a:lstStyle/>
                    <a:p>
                      <a:pPr algn="r"/>
                      <a:r>
                        <a:rPr sz="780" b="1">
                          <a:solidFill>
                            <a:srgbClr val="0B0B0B"/>
                          </a:solidFill>
                          <a:latin typeface="Calibri"/>
                        </a:rPr>
                        <a:t>—</a:t>
                      </a:r>
                    </a:p>
                  </a:txBody>
                  <a:tcPr marL="31750" marR="31750" marT="12700" marB="12700" anchor="ctr">
                    <a:solidFill>
                      <a:srgbClr val="FCFCFB"/>
                    </a:solidFill>
                  </a:tcPr>
                </a:tc>
              </a:tr>
              <a:tr h="177088">
                <a:tc>
                  <a:txBody>
                    <a:bodyPr wrap="square"/>
                    <a:lstStyle/>
                    <a:p>
                      <a:pPr algn="l"/>
                      <a:r>
                        <a:rPr sz="780" b="0">
                          <a:solidFill>
                            <a:srgbClr val="52514E"/>
                          </a:solidFill>
                          <a:latin typeface="Calibri"/>
                        </a:rPr>
                        <a:t>19%</a:t>
                      </a:r>
                    </a:p>
                  </a:txBody>
                  <a:tcPr marL="31750" marR="31750" marT="12700" marB="12700" anchor="ctr">
                    <a:solidFill>
                      <a:srgbClr val="FCFCFB"/>
                    </a:solidFill>
                  </a:tcPr>
                </a:tc>
                <a:tc>
                  <a:txBody>
                    <a:bodyPr wrap="square"/>
                    <a:lstStyle/>
                    <a:p>
                      <a:pPr algn="r"/>
                      <a:r>
                        <a:rPr sz="780" b="0">
                          <a:solidFill>
                            <a:srgbClr val="52514E"/>
                          </a:solidFill>
                          <a:latin typeface="Calibri"/>
                        </a:rPr>
                        <a:t>490.2</a:t>
                      </a:r>
                    </a:p>
                  </a:txBody>
                  <a:tcPr marL="31750" marR="31750" marT="12700" marB="12700" anchor="ctr">
                    <a:solidFill>
                      <a:srgbClr val="FCFCFB"/>
                    </a:solidFill>
                  </a:tcPr>
                </a:tc>
                <a:tc>
                  <a:txBody>
                    <a:bodyPr wrap="square"/>
                    <a:lstStyle/>
                    <a:p>
                      <a:pPr algn="r"/>
                      <a:r>
                        <a:rPr sz="780" b="0">
                          <a:solidFill>
                            <a:srgbClr val="D03B3B"/>
                          </a:solidFill>
                          <a:latin typeface="Calibri"/>
                        </a:rPr>
                        <a:t>+6.0</a:t>
                      </a:r>
                    </a:p>
                  </a:txBody>
                  <a:tcPr marL="31750" marR="31750" marT="12700" marB="12700" anchor="ctr">
                    <a:solidFill>
                      <a:srgbClr val="FCFCFB"/>
                    </a:solidFill>
                  </a:tcPr>
                </a:tc>
              </a:tr>
              <a:tr h="177088">
                <a:tc>
                  <a:txBody>
                    <a:bodyPr wrap="square"/>
                    <a:lstStyle/>
                    <a:p>
                      <a:pPr algn="l"/>
                      <a:r>
                        <a:rPr sz="780" b="0">
                          <a:solidFill>
                            <a:srgbClr val="52514E"/>
                          </a:solidFill>
                          <a:latin typeface="Calibri"/>
                        </a:rPr>
                        <a:t>20%</a:t>
                      </a:r>
                    </a:p>
                  </a:txBody>
                  <a:tcPr marL="31750" marR="31750" marT="12700" marB="12700" anchor="ctr">
                    <a:solidFill>
                      <a:srgbClr val="FCFCFB"/>
                    </a:solidFill>
                  </a:tcPr>
                </a:tc>
                <a:tc>
                  <a:txBody>
                    <a:bodyPr wrap="square"/>
                    <a:lstStyle/>
                    <a:p>
                      <a:pPr algn="r"/>
                      <a:r>
                        <a:rPr sz="780" b="0">
                          <a:solidFill>
                            <a:srgbClr val="52514E"/>
                          </a:solidFill>
                          <a:latin typeface="Calibri"/>
                        </a:rPr>
                        <a:t>496.3</a:t>
                      </a:r>
                    </a:p>
                  </a:txBody>
                  <a:tcPr marL="31750" marR="31750" marT="12700" marB="12700" anchor="ctr">
                    <a:solidFill>
                      <a:srgbClr val="FCFCFB"/>
                    </a:solidFill>
                  </a:tcPr>
                </a:tc>
                <a:tc>
                  <a:txBody>
                    <a:bodyPr wrap="square"/>
                    <a:lstStyle/>
                    <a:p>
                      <a:pPr algn="r"/>
                      <a:r>
                        <a:rPr sz="780" b="0">
                          <a:solidFill>
                            <a:srgbClr val="D03B3B"/>
                          </a:solidFill>
                          <a:latin typeface="Calibri"/>
                        </a:rPr>
                        <a:t>+12.1</a:t>
                      </a:r>
                    </a:p>
                  </a:txBody>
                  <a:tcPr marL="31750" marR="31750" marT="12700" marB="12700" anchor="ctr">
                    <a:solidFill>
                      <a:srgbClr val="FCFCFB"/>
                    </a:solidFill>
                  </a:tcPr>
                </a:tc>
              </a:tr>
            </a:tbl>
          </a:graphicData>
        </a:graphic>
      </p:graphicFrame>
      <p:cxnSp>
        <p:nvCxnSpPr>
          <p:cNvPr id="18" name="Connector 17"/>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 all figures reproduced by run_model.py, verified by crosscheck.py (72/72)</a:t>
            </a:r>
          </a:p>
        </p:txBody>
      </p:sp>
      <p:sp>
        <p:nvSpPr>
          <p:cNvPr id="20" name="TextBox 19"/>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A4 /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898781"/>
                </a:solidFill>
                <a:latin typeface="Calibri"/>
              </a:rPr>
              <a:t>Appendix A5</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700" b="1">
                <a:solidFill>
                  <a:srgbClr val="0B0B0B"/>
                </a:solidFill>
                <a:latin typeface="Calibri"/>
              </a:rPr>
              <a:t>The model and how it was verified</a:t>
            </a:r>
          </a:p>
        </p:txBody>
      </p:sp>
      <p:cxnSp>
        <p:nvCxnSpPr>
          <p:cNvPr id="4" name="Connector 3"/>
          <p:cNvCxnSpPr/>
          <p:nvPr/>
        </p:nvCxnSpPr>
        <p:spPr>
          <a:xfrm>
            <a:off x="502920" y="82296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960120"/>
            <a:ext cx="3439021" cy="146304"/>
          </a:xfrm>
          <a:prstGeom prst="rect">
            <a:avLst/>
          </a:prstGeom>
          <a:noFill/>
        </p:spPr>
        <p:txBody>
          <a:bodyPr wrap="square" lIns="0" rIns="0" tIns="0" bIns="0">
            <a:noAutofit/>
          </a:bodyPr>
          <a:lstStyle/>
          <a:p>
            <a:r>
              <a:rPr sz="819" b="1" spc="60">
                <a:solidFill>
                  <a:srgbClr val="898781"/>
                </a:solidFill>
                <a:latin typeface="Calibri"/>
              </a:rPr>
              <a:t>THE MODEL</a:t>
            </a:r>
          </a:p>
        </p:txBody>
      </p:sp>
      <p:graphicFrame>
        <p:nvGraphicFramePr>
          <p:cNvPr id="6" name="Table 5"/>
          <p:cNvGraphicFramePr>
            <a:graphicFrameLocks noGrp="1"/>
          </p:cNvGraphicFramePr>
          <p:nvPr/>
        </p:nvGraphicFramePr>
        <p:xfrm>
          <a:off x="502920" y="1197864"/>
          <a:ext cx="3439021" cy="2117952"/>
        </p:xfrm>
        <a:graphic>
          <a:graphicData uri="http://schemas.openxmlformats.org/drawingml/2006/table">
            <a:tbl>
              <a:tblPr firstRow="0" bandRow="0">
                <a:tableStyleId>{5C22544A-7EE6-4342-B048-85BDC9FD1C3A}</a:tableStyleId>
              </a:tblPr>
              <a:tblGrid>
                <a:gridCol w="1109361"/>
                <a:gridCol w="2329660"/>
              </a:tblGrid>
              <a:tr h="219456">
                <a:tc>
                  <a:txBody>
                    <a:bodyPr wrap="square"/>
                    <a:lstStyle/>
                    <a:p>
                      <a:pPr algn="l"/>
                      <a:r>
                        <a:rPr sz="680" b="1">
                          <a:solidFill>
                            <a:srgbClr val="898781"/>
                          </a:solidFill>
                          <a:latin typeface="Calibri"/>
                        </a:rPr>
                        <a:t>MODULE</a:t>
                      </a:r>
                    </a:p>
                  </a:txBody>
                  <a:tcPr marL="31750" marR="31750" marT="12700" marB="12700" anchor="b">
                    <a:solidFill>
                      <a:srgbClr val="FCFCFB"/>
                    </a:solidFill>
                  </a:tcPr>
                </a:tc>
                <a:tc>
                  <a:txBody>
                    <a:bodyPr wrap="square"/>
                    <a:lstStyle/>
                    <a:p>
                      <a:pPr algn="l"/>
                      <a:r>
                        <a:rPr sz="680" b="1">
                          <a:solidFill>
                            <a:srgbClr val="898781"/>
                          </a:solidFill>
                          <a:latin typeface="Calibri"/>
                        </a:rPr>
                        <a:t>RESPONSIBILITY</a:t>
                      </a:r>
                    </a:p>
                  </a:txBody>
                  <a:tcPr marL="31750" marR="31750" marT="12700" marB="12700" anchor="b">
                    <a:solidFill>
                      <a:srgbClr val="FCFCFB"/>
                    </a:solidFill>
                  </a:tcPr>
                </a:tc>
              </a:tr>
              <a:tr h="219456">
                <a:tc>
                  <a:txBody>
                    <a:bodyPr wrap="square"/>
                    <a:lstStyle/>
                    <a:p>
                      <a:pPr algn="l"/>
                      <a:r>
                        <a:rPr sz="740" b="1">
                          <a:solidFill>
                            <a:srgbClr val="52514E"/>
                          </a:solidFill>
                          <a:latin typeface="Calibri"/>
                        </a:rPr>
                        <a:t>config.py</a:t>
                      </a:r>
                    </a:p>
                  </a:txBody>
                  <a:tcPr marL="31750" marR="31750" marT="12700" marB="12700" anchor="ctr">
                    <a:solidFill>
                      <a:srgbClr val="FCFCFB"/>
                    </a:solidFill>
                  </a:tcPr>
                </a:tc>
                <a:tc>
                  <a:txBody>
                    <a:bodyPr wrap="square"/>
                    <a:lstStyle/>
                    <a:p>
                      <a:pPr algn="l"/>
                      <a:r>
                        <a:rPr sz="740" b="0">
                          <a:solidFill>
                            <a:srgbClr val="898781"/>
                          </a:solidFill>
                          <a:latin typeface="Calibri"/>
                        </a:rPr>
                        <a:t>Every assumption in one frozen dataclass</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erlang.py</a:t>
                      </a:r>
                    </a:p>
                  </a:txBody>
                  <a:tcPr marL="31750" marR="31750" marT="12700" marB="12700" anchor="ctr">
                    <a:solidFill>
                      <a:srgbClr val="FCFCFB"/>
                    </a:solidFill>
                  </a:tcPr>
                </a:tc>
                <a:tc>
                  <a:txBody>
                    <a:bodyPr wrap="square"/>
                    <a:lstStyle/>
                    <a:p>
                      <a:pPr algn="l"/>
                      <a:r>
                        <a:rPr sz="740" b="0">
                          <a:solidFill>
                            <a:srgbClr val="898781"/>
                          </a:solidFill>
                          <a:latin typeface="Calibri"/>
                        </a:rPr>
                        <a:t>Erlang B/C, service level, ASA, solver</a:t>
                      </a:r>
                    </a:p>
                  </a:txBody>
                  <a:tcPr marL="31750" marR="31750" marT="12700" marB="12700" anchor="ctr">
                    <a:solidFill>
                      <a:srgbClr val="FCFCFB"/>
                    </a:solidFill>
                  </a:tcPr>
                </a:tc>
              </a:tr>
              <a:tr h="290880">
                <a:tc>
                  <a:txBody>
                    <a:bodyPr wrap="square"/>
                    <a:lstStyle/>
                    <a:p>
                      <a:pPr algn="l"/>
                      <a:r>
                        <a:rPr sz="740" b="1">
                          <a:solidFill>
                            <a:srgbClr val="52514E"/>
                          </a:solidFill>
                          <a:latin typeface="Calibri"/>
                        </a:rPr>
                        <a:t>loader.py</a:t>
                      </a:r>
                    </a:p>
                  </a:txBody>
                  <a:tcPr marL="31750" marR="31750" marT="12700" marB="12700" anchor="ctr">
                    <a:solidFill>
                      <a:srgbClr val="FCFCFB"/>
                    </a:solidFill>
                  </a:tcPr>
                </a:tc>
                <a:tc>
                  <a:txBody>
                    <a:bodyPr wrap="square"/>
                    <a:lstStyle/>
                    <a:p>
                      <a:pPr algn="l"/>
                      <a:r>
                        <a:rPr sz="740" b="0">
                          <a:solidFill>
                            <a:srgbClr val="898781"/>
                          </a:solidFill>
                          <a:latin typeface="Calibri"/>
                        </a:rPr>
                        <a:t>Schema-driven reader; refuses the hidden sheet</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clean.py</a:t>
                      </a:r>
                    </a:p>
                  </a:txBody>
                  <a:tcPr marL="31750" marR="31750" marT="12700" marB="12700" anchor="ctr">
                    <a:solidFill>
                      <a:srgbClr val="FCFCFB"/>
                    </a:solidFill>
                  </a:tcPr>
                </a:tc>
                <a:tc>
                  <a:txBody>
                    <a:bodyPr wrap="square"/>
                    <a:lstStyle/>
                    <a:p>
                      <a:pPr algn="l"/>
                      <a:r>
                        <a:rPr sz="740" b="0">
                          <a:solidFill>
                            <a:srgbClr val="898781"/>
                          </a:solidFill>
                          <a:latin typeface="Calibri"/>
                        </a:rPr>
                        <a:t>12 data-quality checks → structured log</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forecast.py</a:t>
                      </a:r>
                    </a:p>
                  </a:txBody>
                  <a:tcPr marL="31750" marR="31750" marT="12700" marB="12700" anchor="ctr">
                    <a:solidFill>
                      <a:srgbClr val="FCFCFB"/>
                    </a:solidFill>
                  </a:tcPr>
                </a:tc>
                <a:tc>
                  <a:txBody>
                    <a:bodyPr wrap="square"/>
                    <a:lstStyle/>
                    <a:p>
                      <a:pPr algn="l"/>
                      <a:r>
                        <a:rPr sz="740" b="0">
                          <a:solidFill>
                            <a:srgbClr val="898781"/>
                          </a:solidFill>
                          <a:latin typeface="Calibri"/>
                        </a:rPr>
                        <a:t>Break detection, growth test, scenarios</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capacity.py</a:t>
                      </a:r>
                    </a:p>
                  </a:txBody>
                  <a:tcPr marL="31750" marR="31750" marT="12700" marB="12700" anchor="ctr">
                    <a:solidFill>
                      <a:srgbClr val="FCFCFB"/>
                    </a:solidFill>
                  </a:tcPr>
                </a:tc>
                <a:tc>
                  <a:txBody>
                    <a:bodyPr wrap="square"/>
                    <a:lstStyle/>
                    <a:p>
                      <a:pPr algn="l"/>
                      <a:r>
                        <a:rPr sz="740" b="0">
                          <a:solidFill>
                            <a:srgbClr val="898781"/>
                          </a:solidFill>
                          <a:latin typeface="Calibri"/>
                        </a:rPr>
                        <a:t>Workload → Erlang → seats → FTE, by BPO</a:t>
                      </a:r>
                    </a:p>
                  </a:txBody>
                  <a:tcPr marL="31750" marR="31750" marT="12700" marB="12700" anchor="ctr">
                    <a:solidFill>
                      <a:srgbClr val="FCFCFB"/>
                    </a:solidFill>
                  </a:tcPr>
                </a:tc>
              </a:tr>
              <a:tr h="290880">
                <a:tc>
                  <a:txBody>
                    <a:bodyPr wrap="square"/>
                    <a:lstStyle/>
                    <a:p>
                      <a:pPr algn="l"/>
                      <a:r>
                        <a:rPr sz="740" b="1">
                          <a:solidFill>
                            <a:srgbClr val="52514E"/>
                          </a:solidFill>
                          <a:latin typeface="Calibri"/>
                        </a:rPr>
                        <a:t>optimise.py</a:t>
                      </a:r>
                    </a:p>
                  </a:txBody>
                  <a:tcPr marL="31750" marR="31750" marT="12700" marB="12700" anchor="ctr">
                    <a:solidFill>
                      <a:srgbClr val="FCFCFB"/>
                    </a:solidFill>
                  </a:tcPr>
                </a:tc>
                <a:tc>
                  <a:txBody>
                    <a:bodyPr wrap="square"/>
                    <a:lstStyle/>
                    <a:p>
                      <a:pPr algn="l"/>
                      <a:r>
                        <a:rPr sz="740" b="0">
                          <a:solidFill>
                            <a:srgbClr val="898781"/>
                          </a:solidFill>
                          <a:latin typeface="Calibri"/>
                        </a:rPr>
                        <a:t>Each lever re-solved through the same engine</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report.py</a:t>
                      </a:r>
                    </a:p>
                  </a:txBody>
                  <a:tcPr marL="31750" marR="31750" marT="12700" marB="12700" anchor="ctr">
                    <a:solidFill>
                      <a:srgbClr val="FCFCFB"/>
                    </a:solidFill>
                  </a:tcPr>
                </a:tc>
                <a:tc>
                  <a:txBody>
                    <a:bodyPr wrap="square"/>
                    <a:lstStyle/>
                    <a:p>
                      <a:pPr algn="l"/>
                      <a:r>
                        <a:rPr sz="740" b="0">
                          <a:solidFill>
                            <a:srgbClr val="898781"/>
                          </a:solidFill>
                          <a:latin typeface="Calibri"/>
                        </a:rPr>
                        <a:t>16-sheet Excel export</a:t>
                      </a:r>
                    </a:p>
                  </a:txBody>
                  <a:tcPr marL="31750" marR="31750" marT="12700" marB="12700" anchor="ctr">
                    <a:solidFill>
                      <a:srgbClr val="FCFCFB"/>
                    </a:solidFill>
                  </a:tcPr>
                </a:tc>
              </a:tr>
            </a:tbl>
          </a:graphicData>
        </a:graphic>
      </p:graphicFrame>
      <p:sp>
        <p:nvSpPr>
          <p:cNvPr id="7" name="TextBox 6"/>
          <p:cNvSpPr txBox="1"/>
          <p:nvPr/>
        </p:nvSpPr>
        <p:spPr>
          <a:xfrm>
            <a:off x="502920" y="3416401"/>
            <a:ext cx="3439021" cy="257556"/>
          </a:xfrm>
          <a:prstGeom prst="rect">
            <a:avLst/>
          </a:prstGeom>
          <a:noFill/>
        </p:spPr>
        <p:txBody>
          <a:bodyPr wrap="square" lIns="0" rIns="0" tIns="0" bIns="0">
            <a:noAutofit/>
          </a:bodyPr>
          <a:lstStyle/>
          <a:p>
            <a:r>
              <a:rPr sz="780" b="1" i="0">
                <a:solidFill>
                  <a:srgbClr val="52514E"/>
                </a:solidFill>
                <a:latin typeface="Calibri"/>
              </a:rPr>
              <a:t>Automation was the point.</a:t>
            </a:r>
            <a:r>
              <a:rPr sz="780" b="0" i="0">
                <a:solidFill>
                  <a:srgbClr val="52514E"/>
                </a:solidFill>
                <a:latin typeface="Calibri"/>
              </a:rPr>
              <a:t> Drop in next month's workbook and the plan regenerates — every assumption is a config value.</a:t>
            </a:r>
          </a:p>
        </p:txBody>
      </p:sp>
      <p:cxnSp>
        <p:nvCxnSpPr>
          <p:cNvPr id="8" name="Connector 7"/>
          <p:cNvCxnSpPr/>
          <p:nvPr/>
        </p:nvCxnSpPr>
        <p:spPr>
          <a:xfrm>
            <a:off x="502920" y="3747109"/>
            <a:ext cx="0" cy="419862"/>
          </a:xfrm>
          <a:prstGeom prst="line">
            <a:avLst/>
          </a:prstGeom>
          <a:ln w="28575">
            <a:solidFill>
              <a:srgbClr val="C3C2B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 y="3774541"/>
            <a:ext cx="3320149" cy="346710"/>
          </a:xfrm>
          <a:prstGeom prst="rect">
            <a:avLst/>
          </a:prstGeom>
          <a:noFill/>
        </p:spPr>
        <p:txBody>
          <a:bodyPr wrap="square" lIns="0" rIns="0" tIns="0" bIns="0">
            <a:noAutofit/>
          </a:bodyPr>
          <a:lstStyle/>
          <a:p>
            <a:r>
              <a:rPr sz="700" b="0" i="0">
                <a:solidFill>
                  <a:srgbClr val="52514E"/>
                </a:solidFill>
                <a:latin typeface="Calibri"/>
              </a:rPr>
              <a:t>python run_model.py</a:t>
            </a:r>
            <a:br/>
            <a:r>
              <a:rPr sz="700" b="0" i="0">
                <a:solidFill>
                  <a:srgbClr val="52514E"/>
                </a:solidFill>
                <a:latin typeface="Calibri"/>
              </a:rPr>
              <a:t>python run_model.py --aht-source reason</a:t>
            </a:r>
            <a:br/>
            <a:r>
              <a:rPr sz="700" b="0" i="0">
                <a:solidFill>
                  <a:srgbClr val="52514E"/>
                </a:solidFill>
                <a:latin typeface="Calibri"/>
              </a:rPr>
              <a:t>python crosscheck.py</a:t>
            </a:r>
          </a:p>
        </p:txBody>
      </p:sp>
      <p:sp>
        <p:nvSpPr>
          <p:cNvPr id="10" name="TextBox 9"/>
          <p:cNvSpPr txBox="1"/>
          <p:nvPr/>
        </p:nvSpPr>
        <p:spPr>
          <a:xfrm>
            <a:off x="4161397" y="960120"/>
            <a:ext cx="3868899" cy="146304"/>
          </a:xfrm>
          <a:prstGeom prst="rect">
            <a:avLst/>
          </a:prstGeom>
          <a:noFill/>
        </p:spPr>
        <p:txBody>
          <a:bodyPr wrap="square" lIns="0" rIns="0" tIns="0" bIns="0">
            <a:noAutofit/>
          </a:bodyPr>
          <a:lstStyle/>
          <a:p>
            <a:r>
              <a:rPr sz="819" b="1" spc="60">
                <a:solidFill>
                  <a:srgbClr val="898781"/>
                </a:solidFill>
                <a:latin typeface="Calibri"/>
              </a:rPr>
              <a:t>VERIFICATION — 72 CHECKS, ALL PASSING</a:t>
            </a:r>
          </a:p>
        </p:txBody>
      </p:sp>
      <p:graphicFrame>
        <p:nvGraphicFramePr>
          <p:cNvPr id="11" name="Table 10"/>
          <p:cNvGraphicFramePr>
            <a:graphicFrameLocks noGrp="1"/>
          </p:cNvGraphicFramePr>
          <p:nvPr/>
        </p:nvGraphicFramePr>
        <p:xfrm>
          <a:off x="4161397" y="1197864"/>
          <a:ext cx="3868899" cy="2046528"/>
        </p:xfrm>
        <a:graphic>
          <a:graphicData uri="http://schemas.openxmlformats.org/drawingml/2006/table">
            <a:tbl>
              <a:tblPr firstRow="0" bandRow="0">
                <a:tableStyleId>{5C22544A-7EE6-4342-B048-85BDC9FD1C3A}</a:tableStyleId>
              </a:tblPr>
              <a:tblGrid>
                <a:gridCol w="853433"/>
                <a:gridCol w="3015466"/>
              </a:tblGrid>
              <a:tr h="219456">
                <a:tc>
                  <a:txBody>
                    <a:bodyPr wrap="square"/>
                    <a:lstStyle/>
                    <a:p>
                      <a:pPr algn="l"/>
                      <a:r>
                        <a:rPr sz="680" b="1">
                          <a:solidFill>
                            <a:srgbClr val="898781"/>
                          </a:solidFill>
                          <a:latin typeface="Calibri"/>
                        </a:rPr>
                        <a:t>LAYER</a:t>
                      </a:r>
                    </a:p>
                  </a:txBody>
                  <a:tcPr marL="31750" marR="31750" marT="12700" marB="12700" anchor="b">
                    <a:solidFill>
                      <a:srgbClr val="FCFCFB"/>
                    </a:solidFill>
                  </a:tcPr>
                </a:tc>
                <a:tc>
                  <a:txBody>
                    <a:bodyPr wrap="square"/>
                    <a:lstStyle/>
                    <a:p>
                      <a:pPr algn="l"/>
                      <a:r>
                        <a:rPr sz="680" b="1">
                          <a:solidFill>
                            <a:srgbClr val="898781"/>
                          </a:solidFill>
                          <a:latin typeface="Calibri"/>
                        </a:rPr>
                        <a:t>WHAT IS ACTUALLY PROVED</a:t>
                      </a:r>
                    </a:p>
                  </a:txBody>
                  <a:tcPr marL="31750" marR="31750" marT="12700" marB="12700" anchor="b">
                    <a:solidFill>
                      <a:srgbClr val="FCFCFB"/>
                    </a:solidFill>
                  </a:tcPr>
                </a:tc>
              </a:tr>
              <a:tr h="290880">
                <a:tc>
                  <a:txBody>
                    <a:bodyPr wrap="square"/>
                    <a:lstStyle/>
                    <a:p>
                      <a:pPr algn="l"/>
                      <a:r>
                        <a:rPr sz="740" b="1">
                          <a:solidFill>
                            <a:srgbClr val="52514E"/>
                          </a:solidFill>
                          <a:latin typeface="Calibri"/>
                        </a:rPr>
                        <a:t>Erlang B/C</a:t>
                      </a:r>
                    </a:p>
                  </a:txBody>
                  <a:tcPr marL="31750" marR="31750" marT="12700" marB="12700" anchor="ctr">
                    <a:solidFill>
                      <a:srgbClr val="FCFCFB"/>
                    </a:solidFill>
                  </a:tcPr>
                </a:tc>
                <a:tc>
                  <a:txBody>
                    <a:bodyPr wrap="square"/>
                    <a:lstStyle/>
                    <a:p>
                      <a:pPr algn="l"/>
                      <a:r>
                        <a:rPr sz="740" b="0">
                          <a:solidFill>
                            <a:srgbClr val="898781"/>
                          </a:solidFill>
                          <a:latin typeface="Calibri"/>
                        </a:rPr>
                        <a:t>Recursion vs closed form (1.1e-16); vs stationary dist. (&lt;1e-12)</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Simulation</a:t>
                      </a:r>
                    </a:p>
                  </a:txBody>
                  <a:tcPr marL="31750" marR="31750" marT="12700" marB="12700" anchor="ctr">
                    <a:solidFill>
                      <a:srgbClr val="FCFCFB"/>
                    </a:solidFill>
                  </a:tcPr>
                </a:tc>
                <a:tc>
                  <a:txBody>
                    <a:bodyPr wrap="square"/>
                    <a:lstStyle/>
                    <a:p>
                      <a:pPr algn="l"/>
                      <a:r>
                        <a:rPr sz="740" b="0">
                          <a:solidFill>
                            <a:srgbClr val="898781"/>
                          </a:solidFill>
                          <a:latin typeface="Calibri"/>
                        </a:rPr>
                        <a:t>vs discrete-event M/M/c — 3σ band on SL and ASA</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Solver</a:t>
                      </a:r>
                    </a:p>
                  </a:txBody>
                  <a:tcPr marL="31750" marR="31750" marT="12700" marB="12700" anchor="ctr">
                    <a:solidFill>
                      <a:srgbClr val="FCFCFB"/>
                    </a:solidFill>
                  </a:tcPr>
                </a:tc>
                <a:tc>
                  <a:txBody>
                    <a:bodyPr wrap="square"/>
                    <a:lstStyle/>
                    <a:p>
                      <a:pPr algn="l"/>
                      <a:r>
                        <a:rPr sz="740" b="0">
                          <a:solidFill>
                            <a:srgbClr val="898781"/>
                          </a:solidFill>
                          <a:latin typeface="Calibri"/>
                        </a:rPr>
                        <a:t>Minimal feasible seats; SL monotone in seats</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Queueing</a:t>
                      </a:r>
                    </a:p>
                  </a:txBody>
                  <a:tcPr marL="31750" marR="31750" marT="12700" marB="12700" anchor="ctr">
                    <a:solidFill>
                      <a:srgbClr val="FCFCFB"/>
                    </a:solidFill>
                  </a:tcPr>
                </a:tc>
                <a:tc>
                  <a:txBody>
                    <a:bodyPr wrap="square"/>
                    <a:lstStyle/>
                    <a:p>
                      <a:pPr algn="l"/>
                      <a:r>
                        <a:rPr sz="740" b="0">
                          <a:solidFill>
                            <a:srgbClr val="898781"/>
                          </a:solidFill>
                          <a:latin typeface="Calibri"/>
                        </a:rPr>
                        <a:t>Little's Law holds exactly</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Raw cells</a:t>
                      </a:r>
                    </a:p>
                  </a:txBody>
                  <a:tcPr marL="31750" marR="31750" marT="12700" marB="12700" anchor="ctr">
                    <a:solidFill>
                      <a:srgbClr val="FCFCFB"/>
                    </a:solidFill>
                  </a:tcPr>
                </a:tc>
                <a:tc>
                  <a:txBody>
                    <a:bodyPr wrap="square"/>
                    <a:lstStyle/>
                    <a:p>
                      <a:pPr algn="l"/>
                      <a:r>
                        <a:rPr sz="740" b="0">
                          <a:solidFill>
                            <a:srgbClr val="898781"/>
                          </a:solidFill>
                          <a:latin typeface="Calibri"/>
                        </a:rPr>
                        <a:t>Full July chain re-derived from cells — matches 1e-6</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Invariants</a:t>
                      </a:r>
                    </a:p>
                  </a:txBody>
                  <a:tcPr marL="31750" marR="31750" marT="12700" marB="12700" anchor="ctr">
                    <a:solidFill>
                      <a:srgbClr val="FCFCFB"/>
                    </a:solidFill>
                  </a:tcPr>
                </a:tc>
                <a:tc>
                  <a:txBody>
                    <a:bodyPr wrap="square"/>
                    <a:lstStyle/>
                    <a:p>
                      <a:pPr algn="l"/>
                      <a:r>
                        <a:rPr sz="740" b="0">
                          <a:solidFill>
                            <a:srgbClr val="898781"/>
                          </a:solidFill>
                          <a:latin typeface="Calibri"/>
                        </a:rPr>
                        <a:t>Every queue ≥80%; roll-up sums exact; LOW≤BASE≤HIGH</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HR maths</a:t>
                      </a:r>
                    </a:p>
                  </a:txBody>
                  <a:tcPr marL="31750" marR="31750" marT="12700" marB="12700" anchor="ctr">
                    <a:solidFill>
                      <a:srgbClr val="FCFCFB"/>
                    </a:solidFill>
                  </a:tcPr>
                </a:tc>
                <a:tc>
                  <a:txBody>
                    <a:bodyPr wrap="square"/>
                    <a:lstStyle/>
                    <a:p>
                      <a:pPr algn="l"/>
                      <a:r>
                        <a:rPr sz="740" b="0">
                          <a:solidFill>
                            <a:srgbClr val="898781"/>
                          </a:solidFill>
                          <a:latin typeface="Calibri"/>
                        </a:rPr>
                        <a:t>Attrition compounds to 36.00%/yr</a:t>
                      </a:r>
                    </a:p>
                  </a:txBody>
                  <a:tcPr marL="31750" marR="31750" marT="12700" marB="12700" anchor="ctr">
                    <a:solidFill>
                      <a:srgbClr val="FCFCFB"/>
                    </a:solidFill>
                  </a:tcPr>
                </a:tc>
              </a:tr>
              <a:tr h="219456">
                <a:tc>
                  <a:txBody>
                    <a:bodyPr wrap="square"/>
                    <a:lstStyle/>
                    <a:p>
                      <a:pPr algn="l"/>
                      <a:r>
                        <a:rPr sz="740" b="1">
                          <a:solidFill>
                            <a:srgbClr val="52514E"/>
                          </a:solidFill>
                          <a:latin typeface="Calibri"/>
                        </a:rPr>
                        <a:t>Levers</a:t>
                      </a:r>
                    </a:p>
                  </a:txBody>
                  <a:tcPr marL="31750" marR="31750" marT="12700" marB="12700" anchor="ctr">
                    <a:solidFill>
                      <a:srgbClr val="FCFCFB"/>
                    </a:solidFill>
                  </a:tcPr>
                </a:tc>
                <a:tc>
                  <a:txBody>
                    <a:bodyPr wrap="square"/>
                    <a:lstStyle/>
                    <a:p>
                      <a:pPr algn="l"/>
                      <a:r>
                        <a:rPr sz="740" b="0">
                          <a:solidFill>
                            <a:srgbClr val="898781"/>
                          </a:solidFill>
                          <a:latin typeface="Calibri"/>
                        </a:rPr>
                        <a:t>Each 1b strategy re-solved, not asserted</a:t>
                      </a:r>
                    </a:p>
                  </a:txBody>
                  <a:tcPr marL="31750" marR="31750" marT="12700" marB="12700" anchor="ctr">
                    <a:solidFill>
                      <a:srgbClr val="FCFCFB"/>
                    </a:solidFill>
                  </a:tcPr>
                </a:tc>
              </a:tr>
            </a:tbl>
          </a:graphicData>
        </a:graphic>
      </p:graphicFrame>
      <p:sp>
        <p:nvSpPr>
          <p:cNvPr id="12" name="TextBox 11"/>
          <p:cNvSpPr txBox="1"/>
          <p:nvPr/>
        </p:nvSpPr>
        <p:spPr>
          <a:xfrm>
            <a:off x="8249753" y="960120"/>
            <a:ext cx="3439021" cy="146304"/>
          </a:xfrm>
          <a:prstGeom prst="rect">
            <a:avLst/>
          </a:prstGeom>
          <a:noFill/>
        </p:spPr>
        <p:txBody>
          <a:bodyPr wrap="square" lIns="0" rIns="0" tIns="0" bIns="0">
            <a:noAutofit/>
          </a:bodyPr>
          <a:lstStyle/>
          <a:p>
            <a:r>
              <a:rPr sz="819" b="1" spc="60">
                <a:solidFill>
                  <a:srgbClr val="898781"/>
                </a:solidFill>
                <a:latin typeface="Calibri"/>
              </a:rPr>
              <a:t>WHAT VERIFICATION ACTUALLY CAUGHT</a:t>
            </a:r>
          </a:p>
        </p:txBody>
      </p:sp>
      <p:sp>
        <p:nvSpPr>
          <p:cNvPr id="13" name="TextBox 12"/>
          <p:cNvSpPr txBox="1"/>
          <p:nvPr/>
        </p:nvSpPr>
        <p:spPr>
          <a:xfrm>
            <a:off x="8249753" y="1197864"/>
            <a:ext cx="3439021" cy="132080"/>
          </a:xfrm>
          <a:prstGeom prst="rect">
            <a:avLst/>
          </a:prstGeom>
          <a:noFill/>
        </p:spPr>
        <p:txBody>
          <a:bodyPr wrap="square" lIns="0" rIns="0" tIns="0" bIns="0">
            <a:noAutofit/>
          </a:bodyPr>
          <a:lstStyle/>
          <a:p>
            <a:r>
              <a:rPr sz="800" b="0" i="0">
                <a:solidFill>
                  <a:srgbClr val="52514E"/>
                </a:solidFill>
                <a:latin typeface="Calibri"/>
              </a:rPr>
              <a:t>Three real defects </a:t>
            </a:r>
            <a:r>
              <a:rPr sz="800" b="1" i="0">
                <a:solidFill>
                  <a:srgbClr val="52514E"/>
                </a:solidFill>
                <a:latin typeface="Calibri"/>
              </a:rPr>
              <a:t>in my own model</a:t>
            </a:r>
            <a:r>
              <a:rPr sz="800" b="0" i="0">
                <a:solidFill>
                  <a:srgbClr val="52514E"/>
                </a:solidFill>
                <a:latin typeface="Calibri"/>
              </a:rPr>
              <a:t>, all fixed at source:</a:t>
            </a:r>
          </a:p>
        </p:txBody>
      </p:sp>
      <p:sp>
        <p:nvSpPr>
          <p:cNvPr id="14" name="TextBox 13"/>
          <p:cNvSpPr txBox="1"/>
          <p:nvPr/>
        </p:nvSpPr>
        <p:spPr>
          <a:xfrm>
            <a:off x="8249753" y="1375664"/>
            <a:ext cx="3439021" cy="807719"/>
          </a:xfrm>
          <a:prstGeom prst="rect">
            <a:avLst/>
          </a:prstGeom>
          <a:noFill/>
        </p:spPr>
        <p:txBody>
          <a:bodyPr wrap="square" lIns="0" rIns="0" tIns="0" bIns="0">
            <a:noAutofit/>
          </a:bodyPr>
          <a:lstStyle/>
          <a:p>
            <a:r>
              <a:rPr sz="760" b="0" i="0">
                <a:solidFill>
                  <a:srgbClr val="52514E"/>
                </a:solidFill>
                <a:latin typeface="Calibri"/>
              </a:rPr>
              <a:t>•  The growth test keyed off </a:t>
            </a:r>
            <a:r>
              <a:rPr sz="760" b="1" i="0">
                <a:solidFill>
                  <a:srgbClr val="52514E"/>
                </a:solidFill>
                <a:latin typeface="Calibri"/>
              </a:rPr>
              <a:t>|slope|</a:t>
            </a:r>
            <a:r>
              <a:rPr sz="760" b="0" i="0">
                <a:solidFill>
                  <a:srgbClr val="52514E"/>
                </a:solidFill>
                <a:latin typeface="Calibri"/>
              </a:rPr>
              <a:t>, so declining German qualified as “growing” — HIGH came out below BASE.</a:t>
            </a:r>
          </a:p>
          <a:p>
            <a:pPr>
              <a:spcBef>
                <a:spcPts val="216"/>
              </a:spcBef>
            </a:pPr>
            <a:r>
              <a:rPr sz="760" b="0" i="0">
                <a:solidFill>
                  <a:srgbClr val="52514E"/>
                </a:solidFill>
                <a:latin typeface="Calibri"/>
              </a:rPr>
              <a:t>•  The reported trend was a one-step projection rather than the OLS slope (</a:t>
            </a:r>
            <a:r>
              <a:rPr sz="760" b="1" i="0">
                <a:solidFill>
                  <a:srgbClr val="52514E"/>
                </a:solidFill>
                <a:latin typeface="Calibri"/>
              </a:rPr>
              <a:t>16,869/mo</a:t>
            </a:r>
            <a:r>
              <a:rPr sz="760" b="0" i="0">
                <a:solidFill>
                  <a:srgbClr val="52514E"/>
                </a:solidFill>
                <a:latin typeface="Calibri"/>
              </a:rPr>
              <a:t>).</a:t>
            </a:r>
          </a:p>
          <a:p>
            <a:pPr>
              <a:spcBef>
                <a:spcPts val="216"/>
              </a:spcBef>
            </a:pPr>
            <a:r>
              <a:rPr sz="760" b="0" i="0">
                <a:solidFill>
                  <a:srgbClr val="52514E"/>
                </a:solidFill>
                <a:latin typeface="Calibri"/>
              </a:rPr>
              <a:t>•  A fourth failure surfaced the ±2-contact residue — became DQ finding #1.</a:t>
            </a:r>
          </a:p>
        </p:txBody>
      </p:sp>
      <p:cxnSp>
        <p:nvCxnSpPr>
          <p:cNvPr id="15" name="Connector 14"/>
          <p:cNvCxnSpPr/>
          <p:nvPr/>
        </p:nvCxnSpPr>
        <p:spPr>
          <a:xfrm>
            <a:off x="8249753" y="2265679"/>
            <a:ext cx="0" cy="317500"/>
          </a:xfrm>
          <a:prstGeom prst="line">
            <a:avLst/>
          </a:prstGeom>
          <a:ln w="28575">
            <a:solidFill>
              <a:srgbClr val="2A78D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68625" y="2293111"/>
            <a:ext cx="3320149" cy="244348"/>
          </a:xfrm>
          <a:prstGeom prst="rect">
            <a:avLst/>
          </a:prstGeom>
          <a:noFill/>
        </p:spPr>
        <p:txBody>
          <a:bodyPr wrap="square" lIns="0" rIns="0" tIns="0" bIns="0">
            <a:noAutofit/>
          </a:bodyPr>
          <a:lstStyle/>
          <a:p>
            <a:r>
              <a:rPr sz="740" b="0" i="0">
                <a:solidFill>
                  <a:srgbClr val="52514E"/>
                </a:solidFill>
                <a:latin typeface="Calibri"/>
              </a:rPr>
              <a:t>One "failure" was wrong in the </a:t>
            </a:r>
            <a:r>
              <a:rPr sz="740" b="0" i="1">
                <a:solidFill>
                  <a:srgbClr val="52514E"/>
                </a:solidFill>
                <a:latin typeface="Calibri"/>
              </a:rPr>
              <a:t>test</a:t>
            </a:r>
            <a:r>
              <a:rPr sz="740" b="0" i="0">
                <a:solidFill>
                  <a:srgbClr val="52514E"/>
                </a:solidFill>
                <a:latin typeface="Calibri"/>
              </a:rPr>
              <a:t>, not the code — four independent derivations agreed to </a:t>
            </a:r>
            <a:r>
              <a:rPr sz="740" b="1" i="0">
                <a:solidFill>
                  <a:srgbClr val="52514E"/>
                </a:solidFill>
                <a:latin typeface="Calibri"/>
              </a:rPr>
              <a:t>1e-12</a:t>
            </a:r>
            <a:r>
              <a:rPr sz="740" b="0" i="0">
                <a:solidFill>
                  <a:srgbClr val="52514E"/>
                </a:solidFill>
                <a:latin typeface="Calibri"/>
              </a:rPr>
              <a:t>. The test was corrected, not the model.</a:t>
            </a:r>
          </a:p>
        </p:txBody>
      </p:sp>
      <p:sp>
        <p:nvSpPr>
          <p:cNvPr id="17" name="TextBox 16"/>
          <p:cNvSpPr txBox="1"/>
          <p:nvPr/>
        </p:nvSpPr>
        <p:spPr>
          <a:xfrm>
            <a:off x="8249753" y="2702051"/>
            <a:ext cx="3439021" cy="386334"/>
          </a:xfrm>
          <a:prstGeom prst="rect">
            <a:avLst/>
          </a:prstGeom>
          <a:noFill/>
        </p:spPr>
        <p:txBody>
          <a:bodyPr wrap="square" lIns="0" rIns="0" tIns="0" bIns="0">
            <a:noAutofit/>
          </a:bodyPr>
          <a:lstStyle/>
          <a:p>
            <a:r>
              <a:rPr sz="780" b="1" i="0">
                <a:solidFill>
                  <a:srgbClr val="52514E"/>
                </a:solidFill>
                <a:latin typeface="Calibri"/>
              </a:rPr>
              <a:t>Why this belongs in the submission.</a:t>
            </a:r>
            <a:r>
              <a:rPr sz="780" b="0" i="0">
                <a:solidFill>
                  <a:srgbClr val="52514E"/>
                </a:solidFill>
                <a:latin typeface="Calibri"/>
              </a:rPr>
              <a:t> Every figure in this deck is generated by the model — the deck reads the model's own output, so the two cannot drift apart.</a:t>
            </a:r>
          </a:p>
        </p:txBody>
      </p:sp>
      <p:cxnSp>
        <p:nvCxnSpPr>
          <p:cNvPr id="18" name="Connector 17"/>
          <p:cNvCxnSpPr/>
          <p:nvPr/>
        </p:nvCxnSpPr>
        <p:spPr>
          <a:xfrm>
            <a:off x="8249753" y="3152393"/>
            <a:ext cx="0" cy="439674"/>
          </a:xfrm>
          <a:prstGeom prst="line">
            <a:avLst/>
          </a:prstGeom>
          <a:ln w="28575">
            <a:solidFill>
              <a:srgbClr val="2A78D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368625" y="3179825"/>
            <a:ext cx="3320149" cy="366522"/>
          </a:xfrm>
          <a:prstGeom prst="rect">
            <a:avLst/>
          </a:prstGeom>
          <a:noFill/>
        </p:spPr>
        <p:txBody>
          <a:bodyPr wrap="square" lIns="0" rIns="0" tIns="0" bIns="0">
            <a:noAutofit/>
          </a:bodyPr>
          <a:lstStyle/>
          <a:p>
            <a:r>
              <a:rPr sz="740" b="1" i="0">
                <a:solidFill>
                  <a:srgbClr val="52514E"/>
                </a:solidFill>
                <a:latin typeface="Calibri"/>
              </a:rPr>
              <a:t>The honest limit.</a:t>
            </a:r>
            <a:r>
              <a:rPr sz="740" b="0" i="0">
                <a:solidFill>
                  <a:srgbClr val="52514E"/>
                </a:solidFill>
                <a:latin typeface="Calibri"/>
              </a:rPr>
              <a:t> Verification proves the model computes what it claims. It cannot prove the inputs are right — two are not yet settled, which is why they carry FTE price tags on slide 3.</a:t>
            </a:r>
          </a:p>
        </p:txBody>
      </p:sp>
      <p:cxnSp>
        <p:nvCxnSpPr>
          <p:cNvPr id="20" name="Connector 19"/>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 all figures reproduced by run_model.py, verified by crosscheck.py (72/72)</a:t>
            </a:r>
          </a:p>
        </p:txBody>
      </p:sp>
      <p:sp>
        <p:nvSpPr>
          <p:cNvPr id="22" name="TextBox 21"/>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A5 / 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85855" cy="146304"/>
          </a:xfrm>
          <a:prstGeom prst="rect">
            <a:avLst/>
          </a:prstGeom>
          <a:noFill/>
        </p:spPr>
        <p:txBody>
          <a:bodyPr wrap="square" lIns="0" rIns="0" tIns="0" bIns="0">
            <a:noAutofit/>
          </a:bodyPr>
          <a:lstStyle/>
          <a:p>
            <a:r>
              <a:rPr sz="800" b="1">
                <a:solidFill>
                  <a:srgbClr val="898781"/>
                </a:solidFill>
                <a:latin typeface="Calibri"/>
              </a:rPr>
              <a:t>Appendix A6</a:t>
            </a:r>
            <a:r>
              <a:rPr sz="800">
                <a:solidFill>
                  <a:srgbClr val="898781"/>
                </a:solidFill>
                <a:latin typeface="Calibri"/>
              </a:rPr>
              <a:t>   Manager, Workforce Management · Care Experience &amp; Strategy</a:t>
            </a:r>
          </a:p>
        </p:txBody>
      </p:sp>
      <p:sp>
        <p:nvSpPr>
          <p:cNvPr id="3" name="TextBox 2"/>
          <p:cNvSpPr txBox="1"/>
          <p:nvPr/>
        </p:nvSpPr>
        <p:spPr>
          <a:xfrm>
            <a:off x="502920" y="484632"/>
            <a:ext cx="11185855" cy="384048"/>
          </a:xfrm>
          <a:prstGeom prst="rect">
            <a:avLst/>
          </a:prstGeom>
          <a:noFill/>
        </p:spPr>
        <p:txBody>
          <a:bodyPr wrap="square" lIns="0" rIns="0" tIns="0" bIns="0">
            <a:noAutofit/>
          </a:bodyPr>
          <a:lstStyle/>
          <a:p>
            <a:r>
              <a:rPr sz="1700" b="1">
                <a:solidFill>
                  <a:srgbClr val="0B0B0B"/>
                </a:solidFill>
                <a:latin typeface="Calibri"/>
              </a:rPr>
              <a:t>Assumptions register and open requests</a:t>
            </a:r>
          </a:p>
        </p:txBody>
      </p:sp>
      <p:cxnSp>
        <p:nvCxnSpPr>
          <p:cNvPr id="4" name="Connector 3"/>
          <p:cNvCxnSpPr/>
          <p:nvPr/>
        </p:nvCxnSpPr>
        <p:spPr>
          <a:xfrm>
            <a:off x="502920" y="82296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960120"/>
            <a:ext cx="6031519" cy="146304"/>
          </a:xfrm>
          <a:prstGeom prst="rect">
            <a:avLst/>
          </a:prstGeom>
          <a:noFill/>
        </p:spPr>
        <p:txBody>
          <a:bodyPr wrap="square" lIns="0" rIns="0" tIns="0" bIns="0">
            <a:noAutofit/>
          </a:bodyPr>
          <a:lstStyle/>
          <a:p>
            <a:r>
              <a:rPr sz="819" b="1" spc="60">
                <a:solidFill>
                  <a:srgbClr val="898781"/>
                </a:solidFill>
                <a:latin typeface="Calibri"/>
              </a:rPr>
              <a:t>EVERY ASSUMPTION, AND WHERE IT COMES FROM</a:t>
            </a:r>
          </a:p>
        </p:txBody>
      </p:sp>
      <p:graphicFrame>
        <p:nvGraphicFramePr>
          <p:cNvPr id="6" name="Table 5"/>
          <p:cNvGraphicFramePr>
            <a:graphicFrameLocks noGrp="1"/>
          </p:cNvGraphicFramePr>
          <p:nvPr/>
        </p:nvGraphicFramePr>
        <p:xfrm>
          <a:off x="502920" y="1197864"/>
          <a:ext cx="6031519" cy="3370478"/>
        </p:xfrm>
        <a:graphic>
          <a:graphicData uri="http://schemas.openxmlformats.org/drawingml/2006/table">
            <a:tbl>
              <a:tblPr firstRow="0" bandRow="0">
                <a:tableStyleId>{5C22544A-7EE6-4342-B048-85BDC9FD1C3A}</a:tableStyleId>
              </a:tblPr>
              <a:tblGrid>
                <a:gridCol w="1830996"/>
                <a:gridCol w="1400174"/>
                <a:gridCol w="2800349"/>
              </a:tblGrid>
              <a:tr h="205740">
                <a:tc>
                  <a:txBody>
                    <a:bodyPr wrap="square"/>
                    <a:lstStyle/>
                    <a:p>
                      <a:pPr algn="l"/>
                      <a:r>
                        <a:rPr sz="680" b="1">
                          <a:solidFill>
                            <a:srgbClr val="898781"/>
                          </a:solidFill>
                          <a:latin typeface="Calibri"/>
                        </a:rPr>
                        <a:t>ASSUMPTION</a:t>
                      </a:r>
                    </a:p>
                  </a:txBody>
                  <a:tcPr marL="31750" marR="31750" marT="12700" marB="12700" anchor="b">
                    <a:solidFill>
                      <a:srgbClr val="FCFCFB"/>
                    </a:solidFill>
                  </a:tcPr>
                </a:tc>
                <a:tc>
                  <a:txBody>
                    <a:bodyPr wrap="square"/>
                    <a:lstStyle/>
                    <a:p>
                      <a:pPr algn="r"/>
                      <a:r>
                        <a:rPr sz="680" b="1">
                          <a:solidFill>
                            <a:srgbClr val="898781"/>
                          </a:solidFill>
                          <a:latin typeface="Calibri"/>
                        </a:rPr>
                        <a:t>VALUE</a:t>
                      </a:r>
                    </a:p>
                  </a:txBody>
                  <a:tcPr marL="31750" marR="31750" marT="12700" marB="12700" anchor="b">
                    <a:solidFill>
                      <a:srgbClr val="FCFCFB"/>
                    </a:solidFill>
                  </a:tcPr>
                </a:tc>
                <a:tc>
                  <a:txBody>
                    <a:bodyPr wrap="square"/>
                    <a:lstStyle/>
                    <a:p>
                      <a:pPr algn="l"/>
                      <a:r>
                        <a:rPr sz="680" b="1">
                          <a:solidFill>
                            <a:srgbClr val="898781"/>
                          </a:solidFill>
                          <a:latin typeface="Calibri"/>
                        </a:rPr>
                        <a:t>NOTE</a:t>
                      </a:r>
                    </a:p>
                  </a:txBody>
                  <a:tcPr marL="31750" marR="31750" marT="12700" marB="12700" anchor="b">
                    <a:solidFill>
                      <a:srgbClr val="FCFCFB"/>
                    </a:solidFill>
                  </a:tcPr>
                </a:tc>
              </a:tr>
              <a:tr h="205740">
                <a:tc>
                  <a:txBody>
                    <a:bodyPr wrap="square"/>
                    <a:lstStyle/>
                    <a:p>
                      <a:pPr algn="l"/>
                      <a:r>
                        <a:rPr sz="720" b="1">
                          <a:solidFill>
                            <a:srgbClr val="52514E"/>
                          </a:solidFill>
                          <a:latin typeface="Calibri"/>
                        </a:rPr>
                        <a:t>Hours per FTE per month</a:t>
                      </a:r>
                    </a:p>
                  </a:txBody>
                  <a:tcPr marL="31750" marR="31750" marT="12700" marB="12700" anchor="ctr">
                    <a:solidFill>
                      <a:srgbClr val="FCFCFB"/>
                    </a:solidFill>
                  </a:tcPr>
                </a:tc>
                <a:tc>
                  <a:txBody>
                    <a:bodyPr wrap="square"/>
                    <a:lstStyle/>
                    <a:p>
                      <a:pPr algn="r"/>
                      <a:r>
                        <a:rPr sz="720" b="0">
                          <a:solidFill>
                            <a:srgbClr val="52514E"/>
                          </a:solidFill>
                          <a:latin typeface="Calibri"/>
                        </a:rPr>
                        <a:t>173.33</a:t>
                      </a:r>
                    </a:p>
                  </a:txBody>
                  <a:tcPr marL="31750" marR="31750" marT="12700" marB="12700" anchor="ctr">
                    <a:solidFill>
                      <a:srgbClr val="FCFCFB"/>
                    </a:solidFill>
                  </a:tcPr>
                </a:tc>
                <a:tc>
                  <a:txBody>
                    <a:bodyPr wrap="square"/>
                    <a:lstStyle/>
                    <a:p>
                      <a:pPr algn="l"/>
                      <a:r>
                        <a:rPr sz="720" b="0">
                          <a:solidFill>
                            <a:srgbClr val="898781"/>
                          </a:solidFill>
                          <a:latin typeface="Calibri"/>
                        </a:rPr>
                        <a:t>=40 × 52 ÷ 12</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Total shrinkage</a:t>
                      </a:r>
                    </a:p>
                  </a:txBody>
                  <a:tcPr marL="31750" marR="31750" marT="12700" marB="12700" anchor="ctr">
                    <a:solidFill>
                      <a:srgbClr val="FCFCFB"/>
                    </a:solidFill>
                  </a:tcPr>
                </a:tc>
                <a:tc>
                  <a:txBody>
                    <a:bodyPr wrap="square"/>
                    <a:lstStyle/>
                    <a:p>
                      <a:pPr algn="r"/>
                      <a:r>
                        <a:rPr sz="720" b="0">
                          <a:solidFill>
                            <a:srgbClr val="52514E"/>
                          </a:solidFill>
                          <a:latin typeface="Calibri"/>
                        </a:rPr>
                        <a:t>18%</a:t>
                      </a:r>
                    </a:p>
                  </a:txBody>
                  <a:tcPr marL="31750" marR="31750" marT="12700" marB="12700" anchor="ctr">
                    <a:solidFill>
                      <a:srgbClr val="FCFCFB"/>
                    </a:solidFill>
                  </a:tcPr>
                </a:tc>
                <a:tc>
                  <a:txBody>
                    <a:bodyPr wrap="square"/>
                    <a:lstStyle/>
                    <a:p>
                      <a:pPr algn="l"/>
                      <a:r>
                        <a:rPr sz="720" b="0">
                          <a:solidFill>
                            <a:srgbClr val="898781"/>
                          </a:solidFill>
                          <a:latin typeface="Calibri"/>
                        </a:rPr>
                        <a:t>divisor 0.82</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Operating hours per month</a:t>
                      </a:r>
                    </a:p>
                  </a:txBody>
                  <a:tcPr marL="31750" marR="31750" marT="12700" marB="12700" anchor="ctr">
                    <a:solidFill>
                      <a:srgbClr val="FCFCFB"/>
                    </a:solidFill>
                  </a:tcPr>
                </a:tc>
                <a:tc>
                  <a:txBody>
                    <a:bodyPr wrap="square"/>
                    <a:lstStyle/>
                    <a:p>
                      <a:pPr algn="r"/>
                      <a:r>
                        <a:rPr sz="720" b="0">
                          <a:solidFill>
                            <a:srgbClr val="52514E"/>
                          </a:solidFill>
                          <a:latin typeface="Calibri"/>
                        </a:rPr>
                        <a:t>730</a:t>
                      </a:r>
                    </a:p>
                  </a:txBody>
                  <a:tcPr marL="31750" marR="31750" marT="12700" marB="12700" anchor="ctr">
                    <a:solidFill>
                      <a:srgbClr val="FCFCFB"/>
                    </a:solidFill>
                  </a:tcPr>
                </a:tc>
                <a:tc>
                  <a:txBody>
                    <a:bodyPr wrap="square"/>
                    <a:lstStyle/>
                    <a:p>
                      <a:pPr algn="l"/>
                      <a:r>
                        <a:rPr sz="720" b="0">
                          <a:solidFill>
                            <a:srgbClr val="898781"/>
                          </a:solidFill>
                          <a:latin typeface="Calibri"/>
                        </a:rPr>
                        <a:t>24/7 → 8,760 ÷ 12</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Phone SLA</a:t>
                      </a:r>
                    </a:p>
                  </a:txBody>
                  <a:tcPr marL="31750" marR="31750" marT="12700" marB="12700" anchor="ctr">
                    <a:solidFill>
                      <a:srgbClr val="FCFCFB"/>
                    </a:solidFill>
                  </a:tcPr>
                </a:tc>
                <a:tc>
                  <a:txBody>
                    <a:bodyPr wrap="square"/>
                    <a:lstStyle/>
                    <a:p>
                      <a:pPr algn="r"/>
                      <a:r>
                        <a:rPr sz="720" b="0">
                          <a:solidFill>
                            <a:srgbClr val="52514E"/>
                          </a:solidFill>
                          <a:latin typeface="Calibri"/>
                        </a:rPr>
                        <a:t>80% ≤ 20 s</a:t>
                      </a:r>
                    </a:p>
                  </a:txBody>
                  <a:tcPr marL="31750" marR="31750" marT="12700" marB="12700" anchor="ctr">
                    <a:solidFill>
                      <a:srgbClr val="FCFCFB"/>
                    </a:solidFill>
                  </a:tcPr>
                </a:tc>
                <a:tc>
                  <a:txBody>
                    <a:bodyPr wrap="square"/>
                    <a:lstStyle/>
                    <a:p>
                      <a:pPr algn="l"/>
                      <a:r>
                        <a:rPr sz="720" b="0">
                          <a:solidFill>
                            <a:srgbClr val="898781"/>
                          </a:solidFill>
                          <a:latin typeface="Calibri"/>
                        </a:rPr>
                        <a:t>Erlang C</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Chat SLA</a:t>
                      </a:r>
                    </a:p>
                  </a:txBody>
                  <a:tcPr marL="31750" marR="31750" marT="12700" marB="12700" anchor="ctr">
                    <a:solidFill>
                      <a:srgbClr val="FCFCFB"/>
                    </a:solidFill>
                  </a:tcPr>
                </a:tc>
                <a:tc>
                  <a:txBody>
                    <a:bodyPr wrap="square"/>
                    <a:lstStyle/>
                    <a:p>
                      <a:pPr algn="r"/>
                      <a:r>
                        <a:rPr sz="720" b="0">
                          <a:solidFill>
                            <a:srgbClr val="52514E"/>
                          </a:solidFill>
                          <a:latin typeface="Calibri"/>
                        </a:rPr>
                        <a:t>80% ≤ 60 s</a:t>
                      </a:r>
                    </a:p>
                  </a:txBody>
                  <a:tcPr marL="31750" marR="31750" marT="12700" marB="12700" anchor="ctr">
                    <a:solidFill>
                      <a:srgbClr val="FCFCFB"/>
                    </a:solidFill>
                  </a:tcPr>
                </a:tc>
                <a:tc>
                  <a:txBody>
                    <a:bodyPr wrap="square"/>
                    <a:lstStyle/>
                    <a:p>
                      <a:pPr algn="l"/>
                      <a:r>
                        <a:rPr sz="720" b="0">
                          <a:solidFill>
                            <a:srgbClr val="898781"/>
                          </a:solidFill>
                          <a:latin typeface="Calibri"/>
                        </a:rPr>
                        <a:t>Erlang C, ÷ concurrency</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Email SLA</a:t>
                      </a:r>
                    </a:p>
                  </a:txBody>
                  <a:tcPr marL="31750" marR="31750" marT="12700" marB="12700" anchor="ctr">
                    <a:solidFill>
                      <a:srgbClr val="FCFCFB"/>
                    </a:solidFill>
                  </a:tcPr>
                </a:tc>
                <a:tc>
                  <a:txBody>
                    <a:bodyPr wrap="square"/>
                    <a:lstStyle/>
                    <a:p>
                      <a:pPr algn="r"/>
                      <a:r>
                        <a:rPr sz="720" b="0">
                          <a:solidFill>
                            <a:srgbClr val="52514E"/>
                          </a:solidFill>
                          <a:latin typeface="Calibri"/>
                        </a:rPr>
                        <a:t>80% ≤ 120 min</a:t>
                      </a:r>
                    </a:p>
                  </a:txBody>
                  <a:tcPr marL="31750" marR="31750" marT="12700" marB="12700" anchor="ctr">
                    <a:solidFill>
                      <a:srgbClr val="FCFCFB"/>
                    </a:solidFill>
                  </a:tcPr>
                </a:tc>
                <a:tc>
                  <a:txBody>
                    <a:bodyPr wrap="square"/>
                    <a:lstStyle/>
                    <a:p>
                      <a:pPr algn="l"/>
                      <a:r>
                        <a:rPr sz="720" b="0">
                          <a:solidFill>
                            <a:srgbClr val="898781"/>
                          </a:solidFill>
                          <a:latin typeface="Calibri"/>
                        </a:rPr>
                        <a:t>deferred model</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Chat concurrency</a:t>
                      </a:r>
                    </a:p>
                  </a:txBody>
                  <a:tcPr marL="31750" marR="31750" marT="12700" marB="12700" anchor="ctr">
                    <a:solidFill>
                      <a:srgbClr val="FCFCFB"/>
                    </a:solidFill>
                  </a:tcPr>
                </a:tc>
                <a:tc>
                  <a:txBody>
                    <a:bodyPr wrap="square"/>
                    <a:lstStyle/>
                    <a:p>
                      <a:pPr algn="r"/>
                      <a:r>
                        <a:rPr sz="720" b="0">
                          <a:solidFill>
                            <a:srgbClr val="52514E"/>
                          </a:solidFill>
                          <a:latin typeface="Calibri"/>
                        </a:rPr>
                        <a:t>1.2</a:t>
                      </a:r>
                    </a:p>
                  </a:txBody>
                  <a:tcPr marL="31750" marR="31750" marT="12700" marB="12700" anchor="ctr">
                    <a:solidFill>
                      <a:srgbClr val="FCFCFB"/>
                    </a:solidFill>
                  </a:tcPr>
                </a:tc>
                <a:tc>
                  <a:txBody>
                    <a:bodyPr wrap="square"/>
                    <a:lstStyle/>
                    <a:p>
                      <a:pPr algn="l"/>
                      <a:r>
                        <a:rPr sz="720" b="0">
                          <a:solidFill>
                            <a:srgbClr val="D03B3B"/>
                          </a:solidFill>
                          <a:latin typeface="Calibri"/>
                        </a:rPr>
                        <a:t>open question — worth 75 FTE</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Deferred occupancy</a:t>
                      </a:r>
                    </a:p>
                  </a:txBody>
                  <a:tcPr marL="31750" marR="31750" marT="12700" marB="12700" anchor="ctr">
                    <a:solidFill>
                      <a:srgbClr val="FCFCFB"/>
                    </a:solidFill>
                  </a:tcPr>
                </a:tc>
                <a:tc>
                  <a:txBody>
                    <a:bodyPr wrap="square"/>
                    <a:lstStyle/>
                    <a:p>
                      <a:pPr algn="r"/>
                      <a:r>
                        <a:rPr sz="720" b="0">
                          <a:solidFill>
                            <a:srgbClr val="52514E"/>
                          </a:solidFill>
                          <a:latin typeface="Calibri"/>
                        </a:rPr>
                        <a:t>85%</a:t>
                      </a:r>
                    </a:p>
                  </a:txBody>
                  <a:tcPr marL="31750" marR="31750" marT="12700" marB="12700" anchor="ctr">
                    <a:solidFill>
                      <a:srgbClr val="FCFCFB"/>
                    </a:solidFill>
                  </a:tcPr>
                </a:tc>
                <a:tc>
                  <a:txBody>
                    <a:bodyPr wrap="square"/>
                    <a:lstStyle/>
                    <a:p>
                      <a:pPr algn="l"/>
                      <a:r>
                        <a:rPr sz="720" b="0">
                          <a:solidFill>
                            <a:srgbClr val="D03B3B"/>
                          </a:solidFill>
                          <a:latin typeface="Calibri"/>
                        </a:rPr>
                        <a:t>modelling assumption — not in the data</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Seasonal uplift</a:t>
                      </a:r>
                    </a:p>
                  </a:txBody>
                  <a:tcPr marL="31750" marR="31750" marT="12700" marB="12700" anchor="ctr">
                    <a:solidFill>
                      <a:srgbClr val="FCFCFB"/>
                    </a:solidFill>
                  </a:tcPr>
                </a:tc>
                <a:tc>
                  <a:txBody>
                    <a:bodyPr wrap="square"/>
                    <a:lstStyle/>
                    <a:p>
                      <a:pPr algn="r"/>
                      <a:r>
                        <a:rPr sz="720" b="0">
                          <a:solidFill>
                            <a:srgbClr val="52514E"/>
                          </a:solidFill>
                          <a:latin typeface="Calibri"/>
                        </a:rPr>
                        <a:t>+10%</a:t>
                      </a:r>
                    </a:p>
                  </a:txBody>
                  <a:tcPr marL="31750" marR="31750" marT="12700" marB="12700" anchor="ctr">
                    <a:solidFill>
                      <a:srgbClr val="FCFCFB"/>
                    </a:solidFill>
                  </a:tcPr>
                </a:tc>
                <a:tc>
                  <a:txBody>
                    <a:bodyPr wrap="square"/>
                    <a:lstStyle/>
                    <a:p>
                      <a:pPr algn="l"/>
                      <a:r>
                        <a:rPr sz="720" b="0">
                          <a:solidFill>
                            <a:srgbClr val="898781"/>
                          </a:solidFill>
                          <a:latin typeface="Calibri"/>
                        </a:rPr>
                        <a:t>applied to the June baseline</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Annual attrition</a:t>
                      </a:r>
                    </a:p>
                  </a:txBody>
                  <a:tcPr marL="31750" marR="31750" marT="12700" marB="12700" anchor="ctr">
                    <a:solidFill>
                      <a:srgbClr val="FCFCFB"/>
                    </a:solidFill>
                  </a:tcPr>
                </a:tc>
                <a:tc>
                  <a:txBody>
                    <a:bodyPr wrap="square"/>
                    <a:lstStyle/>
                    <a:p>
                      <a:pPr algn="r"/>
                      <a:r>
                        <a:rPr sz="720" b="0">
                          <a:solidFill>
                            <a:srgbClr val="52514E"/>
                          </a:solidFill>
                          <a:latin typeface="Calibri"/>
                        </a:rPr>
                        <a:t>36%</a:t>
                      </a:r>
                    </a:p>
                  </a:txBody>
                  <a:tcPr marL="31750" marR="31750" marT="12700" marB="12700" anchor="ctr">
                    <a:solidFill>
                      <a:srgbClr val="FCFCFB"/>
                    </a:solidFill>
                  </a:tcPr>
                </a:tc>
                <a:tc>
                  <a:txBody>
                    <a:bodyPr wrap="square"/>
                    <a:lstStyle/>
                    <a:p>
                      <a:pPr algn="l"/>
                      <a:r>
                        <a:rPr sz="720" b="0">
                          <a:solidFill>
                            <a:srgbClr val="898781"/>
                          </a:solidFill>
                          <a:latin typeface="Calibri"/>
                        </a:rPr>
                        <a:t>compounds to 3.65%/month</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Learning curve</a:t>
                      </a:r>
                    </a:p>
                  </a:txBody>
                  <a:tcPr marL="31750" marR="31750" marT="12700" marB="12700" anchor="ctr">
                    <a:solidFill>
                      <a:srgbClr val="FCFCFB"/>
                    </a:solidFill>
                  </a:tcPr>
                </a:tc>
                <a:tc>
                  <a:txBody>
                    <a:bodyPr wrap="square"/>
                    <a:lstStyle/>
                    <a:p>
                      <a:pPr algn="r"/>
                      <a:r>
                        <a:rPr sz="720" b="0">
                          <a:solidFill>
                            <a:srgbClr val="52514E"/>
                          </a:solidFill>
                          <a:latin typeface="Calibri"/>
                        </a:rPr>
                        <a:t>120/110/105%</a:t>
                      </a:r>
                    </a:p>
                  </a:txBody>
                  <a:tcPr marL="31750" marR="31750" marT="12700" marB="12700" anchor="ctr">
                    <a:solidFill>
                      <a:srgbClr val="FCFCFB"/>
                    </a:solidFill>
                  </a:tcPr>
                </a:tc>
                <a:tc>
                  <a:txBody>
                    <a:bodyPr wrap="square"/>
                    <a:lstStyle/>
                    <a:p>
                      <a:pPr algn="l"/>
                      <a:r>
                        <a:rPr sz="720" b="0">
                          <a:solidFill>
                            <a:srgbClr val="898781"/>
                          </a:solidFill>
                          <a:latin typeface="Calibri"/>
                        </a:rPr>
                        <a:t>AHT multiplier, months 1–3</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Training</a:t>
                      </a:r>
                    </a:p>
                  </a:txBody>
                  <a:tcPr marL="31750" marR="31750" marT="12700" marB="12700" anchor="ctr">
                    <a:solidFill>
                      <a:srgbClr val="FCFCFB"/>
                    </a:solidFill>
                  </a:tcPr>
                </a:tc>
                <a:tc>
                  <a:txBody>
                    <a:bodyPr wrap="square"/>
                    <a:lstStyle/>
                    <a:p>
                      <a:pPr algn="r"/>
                      <a:r>
                        <a:rPr sz="720" b="0">
                          <a:solidFill>
                            <a:srgbClr val="52514E"/>
                          </a:solidFill>
                          <a:latin typeface="Calibri"/>
                        </a:rPr>
                        <a:t>4 weeks</a:t>
                      </a:r>
                    </a:p>
                  </a:txBody>
                  <a:tcPr marL="31750" marR="31750" marT="12700" marB="12700" anchor="ctr">
                    <a:solidFill>
                      <a:srgbClr val="FCFCFB"/>
                    </a:solidFill>
                  </a:tcPr>
                </a:tc>
                <a:tc>
                  <a:txBody>
                    <a:bodyPr wrap="square"/>
                    <a:lstStyle/>
                    <a:p>
                      <a:pPr algn="l"/>
                      <a:r>
                        <a:rPr sz="720" b="0">
                          <a:solidFill>
                            <a:srgbClr val="898781"/>
                          </a:solidFill>
                          <a:latin typeface="Calibri"/>
                        </a:rPr>
                        <a:t>non-producing, paid</a:t>
                      </a:r>
                    </a:p>
                  </a:txBody>
                  <a:tcPr marL="31750" marR="31750" marT="12700" marB="12700" anchor="ctr">
                    <a:solidFill>
                      <a:srgbClr val="FCFCFB"/>
                    </a:solidFill>
                  </a:tcPr>
                </a:tc>
              </a:tr>
              <a:tr h="284378">
                <a:tc>
                  <a:txBody>
                    <a:bodyPr wrap="square"/>
                    <a:lstStyle/>
                    <a:p>
                      <a:pPr algn="l"/>
                      <a:r>
                        <a:rPr sz="720" b="1">
                          <a:solidFill>
                            <a:srgbClr val="52514E"/>
                          </a:solidFill>
                          <a:latin typeface="Calibri"/>
                        </a:rPr>
                        <a:t>Routing</a:t>
                      </a:r>
                    </a:p>
                  </a:txBody>
                  <a:tcPr marL="31750" marR="31750" marT="12700" marB="12700" anchor="ctr">
                    <a:solidFill>
                      <a:srgbClr val="FCFCFB"/>
                    </a:solidFill>
                  </a:tcPr>
                </a:tc>
                <a:tc>
                  <a:txBody>
                    <a:bodyPr wrap="square"/>
                    <a:lstStyle/>
                    <a:p>
                      <a:pPr algn="r"/>
                      <a:r>
                        <a:rPr sz="720" b="0">
                          <a:solidFill>
                            <a:srgbClr val="52514E"/>
                          </a:solidFill>
                          <a:latin typeface="Calibri"/>
                        </a:rPr>
                        <a:t>BPO 1&amp;2 EN; BPO 3 DE/IT/FR/ES</a:t>
                      </a:r>
                    </a:p>
                  </a:txBody>
                  <a:tcPr marL="31750" marR="31750" marT="12700" marB="12700" anchor="ctr">
                    <a:solidFill>
                      <a:srgbClr val="FCFCFB"/>
                    </a:solidFill>
                  </a:tcPr>
                </a:tc>
                <a:tc>
                  <a:txBody>
                    <a:bodyPr wrap="square"/>
                    <a:lstStyle/>
                    <a:p>
                      <a:pPr algn="l"/>
                      <a:r>
                        <a:rPr sz="720" b="0">
                          <a:solidFill>
                            <a:srgbClr val="898781"/>
                          </a:solidFill>
                          <a:latin typeface="Calibri"/>
                        </a:rPr>
                        <a:t>9 of 15 AHT rows unroutable</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English BPO split</a:t>
                      </a:r>
                    </a:p>
                  </a:txBody>
                  <a:tcPr marL="31750" marR="31750" marT="12700" marB="12700" anchor="ctr">
                    <a:solidFill>
                      <a:srgbClr val="FCFCFB"/>
                    </a:solidFill>
                  </a:tcPr>
                </a:tc>
                <a:tc>
                  <a:txBody>
                    <a:bodyPr wrap="square"/>
                    <a:lstStyle/>
                    <a:p>
                      <a:pPr algn="r"/>
                      <a:r>
                        <a:rPr sz="720" b="0">
                          <a:solidFill>
                            <a:srgbClr val="52514E"/>
                          </a:solidFill>
                          <a:latin typeface="Calibri"/>
                        </a:rPr>
                        <a:t>50 / 50</a:t>
                      </a:r>
                    </a:p>
                  </a:txBody>
                  <a:tcPr marL="31750" marR="31750" marT="12700" marB="12700" anchor="ctr">
                    <a:solidFill>
                      <a:srgbClr val="FCFCFB"/>
                    </a:solidFill>
                  </a:tcPr>
                </a:tc>
                <a:tc>
                  <a:txBody>
                    <a:bodyPr wrap="square"/>
                    <a:lstStyle/>
                    <a:p>
                      <a:pPr algn="l"/>
                      <a:r>
                        <a:rPr sz="720" b="0">
                          <a:solidFill>
                            <a:srgbClr val="D03B3B"/>
                          </a:solidFill>
                          <a:latin typeface="Calibri"/>
                        </a:rPr>
                        <a:t>AHT blended — assumption</a:t>
                      </a:r>
                    </a:p>
                  </a:txBody>
                  <a:tcPr marL="31750" marR="31750" marT="12700" marB="12700" anchor="ctr">
                    <a:solidFill>
                      <a:srgbClr val="FCFCFB"/>
                    </a:solidFill>
                  </a:tcPr>
                </a:tc>
              </a:tr>
              <a:tr h="205740">
                <a:tc>
                  <a:txBody>
                    <a:bodyPr wrap="square"/>
                    <a:lstStyle/>
                    <a:p>
                      <a:pPr algn="l"/>
                      <a:r>
                        <a:rPr sz="720" b="1">
                          <a:solidFill>
                            <a:srgbClr val="52514E"/>
                          </a:solidFill>
                          <a:latin typeface="Calibri"/>
                        </a:rPr>
                        <a:t>English AHT source</a:t>
                      </a:r>
                    </a:p>
                  </a:txBody>
                  <a:tcPr marL="31750" marR="31750" marT="12700" marB="12700" anchor="ctr">
                    <a:solidFill>
                      <a:srgbClr val="FCFCFB"/>
                    </a:solidFill>
                  </a:tcPr>
                </a:tc>
                <a:tc>
                  <a:txBody>
                    <a:bodyPr wrap="square"/>
                    <a:lstStyle/>
                    <a:p>
                      <a:pPr algn="r"/>
                      <a:r>
                        <a:rPr sz="720" b="0">
                          <a:solidFill>
                            <a:srgbClr val="52514E"/>
                          </a:solidFill>
                          <a:latin typeface="Calibri"/>
                        </a:rPr>
                        <a:t>channel-level (709.8s)</a:t>
                      </a:r>
                    </a:p>
                  </a:txBody>
                  <a:tcPr marL="31750" marR="31750" marT="12700" marB="12700" anchor="ctr">
                    <a:solidFill>
                      <a:srgbClr val="FCFCFB"/>
                    </a:solidFill>
                  </a:tcPr>
                </a:tc>
                <a:tc>
                  <a:txBody>
                    <a:bodyPr wrap="square"/>
                    <a:lstStyle/>
                    <a:p>
                      <a:pPr algn="l"/>
                      <a:r>
                        <a:rPr sz="720" b="0">
                          <a:solidFill>
                            <a:srgbClr val="D03B3B"/>
                          </a:solidFill>
                          <a:latin typeface="Calibri"/>
                        </a:rPr>
                        <a:t>vs reason-level 908.8s — worth 78 FTE</a:t>
                      </a:r>
                    </a:p>
                  </a:txBody>
                  <a:tcPr marL="31750" marR="31750" marT="12700" marB="12700" anchor="ctr">
                    <a:solidFill>
                      <a:srgbClr val="FCFCFB"/>
                    </a:solidFill>
                  </a:tcPr>
                </a:tc>
              </a:tr>
            </a:tbl>
          </a:graphicData>
        </a:graphic>
      </p:graphicFrame>
      <p:sp>
        <p:nvSpPr>
          <p:cNvPr id="7" name="TextBox 6"/>
          <p:cNvSpPr txBox="1"/>
          <p:nvPr/>
        </p:nvSpPr>
        <p:spPr>
          <a:xfrm>
            <a:off x="6753895" y="960120"/>
            <a:ext cx="4934879" cy="146304"/>
          </a:xfrm>
          <a:prstGeom prst="rect">
            <a:avLst/>
          </a:prstGeom>
          <a:noFill/>
        </p:spPr>
        <p:txBody>
          <a:bodyPr wrap="square" lIns="0" rIns="0" tIns="0" bIns="0">
            <a:noAutofit/>
          </a:bodyPr>
          <a:lstStyle/>
          <a:p>
            <a:r>
              <a:rPr sz="819" b="1" spc="60">
                <a:solidFill>
                  <a:srgbClr val="898781"/>
                </a:solidFill>
                <a:latin typeface="Calibri"/>
              </a:rPr>
              <a:t>WHAT I WOULD WANT BEFORE THE NEXT CYCLE</a:t>
            </a:r>
          </a:p>
        </p:txBody>
      </p:sp>
      <p:sp>
        <p:nvSpPr>
          <p:cNvPr id="8" name="TextBox 7"/>
          <p:cNvSpPr txBox="1"/>
          <p:nvPr/>
        </p:nvSpPr>
        <p:spPr>
          <a:xfrm>
            <a:off x="6753895" y="1197864"/>
            <a:ext cx="4934879" cy="1042923"/>
          </a:xfrm>
          <a:prstGeom prst="rect">
            <a:avLst/>
          </a:prstGeom>
          <a:noFill/>
        </p:spPr>
        <p:txBody>
          <a:bodyPr wrap="square" lIns="0" rIns="0" tIns="0" bIns="0">
            <a:noAutofit/>
          </a:bodyPr>
          <a:lstStyle/>
          <a:p>
            <a:r>
              <a:rPr sz="760" b="0" i="0">
                <a:solidFill>
                  <a:srgbClr val="52514E"/>
                </a:solidFill>
                <a:latin typeface="Calibri"/>
              </a:rPr>
              <a:t>•  </a:t>
            </a:r>
            <a:r>
              <a:rPr sz="760" b="1" i="0">
                <a:solidFill>
                  <a:srgbClr val="52514E"/>
                </a:solidFill>
                <a:latin typeface="Calibri"/>
              </a:rPr>
              <a:t>Which English AHT is authoritative.</a:t>
            </a:r>
            <a:r>
              <a:rPr sz="760" b="0" i="0">
                <a:solidFill>
                  <a:srgbClr val="52514E"/>
                </a:solidFill>
                <a:latin typeface="Calibri"/>
              </a:rPr>
              <a:t> Worth </a:t>
            </a:r>
            <a:r>
              <a:rPr sz="760" b="0" i="0">
                <a:solidFill>
                  <a:srgbClr val="D03B3B"/>
                </a:solidFill>
                <a:latin typeface="Calibri"/>
              </a:rPr>
              <a:t>78 FTE</a:t>
            </a:r>
            <a:r>
              <a:rPr sz="760" b="0" i="0">
                <a:solidFill>
                  <a:srgbClr val="52514E"/>
                </a:solidFill>
                <a:latin typeface="Calibri"/>
              </a:rPr>
              <a:t>. Needs an owner.</a:t>
            </a:r>
          </a:p>
          <a:p>
            <a:pPr>
              <a:spcBef>
                <a:spcPts val="216"/>
              </a:spcBef>
            </a:pPr>
            <a:r>
              <a:rPr sz="760" b="0" i="0">
                <a:solidFill>
                  <a:srgbClr val="52514E"/>
                </a:solidFill>
                <a:latin typeface="Calibri"/>
              </a:rPr>
              <a:t>•  </a:t>
            </a:r>
            <a:r>
              <a:rPr sz="760" b="1" i="0">
                <a:solidFill>
                  <a:srgbClr val="52514E"/>
                </a:solidFill>
                <a:latin typeface="Calibri"/>
              </a:rPr>
              <a:t>Whether chat concurrency was measured.</a:t>
            </a:r>
            <a:r>
              <a:rPr sz="760" b="0" i="0">
                <a:solidFill>
                  <a:srgbClr val="52514E"/>
                </a:solidFill>
                <a:latin typeface="Calibri"/>
              </a:rPr>
              <a:t> Worth </a:t>
            </a:r>
            <a:r>
              <a:rPr sz="760" b="0" i="0">
                <a:solidFill>
                  <a:srgbClr val="D03B3B"/>
                </a:solidFill>
                <a:latin typeface="Calibri"/>
              </a:rPr>
              <a:t>75 FTE</a:t>
            </a:r>
            <a:r>
              <a:rPr sz="760" b="0" i="0">
                <a:solidFill>
                  <a:srgbClr val="52514E"/>
                </a:solidFill>
                <a:latin typeface="Calibri"/>
              </a:rPr>
              <a:t>.</a:t>
            </a:r>
          </a:p>
          <a:p>
            <a:pPr>
              <a:spcBef>
                <a:spcPts val="216"/>
              </a:spcBef>
            </a:pPr>
            <a:r>
              <a:rPr sz="760" b="0" i="0">
                <a:solidFill>
                  <a:srgbClr val="52514E"/>
                </a:solidFill>
                <a:latin typeface="Calibri"/>
              </a:rPr>
              <a:t>•  </a:t>
            </a:r>
            <a:r>
              <a:rPr sz="760" b="1" i="0">
                <a:solidFill>
                  <a:srgbClr val="52514E"/>
                </a:solidFill>
                <a:latin typeface="Calibri"/>
              </a:rPr>
              <a:t>24+ months of history.</a:t>
            </a:r>
            <a:r>
              <a:rPr sz="760" b="0" i="0">
                <a:solidFill>
                  <a:srgbClr val="52514E"/>
                </a:solidFill>
                <a:latin typeface="Calibri"/>
              </a:rPr>
              <a:t> Six months with a structural break can't support a fitted seasonal model.</a:t>
            </a:r>
          </a:p>
          <a:p>
            <a:pPr>
              <a:spcBef>
                <a:spcPts val="216"/>
              </a:spcBef>
            </a:pPr>
            <a:r>
              <a:rPr sz="760" b="0" i="0">
                <a:solidFill>
                  <a:srgbClr val="52514E"/>
                </a:solidFill>
                <a:latin typeface="Calibri"/>
              </a:rPr>
              <a:t>•  </a:t>
            </a:r>
            <a:r>
              <a:rPr sz="760" b="1" i="0">
                <a:solidFill>
                  <a:srgbClr val="52514E"/>
                </a:solidFill>
                <a:latin typeface="Calibri"/>
              </a:rPr>
              <a:t>15/30-minute arrival profiles.</a:t>
            </a:r>
            <a:r>
              <a:rPr sz="760" b="0" i="0">
                <a:solidFill>
                  <a:srgbClr val="52514E"/>
                </a:solidFill>
                <a:latin typeface="Calibri"/>
              </a:rPr>
              <a:t> Monthly-average Erlang is a floor.</a:t>
            </a:r>
          </a:p>
          <a:p>
            <a:pPr>
              <a:spcBef>
                <a:spcPts val="216"/>
              </a:spcBef>
            </a:pPr>
            <a:r>
              <a:rPr sz="760" b="0" i="0">
                <a:solidFill>
                  <a:srgbClr val="52514E"/>
                </a:solidFill>
                <a:latin typeface="Calibri"/>
              </a:rPr>
              <a:t>•  </a:t>
            </a:r>
            <a:r>
              <a:rPr sz="760" b="1" i="0">
                <a:solidFill>
                  <a:srgbClr val="52514E"/>
                </a:solidFill>
                <a:latin typeface="Calibri"/>
              </a:rPr>
              <a:t>What happened in March.</a:t>
            </a:r>
            <a:r>
              <a:rPr sz="760" b="0" i="0">
                <a:solidFill>
                  <a:srgbClr val="52514E"/>
                </a:solidFill>
                <a:latin typeface="Calibri"/>
              </a:rPr>
              <a:t> A uniform step is a system change, not demand.</a:t>
            </a:r>
          </a:p>
          <a:p>
            <a:pPr>
              <a:spcBef>
                <a:spcPts val="216"/>
              </a:spcBef>
            </a:pPr>
            <a:r>
              <a:rPr sz="760" b="0" i="0">
                <a:solidFill>
                  <a:srgbClr val="52514E"/>
                </a:solidFill>
                <a:latin typeface="Calibri"/>
              </a:rPr>
              <a:t>•  </a:t>
            </a:r>
            <a:r>
              <a:rPr sz="760" b="1" i="0">
                <a:solidFill>
                  <a:srgbClr val="52514E"/>
                </a:solidFill>
                <a:latin typeface="Calibri"/>
              </a:rPr>
              <a:t>Cost per productive hour by BPO.</a:t>
            </a:r>
            <a:r>
              <a:rPr sz="760" b="0" i="0">
                <a:solidFill>
                  <a:srgbClr val="52514E"/>
                </a:solidFill>
                <a:latin typeface="Calibri"/>
              </a:rPr>
              <a:t> Needed to rank levers in €.</a:t>
            </a:r>
          </a:p>
          <a:p>
            <a:pPr>
              <a:spcBef>
                <a:spcPts val="216"/>
              </a:spcBef>
            </a:pPr>
            <a:r>
              <a:rPr sz="760" b="0" i="0">
                <a:solidFill>
                  <a:srgbClr val="52514E"/>
                </a:solidFill>
                <a:latin typeface="Calibri"/>
              </a:rPr>
              <a:t>•  </a:t>
            </a:r>
            <a:r>
              <a:rPr sz="760" b="1" i="0">
                <a:solidFill>
                  <a:srgbClr val="52514E"/>
                </a:solidFill>
                <a:latin typeface="Calibri"/>
              </a:rPr>
              <a:t>True outbound volumes.</a:t>
            </a:r>
            <a:r>
              <a:rPr sz="760" b="0" i="0">
                <a:solidFill>
                  <a:srgbClr val="52514E"/>
                </a:solidFill>
                <a:latin typeface="Calibri"/>
              </a:rPr>
              <a:t> The mirrored columns cannot be real.</a:t>
            </a:r>
          </a:p>
        </p:txBody>
      </p:sp>
      <p:cxnSp>
        <p:nvCxnSpPr>
          <p:cNvPr id="9" name="Connector 8"/>
          <p:cNvCxnSpPr/>
          <p:nvPr/>
        </p:nvCxnSpPr>
        <p:spPr>
          <a:xfrm>
            <a:off x="6753895" y="2350516"/>
            <a:ext cx="0" cy="650367"/>
          </a:xfrm>
          <a:prstGeom prst="line">
            <a:avLst/>
          </a:prstGeom>
          <a:ln w="28575">
            <a:solidFill>
              <a:srgbClr val="2A78D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72767" y="2377947"/>
            <a:ext cx="4816007" cy="173355"/>
          </a:xfrm>
          <a:prstGeom prst="rect">
            <a:avLst/>
          </a:prstGeom>
          <a:noFill/>
        </p:spPr>
        <p:txBody>
          <a:bodyPr wrap="square" lIns="0" rIns="0" tIns="0" bIns="0">
            <a:noAutofit/>
          </a:bodyPr>
          <a:lstStyle/>
          <a:p>
            <a:r>
              <a:rPr sz="1050" b="1" i="0">
                <a:solidFill>
                  <a:srgbClr val="0B0B0B"/>
                </a:solidFill>
                <a:latin typeface="Calibri"/>
              </a:rPr>
              <a:t>How I would use the team against this forecast</a:t>
            </a:r>
          </a:p>
        </p:txBody>
      </p:sp>
      <p:sp>
        <p:nvSpPr>
          <p:cNvPr id="11" name="TextBox 10"/>
          <p:cNvSpPr txBox="1"/>
          <p:nvPr/>
        </p:nvSpPr>
        <p:spPr>
          <a:xfrm>
            <a:off x="6872767" y="2578735"/>
            <a:ext cx="4816007" cy="376427"/>
          </a:xfrm>
          <a:prstGeom prst="rect">
            <a:avLst/>
          </a:prstGeom>
          <a:noFill/>
        </p:spPr>
        <p:txBody>
          <a:bodyPr wrap="square" lIns="0" rIns="0" tIns="0" bIns="0">
            <a:noAutofit/>
          </a:bodyPr>
          <a:lstStyle/>
          <a:p>
            <a:r>
              <a:rPr sz="760" b="0" i="0">
                <a:solidFill>
                  <a:srgbClr val="52514E"/>
                </a:solidFill>
                <a:latin typeface="Calibri"/>
              </a:rPr>
              <a:t>One specialist owns English. One owns the pooled non-English queues. One owns the data contract and re-forecast trigger. I own the two open questions — they need a business decision, not more analysis.</a:t>
            </a:r>
          </a:p>
        </p:txBody>
      </p:sp>
      <p:sp>
        <p:nvSpPr>
          <p:cNvPr id="12" name="TextBox 11"/>
          <p:cNvSpPr txBox="1"/>
          <p:nvPr/>
        </p:nvSpPr>
        <p:spPr>
          <a:xfrm>
            <a:off x="6753895" y="3128899"/>
            <a:ext cx="4934879" cy="224536"/>
          </a:xfrm>
          <a:prstGeom prst="rect">
            <a:avLst/>
          </a:prstGeom>
          <a:noFill/>
        </p:spPr>
        <p:txBody>
          <a:bodyPr wrap="square" lIns="0" rIns="0" tIns="0" bIns="0">
            <a:noAutofit/>
          </a:bodyPr>
          <a:lstStyle/>
          <a:p>
            <a:r>
              <a:rPr sz="680" b="0" i="0">
                <a:solidFill>
                  <a:srgbClr val="898781"/>
                </a:solidFill>
                <a:latin typeface="Calibri"/>
              </a:rPr>
              <a:t>Deliverables: this deck · the source workbook with working shown · a 16-sheet model output workbook · the Python model and its 72-check verification suite.</a:t>
            </a:r>
          </a:p>
        </p:txBody>
      </p:sp>
      <p:cxnSp>
        <p:nvCxnSpPr>
          <p:cNvPr id="13" name="Connector 12"/>
          <p:cNvCxnSpPr/>
          <p:nvPr/>
        </p:nvCxnSpPr>
        <p:spPr>
          <a:xfrm>
            <a:off x="502920" y="6400800"/>
            <a:ext cx="1118585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6446520"/>
            <a:ext cx="9172401" cy="201168"/>
          </a:xfrm>
          <a:prstGeom prst="rect">
            <a:avLst/>
          </a:prstGeom>
          <a:noFill/>
        </p:spPr>
        <p:txBody>
          <a:bodyPr wrap="square" lIns="0" rIns="0" tIns="0" bIns="0">
            <a:noAutofit/>
          </a:bodyPr>
          <a:lstStyle/>
          <a:p>
            <a:r>
              <a:rPr sz="750" b="0" i="0">
                <a:solidFill>
                  <a:srgbClr val="898781"/>
                </a:solidFill>
                <a:latin typeface="Calibri"/>
              </a:rPr>
              <a:t>GetYourGuide · WFM take-home · all figures reproduced by run_model.py, verified by crosscheck.py (72/72)</a:t>
            </a:r>
          </a:p>
        </p:txBody>
      </p:sp>
      <p:sp>
        <p:nvSpPr>
          <p:cNvPr id="15" name="TextBox 14"/>
          <p:cNvSpPr txBox="1"/>
          <p:nvPr/>
        </p:nvSpPr>
        <p:spPr>
          <a:xfrm>
            <a:off x="9675321" y="6446520"/>
            <a:ext cx="2013453" cy="201168"/>
          </a:xfrm>
          <a:prstGeom prst="rect">
            <a:avLst/>
          </a:prstGeom>
          <a:noFill/>
        </p:spPr>
        <p:txBody>
          <a:bodyPr wrap="square" lIns="0" rIns="0" tIns="0" bIns="0">
            <a:noAutofit/>
          </a:bodyPr>
          <a:lstStyle/>
          <a:p>
            <a:pPr algn="r"/>
            <a:r>
              <a:rPr sz="800" b="1">
                <a:solidFill>
                  <a:srgbClr val="52514E"/>
                </a:solidFill>
                <a:latin typeface="Calibri"/>
              </a:rPr>
              <a:t>A6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